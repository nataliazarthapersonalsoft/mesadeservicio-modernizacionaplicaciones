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8"/>
  </p:notesMasterIdLst>
  <p:sldIdLst>
    <p:sldId id="293" r:id="rId3"/>
    <p:sldId id="306" r:id="rId4"/>
    <p:sldId id="318" r:id="rId5"/>
    <p:sldId id="273" r:id="rId6"/>
    <p:sldId id="274" r:id="rId7"/>
  </p:sldIdLst>
  <p:sldSz cx="9144000" cy="5143500" type="screen16x9"/>
  <p:notesSz cx="6858000" cy="9144000"/>
  <p:embeddedFontLst>
    <p:embeddedFont>
      <p:font typeface="Reddit Sans" panose="020B0604020202020204" charset="0"/>
      <p:regular r:id="rId9"/>
      <p:bold r:id="rId10"/>
      <p:italic r:id="rId11"/>
      <p:boldItalic r:id="rId12"/>
    </p:embeddedFont>
    <p:embeddedFont>
      <p:font typeface="Reddit Sans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1.xml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font" Target="fonts/font2.fntdata"/><Relationship Id="rId6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Diagnostico actual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Clasificacion por Nivel de Madurez — Donde estamos hoy?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8 mesas · 5 clientes · Julio 2026 · Levantamiento interno PersonalSoft</a:t>
            </a:r>
          </a:p>
        </p:txBody>
      </p:sp>
      <p:sp>
        <p:nvSpPr>
          <p:cNvPr id="10" name="n1bg"/>
          <p:cNvSpPr>
            <a:spLocks noGrp="1"/>
          </p:cNvSpPr>
          <p:nvPr/>
        </p:nvSpPr>
        <p:spPr>
          <a:xfrm>
            <a:off x="320040" y="786384"/>
            <a:ext cx="7818120" cy="11887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9050">
            <a:solidFill>
              <a:srgbClr val="C00000"/>
            </a:solidFill>
          </a:ln>
        </p:spPr>
      </p:sp>
      <p:sp>
        <p:nvSpPr>
          <p:cNvPr id="11" name="n1b"/>
          <p:cNvSpPr>
            <a:spLocks noGrp="1"/>
          </p:cNvSpPr>
          <p:nvPr/>
        </p:nvSpPr>
        <p:spPr>
          <a:xfrm>
            <a:off x="320040" y="786384"/>
            <a:ext cx="713232" cy="118872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n1t"/>
          <p:cNvSpPr txBox="1">
            <a:spLocks noGrp="1"/>
          </p:cNvSpPr>
          <p:nvPr/>
        </p:nvSpPr>
        <p:spPr>
          <a:xfrm>
            <a:off x="320040" y="877824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3" name="n1l"/>
          <p:cNvSpPr txBox="1">
            <a:spLocks noGrp="1"/>
          </p:cNvSpPr>
          <p:nvPr/>
        </p:nvSpPr>
        <p:spPr>
          <a:xfrm>
            <a:off x="320040" y="1426464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14" name="n1d"/>
          <p:cNvSpPr txBox="1">
            <a:spLocks noGrp="1"/>
          </p:cNvSpPr>
          <p:nvPr/>
        </p:nvSpPr>
        <p:spPr>
          <a:xfrm>
            <a:off x="1097280" y="859536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Reactivo total · sin gobierno</a:t>
            </a:r>
          </a:p>
        </p:txBody>
      </p:sp>
      <p:sp>
        <p:nvSpPr>
          <p:cNvPr id="15" name="n1s"/>
          <p:cNvSpPr txBox="1">
            <a:spLocks noGrp="1"/>
          </p:cNvSpPr>
          <p:nvPr/>
        </p:nvSpPr>
        <p:spPr>
          <a:xfrm>
            <a:off x="1097280" y="113385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00000"/>
                </a:solidFill>
                <a:latin typeface="Calibri"/>
              </a:rPr>
              <a:t>Sin RACI · Sin KEDB · Sin ANS</a:t>
            </a:r>
          </a:p>
        </p:txBody>
      </p:sp>
      <p:sp>
        <p:nvSpPr>
          <p:cNvPr id="20" name="mc"/>
          <p:cNvSpPr>
            <a:spLocks noGrp="1"/>
          </p:cNvSpPr>
          <p:nvPr/>
        </p:nvSpPr>
        <p:spPr>
          <a:xfrm>
            <a:off x="2560320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1" name="mb"/>
          <p:cNvSpPr>
            <a:spLocks noGrp="1"/>
          </p:cNvSpPr>
          <p:nvPr/>
        </p:nvSpPr>
        <p:spPr>
          <a:xfrm>
            <a:off x="2560320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2" name="mn"/>
          <p:cNvSpPr txBox="1">
            <a:spLocks noGrp="1"/>
          </p:cNvSpPr>
          <p:nvPr/>
        </p:nvSpPr>
        <p:spPr>
          <a:xfrm>
            <a:off x="2615184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C00000"/>
                </a:solidFill>
                <a:latin typeface="Calibri"/>
              </a:rPr>
              <a:t>AES</a:t>
            </a:r>
          </a:p>
        </p:txBody>
      </p:sp>
      <p:sp>
        <p:nvSpPr>
          <p:cNvPr id="23" name="mi"/>
          <p:cNvSpPr txBox="1">
            <a:spLocks noGrp="1"/>
          </p:cNvSpPr>
          <p:nvPr/>
        </p:nvSpPr>
        <p:spPr>
          <a:xfrm>
            <a:off x="2615184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Soporte IT/OT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Energia · 4 FTE</a:t>
            </a:r>
          </a:p>
        </p:txBody>
      </p:sp>
      <p:sp>
        <p:nvSpPr>
          <p:cNvPr id="24" name="mc"/>
          <p:cNvSpPr>
            <a:spLocks noGrp="1"/>
          </p:cNvSpPr>
          <p:nvPr/>
        </p:nvSpPr>
        <p:spPr>
          <a:xfrm>
            <a:off x="3685032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5" name="mb"/>
          <p:cNvSpPr>
            <a:spLocks noGrp="1"/>
          </p:cNvSpPr>
          <p:nvPr/>
        </p:nvSpPr>
        <p:spPr>
          <a:xfrm>
            <a:off x="3685032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6" name="mn"/>
          <p:cNvSpPr txBox="1">
            <a:spLocks noGrp="1"/>
          </p:cNvSpPr>
          <p:nvPr/>
        </p:nvSpPr>
        <p:spPr>
          <a:xfrm>
            <a:off x="3739896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C00000"/>
                </a:solidFill>
                <a:latin typeface="Calibri"/>
              </a:rPr>
              <a:t>BCO GIOTI 1</a:t>
            </a:r>
          </a:p>
        </p:txBody>
      </p:sp>
      <p:sp>
        <p:nvSpPr>
          <p:cNvPr id="27" name="mi"/>
          <p:cNvSpPr txBox="1">
            <a:spLocks noGrp="1"/>
          </p:cNvSpPr>
          <p:nvPr/>
        </p:nvSpPr>
        <p:spPr>
          <a:xfrm>
            <a:off x="3739896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28" name="mc"/>
          <p:cNvSpPr>
            <a:spLocks noGrp="1"/>
          </p:cNvSpPr>
          <p:nvPr/>
        </p:nvSpPr>
        <p:spPr>
          <a:xfrm>
            <a:off x="4809744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29" name="mb"/>
          <p:cNvSpPr>
            <a:spLocks noGrp="1"/>
          </p:cNvSpPr>
          <p:nvPr/>
        </p:nvSpPr>
        <p:spPr>
          <a:xfrm>
            <a:off x="4809744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0" name="mn"/>
          <p:cNvSpPr txBox="1">
            <a:spLocks noGrp="1"/>
          </p:cNvSpPr>
          <p:nvPr/>
        </p:nvSpPr>
        <p:spPr>
          <a:xfrm>
            <a:off x="4864608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C00000"/>
                </a:solidFill>
                <a:latin typeface="Calibri"/>
              </a:rPr>
              <a:t>BCO GIOTI 2</a:t>
            </a:r>
          </a:p>
        </p:txBody>
      </p:sp>
      <p:sp>
        <p:nvSpPr>
          <p:cNvPr id="31" name="mi"/>
          <p:cNvSpPr txBox="1">
            <a:spLocks noGrp="1"/>
          </p:cNvSpPr>
          <p:nvPr/>
        </p:nvSpPr>
        <p:spPr>
          <a:xfrm>
            <a:off x="4864608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32" name="mc"/>
          <p:cNvSpPr>
            <a:spLocks noGrp="1"/>
          </p:cNvSpPr>
          <p:nvPr/>
        </p:nvSpPr>
        <p:spPr>
          <a:xfrm>
            <a:off x="5934456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33" name="mb"/>
          <p:cNvSpPr>
            <a:spLocks noGrp="1"/>
          </p:cNvSpPr>
          <p:nvPr/>
        </p:nvSpPr>
        <p:spPr>
          <a:xfrm>
            <a:off x="5934456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4" name="mn"/>
          <p:cNvSpPr txBox="1">
            <a:spLocks noGrp="1"/>
          </p:cNvSpPr>
          <p:nvPr/>
        </p:nvSpPr>
        <p:spPr>
          <a:xfrm>
            <a:off x="5989320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C00000"/>
                </a:solidFill>
                <a:latin typeface="Calibri"/>
              </a:rPr>
              <a:t>BCO GIOTI 3</a:t>
            </a:r>
          </a:p>
        </p:txBody>
      </p:sp>
      <p:sp>
        <p:nvSpPr>
          <p:cNvPr id="35" name="mi"/>
          <p:cNvSpPr txBox="1">
            <a:spLocks noGrp="1"/>
          </p:cNvSpPr>
          <p:nvPr/>
        </p:nvSpPr>
        <p:spPr>
          <a:xfrm>
            <a:off x="5989320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36" name="mc"/>
          <p:cNvSpPr>
            <a:spLocks noGrp="1"/>
          </p:cNvSpPr>
          <p:nvPr/>
        </p:nvSpPr>
        <p:spPr>
          <a:xfrm>
            <a:off x="7059168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37" name="mb"/>
          <p:cNvSpPr>
            <a:spLocks noGrp="1"/>
          </p:cNvSpPr>
          <p:nvPr/>
        </p:nvSpPr>
        <p:spPr>
          <a:xfrm>
            <a:off x="7059168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38" name="mn"/>
          <p:cNvSpPr txBox="1">
            <a:spLocks noGrp="1"/>
          </p:cNvSpPr>
          <p:nvPr/>
        </p:nvSpPr>
        <p:spPr>
          <a:xfrm>
            <a:off x="7114032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C00000"/>
                </a:solidFill>
                <a:latin typeface="Calibri"/>
              </a:rPr>
              <a:t>BCO GIOTI 4</a:t>
            </a:r>
          </a:p>
        </p:txBody>
      </p:sp>
      <p:sp>
        <p:nvSpPr>
          <p:cNvPr id="39" name="mi"/>
          <p:cNvSpPr txBox="1">
            <a:spLocks noGrp="1"/>
          </p:cNvSpPr>
          <p:nvPr/>
        </p:nvSpPr>
        <p:spPr>
          <a:xfrm>
            <a:off x="7114032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Canal digital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Banca</a:t>
            </a:r>
          </a:p>
        </p:txBody>
      </p:sp>
      <p:sp>
        <p:nvSpPr>
          <p:cNvPr id="40" name="mc"/>
          <p:cNvSpPr>
            <a:spLocks noGrp="1"/>
          </p:cNvSpPr>
          <p:nvPr/>
        </p:nvSpPr>
        <p:spPr>
          <a:xfrm>
            <a:off x="8183880" y="859536"/>
            <a:ext cx="1069848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</p:spPr>
      </p:sp>
      <p:sp>
        <p:nvSpPr>
          <p:cNvPr id="41" name="mb"/>
          <p:cNvSpPr>
            <a:spLocks noGrp="1"/>
          </p:cNvSpPr>
          <p:nvPr/>
        </p:nvSpPr>
        <p:spPr>
          <a:xfrm>
            <a:off x="8183880" y="859536"/>
            <a:ext cx="1069848" cy="3657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2" name="mn"/>
          <p:cNvSpPr txBox="1">
            <a:spLocks noGrp="1"/>
          </p:cNvSpPr>
          <p:nvPr/>
        </p:nvSpPr>
        <p:spPr>
          <a:xfrm>
            <a:off x="8238744" y="93268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C00000"/>
                </a:solidFill>
                <a:latin typeface="Calibri"/>
              </a:rPr>
              <a:t>MEDICARTE</a:t>
            </a:r>
          </a:p>
        </p:txBody>
      </p:sp>
      <p:sp>
        <p:nvSpPr>
          <p:cNvPr id="43" name="mi"/>
          <p:cNvSpPr txBox="1">
            <a:spLocks noGrp="1"/>
          </p:cNvSpPr>
          <p:nvPr/>
        </p:nvSpPr>
        <p:spPr>
          <a:xfrm>
            <a:off x="8238744" y="1243584"/>
            <a:ext cx="9601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Mesa IT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Salud</a:t>
            </a:r>
          </a:p>
        </p:txBody>
      </p:sp>
      <p:sp>
        <p:nvSpPr>
          <p:cNvPr id="60" name="n2bg"/>
          <p:cNvSpPr>
            <a:spLocks noGrp="1"/>
          </p:cNvSpPr>
          <p:nvPr/>
        </p:nvSpPr>
        <p:spPr>
          <a:xfrm>
            <a:off x="320040" y="2103120"/>
            <a:ext cx="7818120" cy="11887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</p:sp>
      <p:sp>
        <p:nvSpPr>
          <p:cNvPr id="61" name="n2b"/>
          <p:cNvSpPr>
            <a:spLocks noGrp="1"/>
          </p:cNvSpPr>
          <p:nvPr/>
        </p:nvSpPr>
        <p:spPr>
          <a:xfrm>
            <a:off x="320040" y="2103120"/>
            <a:ext cx="713232" cy="1188720"/>
          </a:xfrm>
          <a:prstGeom prst="roundRect">
            <a:avLst>
              <a:gd name="adj" fmla="val 12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62" name="n2t"/>
          <p:cNvSpPr txBox="1">
            <a:spLocks noGrp="1"/>
          </p:cNvSpPr>
          <p:nvPr/>
        </p:nvSpPr>
        <p:spPr>
          <a:xfrm>
            <a:off x="320040" y="2194560"/>
            <a:ext cx="713232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63" name="n2l"/>
          <p:cNvSpPr txBox="1">
            <a:spLocks noGrp="1"/>
          </p:cNvSpPr>
          <p:nvPr/>
        </p:nvSpPr>
        <p:spPr>
          <a:xfrm>
            <a:off x="320040" y="2743200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Admin.</a:t>
            </a:r>
          </a:p>
        </p:txBody>
      </p:sp>
      <p:sp>
        <p:nvSpPr>
          <p:cNvPr id="64" name="n2d"/>
          <p:cNvSpPr txBox="1">
            <a:spLocks noGrp="1"/>
          </p:cNvSpPr>
          <p:nvPr/>
        </p:nvSpPr>
        <p:spPr>
          <a:xfrm>
            <a:off x="1097280" y="217627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92400E"/>
                </a:solidFill>
                <a:latin typeface="Calibri"/>
              </a:rPr>
              <a:t>Procesos por mesa · herramienta</a:t>
            </a:r>
          </a:p>
        </p:txBody>
      </p:sp>
      <p:sp>
        <p:nvSpPr>
          <p:cNvPr id="65" name="n2s"/>
          <p:cNvSpPr txBox="1">
            <a:spLocks noGrp="1"/>
          </p:cNvSpPr>
          <p:nvPr/>
        </p:nvSpPr>
        <p:spPr>
          <a:xfrm>
            <a:off x="1097280" y="245059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92400E"/>
                </a:solidFill>
                <a:latin typeface="Calibri"/>
              </a:rPr>
              <a:t>Sin gobierno centralizado · Sin RACI</a:t>
            </a:r>
          </a:p>
        </p:txBody>
      </p:sp>
      <p:sp>
        <p:nvSpPr>
          <p:cNvPr id="70" name="mc"/>
          <p:cNvSpPr>
            <a:spLocks noGrp="1"/>
          </p:cNvSpPr>
          <p:nvPr/>
        </p:nvSpPr>
        <p:spPr>
          <a:xfrm>
            <a:off x="2560320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71" name="mb"/>
          <p:cNvSpPr>
            <a:spLocks noGrp="1"/>
          </p:cNvSpPr>
          <p:nvPr/>
        </p:nvSpPr>
        <p:spPr>
          <a:xfrm>
            <a:off x="2560320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2" name="mn"/>
          <p:cNvSpPr txBox="1">
            <a:spLocks noGrp="1"/>
          </p:cNvSpPr>
          <p:nvPr/>
        </p:nvSpPr>
        <p:spPr>
          <a:xfrm>
            <a:off x="2615184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92400E"/>
                </a:solidFill>
                <a:latin typeface="Calibri"/>
              </a:rPr>
              <a:t>SURA Cotizadores</a:t>
            </a:r>
          </a:p>
        </p:txBody>
      </p:sp>
      <p:sp>
        <p:nvSpPr>
          <p:cNvPr id="73" name="mi"/>
          <p:cNvSpPr txBox="1">
            <a:spLocks noGrp="1"/>
          </p:cNvSpPr>
          <p:nvPr/>
        </p:nvSpPr>
        <p:spPr>
          <a:xfrm>
            <a:off x="2615184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2 FTE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74" name="mc"/>
          <p:cNvSpPr>
            <a:spLocks noGrp="1"/>
          </p:cNvSpPr>
          <p:nvPr/>
        </p:nvSpPr>
        <p:spPr>
          <a:xfrm>
            <a:off x="3895344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75" name="mb"/>
          <p:cNvSpPr>
            <a:spLocks noGrp="1"/>
          </p:cNvSpPr>
          <p:nvPr/>
        </p:nvSpPr>
        <p:spPr>
          <a:xfrm>
            <a:off x="3895344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6" name="mn"/>
          <p:cNvSpPr txBox="1">
            <a:spLocks noGrp="1"/>
          </p:cNvSpPr>
          <p:nvPr/>
        </p:nvSpPr>
        <p:spPr>
          <a:xfrm>
            <a:off x="3950208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92400E"/>
                </a:solidFill>
                <a:latin typeface="Calibri"/>
              </a:rPr>
              <a:t>SURA Venta Digital</a:t>
            </a:r>
          </a:p>
        </p:txBody>
      </p:sp>
      <p:sp>
        <p:nvSpPr>
          <p:cNvPr id="77" name="mi"/>
          <p:cNvSpPr txBox="1">
            <a:spLocks noGrp="1"/>
          </p:cNvSpPr>
          <p:nvPr/>
        </p:nvSpPr>
        <p:spPr>
          <a:xfrm>
            <a:off x="3950208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2 FTE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78" name="mc"/>
          <p:cNvSpPr>
            <a:spLocks noGrp="1"/>
          </p:cNvSpPr>
          <p:nvPr/>
        </p:nvSpPr>
        <p:spPr>
          <a:xfrm>
            <a:off x="5230368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79" name="mb"/>
          <p:cNvSpPr>
            <a:spLocks noGrp="1"/>
          </p:cNvSpPr>
          <p:nvPr/>
        </p:nvSpPr>
        <p:spPr>
          <a:xfrm>
            <a:off x="5230368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0" name="mn"/>
          <p:cNvSpPr txBox="1">
            <a:spLocks noGrp="1"/>
          </p:cNvSpPr>
          <p:nvPr/>
        </p:nvSpPr>
        <p:spPr>
          <a:xfrm>
            <a:off x="5285232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92400E"/>
                </a:solidFill>
                <a:latin typeface="Calibri"/>
              </a:rPr>
              <a:t>SURA Automatizacion</a:t>
            </a:r>
          </a:p>
        </p:txBody>
      </p:sp>
      <p:sp>
        <p:nvSpPr>
          <p:cNvPr id="81" name="mi"/>
          <p:cNvSpPr txBox="1">
            <a:spLocks noGrp="1"/>
          </p:cNvSpPr>
          <p:nvPr/>
        </p:nvSpPr>
        <p:spPr>
          <a:xfrm>
            <a:off x="5285232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6 FTE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BMC+Azure</a:t>
            </a:r>
          </a:p>
        </p:txBody>
      </p:sp>
      <p:sp>
        <p:nvSpPr>
          <p:cNvPr id="82" name="mc"/>
          <p:cNvSpPr>
            <a:spLocks noGrp="1"/>
          </p:cNvSpPr>
          <p:nvPr/>
        </p:nvSpPr>
        <p:spPr>
          <a:xfrm>
            <a:off x="6565392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83" name="mb"/>
          <p:cNvSpPr>
            <a:spLocks noGrp="1"/>
          </p:cNvSpPr>
          <p:nvPr/>
        </p:nvSpPr>
        <p:spPr>
          <a:xfrm>
            <a:off x="6565392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4" name="mn"/>
          <p:cNvSpPr txBox="1">
            <a:spLocks noGrp="1"/>
          </p:cNvSpPr>
          <p:nvPr/>
        </p:nvSpPr>
        <p:spPr>
          <a:xfrm>
            <a:off x="6620256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92400E"/>
                </a:solidFill>
                <a:latin typeface="Calibri"/>
              </a:rPr>
              <a:t>SURA Canales Masivos</a:t>
            </a:r>
          </a:p>
        </p:txBody>
      </p:sp>
      <p:sp>
        <p:nvSpPr>
          <p:cNvPr id="85" name="mi"/>
          <p:cNvSpPr txBox="1">
            <a:spLocks noGrp="1"/>
          </p:cNvSpPr>
          <p:nvPr/>
        </p:nvSpPr>
        <p:spPr>
          <a:xfrm>
            <a:off x="6620256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Seguros · 1 FTE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BMC Remedy</a:t>
            </a:r>
          </a:p>
        </p:txBody>
      </p:sp>
      <p:sp>
        <p:nvSpPr>
          <p:cNvPr id="86" name="mc"/>
          <p:cNvSpPr>
            <a:spLocks noGrp="1"/>
          </p:cNvSpPr>
          <p:nvPr/>
        </p:nvSpPr>
        <p:spPr>
          <a:xfrm>
            <a:off x="7900416" y="2176272"/>
            <a:ext cx="1261872" cy="1042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87" name="mb"/>
          <p:cNvSpPr>
            <a:spLocks noGrp="1"/>
          </p:cNvSpPr>
          <p:nvPr/>
        </p:nvSpPr>
        <p:spPr>
          <a:xfrm>
            <a:off x="7900416" y="2176272"/>
            <a:ext cx="1261872" cy="36576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8" name="mn"/>
          <p:cNvSpPr txBox="1">
            <a:spLocks noGrp="1"/>
          </p:cNvSpPr>
          <p:nvPr/>
        </p:nvSpPr>
        <p:spPr>
          <a:xfrm>
            <a:off x="7955280" y="2249424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92400E"/>
                </a:solidFill>
                <a:latin typeface="Calibri"/>
              </a:rPr>
              <a:t>XM — Apps Criticas</a:t>
            </a:r>
          </a:p>
        </p:txBody>
      </p:sp>
      <p:sp>
        <p:nvSpPr>
          <p:cNvPr id="89" name="mi"/>
          <p:cNvSpPr txBox="1">
            <a:spLocks noGrp="1"/>
          </p:cNvSpPr>
          <p:nvPr/>
        </p:nvSpPr>
        <p:spPr>
          <a:xfrm>
            <a:off x="7955280" y="2560320"/>
            <a:ext cx="1152144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dirty="0">
                <a:solidFill>
                  <a:srgbClr val="0D1B5E"/>
                </a:solidFill>
                <a:latin typeface="Calibri"/>
              </a:rPr>
              <a:t>Energia · 4 FTE</a:t>
            </a:r>
          </a:p>
          <a:p>
            <a:pPr algn="ctr"/>
            <a:r>
              <a:rPr lang="es-ES" sz="720" i="1" dirty="0">
                <a:solidFill>
                  <a:srgbClr val="6B7280"/>
                </a:solidFill>
                <a:latin typeface="Calibri"/>
              </a:rPr>
              <a:t>ServiceNow</a:t>
            </a:r>
          </a:p>
        </p:txBody>
      </p:sp>
      <p:sp>
        <p:nvSpPr>
          <p:cNvPr id="120" name="n3bg"/>
          <p:cNvSpPr>
            <a:spLocks noGrp="1"/>
          </p:cNvSpPr>
          <p:nvPr/>
        </p:nvSpPr>
        <p:spPr>
          <a:xfrm>
            <a:off x="320040" y="3419856"/>
            <a:ext cx="7818120" cy="65836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9050">
            <a:solidFill>
              <a:srgbClr val="1A6B3C"/>
            </a:solidFill>
          </a:ln>
        </p:spPr>
      </p:sp>
      <p:sp>
        <p:nvSpPr>
          <p:cNvPr id="121" name="n3b"/>
          <p:cNvSpPr>
            <a:spLocks noGrp="1"/>
          </p:cNvSpPr>
          <p:nvPr/>
        </p:nvSpPr>
        <p:spPr>
          <a:xfrm>
            <a:off x="320040" y="3419856"/>
            <a:ext cx="713232" cy="658368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22" name="n3t"/>
          <p:cNvSpPr txBox="1">
            <a:spLocks noGrp="1"/>
          </p:cNvSpPr>
          <p:nvPr/>
        </p:nvSpPr>
        <p:spPr>
          <a:xfrm>
            <a:off x="320040" y="3474720"/>
            <a:ext cx="71323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123" name="n3l"/>
          <p:cNvSpPr txBox="1">
            <a:spLocks noGrp="1"/>
          </p:cNvSpPr>
          <p:nvPr/>
        </p:nvSpPr>
        <p:spPr>
          <a:xfrm>
            <a:off x="320040" y="382219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20" b="1" dirty="0">
                <a:solidFill>
                  <a:srgbClr val="FFFFFF"/>
                </a:solidFill>
                <a:latin typeface="Calibri"/>
              </a:rPr>
              <a:t>Definido</a:t>
            </a:r>
          </a:p>
        </p:txBody>
      </p:sp>
      <p:sp>
        <p:nvSpPr>
          <p:cNvPr id="124" name="n3d"/>
          <p:cNvSpPr txBox="1">
            <a:spLocks noGrp="1"/>
          </p:cNvSpPr>
          <p:nvPr/>
        </p:nvSpPr>
        <p:spPr>
          <a:xfrm>
            <a:off x="1097280" y="351129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30" b="1" dirty="0">
                <a:solidFill>
                  <a:srgbClr val="1A6B3C"/>
                </a:solidFill>
                <a:latin typeface="Calibri"/>
              </a:rPr>
              <a:t>RACI + ANS + Catalogo activo · KEDB · KPIs tiempo real · Gobierno claro</a:t>
            </a:r>
          </a:p>
        </p:txBody>
      </p:sp>
      <p:sp>
        <p:nvSpPr>
          <p:cNvPr id="125" name="n3s"/>
          <p:cNvSpPr txBox="1">
            <a:spLocks noGrp="1"/>
          </p:cNvSpPr>
          <p:nvPr/>
        </p:nvSpPr>
        <p:spPr>
          <a:xfrm>
            <a:off x="1097280" y="378561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i="1" dirty="0">
                <a:solidFill>
                  <a:srgbClr val="1A6B3C"/>
                </a:solidFill>
                <a:latin typeface="Calibri"/>
              </a:rPr>
              <a:t>Ninguna mesa llego a N3 aun — objetivo Wave 1 para todas antes de dic 2026</a:t>
            </a:r>
          </a:p>
        </p:txBody>
      </p:sp>
      <p:sp>
        <p:nvSpPr>
          <p:cNvPr id="126" name="n3goal"/>
          <p:cNvSpPr>
            <a:spLocks noGrp="1"/>
          </p:cNvSpPr>
          <p:nvPr/>
        </p:nvSpPr>
        <p:spPr>
          <a:xfrm>
            <a:off x="5029200" y="3511296"/>
            <a:ext cx="3017520" cy="475488"/>
          </a:xfrm>
          <a:prstGeom prst="roundRect">
            <a:avLst>
              <a:gd name="adj" fmla="val 12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27" name="n3goalt"/>
          <p:cNvSpPr txBox="1">
            <a:spLocks noGrp="1"/>
          </p:cNvSpPr>
          <p:nvPr/>
        </p:nvSpPr>
        <p:spPr>
          <a:xfrm>
            <a:off x="5029200" y="351129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50" b="1" dirty="0">
                <a:solidFill>
                  <a:srgbClr val="FFFFFF"/>
                </a:solidFill>
                <a:latin typeface="Calibri"/>
              </a:rPr>
              <a:t>META WAVE 1 — Diciembre 2026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Julio 2026 · Excel Levantamiento_Mesas_Julio_2026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hb"/>
          <p:cNvSpPr>
            <a:spLocks noGrp="1"/>
          </p:cNvSpPr>
          <p:nvPr/>
        </p:nvSpPr>
        <p:spPr>
          <a:xfrm>
            <a:off x="320040" y="109728"/>
            <a:ext cx="530352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hbt"/>
          <p:cNvSpPr txBox="1">
            <a:spLocks noGrp="1"/>
          </p:cNvSpPr>
          <p:nvPr/>
        </p:nvSpPr>
        <p:spPr>
          <a:xfrm>
            <a:off x="320040" y="109728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914400" y="9144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900" b="1" dirty="0">
                <a:solidFill>
                  <a:srgbClr val="FFFFFF"/>
                </a:solidFill>
                <a:latin typeface="Calibri"/>
              </a:rPr>
              <a:t>Nivel N1 — Inicial: Mesas Reactivas sin Gobierno Estandarizado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914400" y="56692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FFCCCC"/>
                </a:solidFill>
                <a:latin typeface="Calibri"/>
              </a:rPr>
              <a:t>AES · Bancolombia GIOTI (4 mesas) · MEDICARTE · Caracteristica: todo lo resuelve una persona clave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15875">
            <a:solidFill>
              <a:srgbClr val="C00000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60704"/>
            <a:ext cx="2523744" cy="14630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65760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80" b="1" dirty="0">
                <a:solidFill>
                  <a:srgbClr val="FFFFFF"/>
                </a:solidFill>
                <a:latin typeface="Calibri"/>
              </a:rPr>
              <a:t>AES — Soporte IT/OT</a:t>
            </a:r>
          </a:p>
        </p:txBody>
      </p:sp>
      <p:sp>
        <p:nvSpPr>
          <p:cNvPr id="14" name="cf"/>
          <p:cNvSpPr txBox="1">
            <a:spLocks noGrp="1"/>
          </p:cNvSpPr>
          <p:nvPr/>
        </p:nvSpPr>
        <p:spPr>
          <a:xfrm>
            <a:off x="365760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555555"/>
                </a:solidFill>
                <a:latin typeface="Calibri"/>
              </a:rPr>
              <a:t>FTE: 4  ·  ServiceNow  ·  Energia · Central Hidroelectrica</a:t>
            </a:r>
          </a:p>
        </p:txBody>
      </p:sp>
      <p:sp>
        <p:nvSpPr>
          <p:cNvPr id="15" name="cc"/>
          <p:cNvSpPr txBox="1">
            <a:spLocks noGrp="1"/>
          </p:cNvSpPr>
          <p:nvPr/>
        </p:nvSpPr>
        <p:spPr>
          <a:xfrm>
            <a:off x="365760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00000"/>
                </a:solidFill>
                <a:latin typeface="Calibri"/>
              </a:rPr>
              <a:t>▷ Staffing · RFP pendiente · Fin Aug-Nov 2026 · OPORTUNIDAD</a:t>
            </a:r>
          </a:p>
        </p:txBody>
      </p:sp>
      <p:sp>
        <p:nvSpPr>
          <p:cNvPr id="16" name="sep"/>
          <p:cNvSpPr>
            <a:spLocks noGrp="1"/>
          </p:cNvSpPr>
          <p:nvPr/>
        </p:nvSpPr>
        <p:spPr>
          <a:xfrm>
            <a:off x="365760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7" name="d"/>
          <p:cNvSpPr txBox="1">
            <a:spLocks noGrp="1"/>
          </p:cNvSpPr>
          <p:nvPr/>
        </p:nvSpPr>
        <p:spPr>
          <a:xfrm>
            <a:off x="365760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Postura 100% reactiva — sin proceso formal de gestion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65760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ni KPIs — nadie mide si el servicio es bueno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65760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comercial — volumetria mal estimada en preventa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65760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de personal sin modelo de demanda estandarizado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65760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Herramientas fragmentadas — licencia ServiceNow es del cliente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65760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gobierno — sin RACI ni ANS formales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65760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Roles sin definir — criterio individual no modelo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65760" y="359359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Scope creep — solicitudes fuera del alcance absorbe al equipo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65760" y="385876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Escalamiento ineficiente — rebotes entre niveles</a:t>
            </a:r>
          </a:p>
        </p:txBody>
      </p:sp>
      <p:sp>
        <p:nvSpPr>
          <p:cNvPr id="40" name="card"/>
          <p:cNvSpPr>
            <a:spLocks noGrp="1"/>
          </p:cNvSpPr>
          <p:nvPr/>
        </p:nvSpPr>
        <p:spPr>
          <a:xfrm>
            <a:off x="2907792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EBF3FF"/>
          </a:solidFill>
          <a:ln w="15875">
            <a:solidFill>
              <a:srgbClr val="1A3A8F"/>
            </a:solidFill>
          </a:ln>
        </p:spPr>
      </p:sp>
      <p:sp>
        <p:nvSpPr>
          <p:cNvPr id="41" name="chdr"/>
          <p:cNvSpPr>
            <a:spLocks noGrp="1"/>
          </p:cNvSpPr>
          <p:nvPr/>
        </p:nvSpPr>
        <p:spPr>
          <a:xfrm>
            <a:off x="2907792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chdr2"/>
          <p:cNvSpPr>
            <a:spLocks noGrp="1"/>
          </p:cNvSpPr>
          <p:nvPr/>
        </p:nvSpPr>
        <p:spPr>
          <a:xfrm>
            <a:off x="2907792" y="1060704"/>
            <a:ext cx="2523744" cy="14630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3" name="cn"/>
          <p:cNvSpPr txBox="1">
            <a:spLocks noGrp="1"/>
          </p:cNvSpPr>
          <p:nvPr/>
        </p:nvSpPr>
        <p:spPr>
          <a:xfrm>
            <a:off x="2999232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80" b="1" dirty="0">
                <a:solidFill>
                  <a:srgbClr val="FFFFFF"/>
                </a:solidFill>
                <a:latin typeface="Calibri"/>
              </a:rPr>
              <a:t>BCO — GIOTI (4 mesas)</a:t>
            </a:r>
          </a:p>
        </p:txBody>
      </p:sp>
      <p:sp>
        <p:nvSpPr>
          <p:cNvPr id="44" name="cf"/>
          <p:cNvSpPr txBox="1">
            <a:spLocks noGrp="1"/>
          </p:cNvSpPr>
          <p:nvPr/>
        </p:nvSpPr>
        <p:spPr>
          <a:xfrm>
            <a:off x="2999232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555555"/>
                </a:solidFill>
                <a:latin typeface="Calibri"/>
              </a:rPr>
              <a:t>FTE: N/D  ·  ADO / Interno  ·  Banca · Canal digital Bancolombia</a:t>
            </a:r>
          </a:p>
        </p:txBody>
      </p:sp>
      <p:sp>
        <p:nvSpPr>
          <p:cNvPr id="45" name="cc"/>
          <p:cNvSpPr txBox="1">
            <a:spLocks noGrp="1"/>
          </p:cNvSpPr>
          <p:nvPr/>
        </p:nvSpPr>
        <p:spPr>
          <a:xfrm>
            <a:off x="2999232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1A3A8F"/>
                </a:solidFill>
                <a:latin typeface="Calibri"/>
              </a:rPr>
              <a:t>▷ Levantamiento pendiente — reunion por coordinar</a:t>
            </a:r>
          </a:p>
        </p:txBody>
      </p:sp>
      <p:sp>
        <p:nvSpPr>
          <p:cNvPr id="46" name="sep"/>
          <p:cNvSpPr>
            <a:spLocks noGrp="1"/>
          </p:cNvSpPr>
          <p:nvPr/>
        </p:nvSpPr>
        <p:spPr>
          <a:xfrm>
            <a:off x="2999232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7" name="d"/>
          <p:cNvSpPr txBox="1">
            <a:spLocks noGrp="1"/>
          </p:cNvSpPr>
          <p:nvPr/>
        </p:nvSpPr>
        <p:spPr>
          <a:xfrm>
            <a:off x="2999232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estandarizado — criterio experto individual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2999232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vendido vs ejecutado — volumetria sin datos reales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2999232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Rotacion de personal — perdida de conocimiento critico</a:t>
            </a:r>
          </a:p>
        </p:txBody>
      </p:sp>
      <p:sp>
        <p:nvSpPr>
          <p:cNvPr id="50" name="d"/>
          <p:cNvSpPr txBox="1">
            <a:spLocks noGrp="1"/>
          </p:cNvSpPr>
          <p:nvPr/>
        </p:nvSpPr>
        <p:spPr>
          <a:xfrm>
            <a:off x="2999232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51" name="d"/>
          <p:cNvSpPr txBox="1">
            <a:spLocks noGrp="1"/>
          </p:cNvSpPr>
          <p:nvPr/>
        </p:nvSpPr>
        <p:spPr>
          <a:xfrm>
            <a:off x="2999232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definicion clara de niveles N1/N2/N3 entre GIOTI 1-4</a:t>
            </a:r>
          </a:p>
        </p:txBody>
      </p:sp>
      <p:sp>
        <p:nvSpPr>
          <p:cNvPr id="52" name="d"/>
          <p:cNvSpPr txBox="1">
            <a:spLocks noGrp="1"/>
          </p:cNvSpPr>
          <p:nvPr/>
        </p:nvSpPr>
        <p:spPr>
          <a:xfrm>
            <a:off x="2999232" y="306324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Confusion entre lo que maneja PS vs lo que maneja BCO</a:t>
            </a:r>
          </a:p>
        </p:txBody>
      </p:sp>
      <p:sp>
        <p:nvSpPr>
          <p:cNvPr id="53" name="d"/>
          <p:cNvSpPr txBox="1">
            <a:spLocks noGrp="1"/>
          </p:cNvSpPr>
          <p:nvPr/>
        </p:nvSpPr>
        <p:spPr>
          <a:xfrm>
            <a:off x="2999232" y="332841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FTE y metricas sin levantar — informacion incompleta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5541264" y="804672"/>
            <a:ext cx="2523744" cy="3621024"/>
          </a:xfrm>
          <a:prstGeom prst="roundRect">
            <a:avLst>
              <a:gd name="adj" fmla="val 12000"/>
            </a:avLst>
          </a:prstGeom>
          <a:solidFill>
            <a:srgbClr val="E8F6F7"/>
          </a:solidFill>
          <a:ln w="15875">
            <a:solidFill>
              <a:srgbClr val="1B7B85"/>
            </a:solidFill>
          </a:ln>
        </p:spPr>
      </p:sp>
      <p:sp>
        <p:nvSpPr>
          <p:cNvPr id="71" name="chdr"/>
          <p:cNvSpPr>
            <a:spLocks noGrp="1"/>
          </p:cNvSpPr>
          <p:nvPr/>
        </p:nvSpPr>
        <p:spPr>
          <a:xfrm>
            <a:off x="5541264" y="804672"/>
            <a:ext cx="2523744" cy="402336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72" name="chdr2"/>
          <p:cNvSpPr>
            <a:spLocks noGrp="1"/>
          </p:cNvSpPr>
          <p:nvPr/>
        </p:nvSpPr>
        <p:spPr>
          <a:xfrm>
            <a:off x="5541264" y="1060704"/>
            <a:ext cx="252374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3" name="cn"/>
          <p:cNvSpPr txBox="1">
            <a:spLocks noGrp="1"/>
          </p:cNvSpPr>
          <p:nvPr/>
        </p:nvSpPr>
        <p:spPr>
          <a:xfrm>
            <a:off x="5632704" y="859536"/>
            <a:ext cx="23408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80" b="1" dirty="0">
                <a:solidFill>
                  <a:srgbClr val="FFFFFF"/>
                </a:solidFill>
                <a:latin typeface="Calibri"/>
              </a:rPr>
              <a:t>MEDICARTE — Mesa IT</a:t>
            </a:r>
          </a:p>
        </p:txBody>
      </p:sp>
      <p:sp>
        <p:nvSpPr>
          <p:cNvPr id="74" name="cf"/>
          <p:cNvSpPr txBox="1">
            <a:spLocks noGrp="1"/>
          </p:cNvSpPr>
          <p:nvPr/>
        </p:nvSpPr>
        <p:spPr>
          <a:xfrm>
            <a:off x="5632704" y="1261872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555555"/>
                </a:solidFill>
                <a:latin typeface="Calibri"/>
              </a:rPr>
              <a:t>FTE: N/D  ·  Por definir  ·  Salud (EPS/IPS)</a:t>
            </a:r>
          </a:p>
        </p:txBody>
      </p:sp>
      <p:sp>
        <p:nvSpPr>
          <p:cNvPr id="75" name="cc"/>
          <p:cNvSpPr txBox="1">
            <a:spLocks noGrp="1"/>
          </p:cNvSpPr>
          <p:nvPr/>
        </p:nvSpPr>
        <p:spPr>
          <a:xfrm>
            <a:off x="5632704" y="146304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1B7B85"/>
                </a:solidFill>
                <a:latin typeface="Calibri"/>
              </a:rPr>
              <a:t>▷ En evaluacion — oportunidad de entrada al sector salud</a:t>
            </a:r>
          </a:p>
        </p:txBody>
      </p:sp>
      <p:sp>
        <p:nvSpPr>
          <p:cNvPr id="76" name="sep"/>
          <p:cNvSpPr>
            <a:spLocks noGrp="1"/>
          </p:cNvSpPr>
          <p:nvPr/>
        </p:nvSpPr>
        <p:spPr>
          <a:xfrm>
            <a:off x="5632704" y="1682496"/>
            <a:ext cx="2340864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77" name="d"/>
          <p:cNvSpPr txBox="1">
            <a:spLocks noGrp="1"/>
          </p:cNvSpPr>
          <p:nvPr/>
        </p:nvSpPr>
        <p:spPr>
          <a:xfrm>
            <a:off x="5632704" y="1737360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estandarizado</a:t>
            </a:r>
          </a:p>
        </p:txBody>
      </p:sp>
      <p:sp>
        <p:nvSpPr>
          <p:cNvPr id="78" name="d"/>
          <p:cNvSpPr txBox="1">
            <a:spLocks noGrp="1"/>
          </p:cNvSpPr>
          <p:nvPr/>
        </p:nvSpPr>
        <p:spPr>
          <a:xfrm>
            <a:off x="5632704" y="2002536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herramienta ITSM definida — operacion informal</a:t>
            </a:r>
          </a:p>
        </p:txBody>
      </p:sp>
      <p:sp>
        <p:nvSpPr>
          <p:cNvPr id="79" name="d"/>
          <p:cNvSpPr txBox="1">
            <a:spLocks noGrp="1"/>
          </p:cNvSpPr>
          <p:nvPr/>
        </p:nvSpPr>
        <p:spPr>
          <a:xfrm>
            <a:off x="5632704" y="2267712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· Sin roles · Sin catalogo de servicios</a:t>
            </a:r>
          </a:p>
        </p:txBody>
      </p:sp>
      <p:sp>
        <p:nvSpPr>
          <p:cNvPr id="80" name="d"/>
          <p:cNvSpPr txBox="1">
            <a:spLocks noGrp="1"/>
          </p:cNvSpPr>
          <p:nvPr/>
        </p:nvSpPr>
        <p:spPr>
          <a:xfrm>
            <a:off x="5632704" y="2532888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Alta presion regulatoria Minsalud — compliance pendiente</a:t>
            </a:r>
          </a:p>
        </p:txBody>
      </p:sp>
      <p:sp>
        <p:nvSpPr>
          <p:cNvPr id="81" name="d"/>
          <p:cNvSpPr txBox="1">
            <a:spLocks noGrp="1"/>
          </p:cNvSpPr>
          <p:nvPr/>
        </p:nvSpPr>
        <p:spPr>
          <a:xfrm>
            <a:off x="5632704" y="2798064"/>
            <a:ext cx="23408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6B7280"/>
                </a:solidFill>
                <a:latin typeface="Calibri"/>
              </a:rPr>
              <a:t>○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Levantamiento formal pendiente — datos muy preliminares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· Julio 2026 · Reunion con Michael Arevalo (AES) · Virginia y Lina (BCO/SURA) · Excel Levantamiento_Mesas_Julio_2026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4" name="hb"/>
          <p:cNvSpPr>
            <a:spLocks noGrp="1"/>
          </p:cNvSpPr>
          <p:nvPr/>
        </p:nvSpPr>
        <p:spPr>
          <a:xfrm>
            <a:off x="320040" y="109728"/>
            <a:ext cx="530352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hbt"/>
          <p:cNvSpPr txBox="1">
            <a:spLocks noGrp="1"/>
          </p:cNvSpPr>
          <p:nvPr/>
        </p:nvSpPr>
        <p:spPr>
          <a:xfrm>
            <a:off x="320040" y="109728"/>
            <a:ext cx="530352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914400" y="91440"/>
            <a:ext cx="713232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900" b="1" dirty="0">
                <a:solidFill>
                  <a:srgbClr val="FFFFFF"/>
                </a:solidFill>
                <a:latin typeface="Calibri"/>
              </a:rPr>
              <a:t>Nivel N2 — Administrado: Procesos por Mesa, Herramienta Activa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914400" y="566928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FEF9E7"/>
                </a:solidFill>
                <a:latin typeface="Calibri"/>
              </a:rPr>
              <a:t>SURA (Cotizadores · Venta Digital · Automatizacion · Canales Masivos) · XM · 15 FTE total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29184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Cotizadores</a:t>
            </a:r>
          </a:p>
        </p:txBody>
      </p:sp>
      <p:sp>
        <p:nvSpPr>
          <p:cNvPr id="14" name="ci"/>
          <p:cNvSpPr txBox="1">
            <a:spLocks noGrp="1"/>
          </p:cNvSpPr>
          <p:nvPr/>
        </p:nvSpPr>
        <p:spPr>
          <a:xfrm>
            <a:off x="329184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FTE:2 · BMC Remedy</a:t>
            </a:r>
          </a:p>
        </p:txBody>
      </p:sp>
      <p:sp>
        <p:nvSpPr>
          <p:cNvPr id="15" name="cc"/>
          <p:cNvSpPr txBox="1">
            <a:spLocks noGrp="1"/>
          </p:cNvSpPr>
          <p:nvPr/>
        </p:nvSpPr>
        <p:spPr>
          <a:xfrm>
            <a:off x="329184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Renovacion ago · Competencia 2027</a:t>
            </a:r>
          </a:p>
        </p:txBody>
      </p:sp>
      <p:sp>
        <p:nvSpPr>
          <p:cNvPr id="16" name="d"/>
          <p:cNvSpPr txBox="1">
            <a:spLocks noGrp="1"/>
          </p:cNvSpPr>
          <p:nvPr/>
        </p:nvSpPr>
        <p:spPr>
          <a:xfrm>
            <a:off x="329184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 activas</a:t>
            </a:r>
          </a:p>
        </p:txBody>
      </p:sp>
      <p:sp>
        <p:nvSpPr>
          <p:cNvPr id="17" name="d"/>
          <p:cNvSpPr txBox="1">
            <a:spLocks noGrp="1"/>
          </p:cNvSpPr>
          <p:nvPr/>
        </p:nvSpPr>
        <p:spPr>
          <a:xfrm>
            <a:off x="329184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29184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 — N1, N2 y N3 misma persona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29184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29184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por perfil, no por modelo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29184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perdida de conocimiento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29184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 sin integracion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29184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Escalamiento ineficiente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29184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29184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 claro — sin RACI</a:t>
            </a:r>
          </a:p>
        </p:txBody>
      </p:sp>
      <p:sp>
        <p:nvSpPr>
          <p:cNvPr id="26" name="d"/>
          <p:cNvSpPr txBox="1">
            <a:spLocks noGrp="1"/>
          </p:cNvSpPr>
          <p:nvPr/>
        </p:nvSpPr>
        <p:spPr>
          <a:xfrm>
            <a:off x="329184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Catalogo desactualizado</a:t>
            </a:r>
          </a:p>
        </p:txBody>
      </p:sp>
      <p:sp>
        <p:nvSpPr>
          <p:cNvPr id="27" name="d"/>
          <p:cNvSpPr txBox="1">
            <a:spLocks noGrp="1"/>
          </p:cNvSpPr>
          <p:nvPr/>
        </p:nvSpPr>
        <p:spPr>
          <a:xfrm>
            <a:off x="329184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</a:t>
            </a:r>
          </a:p>
        </p:txBody>
      </p:sp>
      <p:sp>
        <p:nvSpPr>
          <p:cNvPr id="35" name="card"/>
          <p:cNvSpPr>
            <a:spLocks noGrp="1"/>
          </p:cNvSpPr>
          <p:nvPr/>
        </p:nvSpPr>
        <p:spPr>
          <a:xfrm>
            <a:off x="1865376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36" name="chdr"/>
          <p:cNvSpPr>
            <a:spLocks noGrp="1"/>
          </p:cNvSpPr>
          <p:nvPr/>
        </p:nvSpPr>
        <p:spPr>
          <a:xfrm>
            <a:off x="1865376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7" name="chdr2"/>
          <p:cNvSpPr>
            <a:spLocks noGrp="1"/>
          </p:cNvSpPr>
          <p:nvPr/>
        </p:nvSpPr>
        <p:spPr>
          <a:xfrm>
            <a:off x="1865376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38" name="cn"/>
          <p:cNvSpPr txBox="1">
            <a:spLocks noGrp="1"/>
          </p:cNvSpPr>
          <p:nvPr/>
        </p:nvSpPr>
        <p:spPr>
          <a:xfrm>
            <a:off x="1920240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Venta Digital</a:t>
            </a:r>
          </a:p>
        </p:txBody>
      </p:sp>
      <p:sp>
        <p:nvSpPr>
          <p:cNvPr id="39" name="ci"/>
          <p:cNvSpPr txBox="1">
            <a:spLocks noGrp="1"/>
          </p:cNvSpPr>
          <p:nvPr/>
        </p:nvSpPr>
        <p:spPr>
          <a:xfrm>
            <a:off x="1920240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FTE:2 · BMC Remedy</a:t>
            </a:r>
          </a:p>
        </p:txBody>
      </p:sp>
      <p:sp>
        <p:nvSpPr>
          <p:cNvPr id="40" name="cc"/>
          <p:cNvSpPr txBox="1">
            <a:spLocks noGrp="1"/>
          </p:cNvSpPr>
          <p:nvPr/>
        </p:nvSpPr>
        <p:spPr>
          <a:xfrm>
            <a:off x="1920240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Renovacion ago · Mesa joven 7 meses</a:t>
            </a:r>
          </a:p>
        </p:txBody>
      </p:sp>
      <p:sp>
        <p:nvSpPr>
          <p:cNvPr id="41" name="d"/>
          <p:cNvSpPr txBox="1">
            <a:spLocks noGrp="1"/>
          </p:cNvSpPr>
          <p:nvPr/>
        </p:nvSpPr>
        <p:spPr>
          <a:xfrm>
            <a:off x="1920240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</a:t>
            </a:r>
          </a:p>
        </p:txBody>
      </p:sp>
      <p:sp>
        <p:nvSpPr>
          <p:cNvPr id="42" name="d"/>
          <p:cNvSpPr txBox="1">
            <a:spLocks noGrp="1"/>
          </p:cNvSpPr>
          <p:nvPr/>
        </p:nvSpPr>
        <p:spPr>
          <a:xfrm>
            <a:off x="1920240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</a:t>
            </a:r>
          </a:p>
        </p:txBody>
      </p:sp>
      <p:sp>
        <p:nvSpPr>
          <p:cNvPr id="43" name="d"/>
          <p:cNvSpPr txBox="1">
            <a:spLocks noGrp="1"/>
          </p:cNvSpPr>
          <p:nvPr/>
        </p:nvSpPr>
        <p:spPr>
          <a:xfrm>
            <a:off x="1920240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dashboard — sin visibilidad ejecutiva</a:t>
            </a:r>
          </a:p>
        </p:txBody>
      </p:sp>
      <p:sp>
        <p:nvSpPr>
          <p:cNvPr id="44" name="d"/>
          <p:cNvSpPr txBox="1">
            <a:spLocks noGrp="1"/>
          </p:cNvSpPr>
          <p:nvPr/>
        </p:nvSpPr>
        <p:spPr>
          <a:xfrm>
            <a:off x="1920240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Alcance no controlado</a:t>
            </a:r>
          </a:p>
        </p:txBody>
      </p:sp>
      <p:sp>
        <p:nvSpPr>
          <p:cNvPr id="45" name="d"/>
          <p:cNvSpPr txBox="1">
            <a:spLocks noGrp="1"/>
          </p:cNvSpPr>
          <p:nvPr/>
        </p:nvSpPr>
        <p:spPr>
          <a:xfrm>
            <a:off x="1920240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46" name="d"/>
          <p:cNvSpPr txBox="1">
            <a:spLocks noGrp="1"/>
          </p:cNvSpPr>
          <p:nvPr/>
        </p:nvSpPr>
        <p:spPr>
          <a:xfrm>
            <a:off x="1920240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47" name="d"/>
          <p:cNvSpPr txBox="1">
            <a:spLocks noGrp="1"/>
          </p:cNvSpPr>
          <p:nvPr/>
        </p:nvSpPr>
        <p:spPr>
          <a:xfrm>
            <a:off x="1920240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conocimiento fragil</a:t>
            </a:r>
          </a:p>
        </p:txBody>
      </p:sp>
      <p:sp>
        <p:nvSpPr>
          <p:cNvPr id="48" name="d"/>
          <p:cNvSpPr txBox="1">
            <a:spLocks noGrp="1"/>
          </p:cNvSpPr>
          <p:nvPr/>
        </p:nvSpPr>
        <p:spPr>
          <a:xfrm>
            <a:off x="1920240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49" name="d"/>
          <p:cNvSpPr txBox="1">
            <a:spLocks noGrp="1"/>
          </p:cNvSpPr>
          <p:nvPr/>
        </p:nvSpPr>
        <p:spPr>
          <a:xfrm>
            <a:off x="1920240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Reportes manuales sin trazabilidad</a:t>
            </a:r>
          </a:p>
        </p:txBody>
      </p:sp>
      <p:sp>
        <p:nvSpPr>
          <p:cNvPr id="50" name="d"/>
          <p:cNvSpPr txBox="1">
            <a:spLocks noGrp="1"/>
          </p:cNvSpPr>
          <p:nvPr/>
        </p:nvSpPr>
        <p:spPr>
          <a:xfrm>
            <a:off x="1920240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51" name="d"/>
          <p:cNvSpPr txBox="1">
            <a:spLocks noGrp="1"/>
          </p:cNvSpPr>
          <p:nvPr/>
        </p:nvSpPr>
        <p:spPr>
          <a:xfrm>
            <a:off x="1920240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52" name="d"/>
          <p:cNvSpPr txBox="1">
            <a:spLocks noGrp="1"/>
          </p:cNvSpPr>
          <p:nvPr/>
        </p:nvSpPr>
        <p:spPr>
          <a:xfrm>
            <a:off x="1920240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</a:t>
            </a:r>
          </a:p>
        </p:txBody>
      </p:sp>
      <p:sp>
        <p:nvSpPr>
          <p:cNvPr id="60" name="card"/>
          <p:cNvSpPr>
            <a:spLocks noGrp="1"/>
          </p:cNvSpPr>
          <p:nvPr/>
        </p:nvSpPr>
        <p:spPr>
          <a:xfrm>
            <a:off x="3456432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61" name="chdr"/>
          <p:cNvSpPr>
            <a:spLocks noGrp="1"/>
          </p:cNvSpPr>
          <p:nvPr/>
        </p:nvSpPr>
        <p:spPr>
          <a:xfrm>
            <a:off x="3456432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62" name="chdr2"/>
          <p:cNvSpPr>
            <a:spLocks noGrp="1"/>
          </p:cNvSpPr>
          <p:nvPr/>
        </p:nvSpPr>
        <p:spPr>
          <a:xfrm>
            <a:off x="3456432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63" name="cn"/>
          <p:cNvSpPr txBox="1">
            <a:spLocks noGrp="1"/>
          </p:cNvSpPr>
          <p:nvPr/>
        </p:nvSpPr>
        <p:spPr>
          <a:xfrm>
            <a:off x="3511296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Automatizacion</a:t>
            </a:r>
          </a:p>
        </p:txBody>
      </p:sp>
      <p:sp>
        <p:nvSpPr>
          <p:cNvPr id="64" name="ci"/>
          <p:cNvSpPr txBox="1">
            <a:spLocks noGrp="1"/>
          </p:cNvSpPr>
          <p:nvPr/>
        </p:nvSpPr>
        <p:spPr>
          <a:xfrm>
            <a:off x="3511296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FTE:6 · BMC+Azure</a:t>
            </a:r>
          </a:p>
        </p:txBody>
      </p:sp>
      <p:sp>
        <p:nvSpPr>
          <p:cNvPr id="65" name="cc"/>
          <p:cNvSpPr txBox="1">
            <a:spLocks noGrp="1"/>
          </p:cNvSpPr>
          <p:nvPr/>
        </p:nvSpPr>
        <p:spPr>
          <a:xfrm>
            <a:off x="3511296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Renovacion ago · Oportunidad estand.</a:t>
            </a:r>
          </a:p>
        </p:txBody>
      </p:sp>
      <p:sp>
        <p:nvSpPr>
          <p:cNvPr id="66" name="d"/>
          <p:cNvSpPr txBox="1">
            <a:spLocks noGrp="1"/>
          </p:cNvSpPr>
          <p:nvPr/>
        </p:nvSpPr>
        <p:spPr>
          <a:xfrm>
            <a:off x="3511296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67" name="d"/>
          <p:cNvSpPr txBox="1">
            <a:spLocks noGrp="1"/>
          </p:cNvSpPr>
          <p:nvPr/>
        </p:nvSpPr>
        <p:spPr>
          <a:xfrm>
            <a:off x="3511296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visibilidad — sin dashboard</a:t>
            </a:r>
          </a:p>
        </p:txBody>
      </p:sp>
      <p:sp>
        <p:nvSpPr>
          <p:cNvPr id="68" name="d"/>
          <p:cNvSpPr txBox="1">
            <a:spLocks noGrp="1"/>
          </p:cNvSpPr>
          <p:nvPr/>
        </p:nvSpPr>
        <p:spPr>
          <a:xfrm>
            <a:off x="3511296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Scope creep — modernizaciones disfrazadas</a:t>
            </a:r>
          </a:p>
        </p:txBody>
      </p:sp>
      <p:sp>
        <p:nvSpPr>
          <p:cNvPr id="69" name="d"/>
          <p:cNvSpPr txBox="1">
            <a:spLocks noGrp="1"/>
          </p:cNvSpPr>
          <p:nvPr/>
        </p:nvSpPr>
        <p:spPr>
          <a:xfrm>
            <a:off x="3511296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70" name="d"/>
          <p:cNvSpPr txBox="1">
            <a:spLocks noGrp="1"/>
          </p:cNvSpPr>
          <p:nvPr/>
        </p:nvSpPr>
        <p:spPr>
          <a:xfrm>
            <a:off x="3511296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71" name="d"/>
          <p:cNvSpPr txBox="1">
            <a:spLocks noGrp="1"/>
          </p:cNvSpPr>
          <p:nvPr/>
        </p:nvSpPr>
        <p:spPr>
          <a:xfrm>
            <a:off x="3511296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</a:t>
            </a:r>
          </a:p>
        </p:txBody>
      </p:sp>
      <p:sp>
        <p:nvSpPr>
          <p:cNvPr id="72" name="d"/>
          <p:cNvSpPr txBox="1">
            <a:spLocks noGrp="1"/>
          </p:cNvSpPr>
          <p:nvPr/>
        </p:nvSpPr>
        <p:spPr>
          <a:xfrm>
            <a:off x="3511296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de personal</a:t>
            </a:r>
          </a:p>
        </p:txBody>
      </p:sp>
      <p:sp>
        <p:nvSpPr>
          <p:cNvPr id="73" name="d"/>
          <p:cNvSpPr txBox="1">
            <a:spLocks noGrp="1"/>
          </p:cNvSpPr>
          <p:nvPr/>
        </p:nvSpPr>
        <p:spPr>
          <a:xfrm>
            <a:off x="3511296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74" name="d"/>
          <p:cNvSpPr txBox="1">
            <a:spLocks noGrp="1"/>
          </p:cNvSpPr>
          <p:nvPr/>
        </p:nvSpPr>
        <p:spPr>
          <a:xfrm>
            <a:off x="3511296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Escalamientos excesivos</a:t>
            </a:r>
          </a:p>
        </p:txBody>
      </p:sp>
      <p:sp>
        <p:nvSpPr>
          <p:cNvPr id="75" name="d"/>
          <p:cNvSpPr txBox="1">
            <a:spLocks noGrp="1"/>
          </p:cNvSpPr>
          <p:nvPr/>
        </p:nvSpPr>
        <p:spPr>
          <a:xfrm>
            <a:off x="3511296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reactiva</a:t>
            </a:r>
          </a:p>
        </p:txBody>
      </p:sp>
      <p:sp>
        <p:nvSpPr>
          <p:cNvPr id="76" name="d"/>
          <p:cNvSpPr txBox="1">
            <a:spLocks noGrp="1"/>
          </p:cNvSpPr>
          <p:nvPr/>
        </p:nvSpPr>
        <p:spPr>
          <a:xfrm>
            <a:off x="3511296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77" name="d"/>
          <p:cNvSpPr txBox="1">
            <a:spLocks noGrp="1"/>
          </p:cNvSpPr>
          <p:nvPr/>
        </p:nvSpPr>
        <p:spPr>
          <a:xfrm>
            <a:off x="3511296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Catalogo desactualizado</a:t>
            </a:r>
          </a:p>
        </p:txBody>
      </p:sp>
      <p:sp>
        <p:nvSpPr>
          <p:cNvPr id="85" name="card"/>
          <p:cNvSpPr>
            <a:spLocks noGrp="1"/>
          </p:cNvSpPr>
          <p:nvPr/>
        </p:nvSpPr>
        <p:spPr>
          <a:xfrm>
            <a:off x="5047488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12700">
            <a:solidFill>
              <a:srgbClr val="C00000"/>
            </a:solidFill>
          </a:ln>
        </p:spPr>
      </p:sp>
      <p:sp>
        <p:nvSpPr>
          <p:cNvPr id="86" name="chdr"/>
          <p:cNvSpPr>
            <a:spLocks noGrp="1"/>
          </p:cNvSpPr>
          <p:nvPr/>
        </p:nvSpPr>
        <p:spPr>
          <a:xfrm>
            <a:off x="5047488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87" name="chdr2"/>
          <p:cNvSpPr>
            <a:spLocks noGrp="1"/>
          </p:cNvSpPr>
          <p:nvPr/>
        </p:nvSpPr>
        <p:spPr>
          <a:xfrm>
            <a:off x="5047488" y="1005840"/>
            <a:ext cx="1536192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88" name="cn"/>
          <p:cNvSpPr txBox="1">
            <a:spLocks noGrp="1"/>
          </p:cNvSpPr>
          <p:nvPr/>
        </p:nvSpPr>
        <p:spPr>
          <a:xfrm>
            <a:off x="5102352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SURA Canales Masivos</a:t>
            </a:r>
          </a:p>
        </p:txBody>
      </p:sp>
      <p:sp>
        <p:nvSpPr>
          <p:cNvPr id="89" name="ci"/>
          <p:cNvSpPr txBox="1">
            <a:spLocks noGrp="1"/>
          </p:cNvSpPr>
          <p:nvPr/>
        </p:nvSpPr>
        <p:spPr>
          <a:xfrm>
            <a:off x="5102352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FTE:1 · BMC Remedy</a:t>
            </a:r>
          </a:p>
        </p:txBody>
      </p:sp>
      <p:sp>
        <p:nvSpPr>
          <p:cNvPr id="90" name="cc"/>
          <p:cNvSpPr txBox="1">
            <a:spLocks noGrp="1"/>
          </p:cNvSpPr>
          <p:nvPr/>
        </p:nvSpPr>
        <p:spPr>
          <a:xfrm>
            <a:off x="5102352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C00000"/>
                </a:solidFill>
                <a:latin typeface="Calibri"/>
              </a:rPr>
              <a:t>RIESGO: 1 FTE — bus factor critico</a:t>
            </a:r>
          </a:p>
        </p:txBody>
      </p:sp>
      <p:sp>
        <p:nvSpPr>
          <p:cNvPr id="91" name="d"/>
          <p:cNvSpPr txBox="1">
            <a:spLocks noGrp="1"/>
          </p:cNvSpPr>
          <p:nvPr/>
        </p:nvSpPr>
        <p:spPr>
          <a:xfrm>
            <a:off x="5102352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SLAs incumplidos con penalizaciones</a:t>
            </a:r>
          </a:p>
        </p:txBody>
      </p:sp>
      <p:sp>
        <p:nvSpPr>
          <p:cNvPr id="92" name="d"/>
          <p:cNvSpPr txBox="1">
            <a:spLocks noGrp="1"/>
          </p:cNvSpPr>
          <p:nvPr/>
        </p:nvSpPr>
        <p:spPr>
          <a:xfrm>
            <a:off x="5102352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1 FTE solo — bus factor critico</a:t>
            </a:r>
          </a:p>
        </p:txBody>
      </p:sp>
      <p:sp>
        <p:nvSpPr>
          <p:cNvPr id="93" name="d"/>
          <p:cNvSpPr txBox="1">
            <a:spLocks noGrp="1"/>
          </p:cNvSpPr>
          <p:nvPr/>
        </p:nvSpPr>
        <p:spPr>
          <a:xfrm>
            <a:off x="5102352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</a:t>
            </a:r>
          </a:p>
        </p:txBody>
      </p:sp>
      <p:sp>
        <p:nvSpPr>
          <p:cNvPr id="94" name="d"/>
          <p:cNvSpPr txBox="1">
            <a:spLocks noGrp="1"/>
          </p:cNvSpPr>
          <p:nvPr/>
        </p:nvSpPr>
        <p:spPr>
          <a:xfrm>
            <a:off x="5102352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 ni visibilidad</a:t>
            </a:r>
          </a:p>
        </p:txBody>
      </p:sp>
      <p:sp>
        <p:nvSpPr>
          <p:cNvPr id="95" name="d"/>
          <p:cNvSpPr txBox="1">
            <a:spLocks noGrp="1"/>
          </p:cNvSpPr>
          <p:nvPr/>
        </p:nvSpPr>
        <p:spPr>
          <a:xfrm>
            <a:off x="5102352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Scope creep — equipo absorbe todo</a:t>
            </a:r>
          </a:p>
        </p:txBody>
      </p:sp>
      <p:sp>
        <p:nvSpPr>
          <p:cNvPr id="96" name="d"/>
          <p:cNvSpPr txBox="1">
            <a:spLocks noGrp="1"/>
          </p:cNvSpPr>
          <p:nvPr/>
        </p:nvSpPr>
        <p:spPr>
          <a:xfrm>
            <a:off x="5102352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Penalizacion de eficiencia</a:t>
            </a:r>
          </a:p>
        </p:txBody>
      </p:sp>
      <p:sp>
        <p:nvSpPr>
          <p:cNvPr id="97" name="d"/>
          <p:cNvSpPr txBox="1">
            <a:spLocks noGrp="1"/>
          </p:cNvSpPr>
          <p:nvPr/>
        </p:nvSpPr>
        <p:spPr>
          <a:xfrm>
            <a:off x="5102352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Roles sin definir</a:t>
            </a:r>
          </a:p>
        </p:txBody>
      </p:sp>
      <p:sp>
        <p:nvSpPr>
          <p:cNvPr id="98" name="d"/>
          <p:cNvSpPr txBox="1">
            <a:spLocks noGrp="1"/>
          </p:cNvSpPr>
          <p:nvPr/>
        </p:nvSpPr>
        <p:spPr>
          <a:xfrm>
            <a:off x="5102352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99" name="d"/>
          <p:cNvSpPr txBox="1">
            <a:spLocks noGrp="1"/>
          </p:cNvSpPr>
          <p:nvPr/>
        </p:nvSpPr>
        <p:spPr>
          <a:xfrm>
            <a:off x="5102352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</a:t>
            </a:r>
          </a:p>
        </p:txBody>
      </p:sp>
      <p:sp>
        <p:nvSpPr>
          <p:cNvPr id="100" name="d"/>
          <p:cNvSpPr txBox="1">
            <a:spLocks noGrp="1"/>
          </p:cNvSpPr>
          <p:nvPr/>
        </p:nvSpPr>
        <p:spPr>
          <a:xfrm>
            <a:off x="5102352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= riesgo maximo</a:t>
            </a:r>
          </a:p>
        </p:txBody>
      </p:sp>
      <p:sp>
        <p:nvSpPr>
          <p:cNvPr id="101" name="d"/>
          <p:cNvSpPr txBox="1">
            <a:spLocks noGrp="1"/>
          </p:cNvSpPr>
          <p:nvPr/>
        </p:nvSpPr>
        <p:spPr>
          <a:xfrm>
            <a:off x="5102352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102" name="d"/>
          <p:cNvSpPr txBox="1">
            <a:spLocks noGrp="1"/>
          </p:cNvSpPr>
          <p:nvPr/>
        </p:nvSpPr>
        <p:spPr>
          <a:xfrm>
            <a:off x="5102352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</a:t>
            </a:r>
          </a:p>
        </p:txBody>
      </p:sp>
      <p:sp>
        <p:nvSpPr>
          <p:cNvPr id="110" name="card"/>
          <p:cNvSpPr>
            <a:spLocks noGrp="1"/>
          </p:cNvSpPr>
          <p:nvPr/>
        </p:nvSpPr>
        <p:spPr>
          <a:xfrm>
            <a:off x="6638544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FFBEA"/>
          </a:solidFill>
          <a:ln w="12700">
            <a:solidFill>
              <a:srgbClr val="F59E0B"/>
            </a:solidFill>
          </a:ln>
        </p:spPr>
      </p:sp>
      <p:sp>
        <p:nvSpPr>
          <p:cNvPr id="111" name="chdr"/>
          <p:cNvSpPr>
            <a:spLocks noGrp="1"/>
          </p:cNvSpPr>
          <p:nvPr/>
        </p:nvSpPr>
        <p:spPr>
          <a:xfrm>
            <a:off x="6638544" y="804672"/>
            <a:ext cx="1536192" cy="329184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112" name="chdr2"/>
          <p:cNvSpPr>
            <a:spLocks noGrp="1"/>
          </p:cNvSpPr>
          <p:nvPr/>
        </p:nvSpPr>
        <p:spPr>
          <a:xfrm>
            <a:off x="6638544" y="1005840"/>
            <a:ext cx="1536192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13" name="cn"/>
          <p:cNvSpPr txBox="1">
            <a:spLocks noGrp="1"/>
          </p:cNvSpPr>
          <p:nvPr/>
        </p:nvSpPr>
        <p:spPr>
          <a:xfrm>
            <a:off x="6693408" y="841248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20" b="1" dirty="0">
                <a:solidFill>
                  <a:srgbClr val="FFFFFF"/>
                </a:solidFill>
                <a:latin typeface="Calibri"/>
              </a:rPr>
              <a:t>XM — Apps Criticas</a:t>
            </a:r>
          </a:p>
        </p:txBody>
      </p:sp>
      <p:sp>
        <p:nvSpPr>
          <p:cNvPr id="114" name="ci"/>
          <p:cNvSpPr txBox="1">
            <a:spLocks noGrp="1"/>
          </p:cNvSpPr>
          <p:nvPr/>
        </p:nvSpPr>
        <p:spPr>
          <a:xfrm>
            <a:off x="6693408" y="1170432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i="1" dirty="0">
                <a:solidFill>
                  <a:srgbClr val="555555"/>
                </a:solidFill>
                <a:latin typeface="Calibri"/>
              </a:rPr>
              <a:t>FTE:4 · ServiceNow</a:t>
            </a:r>
          </a:p>
        </p:txBody>
      </p:sp>
      <p:sp>
        <p:nvSpPr>
          <p:cNvPr id="115" name="cc"/>
          <p:cNvSpPr txBox="1">
            <a:spLocks noGrp="1"/>
          </p:cNvSpPr>
          <p:nvPr/>
        </p:nvSpPr>
        <p:spPr>
          <a:xfrm>
            <a:off x="6693408" y="1371600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59E0B"/>
                </a:solidFill>
                <a:latin typeface="Calibri"/>
              </a:rPr>
              <a:t>Vigente jul 2027 · 24x7 · 14 comps.</a:t>
            </a:r>
          </a:p>
        </p:txBody>
      </p:sp>
      <p:sp>
        <p:nvSpPr>
          <p:cNvPr id="116" name="d"/>
          <p:cNvSpPr txBox="1">
            <a:spLocks noGrp="1"/>
          </p:cNvSpPr>
          <p:nvPr/>
        </p:nvSpPr>
        <p:spPr>
          <a:xfrm>
            <a:off x="6693408" y="159105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autoservicio — todo por call/correo</a:t>
            </a:r>
          </a:p>
        </p:txBody>
      </p:sp>
      <p:sp>
        <p:nvSpPr>
          <p:cNvPr id="117" name="d"/>
          <p:cNvSpPr txBox="1">
            <a:spLocks noGrp="1"/>
          </p:cNvSpPr>
          <p:nvPr/>
        </p:nvSpPr>
        <p:spPr>
          <a:xfrm>
            <a:off x="6693408" y="18288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dashboard — reportes manuales</a:t>
            </a:r>
          </a:p>
        </p:txBody>
      </p:sp>
      <p:sp>
        <p:nvSpPr>
          <p:cNvPr id="118" name="d"/>
          <p:cNvSpPr txBox="1">
            <a:spLocks noGrp="1"/>
          </p:cNvSpPr>
          <p:nvPr/>
        </p:nvSpPr>
        <p:spPr>
          <a:xfrm>
            <a:off x="6693408" y="206654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19" name="d"/>
          <p:cNvSpPr txBox="1">
            <a:spLocks noGrp="1"/>
          </p:cNvSpPr>
          <p:nvPr/>
        </p:nvSpPr>
        <p:spPr>
          <a:xfrm>
            <a:off x="6693408" y="230428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gobierno — sin RACI formal</a:t>
            </a:r>
          </a:p>
        </p:txBody>
      </p:sp>
      <p:sp>
        <p:nvSpPr>
          <p:cNvPr id="120" name="d"/>
          <p:cNvSpPr txBox="1">
            <a:spLocks noGrp="1"/>
          </p:cNvSpPr>
          <p:nvPr/>
        </p:nvSpPr>
        <p:spPr>
          <a:xfrm>
            <a:off x="6693408" y="25420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Penalizacion de eficiencia</a:t>
            </a:r>
          </a:p>
        </p:txBody>
      </p:sp>
      <p:sp>
        <p:nvSpPr>
          <p:cNvPr id="121" name="d"/>
          <p:cNvSpPr txBox="1">
            <a:spLocks noGrp="1"/>
          </p:cNvSpPr>
          <p:nvPr/>
        </p:nvSpPr>
        <p:spPr>
          <a:xfrm>
            <a:off x="6693408" y="277977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122" name="d"/>
          <p:cNvSpPr txBox="1">
            <a:spLocks noGrp="1"/>
          </p:cNvSpPr>
          <p:nvPr/>
        </p:nvSpPr>
        <p:spPr>
          <a:xfrm>
            <a:off x="6693408" y="301752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metricas ni CSAT — solo encuesta anual</a:t>
            </a:r>
          </a:p>
        </p:txBody>
      </p:sp>
      <p:sp>
        <p:nvSpPr>
          <p:cNvPr id="123" name="d"/>
          <p:cNvSpPr txBox="1">
            <a:spLocks noGrp="1"/>
          </p:cNvSpPr>
          <p:nvPr/>
        </p:nvSpPr>
        <p:spPr>
          <a:xfrm>
            <a:off x="6693408" y="3255264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Asignacion sin modelo — 4 FTE para 24x7</a:t>
            </a:r>
          </a:p>
        </p:txBody>
      </p:sp>
      <p:sp>
        <p:nvSpPr>
          <p:cNvPr id="124" name="d"/>
          <p:cNvSpPr txBox="1">
            <a:spLocks noGrp="1"/>
          </p:cNvSpPr>
          <p:nvPr/>
        </p:nvSpPr>
        <p:spPr>
          <a:xfrm>
            <a:off x="6693408" y="3493008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Sin KEDB — conocimiento informal</a:t>
            </a:r>
          </a:p>
        </p:txBody>
      </p:sp>
      <p:sp>
        <p:nvSpPr>
          <p:cNvPr id="125" name="d"/>
          <p:cNvSpPr txBox="1">
            <a:spLocks noGrp="1"/>
          </p:cNvSpPr>
          <p:nvPr/>
        </p:nvSpPr>
        <p:spPr>
          <a:xfrm>
            <a:off x="6693408" y="373075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C00000"/>
                </a:solidFill>
                <a:latin typeface="Calibri"/>
              </a:rPr>
              <a:t>●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Disponibilidad mal dimensionada</a:t>
            </a:r>
          </a:p>
        </p:txBody>
      </p:sp>
      <p:sp>
        <p:nvSpPr>
          <p:cNvPr id="126" name="d"/>
          <p:cNvSpPr txBox="1">
            <a:spLocks noGrp="1"/>
          </p:cNvSpPr>
          <p:nvPr/>
        </p:nvSpPr>
        <p:spPr>
          <a:xfrm>
            <a:off x="6693408" y="3968496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Rotacion — 4 personas en 14 componentes</a:t>
            </a:r>
          </a:p>
        </p:txBody>
      </p:sp>
      <p:sp>
        <p:nvSpPr>
          <p:cNvPr id="127" name="d"/>
          <p:cNvSpPr txBox="1">
            <a:spLocks noGrp="1"/>
          </p:cNvSpPr>
          <p:nvPr/>
        </p:nvSpPr>
        <p:spPr>
          <a:xfrm>
            <a:off x="6693408" y="420624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b="1" dirty="0">
                <a:solidFill>
                  <a:srgbClr val="92400E"/>
                </a:solidFill>
                <a:latin typeface="Calibri"/>
              </a:rPr>
              <a:t>◐ </a:t>
            </a:r>
            <a:r>
              <a:rPr lang="es-ES" sz="720" dirty="0">
                <a:solidFill>
                  <a:srgbClr val="0D1B5E"/>
                </a:solidFill>
                <a:latin typeface="Calibri"/>
              </a:rPr>
              <a:t>Licencia ServiceNow la paga PS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· Julio 2026 · Reunion con Elsy Marin (SURA) y Diego Serna (XM) · Excel Levantamiento_Mesas_Julio_2026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Mapa de Dolores Criticos — Consolidado por Cliente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● Confirmado  ◐ Parcial  ○ No identificado — 18 dolores · 5 clientes</a:t>
            </a:r>
          </a:p>
        </p:txBody>
      </p:sp>
      <p:sp>
        <p:nvSpPr>
          <p:cNvPr id="10" name="dhdr"/>
          <p:cNvSpPr>
            <a:spLocks noGrp="1"/>
          </p:cNvSpPr>
          <p:nvPr/>
        </p:nvSpPr>
        <p:spPr>
          <a:xfrm>
            <a:off x="320040" y="804672"/>
            <a:ext cx="2926080" cy="40233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drt"/>
          <p:cNvSpPr txBox="1">
            <a:spLocks noGrp="1"/>
          </p:cNvSpPr>
          <p:nvPr/>
        </p:nvSpPr>
        <p:spPr>
          <a:xfrm>
            <a:off x="320040" y="80467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ch"/>
          <p:cNvSpPr>
            <a:spLocks noGrp="1"/>
          </p:cNvSpPr>
          <p:nvPr/>
        </p:nvSpPr>
        <p:spPr>
          <a:xfrm>
            <a:off x="3246120" y="804672"/>
            <a:ext cx="896112" cy="40233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cht"/>
          <p:cNvSpPr txBox="1">
            <a:spLocks noGrp="1"/>
          </p:cNvSpPr>
          <p:nvPr/>
        </p:nvSpPr>
        <p:spPr>
          <a:xfrm>
            <a:off x="3246120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SURA
(4 mesas)</a:t>
            </a:r>
          </a:p>
        </p:txBody>
      </p:sp>
      <p:sp>
        <p:nvSpPr>
          <p:cNvPr id="14" name="ch"/>
          <p:cNvSpPr>
            <a:spLocks noGrp="1"/>
          </p:cNvSpPr>
          <p:nvPr/>
        </p:nvSpPr>
        <p:spPr>
          <a:xfrm>
            <a:off x="4142232" y="804672"/>
            <a:ext cx="896112" cy="40233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cht"/>
          <p:cNvSpPr txBox="1">
            <a:spLocks noGrp="1"/>
          </p:cNvSpPr>
          <p:nvPr/>
        </p:nvSpPr>
        <p:spPr>
          <a:xfrm>
            <a:off x="4142232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16" name="ch"/>
          <p:cNvSpPr>
            <a:spLocks noGrp="1"/>
          </p:cNvSpPr>
          <p:nvPr/>
        </p:nvSpPr>
        <p:spPr>
          <a:xfrm>
            <a:off x="5038344" y="804672"/>
            <a:ext cx="896112" cy="40233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7" name="cht"/>
          <p:cNvSpPr txBox="1">
            <a:spLocks noGrp="1"/>
          </p:cNvSpPr>
          <p:nvPr/>
        </p:nvSpPr>
        <p:spPr>
          <a:xfrm>
            <a:off x="5038344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18" name="ch"/>
          <p:cNvSpPr>
            <a:spLocks noGrp="1"/>
          </p:cNvSpPr>
          <p:nvPr/>
        </p:nvSpPr>
        <p:spPr>
          <a:xfrm>
            <a:off x="5934456" y="804672"/>
            <a:ext cx="896112" cy="40233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9" name="cht"/>
          <p:cNvSpPr txBox="1">
            <a:spLocks noGrp="1"/>
          </p:cNvSpPr>
          <p:nvPr/>
        </p:nvSpPr>
        <p:spPr>
          <a:xfrm>
            <a:off x="5934456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BCO
(GIOTI)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6830568" y="804672"/>
            <a:ext cx="896112" cy="402336"/>
          </a:xfrm>
          <a:prstGeom prst="rect">
            <a:avLst/>
          </a:prstGeom>
          <a:solidFill>
            <a:srgbClr val="1F6FBA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6830568" y="804672"/>
            <a:ext cx="896112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60" b="1" dirty="0">
                <a:solidFill>
                  <a:srgbClr val="FFFFFF"/>
                </a:solidFill>
                <a:latin typeface="Calibri"/>
              </a:rPr>
              <a:t>MEDI-
CAR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566928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886968" y="1207008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941832" y="120700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ell"/>
          <p:cNvSpPr>
            <a:spLocks noGrp="1"/>
          </p:cNvSpPr>
          <p:nvPr/>
        </p:nvSpPr>
        <p:spPr>
          <a:xfrm>
            <a:off x="3246120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5" name="celt"/>
          <p:cNvSpPr txBox="1">
            <a:spLocks noGrp="1"/>
          </p:cNvSpPr>
          <p:nvPr/>
        </p:nvSpPr>
        <p:spPr>
          <a:xfrm>
            <a:off x="3246120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" name="cell"/>
          <p:cNvSpPr>
            <a:spLocks noGrp="1"/>
          </p:cNvSpPr>
          <p:nvPr/>
        </p:nvSpPr>
        <p:spPr>
          <a:xfrm>
            <a:off x="4142232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6" name="celt"/>
          <p:cNvSpPr txBox="1">
            <a:spLocks noGrp="1"/>
          </p:cNvSpPr>
          <p:nvPr/>
        </p:nvSpPr>
        <p:spPr>
          <a:xfrm>
            <a:off x="4142232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" name="cell"/>
          <p:cNvSpPr>
            <a:spLocks noGrp="1"/>
          </p:cNvSpPr>
          <p:nvPr/>
        </p:nvSpPr>
        <p:spPr>
          <a:xfrm>
            <a:off x="5038344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7" name="celt"/>
          <p:cNvSpPr txBox="1">
            <a:spLocks noGrp="1"/>
          </p:cNvSpPr>
          <p:nvPr/>
        </p:nvSpPr>
        <p:spPr>
          <a:xfrm>
            <a:off x="5038344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" name="cell"/>
          <p:cNvSpPr>
            <a:spLocks noGrp="1"/>
          </p:cNvSpPr>
          <p:nvPr/>
        </p:nvSpPr>
        <p:spPr>
          <a:xfrm>
            <a:off x="5934456" y="120700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08" name="celt"/>
          <p:cNvSpPr txBox="1">
            <a:spLocks noGrp="1"/>
          </p:cNvSpPr>
          <p:nvPr/>
        </p:nvSpPr>
        <p:spPr>
          <a:xfrm>
            <a:off x="5934456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9" name="cell"/>
          <p:cNvSpPr>
            <a:spLocks noGrp="1"/>
          </p:cNvSpPr>
          <p:nvPr/>
        </p:nvSpPr>
        <p:spPr>
          <a:xfrm>
            <a:off x="6830568" y="120700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9" name="celt"/>
          <p:cNvSpPr txBox="1">
            <a:spLocks noGrp="1"/>
          </p:cNvSpPr>
          <p:nvPr/>
        </p:nvSpPr>
        <p:spPr>
          <a:xfrm>
            <a:off x="6830568" y="120700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12" name="db"/>
          <p:cNvSpPr>
            <a:spLocks noGrp="1"/>
          </p:cNvSpPr>
          <p:nvPr/>
        </p:nvSpPr>
        <p:spPr>
          <a:xfrm>
            <a:off x="886968" y="1408176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13" name="dt"/>
          <p:cNvSpPr txBox="1">
            <a:spLocks noGrp="1"/>
          </p:cNvSpPr>
          <p:nvPr/>
        </p:nvSpPr>
        <p:spPr>
          <a:xfrm>
            <a:off x="941832" y="140817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114" name="cell"/>
          <p:cNvSpPr>
            <a:spLocks noGrp="1"/>
          </p:cNvSpPr>
          <p:nvPr/>
        </p:nvSpPr>
        <p:spPr>
          <a:xfrm>
            <a:off x="3246120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5" name="celt"/>
          <p:cNvSpPr txBox="1">
            <a:spLocks noGrp="1"/>
          </p:cNvSpPr>
          <p:nvPr/>
        </p:nvSpPr>
        <p:spPr>
          <a:xfrm>
            <a:off x="3246120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2" name="cell"/>
          <p:cNvSpPr>
            <a:spLocks noGrp="1"/>
          </p:cNvSpPr>
          <p:nvPr/>
        </p:nvSpPr>
        <p:spPr>
          <a:xfrm>
            <a:off x="4142232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6" name="celt"/>
          <p:cNvSpPr txBox="1">
            <a:spLocks noGrp="1"/>
          </p:cNvSpPr>
          <p:nvPr/>
        </p:nvSpPr>
        <p:spPr>
          <a:xfrm>
            <a:off x="4142232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3" name="cell"/>
          <p:cNvSpPr>
            <a:spLocks noGrp="1"/>
          </p:cNvSpPr>
          <p:nvPr/>
        </p:nvSpPr>
        <p:spPr>
          <a:xfrm>
            <a:off x="5038344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7" name="celt"/>
          <p:cNvSpPr txBox="1">
            <a:spLocks noGrp="1"/>
          </p:cNvSpPr>
          <p:nvPr/>
        </p:nvSpPr>
        <p:spPr>
          <a:xfrm>
            <a:off x="5038344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4" name="cell"/>
          <p:cNvSpPr>
            <a:spLocks noGrp="1"/>
          </p:cNvSpPr>
          <p:nvPr/>
        </p:nvSpPr>
        <p:spPr>
          <a:xfrm>
            <a:off x="5934456" y="140817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8" name="celt"/>
          <p:cNvSpPr txBox="1">
            <a:spLocks noGrp="1"/>
          </p:cNvSpPr>
          <p:nvPr/>
        </p:nvSpPr>
        <p:spPr>
          <a:xfrm>
            <a:off x="5934456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5" name="cell"/>
          <p:cNvSpPr>
            <a:spLocks noGrp="1"/>
          </p:cNvSpPr>
          <p:nvPr/>
        </p:nvSpPr>
        <p:spPr>
          <a:xfrm>
            <a:off x="6830568" y="140817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19" name="celt"/>
          <p:cNvSpPr txBox="1">
            <a:spLocks noGrp="1"/>
          </p:cNvSpPr>
          <p:nvPr/>
        </p:nvSpPr>
        <p:spPr>
          <a:xfrm>
            <a:off x="6830568" y="140817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22" name="db"/>
          <p:cNvSpPr>
            <a:spLocks noGrp="1"/>
          </p:cNvSpPr>
          <p:nvPr/>
        </p:nvSpPr>
        <p:spPr>
          <a:xfrm>
            <a:off x="886968" y="1609344"/>
            <a:ext cx="2359152" cy="201168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</a:ln>
        </p:spPr>
      </p:sp>
      <p:sp>
        <p:nvSpPr>
          <p:cNvPr id="123" name="dt"/>
          <p:cNvSpPr txBox="1">
            <a:spLocks noGrp="1"/>
          </p:cNvSpPr>
          <p:nvPr/>
        </p:nvSpPr>
        <p:spPr>
          <a:xfrm>
            <a:off x="941832" y="160934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desact.</a:t>
            </a:r>
          </a:p>
        </p:txBody>
      </p:sp>
      <p:sp>
        <p:nvSpPr>
          <p:cNvPr id="124" name="cell"/>
          <p:cNvSpPr>
            <a:spLocks noGrp="1"/>
          </p:cNvSpPr>
          <p:nvPr/>
        </p:nvSpPr>
        <p:spPr>
          <a:xfrm>
            <a:off x="3246120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5" name="celt"/>
          <p:cNvSpPr txBox="1">
            <a:spLocks noGrp="1"/>
          </p:cNvSpPr>
          <p:nvPr/>
        </p:nvSpPr>
        <p:spPr>
          <a:xfrm>
            <a:off x="3246120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6" name="cell"/>
          <p:cNvSpPr>
            <a:spLocks noGrp="1"/>
          </p:cNvSpPr>
          <p:nvPr/>
        </p:nvSpPr>
        <p:spPr>
          <a:xfrm>
            <a:off x="4142232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6" name="celt"/>
          <p:cNvSpPr txBox="1">
            <a:spLocks noGrp="1"/>
          </p:cNvSpPr>
          <p:nvPr/>
        </p:nvSpPr>
        <p:spPr>
          <a:xfrm>
            <a:off x="4142232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7" name="cell"/>
          <p:cNvSpPr>
            <a:spLocks noGrp="1"/>
          </p:cNvSpPr>
          <p:nvPr/>
        </p:nvSpPr>
        <p:spPr>
          <a:xfrm>
            <a:off x="5038344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7" name="celt"/>
          <p:cNvSpPr txBox="1">
            <a:spLocks noGrp="1"/>
          </p:cNvSpPr>
          <p:nvPr/>
        </p:nvSpPr>
        <p:spPr>
          <a:xfrm>
            <a:off x="5038344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8" name="cell"/>
          <p:cNvSpPr>
            <a:spLocks noGrp="1"/>
          </p:cNvSpPr>
          <p:nvPr/>
        </p:nvSpPr>
        <p:spPr>
          <a:xfrm>
            <a:off x="5934456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8" name="celt"/>
          <p:cNvSpPr txBox="1">
            <a:spLocks noGrp="1"/>
          </p:cNvSpPr>
          <p:nvPr/>
        </p:nvSpPr>
        <p:spPr>
          <a:xfrm>
            <a:off x="5934456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9" name="cell"/>
          <p:cNvSpPr>
            <a:spLocks noGrp="1"/>
          </p:cNvSpPr>
          <p:nvPr/>
        </p:nvSpPr>
        <p:spPr>
          <a:xfrm>
            <a:off x="6830568" y="160934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9" name="celt"/>
          <p:cNvSpPr txBox="1">
            <a:spLocks noGrp="1"/>
          </p:cNvSpPr>
          <p:nvPr/>
        </p:nvSpPr>
        <p:spPr>
          <a:xfrm>
            <a:off x="6830568" y="160934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0" name="cb"/>
          <p:cNvSpPr>
            <a:spLocks noGrp="1"/>
          </p:cNvSpPr>
          <p:nvPr/>
        </p:nvSpPr>
        <p:spPr>
          <a:xfrm>
            <a:off x="320040" y="1810512"/>
            <a:ext cx="566928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31" name="ct"/>
          <p:cNvSpPr txBox="1">
            <a:spLocks noGrp="1"/>
          </p:cNvSpPr>
          <p:nvPr/>
        </p:nvSpPr>
        <p:spPr>
          <a:xfrm>
            <a:off x="320040" y="18105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92400E"/>
                </a:solidFill>
                <a:latin typeface="Calibri"/>
              </a:rPr>
              <a:t>OPS</a:t>
            </a:r>
          </a:p>
        </p:txBody>
      </p:sp>
      <p:sp>
        <p:nvSpPr>
          <p:cNvPr id="132" name="db"/>
          <p:cNvSpPr>
            <a:spLocks noGrp="1"/>
          </p:cNvSpPr>
          <p:nvPr/>
        </p:nvSpPr>
        <p:spPr>
          <a:xfrm>
            <a:off x="886968" y="1810512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33" name="dt"/>
          <p:cNvSpPr txBox="1">
            <a:spLocks noGrp="1"/>
          </p:cNvSpPr>
          <p:nvPr/>
        </p:nvSpPr>
        <p:spPr>
          <a:xfrm>
            <a:off x="941832" y="181051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34" name="cell"/>
          <p:cNvSpPr>
            <a:spLocks noGrp="1"/>
          </p:cNvSpPr>
          <p:nvPr/>
        </p:nvSpPr>
        <p:spPr>
          <a:xfrm>
            <a:off x="3246120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5" name="celt"/>
          <p:cNvSpPr txBox="1">
            <a:spLocks noGrp="1"/>
          </p:cNvSpPr>
          <p:nvPr/>
        </p:nvSpPr>
        <p:spPr>
          <a:xfrm>
            <a:off x="3246120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0" name="cell"/>
          <p:cNvSpPr>
            <a:spLocks noGrp="1"/>
          </p:cNvSpPr>
          <p:nvPr/>
        </p:nvSpPr>
        <p:spPr>
          <a:xfrm>
            <a:off x="4142232" y="181051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36" name="celt"/>
          <p:cNvSpPr txBox="1">
            <a:spLocks noGrp="1"/>
          </p:cNvSpPr>
          <p:nvPr/>
        </p:nvSpPr>
        <p:spPr>
          <a:xfrm>
            <a:off x="4142232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1" name="cell"/>
          <p:cNvSpPr>
            <a:spLocks noGrp="1"/>
          </p:cNvSpPr>
          <p:nvPr/>
        </p:nvSpPr>
        <p:spPr>
          <a:xfrm>
            <a:off x="5038344" y="181051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37" name="celt"/>
          <p:cNvSpPr txBox="1">
            <a:spLocks noGrp="1"/>
          </p:cNvSpPr>
          <p:nvPr/>
        </p:nvSpPr>
        <p:spPr>
          <a:xfrm>
            <a:off x="5038344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2" name="cell"/>
          <p:cNvSpPr>
            <a:spLocks noGrp="1"/>
          </p:cNvSpPr>
          <p:nvPr/>
        </p:nvSpPr>
        <p:spPr>
          <a:xfrm>
            <a:off x="5934456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8" name="celt"/>
          <p:cNvSpPr txBox="1">
            <a:spLocks noGrp="1"/>
          </p:cNvSpPr>
          <p:nvPr/>
        </p:nvSpPr>
        <p:spPr>
          <a:xfrm>
            <a:off x="5934456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3" name="cell"/>
          <p:cNvSpPr>
            <a:spLocks noGrp="1"/>
          </p:cNvSpPr>
          <p:nvPr/>
        </p:nvSpPr>
        <p:spPr>
          <a:xfrm>
            <a:off x="6830568" y="181051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9" name="celt"/>
          <p:cNvSpPr txBox="1">
            <a:spLocks noGrp="1"/>
          </p:cNvSpPr>
          <p:nvPr/>
        </p:nvSpPr>
        <p:spPr>
          <a:xfrm>
            <a:off x="6830568" y="181051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42" name="db"/>
          <p:cNvSpPr>
            <a:spLocks noGrp="1"/>
          </p:cNvSpPr>
          <p:nvPr/>
        </p:nvSpPr>
        <p:spPr>
          <a:xfrm>
            <a:off x="886968" y="2011680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43" name="dt"/>
          <p:cNvSpPr txBox="1">
            <a:spLocks noGrp="1"/>
          </p:cNvSpPr>
          <p:nvPr/>
        </p:nvSpPr>
        <p:spPr>
          <a:xfrm>
            <a:off x="941832" y="201168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Escalamiento ineficiente</a:t>
            </a:r>
          </a:p>
        </p:txBody>
      </p:sp>
      <p:sp>
        <p:nvSpPr>
          <p:cNvPr id="144" name="cell"/>
          <p:cNvSpPr>
            <a:spLocks noGrp="1"/>
          </p:cNvSpPr>
          <p:nvPr/>
        </p:nvSpPr>
        <p:spPr>
          <a:xfrm>
            <a:off x="3246120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5" name="celt"/>
          <p:cNvSpPr txBox="1">
            <a:spLocks noGrp="1"/>
          </p:cNvSpPr>
          <p:nvPr/>
        </p:nvSpPr>
        <p:spPr>
          <a:xfrm>
            <a:off x="3246120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4" name="cell"/>
          <p:cNvSpPr>
            <a:spLocks noGrp="1"/>
          </p:cNvSpPr>
          <p:nvPr/>
        </p:nvSpPr>
        <p:spPr>
          <a:xfrm>
            <a:off x="4142232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6" name="celt"/>
          <p:cNvSpPr txBox="1">
            <a:spLocks noGrp="1"/>
          </p:cNvSpPr>
          <p:nvPr/>
        </p:nvSpPr>
        <p:spPr>
          <a:xfrm>
            <a:off x="4142232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5" name="cell"/>
          <p:cNvSpPr>
            <a:spLocks noGrp="1"/>
          </p:cNvSpPr>
          <p:nvPr/>
        </p:nvSpPr>
        <p:spPr>
          <a:xfrm>
            <a:off x="5038344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7" name="celt"/>
          <p:cNvSpPr txBox="1">
            <a:spLocks noGrp="1"/>
          </p:cNvSpPr>
          <p:nvPr/>
        </p:nvSpPr>
        <p:spPr>
          <a:xfrm>
            <a:off x="5038344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6" name="cell"/>
          <p:cNvSpPr>
            <a:spLocks noGrp="1"/>
          </p:cNvSpPr>
          <p:nvPr/>
        </p:nvSpPr>
        <p:spPr>
          <a:xfrm>
            <a:off x="5934456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8" name="celt"/>
          <p:cNvSpPr txBox="1">
            <a:spLocks noGrp="1"/>
          </p:cNvSpPr>
          <p:nvPr/>
        </p:nvSpPr>
        <p:spPr>
          <a:xfrm>
            <a:off x="5934456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7" name="cell"/>
          <p:cNvSpPr>
            <a:spLocks noGrp="1"/>
          </p:cNvSpPr>
          <p:nvPr/>
        </p:nvSpPr>
        <p:spPr>
          <a:xfrm>
            <a:off x="6830568" y="201168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9" name="celt"/>
          <p:cNvSpPr txBox="1">
            <a:spLocks noGrp="1"/>
          </p:cNvSpPr>
          <p:nvPr/>
        </p:nvSpPr>
        <p:spPr>
          <a:xfrm>
            <a:off x="6830568" y="201168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52" name="db"/>
          <p:cNvSpPr>
            <a:spLocks noGrp="1"/>
          </p:cNvSpPr>
          <p:nvPr/>
        </p:nvSpPr>
        <p:spPr>
          <a:xfrm>
            <a:off x="886968" y="2212848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53" name="dt"/>
          <p:cNvSpPr txBox="1">
            <a:spLocks noGrp="1"/>
          </p:cNvSpPr>
          <p:nvPr/>
        </p:nvSpPr>
        <p:spPr>
          <a:xfrm>
            <a:off x="941832" y="221284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ctrl.</a:t>
            </a:r>
          </a:p>
        </p:txBody>
      </p:sp>
      <p:sp>
        <p:nvSpPr>
          <p:cNvPr id="154" name="cell"/>
          <p:cNvSpPr>
            <a:spLocks noGrp="1"/>
          </p:cNvSpPr>
          <p:nvPr/>
        </p:nvSpPr>
        <p:spPr>
          <a:xfrm>
            <a:off x="3246120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5" name="celt"/>
          <p:cNvSpPr txBox="1">
            <a:spLocks noGrp="1"/>
          </p:cNvSpPr>
          <p:nvPr/>
        </p:nvSpPr>
        <p:spPr>
          <a:xfrm>
            <a:off x="3246120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8" name="cell"/>
          <p:cNvSpPr>
            <a:spLocks noGrp="1"/>
          </p:cNvSpPr>
          <p:nvPr/>
        </p:nvSpPr>
        <p:spPr>
          <a:xfrm>
            <a:off x="4142232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6" name="celt"/>
          <p:cNvSpPr txBox="1">
            <a:spLocks noGrp="1"/>
          </p:cNvSpPr>
          <p:nvPr/>
        </p:nvSpPr>
        <p:spPr>
          <a:xfrm>
            <a:off x="4142232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9" name="cell"/>
          <p:cNvSpPr>
            <a:spLocks noGrp="1"/>
          </p:cNvSpPr>
          <p:nvPr/>
        </p:nvSpPr>
        <p:spPr>
          <a:xfrm>
            <a:off x="5038344" y="221284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7" name="celt"/>
          <p:cNvSpPr txBox="1">
            <a:spLocks noGrp="1"/>
          </p:cNvSpPr>
          <p:nvPr/>
        </p:nvSpPr>
        <p:spPr>
          <a:xfrm>
            <a:off x="5038344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0" name="cell"/>
          <p:cNvSpPr>
            <a:spLocks noGrp="1"/>
          </p:cNvSpPr>
          <p:nvPr/>
        </p:nvSpPr>
        <p:spPr>
          <a:xfrm>
            <a:off x="5934456" y="221284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8" name="celt"/>
          <p:cNvSpPr txBox="1">
            <a:spLocks noGrp="1"/>
          </p:cNvSpPr>
          <p:nvPr/>
        </p:nvSpPr>
        <p:spPr>
          <a:xfrm>
            <a:off x="5934456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1" name="cell"/>
          <p:cNvSpPr>
            <a:spLocks noGrp="1"/>
          </p:cNvSpPr>
          <p:nvPr/>
        </p:nvSpPr>
        <p:spPr>
          <a:xfrm>
            <a:off x="6830568" y="2212848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9" name="celt"/>
          <p:cNvSpPr txBox="1">
            <a:spLocks noGrp="1"/>
          </p:cNvSpPr>
          <p:nvPr/>
        </p:nvSpPr>
        <p:spPr>
          <a:xfrm>
            <a:off x="6830568" y="221284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62" name="db"/>
          <p:cNvSpPr>
            <a:spLocks noGrp="1"/>
          </p:cNvSpPr>
          <p:nvPr/>
        </p:nvSpPr>
        <p:spPr>
          <a:xfrm>
            <a:off x="886968" y="2414016"/>
            <a:ext cx="235915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</a:ln>
        </p:spPr>
      </p:sp>
      <p:sp>
        <p:nvSpPr>
          <p:cNvPr id="163" name="dt"/>
          <p:cNvSpPr txBox="1">
            <a:spLocks noGrp="1"/>
          </p:cNvSpPr>
          <p:nvPr/>
        </p:nvSpPr>
        <p:spPr>
          <a:xfrm>
            <a:off x="941832" y="241401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164" name="cell"/>
          <p:cNvSpPr>
            <a:spLocks noGrp="1"/>
          </p:cNvSpPr>
          <p:nvPr/>
        </p:nvSpPr>
        <p:spPr>
          <a:xfrm>
            <a:off x="3246120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5" name="celt"/>
          <p:cNvSpPr txBox="1">
            <a:spLocks noGrp="1"/>
          </p:cNvSpPr>
          <p:nvPr/>
        </p:nvSpPr>
        <p:spPr>
          <a:xfrm>
            <a:off x="3246120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2" name="cell"/>
          <p:cNvSpPr>
            <a:spLocks noGrp="1"/>
          </p:cNvSpPr>
          <p:nvPr/>
        </p:nvSpPr>
        <p:spPr>
          <a:xfrm>
            <a:off x="4142232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6" name="celt"/>
          <p:cNvSpPr txBox="1">
            <a:spLocks noGrp="1"/>
          </p:cNvSpPr>
          <p:nvPr/>
        </p:nvSpPr>
        <p:spPr>
          <a:xfrm>
            <a:off x="4142232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3" name="cell"/>
          <p:cNvSpPr>
            <a:spLocks noGrp="1"/>
          </p:cNvSpPr>
          <p:nvPr/>
        </p:nvSpPr>
        <p:spPr>
          <a:xfrm>
            <a:off x="5038344" y="241401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7" name="celt"/>
          <p:cNvSpPr txBox="1">
            <a:spLocks noGrp="1"/>
          </p:cNvSpPr>
          <p:nvPr/>
        </p:nvSpPr>
        <p:spPr>
          <a:xfrm>
            <a:off x="5038344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4" name="cell"/>
          <p:cNvSpPr>
            <a:spLocks noGrp="1"/>
          </p:cNvSpPr>
          <p:nvPr/>
        </p:nvSpPr>
        <p:spPr>
          <a:xfrm>
            <a:off x="5934456" y="241401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8" name="celt"/>
          <p:cNvSpPr txBox="1">
            <a:spLocks noGrp="1"/>
          </p:cNvSpPr>
          <p:nvPr/>
        </p:nvSpPr>
        <p:spPr>
          <a:xfrm>
            <a:off x="5934456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" name="cell"/>
          <p:cNvSpPr>
            <a:spLocks noGrp="1"/>
          </p:cNvSpPr>
          <p:nvPr/>
        </p:nvSpPr>
        <p:spPr>
          <a:xfrm>
            <a:off x="6830568" y="241401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9" name="celt"/>
          <p:cNvSpPr txBox="1">
            <a:spLocks noGrp="1"/>
          </p:cNvSpPr>
          <p:nvPr/>
        </p:nvSpPr>
        <p:spPr>
          <a:xfrm>
            <a:off x="6830568" y="241401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170" name="cb"/>
          <p:cNvSpPr>
            <a:spLocks noGrp="1"/>
          </p:cNvSpPr>
          <p:nvPr/>
        </p:nvSpPr>
        <p:spPr>
          <a:xfrm>
            <a:off x="320040" y="2615184"/>
            <a:ext cx="566928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71" name="ct"/>
          <p:cNvSpPr txBox="1">
            <a:spLocks noGrp="1"/>
          </p:cNvSpPr>
          <p:nvPr/>
        </p:nvSpPr>
        <p:spPr>
          <a:xfrm>
            <a:off x="320040" y="261518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1A6B3C"/>
                </a:solidFill>
                <a:latin typeface="Calibri"/>
              </a:rPr>
              <a:t>MET</a:t>
            </a:r>
          </a:p>
        </p:txBody>
      </p:sp>
      <p:sp>
        <p:nvSpPr>
          <p:cNvPr id="172" name="db"/>
          <p:cNvSpPr>
            <a:spLocks noGrp="1"/>
          </p:cNvSpPr>
          <p:nvPr/>
        </p:nvSpPr>
        <p:spPr>
          <a:xfrm>
            <a:off x="886968" y="2615184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73" name="dt"/>
          <p:cNvSpPr txBox="1">
            <a:spLocks noGrp="1"/>
          </p:cNvSpPr>
          <p:nvPr/>
        </p:nvSpPr>
        <p:spPr>
          <a:xfrm>
            <a:off x="941832" y="261518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174" name="cell"/>
          <p:cNvSpPr>
            <a:spLocks noGrp="1"/>
          </p:cNvSpPr>
          <p:nvPr/>
        </p:nvSpPr>
        <p:spPr>
          <a:xfrm>
            <a:off x="3246120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5" name="celt"/>
          <p:cNvSpPr txBox="1">
            <a:spLocks noGrp="1"/>
          </p:cNvSpPr>
          <p:nvPr/>
        </p:nvSpPr>
        <p:spPr>
          <a:xfrm>
            <a:off x="3246120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" name="cell"/>
          <p:cNvSpPr>
            <a:spLocks noGrp="1"/>
          </p:cNvSpPr>
          <p:nvPr/>
        </p:nvSpPr>
        <p:spPr>
          <a:xfrm>
            <a:off x="4142232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6" name="celt"/>
          <p:cNvSpPr txBox="1">
            <a:spLocks noGrp="1"/>
          </p:cNvSpPr>
          <p:nvPr/>
        </p:nvSpPr>
        <p:spPr>
          <a:xfrm>
            <a:off x="4142232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7" name="cell"/>
          <p:cNvSpPr>
            <a:spLocks noGrp="1"/>
          </p:cNvSpPr>
          <p:nvPr/>
        </p:nvSpPr>
        <p:spPr>
          <a:xfrm>
            <a:off x="5038344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7" name="celt"/>
          <p:cNvSpPr txBox="1">
            <a:spLocks noGrp="1"/>
          </p:cNvSpPr>
          <p:nvPr/>
        </p:nvSpPr>
        <p:spPr>
          <a:xfrm>
            <a:off x="5038344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8" name="cell"/>
          <p:cNvSpPr>
            <a:spLocks noGrp="1"/>
          </p:cNvSpPr>
          <p:nvPr/>
        </p:nvSpPr>
        <p:spPr>
          <a:xfrm>
            <a:off x="5934456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8" name="celt"/>
          <p:cNvSpPr txBox="1">
            <a:spLocks noGrp="1"/>
          </p:cNvSpPr>
          <p:nvPr/>
        </p:nvSpPr>
        <p:spPr>
          <a:xfrm>
            <a:off x="5934456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9" name="cell"/>
          <p:cNvSpPr>
            <a:spLocks noGrp="1"/>
          </p:cNvSpPr>
          <p:nvPr/>
        </p:nvSpPr>
        <p:spPr>
          <a:xfrm>
            <a:off x="6830568" y="261518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79" name="celt"/>
          <p:cNvSpPr txBox="1">
            <a:spLocks noGrp="1"/>
          </p:cNvSpPr>
          <p:nvPr/>
        </p:nvSpPr>
        <p:spPr>
          <a:xfrm>
            <a:off x="6830568" y="261518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82" name="db"/>
          <p:cNvSpPr>
            <a:spLocks noGrp="1"/>
          </p:cNvSpPr>
          <p:nvPr/>
        </p:nvSpPr>
        <p:spPr>
          <a:xfrm>
            <a:off x="886968" y="2816352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83" name="dt"/>
          <p:cNvSpPr txBox="1">
            <a:spLocks noGrp="1"/>
          </p:cNvSpPr>
          <p:nvPr/>
        </p:nvSpPr>
        <p:spPr>
          <a:xfrm>
            <a:off x="941832" y="281635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ni visibilidad</a:t>
            </a:r>
          </a:p>
        </p:txBody>
      </p:sp>
      <p:sp>
        <p:nvSpPr>
          <p:cNvPr id="184" name="cell"/>
          <p:cNvSpPr>
            <a:spLocks noGrp="1"/>
          </p:cNvSpPr>
          <p:nvPr/>
        </p:nvSpPr>
        <p:spPr>
          <a:xfrm>
            <a:off x="3246120" y="2816352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85" name="celt"/>
          <p:cNvSpPr txBox="1">
            <a:spLocks noGrp="1"/>
          </p:cNvSpPr>
          <p:nvPr/>
        </p:nvSpPr>
        <p:spPr>
          <a:xfrm>
            <a:off x="3246120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50" name="cell"/>
          <p:cNvSpPr>
            <a:spLocks noGrp="1"/>
          </p:cNvSpPr>
          <p:nvPr/>
        </p:nvSpPr>
        <p:spPr>
          <a:xfrm>
            <a:off x="4142232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6" name="celt"/>
          <p:cNvSpPr txBox="1">
            <a:spLocks noGrp="1"/>
          </p:cNvSpPr>
          <p:nvPr/>
        </p:nvSpPr>
        <p:spPr>
          <a:xfrm>
            <a:off x="4142232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1" name="cell"/>
          <p:cNvSpPr>
            <a:spLocks noGrp="1"/>
          </p:cNvSpPr>
          <p:nvPr/>
        </p:nvSpPr>
        <p:spPr>
          <a:xfrm>
            <a:off x="5038344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7" name="celt"/>
          <p:cNvSpPr txBox="1">
            <a:spLocks noGrp="1"/>
          </p:cNvSpPr>
          <p:nvPr/>
        </p:nvSpPr>
        <p:spPr>
          <a:xfrm>
            <a:off x="5038344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2" name="cell"/>
          <p:cNvSpPr>
            <a:spLocks noGrp="1"/>
          </p:cNvSpPr>
          <p:nvPr/>
        </p:nvSpPr>
        <p:spPr>
          <a:xfrm>
            <a:off x="5934456" y="281635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8" name="celt"/>
          <p:cNvSpPr txBox="1">
            <a:spLocks noGrp="1"/>
          </p:cNvSpPr>
          <p:nvPr/>
        </p:nvSpPr>
        <p:spPr>
          <a:xfrm>
            <a:off x="5934456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3" name="cell"/>
          <p:cNvSpPr>
            <a:spLocks noGrp="1"/>
          </p:cNvSpPr>
          <p:nvPr/>
        </p:nvSpPr>
        <p:spPr>
          <a:xfrm>
            <a:off x="6830568" y="281635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89" name="celt"/>
          <p:cNvSpPr txBox="1">
            <a:spLocks noGrp="1"/>
          </p:cNvSpPr>
          <p:nvPr/>
        </p:nvSpPr>
        <p:spPr>
          <a:xfrm>
            <a:off x="6830568" y="281635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92" name="db"/>
          <p:cNvSpPr>
            <a:spLocks noGrp="1"/>
          </p:cNvSpPr>
          <p:nvPr/>
        </p:nvSpPr>
        <p:spPr>
          <a:xfrm>
            <a:off x="886968" y="3017520"/>
            <a:ext cx="2359152" cy="201168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</a:ln>
        </p:spPr>
      </p:sp>
      <p:sp>
        <p:nvSpPr>
          <p:cNvPr id="193" name="dt"/>
          <p:cNvSpPr txBox="1">
            <a:spLocks noGrp="1"/>
          </p:cNvSpPr>
          <p:nvPr/>
        </p:nvSpPr>
        <p:spPr>
          <a:xfrm>
            <a:off x="941832" y="301752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Reportes manuales</a:t>
            </a:r>
          </a:p>
        </p:txBody>
      </p:sp>
      <p:sp>
        <p:nvSpPr>
          <p:cNvPr id="194" name="cell"/>
          <p:cNvSpPr>
            <a:spLocks noGrp="1"/>
          </p:cNvSpPr>
          <p:nvPr/>
        </p:nvSpPr>
        <p:spPr>
          <a:xfrm>
            <a:off x="3246120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5" name="celt"/>
          <p:cNvSpPr txBox="1">
            <a:spLocks noGrp="1"/>
          </p:cNvSpPr>
          <p:nvPr/>
        </p:nvSpPr>
        <p:spPr>
          <a:xfrm>
            <a:off x="3246120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4" name="cell"/>
          <p:cNvSpPr>
            <a:spLocks noGrp="1"/>
          </p:cNvSpPr>
          <p:nvPr/>
        </p:nvSpPr>
        <p:spPr>
          <a:xfrm>
            <a:off x="4142232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6" name="celt"/>
          <p:cNvSpPr txBox="1">
            <a:spLocks noGrp="1"/>
          </p:cNvSpPr>
          <p:nvPr/>
        </p:nvSpPr>
        <p:spPr>
          <a:xfrm>
            <a:off x="4142232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5" name="cell"/>
          <p:cNvSpPr>
            <a:spLocks noGrp="1"/>
          </p:cNvSpPr>
          <p:nvPr/>
        </p:nvSpPr>
        <p:spPr>
          <a:xfrm>
            <a:off x="5038344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7" name="celt"/>
          <p:cNvSpPr txBox="1">
            <a:spLocks noGrp="1"/>
          </p:cNvSpPr>
          <p:nvPr/>
        </p:nvSpPr>
        <p:spPr>
          <a:xfrm>
            <a:off x="5038344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6" name="cell"/>
          <p:cNvSpPr>
            <a:spLocks noGrp="1"/>
          </p:cNvSpPr>
          <p:nvPr/>
        </p:nvSpPr>
        <p:spPr>
          <a:xfrm>
            <a:off x="5934456" y="301752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8" name="celt"/>
          <p:cNvSpPr txBox="1">
            <a:spLocks noGrp="1"/>
          </p:cNvSpPr>
          <p:nvPr/>
        </p:nvSpPr>
        <p:spPr>
          <a:xfrm>
            <a:off x="5934456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7" name="cell"/>
          <p:cNvSpPr>
            <a:spLocks noGrp="1"/>
          </p:cNvSpPr>
          <p:nvPr/>
        </p:nvSpPr>
        <p:spPr>
          <a:xfrm>
            <a:off x="6830568" y="3017520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99" name="celt"/>
          <p:cNvSpPr txBox="1">
            <a:spLocks noGrp="1"/>
          </p:cNvSpPr>
          <p:nvPr/>
        </p:nvSpPr>
        <p:spPr>
          <a:xfrm>
            <a:off x="6830568" y="301752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00" name="cb"/>
          <p:cNvSpPr>
            <a:spLocks noGrp="1"/>
          </p:cNvSpPr>
          <p:nvPr/>
        </p:nvSpPr>
        <p:spPr>
          <a:xfrm>
            <a:off x="320040" y="3218688"/>
            <a:ext cx="566928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01" name="ct"/>
          <p:cNvSpPr txBox="1">
            <a:spLocks noGrp="1"/>
          </p:cNvSpPr>
          <p:nvPr/>
        </p:nvSpPr>
        <p:spPr>
          <a:xfrm>
            <a:off x="320040" y="321868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02" name="db"/>
          <p:cNvSpPr>
            <a:spLocks noGrp="1"/>
          </p:cNvSpPr>
          <p:nvPr/>
        </p:nvSpPr>
        <p:spPr>
          <a:xfrm>
            <a:off x="886968" y="3218688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03" name="dt"/>
          <p:cNvSpPr txBox="1">
            <a:spLocks noGrp="1"/>
          </p:cNvSpPr>
          <p:nvPr/>
        </p:nvSpPr>
        <p:spPr>
          <a:xfrm>
            <a:off x="941832" y="321868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x call</a:t>
            </a:r>
          </a:p>
        </p:txBody>
      </p:sp>
      <p:sp>
        <p:nvSpPr>
          <p:cNvPr id="204" name="cell"/>
          <p:cNvSpPr>
            <a:spLocks noGrp="1"/>
          </p:cNvSpPr>
          <p:nvPr/>
        </p:nvSpPr>
        <p:spPr>
          <a:xfrm>
            <a:off x="3246120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5" name="celt"/>
          <p:cNvSpPr txBox="1">
            <a:spLocks noGrp="1"/>
          </p:cNvSpPr>
          <p:nvPr/>
        </p:nvSpPr>
        <p:spPr>
          <a:xfrm>
            <a:off x="3246120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8" name="cell"/>
          <p:cNvSpPr>
            <a:spLocks noGrp="1"/>
          </p:cNvSpPr>
          <p:nvPr/>
        </p:nvSpPr>
        <p:spPr>
          <a:xfrm>
            <a:off x="4142232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6" name="celt"/>
          <p:cNvSpPr txBox="1">
            <a:spLocks noGrp="1"/>
          </p:cNvSpPr>
          <p:nvPr/>
        </p:nvSpPr>
        <p:spPr>
          <a:xfrm>
            <a:off x="4142232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9" name="cell"/>
          <p:cNvSpPr>
            <a:spLocks noGrp="1"/>
          </p:cNvSpPr>
          <p:nvPr/>
        </p:nvSpPr>
        <p:spPr>
          <a:xfrm>
            <a:off x="5038344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7" name="celt"/>
          <p:cNvSpPr txBox="1">
            <a:spLocks noGrp="1"/>
          </p:cNvSpPr>
          <p:nvPr/>
        </p:nvSpPr>
        <p:spPr>
          <a:xfrm>
            <a:off x="5038344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0" name="cell"/>
          <p:cNvSpPr>
            <a:spLocks noGrp="1"/>
          </p:cNvSpPr>
          <p:nvPr/>
        </p:nvSpPr>
        <p:spPr>
          <a:xfrm>
            <a:off x="5934456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8" name="celt"/>
          <p:cNvSpPr txBox="1">
            <a:spLocks noGrp="1"/>
          </p:cNvSpPr>
          <p:nvPr/>
        </p:nvSpPr>
        <p:spPr>
          <a:xfrm>
            <a:off x="5934456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1" name="cell"/>
          <p:cNvSpPr>
            <a:spLocks noGrp="1"/>
          </p:cNvSpPr>
          <p:nvPr/>
        </p:nvSpPr>
        <p:spPr>
          <a:xfrm>
            <a:off x="6830568" y="321868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9" name="celt"/>
          <p:cNvSpPr txBox="1">
            <a:spLocks noGrp="1"/>
          </p:cNvSpPr>
          <p:nvPr/>
        </p:nvSpPr>
        <p:spPr>
          <a:xfrm>
            <a:off x="6830568" y="321868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12" name="db"/>
          <p:cNvSpPr>
            <a:spLocks noGrp="1"/>
          </p:cNvSpPr>
          <p:nvPr/>
        </p:nvSpPr>
        <p:spPr>
          <a:xfrm>
            <a:off x="886968" y="3419856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13" name="dt"/>
          <p:cNvSpPr txBox="1">
            <a:spLocks noGrp="1"/>
          </p:cNvSpPr>
          <p:nvPr/>
        </p:nvSpPr>
        <p:spPr>
          <a:xfrm>
            <a:off x="941832" y="341985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14" name="cell"/>
          <p:cNvSpPr>
            <a:spLocks noGrp="1"/>
          </p:cNvSpPr>
          <p:nvPr/>
        </p:nvSpPr>
        <p:spPr>
          <a:xfrm>
            <a:off x="3246120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5" name="celt"/>
          <p:cNvSpPr txBox="1">
            <a:spLocks noGrp="1"/>
          </p:cNvSpPr>
          <p:nvPr/>
        </p:nvSpPr>
        <p:spPr>
          <a:xfrm>
            <a:off x="3246120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2" name="cell"/>
          <p:cNvSpPr>
            <a:spLocks noGrp="1"/>
          </p:cNvSpPr>
          <p:nvPr/>
        </p:nvSpPr>
        <p:spPr>
          <a:xfrm>
            <a:off x="4142232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6" name="celt"/>
          <p:cNvSpPr txBox="1">
            <a:spLocks noGrp="1"/>
          </p:cNvSpPr>
          <p:nvPr/>
        </p:nvSpPr>
        <p:spPr>
          <a:xfrm>
            <a:off x="4142232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3" name="cell"/>
          <p:cNvSpPr>
            <a:spLocks noGrp="1"/>
          </p:cNvSpPr>
          <p:nvPr/>
        </p:nvSpPr>
        <p:spPr>
          <a:xfrm>
            <a:off x="5038344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7" name="celt"/>
          <p:cNvSpPr txBox="1">
            <a:spLocks noGrp="1"/>
          </p:cNvSpPr>
          <p:nvPr/>
        </p:nvSpPr>
        <p:spPr>
          <a:xfrm>
            <a:off x="5038344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48" name="cell"/>
          <p:cNvSpPr>
            <a:spLocks noGrp="1"/>
          </p:cNvSpPr>
          <p:nvPr/>
        </p:nvSpPr>
        <p:spPr>
          <a:xfrm>
            <a:off x="5934456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8" name="celt"/>
          <p:cNvSpPr txBox="1">
            <a:spLocks noGrp="1"/>
          </p:cNvSpPr>
          <p:nvPr/>
        </p:nvSpPr>
        <p:spPr>
          <a:xfrm>
            <a:off x="5934456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49" name="cell"/>
          <p:cNvSpPr>
            <a:spLocks noGrp="1"/>
          </p:cNvSpPr>
          <p:nvPr/>
        </p:nvSpPr>
        <p:spPr>
          <a:xfrm>
            <a:off x="6830568" y="3419856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9" name="celt"/>
          <p:cNvSpPr txBox="1">
            <a:spLocks noGrp="1"/>
          </p:cNvSpPr>
          <p:nvPr/>
        </p:nvSpPr>
        <p:spPr>
          <a:xfrm>
            <a:off x="6830568" y="341985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22" name="db"/>
          <p:cNvSpPr>
            <a:spLocks noGrp="1"/>
          </p:cNvSpPr>
          <p:nvPr/>
        </p:nvSpPr>
        <p:spPr>
          <a:xfrm>
            <a:off x="886968" y="3621024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23" name="dt"/>
          <p:cNvSpPr txBox="1">
            <a:spLocks noGrp="1"/>
          </p:cNvSpPr>
          <p:nvPr/>
        </p:nvSpPr>
        <p:spPr>
          <a:xfrm>
            <a:off x="941832" y="362102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24" name="cell"/>
          <p:cNvSpPr>
            <a:spLocks noGrp="1"/>
          </p:cNvSpPr>
          <p:nvPr/>
        </p:nvSpPr>
        <p:spPr>
          <a:xfrm>
            <a:off x="3246120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5" name="celt"/>
          <p:cNvSpPr txBox="1">
            <a:spLocks noGrp="1"/>
          </p:cNvSpPr>
          <p:nvPr/>
        </p:nvSpPr>
        <p:spPr>
          <a:xfrm>
            <a:off x="3246120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0" name="cell"/>
          <p:cNvSpPr>
            <a:spLocks noGrp="1"/>
          </p:cNvSpPr>
          <p:nvPr/>
        </p:nvSpPr>
        <p:spPr>
          <a:xfrm>
            <a:off x="4142232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6" name="celt"/>
          <p:cNvSpPr txBox="1">
            <a:spLocks noGrp="1"/>
          </p:cNvSpPr>
          <p:nvPr/>
        </p:nvSpPr>
        <p:spPr>
          <a:xfrm>
            <a:off x="4142232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1" name="cell"/>
          <p:cNvSpPr>
            <a:spLocks noGrp="1"/>
          </p:cNvSpPr>
          <p:nvPr/>
        </p:nvSpPr>
        <p:spPr>
          <a:xfrm>
            <a:off x="5038344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7" name="celt"/>
          <p:cNvSpPr txBox="1">
            <a:spLocks noGrp="1"/>
          </p:cNvSpPr>
          <p:nvPr/>
        </p:nvSpPr>
        <p:spPr>
          <a:xfrm>
            <a:off x="5038344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2" name="cell"/>
          <p:cNvSpPr>
            <a:spLocks noGrp="1"/>
          </p:cNvSpPr>
          <p:nvPr/>
        </p:nvSpPr>
        <p:spPr>
          <a:xfrm>
            <a:off x="5934456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8" name="celt"/>
          <p:cNvSpPr txBox="1">
            <a:spLocks noGrp="1"/>
          </p:cNvSpPr>
          <p:nvPr/>
        </p:nvSpPr>
        <p:spPr>
          <a:xfrm>
            <a:off x="5934456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3" name="cell"/>
          <p:cNvSpPr>
            <a:spLocks noGrp="1"/>
          </p:cNvSpPr>
          <p:nvPr/>
        </p:nvSpPr>
        <p:spPr>
          <a:xfrm>
            <a:off x="6830568" y="3621024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9" name="celt"/>
          <p:cNvSpPr txBox="1">
            <a:spLocks noGrp="1"/>
          </p:cNvSpPr>
          <p:nvPr/>
        </p:nvSpPr>
        <p:spPr>
          <a:xfrm>
            <a:off x="6830568" y="362102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32" name="db"/>
          <p:cNvSpPr>
            <a:spLocks noGrp="1"/>
          </p:cNvSpPr>
          <p:nvPr/>
        </p:nvSpPr>
        <p:spPr>
          <a:xfrm>
            <a:off x="886968" y="3822192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33" name="dt"/>
          <p:cNvSpPr txBox="1">
            <a:spLocks noGrp="1"/>
          </p:cNvSpPr>
          <p:nvPr/>
        </p:nvSpPr>
        <p:spPr>
          <a:xfrm>
            <a:off x="941832" y="3822192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234" name="cell"/>
          <p:cNvSpPr>
            <a:spLocks noGrp="1"/>
          </p:cNvSpPr>
          <p:nvPr/>
        </p:nvSpPr>
        <p:spPr>
          <a:xfrm>
            <a:off x="3246120" y="382219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5" name="celt"/>
          <p:cNvSpPr txBox="1">
            <a:spLocks noGrp="1"/>
          </p:cNvSpPr>
          <p:nvPr/>
        </p:nvSpPr>
        <p:spPr>
          <a:xfrm>
            <a:off x="3246120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4" name="cell"/>
          <p:cNvSpPr>
            <a:spLocks noGrp="1"/>
          </p:cNvSpPr>
          <p:nvPr/>
        </p:nvSpPr>
        <p:spPr>
          <a:xfrm>
            <a:off x="4142232" y="3822192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6" name="celt"/>
          <p:cNvSpPr txBox="1">
            <a:spLocks noGrp="1"/>
          </p:cNvSpPr>
          <p:nvPr/>
        </p:nvSpPr>
        <p:spPr>
          <a:xfrm>
            <a:off x="4142232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5" name="cell"/>
          <p:cNvSpPr>
            <a:spLocks noGrp="1"/>
          </p:cNvSpPr>
          <p:nvPr/>
        </p:nvSpPr>
        <p:spPr>
          <a:xfrm>
            <a:off x="5038344" y="382219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37" name="celt"/>
          <p:cNvSpPr txBox="1">
            <a:spLocks noGrp="1"/>
          </p:cNvSpPr>
          <p:nvPr/>
        </p:nvSpPr>
        <p:spPr>
          <a:xfrm>
            <a:off x="5038344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56" name="cell"/>
          <p:cNvSpPr>
            <a:spLocks noGrp="1"/>
          </p:cNvSpPr>
          <p:nvPr/>
        </p:nvSpPr>
        <p:spPr>
          <a:xfrm>
            <a:off x="5934456" y="3822192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38" name="celt"/>
          <p:cNvSpPr txBox="1">
            <a:spLocks noGrp="1"/>
          </p:cNvSpPr>
          <p:nvPr/>
        </p:nvSpPr>
        <p:spPr>
          <a:xfrm>
            <a:off x="5934456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57" name="cell"/>
          <p:cNvSpPr>
            <a:spLocks noGrp="1"/>
          </p:cNvSpPr>
          <p:nvPr/>
        </p:nvSpPr>
        <p:spPr>
          <a:xfrm>
            <a:off x="6830568" y="3822192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39" name="celt"/>
          <p:cNvSpPr txBox="1">
            <a:spLocks noGrp="1"/>
          </p:cNvSpPr>
          <p:nvPr/>
        </p:nvSpPr>
        <p:spPr>
          <a:xfrm>
            <a:off x="6830568" y="3822192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42" name="db"/>
          <p:cNvSpPr>
            <a:spLocks noGrp="1"/>
          </p:cNvSpPr>
          <p:nvPr/>
        </p:nvSpPr>
        <p:spPr>
          <a:xfrm>
            <a:off x="886968" y="4023360"/>
            <a:ext cx="2359152" cy="201168"/>
          </a:xfrm>
          <a:prstGeom prst="rect">
            <a:avLst/>
          </a:prstGeom>
          <a:solidFill>
            <a:srgbClr val="FDF4FF"/>
          </a:solidFill>
          <a:ln w="6350">
            <a:solidFill>
              <a:srgbClr val="D1D5DB"/>
            </a:solidFill>
          </a:ln>
        </p:spPr>
      </p:sp>
      <p:sp>
        <p:nvSpPr>
          <p:cNvPr id="243" name="dt"/>
          <p:cNvSpPr txBox="1">
            <a:spLocks noGrp="1"/>
          </p:cNvSpPr>
          <p:nvPr/>
        </p:nvSpPr>
        <p:spPr>
          <a:xfrm>
            <a:off x="941832" y="402336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Reskilling constante del staff</a:t>
            </a:r>
          </a:p>
        </p:txBody>
      </p:sp>
      <p:sp>
        <p:nvSpPr>
          <p:cNvPr id="244" name="cell"/>
          <p:cNvSpPr>
            <a:spLocks noGrp="1"/>
          </p:cNvSpPr>
          <p:nvPr/>
        </p:nvSpPr>
        <p:spPr>
          <a:xfrm>
            <a:off x="3246120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5" name="celt"/>
          <p:cNvSpPr txBox="1">
            <a:spLocks noGrp="1"/>
          </p:cNvSpPr>
          <p:nvPr/>
        </p:nvSpPr>
        <p:spPr>
          <a:xfrm>
            <a:off x="3246120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8" name="cell"/>
          <p:cNvSpPr>
            <a:spLocks noGrp="1"/>
          </p:cNvSpPr>
          <p:nvPr/>
        </p:nvSpPr>
        <p:spPr>
          <a:xfrm>
            <a:off x="4142232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6" name="celt"/>
          <p:cNvSpPr txBox="1">
            <a:spLocks noGrp="1"/>
          </p:cNvSpPr>
          <p:nvPr/>
        </p:nvSpPr>
        <p:spPr>
          <a:xfrm>
            <a:off x="4142232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9" name="cell"/>
          <p:cNvSpPr>
            <a:spLocks noGrp="1"/>
          </p:cNvSpPr>
          <p:nvPr/>
        </p:nvSpPr>
        <p:spPr>
          <a:xfrm>
            <a:off x="5038344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7" name="celt"/>
          <p:cNvSpPr txBox="1">
            <a:spLocks noGrp="1"/>
          </p:cNvSpPr>
          <p:nvPr/>
        </p:nvSpPr>
        <p:spPr>
          <a:xfrm>
            <a:off x="5038344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60" name="cell"/>
          <p:cNvSpPr>
            <a:spLocks noGrp="1"/>
          </p:cNvSpPr>
          <p:nvPr/>
        </p:nvSpPr>
        <p:spPr>
          <a:xfrm>
            <a:off x="5934456" y="4023360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8" name="celt"/>
          <p:cNvSpPr txBox="1">
            <a:spLocks noGrp="1"/>
          </p:cNvSpPr>
          <p:nvPr/>
        </p:nvSpPr>
        <p:spPr>
          <a:xfrm>
            <a:off x="5934456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61" name="cell"/>
          <p:cNvSpPr>
            <a:spLocks noGrp="1"/>
          </p:cNvSpPr>
          <p:nvPr/>
        </p:nvSpPr>
        <p:spPr>
          <a:xfrm>
            <a:off x="6830568" y="4023360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49" name="celt"/>
          <p:cNvSpPr txBox="1">
            <a:spLocks noGrp="1"/>
          </p:cNvSpPr>
          <p:nvPr/>
        </p:nvSpPr>
        <p:spPr>
          <a:xfrm>
            <a:off x="6830568" y="4023360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50" name="cb"/>
          <p:cNvSpPr>
            <a:spLocks noGrp="1"/>
          </p:cNvSpPr>
          <p:nvPr/>
        </p:nvSpPr>
        <p:spPr>
          <a:xfrm>
            <a:off x="320040" y="4224528"/>
            <a:ext cx="566928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51" name="ct"/>
          <p:cNvSpPr txBox="1">
            <a:spLocks noGrp="1"/>
          </p:cNvSpPr>
          <p:nvPr/>
        </p:nvSpPr>
        <p:spPr>
          <a:xfrm>
            <a:off x="320040" y="422452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640" b="1" dirty="0">
                <a:solidFill>
                  <a:srgbClr val="C00000"/>
                </a:solidFill>
                <a:latin typeface="Calibri"/>
              </a:rPr>
              <a:t>COM</a:t>
            </a:r>
          </a:p>
        </p:txBody>
      </p:sp>
      <p:sp>
        <p:nvSpPr>
          <p:cNvPr id="252" name="db"/>
          <p:cNvSpPr>
            <a:spLocks noGrp="1"/>
          </p:cNvSpPr>
          <p:nvPr/>
        </p:nvSpPr>
        <p:spPr>
          <a:xfrm>
            <a:off x="886968" y="4224528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53" name="dt"/>
          <p:cNvSpPr txBox="1">
            <a:spLocks noGrp="1"/>
          </p:cNvSpPr>
          <p:nvPr/>
        </p:nvSpPr>
        <p:spPr>
          <a:xfrm>
            <a:off x="941832" y="4224528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54" name="cell"/>
          <p:cNvSpPr>
            <a:spLocks noGrp="1"/>
          </p:cNvSpPr>
          <p:nvPr/>
        </p:nvSpPr>
        <p:spPr>
          <a:xfrm>
            <a:off x="3246120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5" name="celt"/>
          <p:cNvSpPr txBox="1">
            <a:spLocks noGrp="1"/>
          </p:cNvSpPr>
          <p:nvPr/>
        </p:nvSpPr>
        <p:spPr>
          <a:xfrm>
            <a:off x="3246120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2" name="cell"/>
          <p:cNvSpPr>
            <a:spLocks noGrp="1"/>
          </p:cNvSpPr>
          <p:nvPr/>
        </p:nvSpPr>
        <p:spPr>
          <a:xfrm>
            <a:off x="4142232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6" name="celt"/>
          <p:cNvSpPr txBox="1">
            <a:spLocks noGrp="1"/>
          </p:cNvSpPr>
          <p:nvPr/>
        </p:nvSpPr>
        <p:spPr>
          <a:xfrm>
            <a:off x="4142232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3" name="cell"/>
          <p:cNvSpPr>
            <a:spLocks noGrp="1"/>
          </p:cNvSpPr>
          <p:nvPr/>
        </p:nvSpPr>
        <p:spPr>
          <a:xfrm>
            <a:off x="5038344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7" name="celt"/>
          <p:cNvSpPr txBox="1">
            <a:spLocks noGrp="1"/>
          </p:cNvSpPr>
          <p:nvPr/>
        </p:nvSpPr>
        <p:spPr>
          <a:xfrm>
            <a:off x="5038344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4" name="cell"/>
          <p:cNvSpPr>
            <a:spLocks noGrp="1"/>
          </p:cNvSpPr>
          <p:nvPr/>
        </p:nvSpPr>
        <p:spPr>
          <a:xfrm>
            <a:off x="5934456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8" name="celt"/>
          <p:cNvSpPr txBox="1">
            <a:spLocks noGrp="1"/>
          </p:cNvSpPr>
          <p:nvPr/>
        </p:nvSpPr>
        <p:spPr>
          <a:xfrm>
            <a:off x="5934456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65" name="cell"/>
          <p:cNvSpPr>
            <a:spLocks noGrp="1"/>
          </p:cNvSpPr>
          <p:nvPr/>
        </p:nvSpPr>
        <p:spPr>
          <a:xfrm>
            <a:off x="6830568" y="4224528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59" name="celt"/>
          <p:cNvSpPr txBox="1">
            <a:spLocks noGrp="1"/>
          </p:cNvSpPr>
          <p:nvPr/>
        </p:nvSpPr>
        <p:spPr>
          <a:xfrm>
            <a:off x="6830568" y="4224528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62" name="db"/>
          <p:cNvSpPr>
            <a:spLocks noGrp="1"/>
          </p:cNvSpPr>
          <p:nvPr/>
        </p:nvSpPr>
        <p:spPr>
          <a:xfrm>
            <a:off x="886968" y="4425696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63" name="dt"/>
          <p:cNvSpPr txBox="1">
            <a:spLocks noGrp="1"/>
          </p:cNvSpPr>
          <p:nvPr/>
        </p:nvSpPr>
        <p:spPr>
          <a:xfrm>
            <a:off x="941832" y="4425696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conocimiento informal</a:t>
            </a:r>
          </a:p>
        </p:txBody>
      </p:sp>
      <p:sp>
        <p:nvSpPr>
          <p:cNvPr id="264" name="cell"/>
          <p:cNvSpPr>
            <a:spLocks noGrp="1"/>
          </p:cNvSpPr>
          <p:nvPr/>
        </p:nvSpPr>
        <p:spPr>
          <a:xfrm>
            <a:off x="3246120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5" name="celt"/>
          <p:cNvSpPr txBox="1">
            <a:spLocks noGrp="1"/>
          </p:cNvSpPr>
          <p:nvPr/>
        </p:nvSpPr>
        <p:spPr>
          <a:xfrm>
            <a:off x="3246120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6" name="cell"/>
          <p:cNvSpPr>
            <a:spLocks noGrp="1"/>
          </p:cNvSpPr>
          <p:nvPr/>
        </p:nvSpPr>
        <p:spPr>
          <a:xfrm>
            <a:off x="4142232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6" name="celt"/>
          <p:cNvSpPr txBox="1">
            <a:spLocks noGrp="1"/>
          </p:cNvSpPr>
          <p:nvPr/>
        </p:nvSpPr>
        <p:spPr>
          <a:xfrm>
            <a:off x="4142232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7" name="cell"/>
          <p:cNvSpPr>
            <a:spLocks noGrp="1"/>
          </p:cNvSpPr>
          <p:nvPr/>
        </p:nvSpPr>
        <p:spPr>
          <a:xfrm>
            <a:off x="5038344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7" name="celt"/>
          <p:cNvSpPr txBox="1">
            <a:spLocks noGrp="1"/>
          </p:cNvSpPr>
          <p:nvPr/>
        </p:nvSpPr>
        <p:spPr>
          <a:xfrm>
            <a:off x="5038344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8" name="cell"/>
          <p:cNvSpPr>
            <a:spLocks noGrp="1"/>
          </p:cNvSpPr>
          <p:nvPr/>
        </p:nvSpPr>
        <p:spPr>
          <a:xfrm>
            <a:off x="5934456" y="4425696"/>
            <a:ext cx="896112" cy="20116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68" name="celt"/>
          <p:cNvSpPr txBox="1">
            <a:spLocks noGrp="1"/>
          </p:cNvSpPr>
          <p:nvPr/>
        </p:nvSpPr>
        <p:spPr>
          <a:xfrm>
            <a:off x="5934456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D1D5DB"/>
                </a:solidFill>
                <a:latin typeface="Calibri"/>
              </a:rPr>
              <a:t>○</a:t>
            </a:r>
          </a:p>
        </p:txBody>
      </p:sp>
      <p:sp>
        <p:nvSpPr>
          <p:cNvPr id="469" name="cell"/>
          <p:cNvSpPr>
            <a:spLocks noGrp="1"/>
          </p:cNvSpPr>
          <p:nvPr/>
        </p:nvSpPr>
        <p:spPr>
          <a:xfrm>
            <a:off x="6830568" y="4425696"/>
            <a:ext cx="896112" cy="201168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69" name="celt"/>
          <p:cNvSpPr txBox="1">
            <a:spLocks noGrp="1"/>
          </p:cNvSpPr>
          <p:nvPr/>
        </p:nvSpPr>
        <p:spPr>
          <a:xfrm>
            <a:off x="6830568" y="4425696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272" name="db"/>
          <p:cNvSpPr>
            <a:spLocks noGrp="1"/>
          </p:cNvSpPr>
          <p:nvPr/>
        </p:nvSpPr>
        <p:spPr>
          <a:xfrm>
            <a:off x="886968" y="4626864"/>
            <a:ext cx="2359152" cy="201168"/>
          </a:xfrm>
          <a:prstGeom prst="rect">
            <a:avLst/>
          </a:prstGeom>
          <a:solidFill>
            <a:srgbClr val="FFF1F2"/>
          </a:solidFill>
          <a:ln w="6350">
            <a:solidFill>
              <a:srgbClr val="D1D5DB"/>
            </a:solidFill>
          </a:ln>
        </p:spPr>
      </p:sp>
      <p:sp>
        <p:nvSpPr>
          <p:cNvPr id="273" name="dt"/>
          <p:cNvSpPr txBox="1">
            <a:spLocks noGrp="1"/>
          </p:cNvSpPr>
          <p:nvPr/>
        </p:nvSpPr>
        <p:spPr>
          <a:xfrm>
            <a:off x="941832" y="4626864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274" name="cell"/>
          <p:cNvSpPr>
            <a:spLocks noGrp="1"/>
          </p:cNvSpPr>
          <p:nvPr/>
        </p:nvSpPr>
        <p:spPr>
          <a:xfrm>
            <a:off x="3246120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5" name="celt"/>
          <p:cNvSpPr txBox="1">
            <a:spLocks noGrp="1"/>
          </p:cNvSpPr>
          <p:nvPr/>
        </p:nvSpPr>
        <p:spPr>
          <a:xfrm>
            <a:off x="3246120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0" name="cell"/>
          <p:cNvSpPr>
            <a:spLocks noGrp="1"/>
          </p:cNvSpPr>
          <p:nvPr/>
        </p:nvSpPr>
        <p:spPr>
          <a:xfrm>
            <a:off x="4142232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6" name="celt"/>
          <p:cNvSpPr txBox="1">
            <a:spLocks noGrp="1"/>
          </p:cNvSpPr>
          <p:nvPr/>
        </p:nvSpPr>
        <p:spPr>
          <a:xfrm>
            <a:off x="4142232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1" name="cell"/>
          <p:cNvSpPr>
            <a:spLocks noGrp="1"/>
          </p:cNvSpPr>
          <p:nvPr/>
        </p:nvSpPr>
        <p:spPr>
          <a:xfrm>
            <a:off x="5038344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7" name="celt"/>
          <p:cNvSpPr txBox="1">
            <a:spLocks noGrp="1"/>
          </p:cNvSpPr>
          <p:nvPr/>
        </p:nvSpPr>
        <p:spPr>
          <a:xfrm>
            <a:off x="5038344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2" name="cell"/>
          <p:cNvSpPr>
            <a:spLocks noGrp="1"/>
          </p:cNvSpPr>
          <p:nvPr/>
        </p:nvSpPr>
        <p:spPr>
          <a:xfrm>
            <a:off x="5934456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8" name="celt"/>
          <p:cNvSpPr txBox="1">
            <a:spLocks noGrp="1"/>
          </p:cNvSpPr>
          <p:nvPr/>
        </p:nvSpPr>
        <p:spPr>
          <a:xfrm>
            <a:off x="5934456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3" name="cell"/>
          <p:cNvSpPr>
            <a:spLocks noGrp="1"/>
          </p:cNvSpPr>
          <p:nvPr/>
        </p:nvSpPr>
        <p:spPr>
          <a:xfrm>
            <a:off x="6830568" y="4626864"/>
            <a:ext cx="896112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79" name="celt"/>
          <p:cNvSpPr txBox="1">
            <a:spLocks noGrp="1"/>
          </p:cNvSpPr>
          <p:nvPr/>
        </p:nvSpPr>
        <p:spPr>
          <a:xfrm>
            <a:off x="6830568" y="4626864"/>
            <a:ext cx="8961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1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0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· Julio 2026 · Excel Levantamiento_Mesas_Julio_2026 · Reuniones con Elsy Marin, Michael Arevalo, Diego Serna, Virginia y Lina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1231</Words>
  <Application>Microsoft Office PowerPoint</Application>
  <PresentationFormat>Presentación en pantalla (16:9)</PresentationFormat>
  <Paragraphs>286</Paragraphs>
  <Slides>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Reddit Sans SemiBold</vt:lpstr>
      <vt:lpstr>Reddit Sans Light</vt:lpstr>
      <vt:lpstr>Calibri</vt:lpstr>
      <vt:lpstr>Reddit Sans</vt:lpstr>
      <vt:lpstr>Reddit Sans Black</vt:lpstr>
      <vt:lpstr>Arial</vt:lpstr>
      <vt:lpstr>Simple Light</vt:lpstr>
      <vt:lpstr>Simple Light</vt:lpstr>
      <vt:lpstr>Mesas de Servicio de Nueva Generación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1364</cp:revision>
  <dcterms:modified xsi:type="dcterms:W3CDTF">2026-07-10T14:52:08Z</dcterms:modified>
</cp:coreProperties>
</file>