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40"/>
  </p:notesMasterIdLst>
  <p:sldIdLst>
    <p:sldId id="257" r:id="rId2"/>
    <p:sldId id="331" r:id="rId3"/>
    <p:sldId id="262" r:id="rId4"/>
    <p:sldId id="2577" r:id="rId5"/>
    <p:sldId id="2610" r:id="rId6"/>
    <p:sldId id="2570" r:id="rId7"/>
    <p:sldId id="2608" r:id="rId8"/>
    <p:sldId id="2588" r:id="rId9"/>
    <p:sldId id="2601" r:id="rId10"/>
    <p:sldId id="2590" r:id="rId11"/>
    <p:sldId id="2602" r:id="rId12"/>
    <p:sldId id="2611" r:id="rId13"/>
    <p:sldId id="2593" r:id="rId14"/>
    <p:sldId id="2592" r:id="rId15"/>
    <p:sldId id="2609" r:id="rId16"/>
    <p:sldId id="2604" r:id="rId17"/>
    <p:sldId id="2614" r:id="rId18"/>
    <p:sldId id="2606" r:id="rId19"/>
    <p:sldId id="2605" r:id="rId20"/>
    <p:sldId id="2607" r:id="rId21"/>
    <p:sldId id="2580" r:id="rId22"/>
    <p:sldId id="2581" r:id="rId23"/>
    <p:sldId id="2596" r:id="rId24"/>
    <p:sldId id="2595" r:id="rId25"/>
    <p:sldId id="2583" r:id="rId26"/>
    <p:sldId id="316" r:id="rId27"/>
    <p:sldId id="2612" r:id="rId28"/>
    <p:sldId id="2615" r:id="rId29"/>
    <p:sldId id="2613" r:id="rId30"/>
    <p:sldId id="2603" r:id="rId31"/>
    <p:sldId id="2594" r:id="rId32"/>
    <p:sldId id="2616" r:id="rId33"/>
    <p:sldId id="2617" r:id="rId34"/>
    <p:sldId id="2618" r:id="rId35"/>
    <p:sldId id="2584" r:id="rId36"/>
    <p:sldId id="310" r:id="rId37"/>
    <p:sldId id="267" r:id="rId38"/>
    <p:sldId id="268" r:id="rId39"/>
  </p:sldIdLst>
  <p:sldSz cx="9144000" cy="5143500" type="screen16x9"/>
  <p:notesSz cx="6858000" cy="9144000"/>
  <p:embeddedFontLst>
    <p:embeddedFont>
      <p:font typeface="Reddit Sans" panose="020B0604020202020204" charset="0"/>
      <p:regular r:id="rId41"/>
      <p:bold r:id="rId42"/>
      <p:italic r:id="rId43"/>
      <p:boldItalic r:id="rId44"/>
    </p:embeddedFont>
    <p:embeddedFont>
      <p:font typeface="Reddit Sans Light" panose="020B0604020202020204" charset="0"/>
      <p:regular r:id="rId45"/>
      <p:bold r:id="rId46"/>
      <p:italic r:id="rId47"/>
      <p:boldItalic r:id="rId48"/>
    </p:embeddedFont>
    <p:embeddedFont>
      <p:font typeface="Reddit Sans Medium" panose="020B0604020202020204" charset="0"/>
      <p:regular r:id="rId49"/>
      <p:bold r:id="rId50"/>
      <p:italic r:id="rId51"/>
      <p:boldItalic r:id="rId52"/>
    </p:embeddedFont>
    <p:embeddedFont>
      <p:font typeface="Reddit Sans SemiBold" panose="020B060402020202020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86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BF39"/>
    <a:srgbClr val="EBF1FA"/>
    <a:srgbClr val="CBACE3"/>
    <a:srgbClr val="FCF4EB"/>
    <a:srgbClr val="ECDFF7"/>
    <a:srgbClr val="E4E4E4"/>
    <a:srgbClr val="F0F4FA"/>
    <a:srgbClr val="1AA8DB"/>
    <a:srgbClr val="FE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1E5793-2153-9B73-3307-A98B8ECCFF6E}" v="281" dt="2026-07-15T17:07:44.040"/>
    <p1510:client id="{3E5A05DB-B08E-CF20-942E-2489ADF5169B}" v="2243" dt="2026-07-14T20:10:37.662"/>
    <p1510:client id="{68350F8D-D456-6EE6-573A-31251B2913B1}" v="859" dt="2026-07-15T15:44:40.238"/>
    <p1510:client id="{88784FCC-9A78-C45C-3FC1-CD2EA649FB7C}" v="751" dt="2026-07-14T21:23:07.657"/>
    <p1510:client id="{96719BF3-080A-6932-741C-55D5A84931DC}" v="1273" dt="2026-07-14T22:37:03.543"/>
    <p1510:client id="{9BA9D397-B0A2-443C-22D0-5ECE1D4075AA}" v="1483" dt="2026-07-14T16:10:56.685"/>
    <p1510:client id="{AA249537-B5B0-7E69-648A-99FB2E4E88D6}" v="57" dt="2026-07-14T22:41:40.460"/>
    <p1510:client id="{C2412EF3-0298-A525-0FA2-27CD6BD490D7}" v="239" dt="2026-07-15T18:48:06.712"/>
    <p1510:client id="{CC4625F6-564D-A5D5-C627-E17159EDE9DB}" v="331" dt="2026-07-15T21:53:49.930"/>
    <p1510:client id="{E4EFAC3A-7F54-4394-56F6-69AE47C449E1}" v="44" dt="2026-07-15T15:46:42.512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88" Type="http://schemas.openxmlformats.org/officeDocument/2006/relationships/viewProps" Target="viewProps.xml"/><Relationship Id="rId9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86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80574407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e80574407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B1FFF808-ACEF-2361-1CA3-572FE1F76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4F58280E-B152-1D20-4F1F-53D2B38A4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9ABC4265-F82C-DCAF-EF13-375090997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6000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7023151D-C59F-352C-D63A-BFFEF017D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E4B4706E-BA11-29C6-E81B-859B3FDAE5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219C15A-4466-5C34-8056-9340A9F54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6824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Deflection Rate</a:t>
            </a:r>
            <a:r>
              <a:rPr lang="en-US" dirty="0"/>
              <a:t> (o </a:t>
            </a:r>
            <a:r>
              <a:rPr lang="en-US" b="1" dirty="0" err="1"/>
              <a:t>tasa</a:t>
            </a:r>
            <a:r>
              <a:rPr lang="en-US" b="1" dirty="0"/>
              <a:t> de </a:t>
            </a:r>
            <a:r>
              <a:rPr lang="en-US" b="1" dirty="0" err="1"/>
              <a:t>desvío</a:t>
            </a:r>
            <a:r>
              <a:rPr lang="en-US" dirty="0"/>
              <a:t>) es un </a:t>
            </a:r>
            <a:r>
              <a:rPr lang="en-US" dirty="0" err="1"/>
              <a:t>indicador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utilizado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 err="1"/>
              <a:t>atención</a:t>
            </a:r>
            <a:r>
              <a:rPr lang="en-US" b="1" dirty="0"/>
              <a:t> al </a:t>
            </a:r>
            <a:r>
              <a:rPr lang="en-US" b="1" dirty="0" err="1"/>
              <a:t>cliente</a:t>
            </a:r>
            <a:r>
              <a:rPr lang="en-US" b="1" dirty="0"/>
              <a:t>, mesas de </a:t>
            </a:r>
            <a:r>
              <a:rPr lang="en-US" b="1" dirty="0" err="1"/>
              <a:t>ayuda</a:t>
            </a:r>
            <a:r>
              <a:rPr lang="en-US" b="1" dirty="0"/>
              <a:t> y canales </a:t>
            </a:r>
            <a:r>
              <a:rPr lang="en-US" b="1" dirty="0" err="1"/>
              <a:t>digitales</a:t>
            </a:r>
            <a:r>
              <a:rPr lang="en-US" dirty="0"/>
              <a:t>. Mide el </a:t>
            </a:r>
            <a:r>
              <a:rPr lang="en-US" dirty="0" err="1"/>
              <a:t>porcentaje</a:t>
            </a:r>
            <a:r>
              <a:rPr lang="en-US" dirty="0"/>
              <a:t> de </a:t>
            </a:r>
            <a:r>
              <a:rPr lang="en-US" dirty="0" err="1"/>
              <a:t>consultas</a:t>
            </a:r>
            <a:r>
              <a:rPr lang="en-US" dirty="0"/>
              <a:t> o solicitudes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resuelven</a:t>
            </a:r>
            <a:r>
              <a:rPr lang="en-US" dirty="0"/>
              <a:t> </a:t>
            </a:r>
            <a:r>
              <a:rPr lang="en-US" b="1" dirty="0"/>
              <a:t>sin </a:t>
            </a:r>
            <a:r>
              <a:rPr lang="en-US" b="1" dirty="0" err="1"/>
              <a:t>intervención</a:t>
            </a:r>
            <a:r>
              <a:rPr lang="en-US" b="1" dirty="0"/>
              <a:t> de un </a:t>
            </a:r>
            <a:r>
              <a:rPr lang="en-US" b="1" dirty="0" err="1"/>
              <a:t>agente</a:t>
            </a:r>
            <a:r>
              <a:rPr lang="en-US" b="1" dirty="0"/>
              <a:t> </a:t>
            </a:r>
            <a:r>
              <a:rPr lang="en-US" b="1" dirty="0" err="1"/>
              <a:t>humano</a:t>
            </a:r>
            <a:r>
              <a:rPr lang="en-US" dirty="0"/>
              <a:t>, gracias a </a:t>
            </a:r>
            <a:r>
              <a:rPr lang="en-US" dirty="0" err="1"/>
              <a:t>herramientas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:</a:t>
            </a:r>
          </a:p>
          <a:p>
            <a:pPr marL="171450" indent="-171450"/>
            <a:r>
              <a:rPr lang="en-US" dirty="0"/>
              <a:t>FAQs o bases de </a:t>
            </a:r>
            <a:r>
              <a:rPr lang="en-US" dirty="0" err="1"/>
              <a:t>conocimiento</a:t>
            </a:r>
            <a:r>
              <a:rPr lang="en-US" dirty="0"/>
              <a:t>.</a:t>
            </a:r>
          </a:p>
          <a:p>
            <a:pPr marL="171450" indent="-171450"/>
            <a:r>
              <a:rPr lang="en-US"/>
              <a:t>Chatbots.</a:t>
            </a:r>
          </a:p>
          <a:p>
            <a:pPr marL="171450" indent="-171450"/>
            <a:r>
              <a:rPr lang="en-US" dirty="0" err="1"/>
              <a:t>Asistentes</a:t>
            </a:r>
            <a:r>
              <a:rPr lang="en-US" dirty="0"/>
              <a:t> </a:t>
            </a:r>
            <a:r>
              <a:rPr lang="en-US" dirty="0" err="1"/>
              <a:t>virtuales</a:t>
            </a:r>
            <a:r>
              <a:rPr lang="en-US" dirty="0"/>
              <a:t>.</a:t>
            </a:r>
          </a:p>
          <a:p>
            <a:pPr marL="171450" indent="-171450"/>
            <a:r>
              <a:rPr lang="en-US" dirty="0"/>
              <a:t>Portales de </a:t>
            </a:r>
            <a:r>
              <a:rPr lang="en-US" dirty="0" err="1"/>
              <a:t>autoservicio</a:t>
            </a:r>
            <a:r>
              <a:rPr lang="en-US" dirty="0"/>
              <a:t>.</a:t>
            </a:r>
          </a:p>
          <a:p>
            <a:pPr marL="171450" indent="-171450"/>
            <a:r>
              <a:rPr lang="en-US" dirty="0"/>
              <a:t>Comunidades de </a:t>
            </a:r>
            <a:r>
              <a:rPr lang="en-US" dirty="0" err="1"/>
              <a:t>usuarios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5. Benchmarks de </a:t>
            </a:r>
            <a:r>
              <a:rPr lang="en-US" dirty="0" err="1"/>
              <a:t>Madurez</a:t>
            </a:r>
            <a:r>
              <a:rPr lang="en-US" dirty="0"/>
              <a:t> y </a:t>
            </a:r>
            <a:r>
              <a:rPr lang="en-US" dirty="0" err="1"/>
              <a:t>Métricas</a:t>
            </a:r>
            <a:r>
              <a:rPr lang="en-US" dirty="0"/>
              <a:t> de la Industria</a:t>
            </a:r>
            <a:endParaRPr lang="es-ES"/>
          </a:p>
          <a:p>
            <a:pPr>
              <a:buNone/>
            </a:pPr>
            <a:r>
              <a:rPr lang="en-US" dirty="0"/>
              <a:t>Estos benchmarks son el </a:t>
            </a:r>
            <a:r>
              <a:rPr lang="en-US" dirty="0" err="1"/>
              <a:t>insumo</a:t>
            </a:r>
            <a:r>
              <a:rPr lang="en-US" dirty="0"/>
              <a:t> </a:t>
            </a:r>
            <a:r>
              <a:rPr lang="en-US" dirty="0" err="1"/>
              <a:t>crítico</a:t>
            </a:r>
            <a:r>
              <a:rPr lang="en-US" dirty="0"/>
              <a:t> para el Framework de Assessment: </a:t>
            </a:r>
            <a:r>
              <a:rPr lang="en-US" dirty="0" err="1"/>
              <a:t>permiten</a:t>
            </a:r>
            <a:r>
              <a:rPr lang="en-US" dirty="0"/>
              <a:t> </a:t>
            </a:r>
            <a:r>
              <a:rPr lang="en-US" dirty="0" err="1"/>
              <a:t>clasificar</a:t>
            </a:r>
            <a:r>
              <a:rPr lang="en-US" dirty="0"/>
              <a:t> </a:t>
            </a:r>
            <a:r>
              <a:rPr lang="en-US" dirty="0" err="1"/>
              <a:t>objetivamente</a:t>
            </a:r>
            <a:r>
              <a:rPr lang="en-US" dirty="0"/>
              <a:t> </a:t>
            </a:r>
            <a:r>
              <a:rPr lang="en-US" dirty="0" err="1"/>
              <a:t>cualquier</a:t>
            </a:r>
            <a:r>
              <a:rPr lang="en-US" dirty="0"/>
              <a:t> mesa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madurez</a:t>
            </a:r>
            <a:r>
              <a:rPr lang="en-US" dirty="0"/>
              <a:t>.</a:t>
            </a:r>
            <a:endParaRPr lang="es-ES" dirty="0"/>
          </a:p>
          <a:p>
            <a:pPr>
              <a:buNone/>
            </a:pPr>
            <a:r>
              <a:rPr lang="en-US" dirty="0"/>
              <a:t> </a:t>
            </a:r>
            <a:endParaRPr lang="es-ES" dirty="0"/>
          </a:p>
          <a:p>
            <a:pPr>
              <a:buNone/>
            </a:pPr>
            <a:r>
              <a:rPr lang="en-US" dirty="0" err="1"/>
              <a:t>Métrica</a:t>
            </a:r>
            <a:r>
              <a:rPr lang="en-US" dirty="0"/>
              <a:t>    </a:t>
            </a:r>
            <a:r>
              <a:rPr lang="en-US" dirty="0" err="1"/>
              <a:t>Promedio</a:t>
            </a:r>
            <a:r>
              <a:rPr lang="en-US" dirty="0"/>
              <a:t> Industria    World-Class / Best-in-Class    Fuente</a:t>
            </a:r>
            <a:endParaRPr lang="es-ES" dirty="0"/>
          </a:p>
          <a:p>
            <a:pPr>
              <a:buNone/>
            </a:pPr>
            <a:r>
              <a:rPr lang="en-US"/>
              <a:t>FCR (First Contact Resolution)    74%    ≥80%    SQM Group / HDI</a:t>
            </a:r>
            <a:endParaRPr lang="es-ES"/>
          </a:p>
          <a:p>
            <a:pPr>
              <a:buNone/>
            </a:pPr>
            <a:r>
              <a:rPr lang="en-US" dirty="0"/>
              <a:t>MTTR (Mean Time to Resolution)    8.85 horas    &lt;4 horas (bueno) / &lt;1 hora (world-class)    </a:t>
            </a:r>
            <a:r>
              <a:rPr lang="en-US" dirty="0" err="1"/>
              <a:t>MetricNet</a:t>
            </a:r>
            <a:r>
              <a:rPr lang="en-US" dirty="0"/>
              <a:t>/HDI</a:t>
            </a:r>
            <a:endParaRPr lang="es-ES" dirty="0"/>
          </a:p>
          <a:p>
            <a:pPr>
              <a:buNone/>
            </a:pPr>
            <a:r>
              <a:rPr lang="en-US" dirty="0"/>
              <a:t>CSAT    73–86% (</a:t>
            </a:r>
            <a:r>
              <a:rPr lang="en-US" dirty="0" err="1"/>
              <a:t>varía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período</a:t>
            </a:r>
            <a:r>
              <a:rPr lang="en-US" dirty="0"/>
              <a:t>)    ≥90%    HDI metrics / </a:t>
            </a:r>
            <a:r>
              <a:rPr lang="en-US" dirty="0" err="1"/>
              <a:t>HelpDeskFocus</a:t>
            </a:r>
            <a:endParaRPr lang="es-ES" dirty="0" err="1"/>
          </a:p>
          <a:p>
            <a:pPr>
              <a:buNone/>
            </a:pPr>
            <a:r>
              <a:rPr lang="en-US" dirty="0"/>
              <a:t>AHT (Average Handle Time)    6–8 min (</a:t>
            </a:r>
            <a:r>
              <a:rPr lang="en-US" dirty="0" err="1"/>
              <a:t>voz</a:t>
            </a:r>
            <a:r>
              <a:rPr lang="en-US" dirty="0"/>
              <a:t>)    &lt;7 min (</a:t>
            </a:r>
            <a:r>
              <a:rPr lang="en-US" dirty="0" err="1"/>
              <a:t>voz</a:t>
            </a:r>
            <a:r>
              <a:rPr lang="en-US" dirty="0"/>
              <a:t> world-class)    </a:t>
            </a:r>
            <a:r>
              <a:rPr lang="en-US" dirty="0" err="1"/>
              <a:t>IrisAgent</a:t>
            </a:r>
            <a:r>
              <a:rPr lang="en-US" dirty="0"/>
              <a:t> / HDI metrics</a:t>
            </a:r>
            <a:endParaRPr lang="es-ES" dirty="0"/>
          </a:p>
          <a:p>
            <a:pPr>
              <a:buNone/>
            </a:pPr>
            <a:r>
              <a:rPr lang="en-US" dirty="0"/>
              <a:t>Costo </a:t>
            </a:r>
            <a:r>
              <a:rPr lang="en-US" dirty="0" err="1"/>
              <a:t>por</a:t>
            </a:r>
            <a:r>
              <a:rPr lang="en-US" dirty="0"/>
              <a:t> ticket N0    USD 2    —    Giva</a:t>
            </a:r>
            <a:endParaRPr lang="es-ES" dirty="0"/>
          </a:p>
          <a:p>
            <a:pPr>
              <a:buNone/>
            </a:pPr>
            <a:r>
              <a:rPr lang="en-US" dirty="0"/>
              <a:t>Costo </a:t>
            </a:r>
            <a:r>
              <a:rPr lang="en-US" dirty="0" err="1"/>
              <a:t>por</a:t>
            </a:r>
            <a:r>
              <a:rPr lang="en-US" dirty="0"/>
              <a:t> ticket N1    USD 22–35    USD 15–18    </a:t>
            </a:r>
            <a:r>
              <a:rPr lang="en-US" dirty="0" err="1"/>
              <a:t>Kwestra</a:t>
            </a:r>
            <a:endParaRPr lang="es-ES" dirty="0" err="1"/>
          </a:p>
          <a:p>
            <a:pPr>
              <a:buNone/>
            </a:pPr>
            <a:r>
              <a:rPr lang="en-US" dirty="0"/>
              <a:t>Costo </a:t>
            </a:r>
            <a:r>
              <a:rPr lang="en-US" dirty="0" err="1"/>
              <a:t>por</a:t>
            </a:r>
            <a:r>
              <a:rPr lang="en-US" dirty="0"/>
              <a:t> ticket N3    USD 104    —    Giva</a:t>
            </a:r>
            <a:endParaRPr lang="es-ES" dirty="0"/>
          </a:p>
          <a:p>
            <a:pPr>
              <a:buNone/>
            </a:pPr>
            <a:r>
              <a:rPr lang="en-US" dirty="0"/>
              <a:t>Deflection / Ticket deflection rate    23%    40–60% (maduro) / 80–90% (</a:t>
            </a:r>
            <a:r>
              <a:rPr lang="en-US" dirty="0" err="1"/>
              <a:t>casos</a:t>
            </a:r>
            <a:r>
              <a:rPr lang="en-US" dirty="0"/>
              <a:t> </a:t>
            </a:r>
            <a:r>
              <a:rPr lang="en-US" dirty="0" err="1"/>
              <a:t>líderes</a:t>
            </a:r>
            <a:r>
              <a:rPr lang="en-US" dirty="0"/>
              <a:t>)    </a:t>
            </a:r>
            <a:r>
              <a:rPr lang="en-US" dirty="0" err="1"/>
              <a:t>servicedeskagents</a:t>
            </a:r>
            <a:r>
              <a:rPr lang="en-US" dirty="0"/>
              <a:t> / </a:t>
            </a:r>
            <a:r>
              <a:rPr lang="en-US" dirty="0" err="1"/>
              <a:t>Kwestra</a:t>
            </a:r>
            <a:endParaRPr lang="es-ES" dirty="0" err="1"/>
          </a:p>
          <a:p>
            <a:pPr>
              <a:buNone/>
            </a:pPr>
            <a:r>
              <a:rPr lang="en-US" dirty="0"/>
              <a:t>Impacto GenAI </a:t>
            </a:r>
            <a:r>
              <a:rPr lang="en-US" dirty="0" err="1"/>
              <a:t>en</a:t>
            </a:r>
            <a:r>
              <a:rPr lang="en-US" dirty="0"/>
              <a:t> MTTR    -17.8% (SolarWinds) / -26.6% (</a:t>
            </a:r>
            <a:r>
              <a:rPr lang="en-US" dirty="0" err="1"/>
              <a:t>Freshservice</a:t>
            </a:r>
            <a:r>
              <a:rPr lang="en-US" dirty="0"/>
              <a:t>)    —    </a:t>
            </a:r>
            <a:r>
              <a:rPr lang="en-US" dirty="0" err="1"/>
              <a:t>Contentstack</a:t>
            </a:r>
            <a:r>
              <a:rPr lang="en-US" dirty="0"/>
              <a:t> ITSM / </a:t>
            </a:r>
            <a:r>
              <a:rPr lang="en-US" dirty="0" err="1"/>
              <a:t>Freshservice</a:t>
            </a:r>
            <a:r>
              <a:rPr lang="en-US" dirty="0"/>
              <a:t> benchmark</a:t>
            </a:r>
            <a:endParaRPr lang="es-ES" dirty="0"/>
          </a:p>
          <a:p>
            <a:pPr>
              <a:buNone/>
            </a:pPr>
            <a:r>
              <a:rPr lang="en-US" dirty="0"/>
              <a:t>Impacto KCS+IA </a:t>
            </a:r>
            <a:r>
              <a:rPr lang="en-US" dirty="0" err="1"/>
              <a:t>en</a:t>
            </a:r>
            <a:r>
              <a:rPr lang="en-US" dirty="0"/>
              <a:t> FCR    +5–7 puntos    —    SDI</a:t>
            </a:r>
            <a:endParaRPr lang="es-ES" dirty="0"/>
          </a:p>
          <a:p>
            <a:pPr>
              <a:buNone/>
            </a:pPr>
            <a:r>
              <a:rPr lang="en-US" dirty="0"/>
              <a:t>Impacto IA </a:t>
            </a:r>
            <a:r>
              <a:rPr lang="en-US" dirty="0" err="1"/>
              <a:t>en</a:t>
            </a:r>
            <a:r>
              <a:rPr lang="en-US" dirty="0"/>
              <a:t> CSAT    +15–22 pts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espera</a:t>
            </a:r>
            <a:r>
              <a:rPr lang="en-US" dirty="0"/>
              <a:t> &lt; 5 min    —    Stealth Agents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886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67EC8EC-D924-C2EE-6728-9FB1E1ED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ECBE2C72-F4BB-EA9C-2B3B-14D52AD35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3465F5D9-09F0-AF07-4782-69A853439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947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8057440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7e8057440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7e80574407_0_7" title="textura.jpg"/>
          <p:cNvPicPr preferRelativeResize="0"/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7e80574407_0_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9" name="Google Shape;19;g37e80574407_0_7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20" name="Google Shape;20;g37e80574407_0_7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7e80574407_0_7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4000"/>
              <a:buNone/>
              <a:defRPr sz="40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4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4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5" name="Google Shape;75;p15" title="Recurso 1.png"/>
          <p:cNvPicPr preferRelativeResize="0"/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Recurso 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9" name="Google Shape;79;g37e80574407_0_110" title="Recurso 1.png"/>
          <p:cNvPicPr preferRelativeResize="0"/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7e80574407_0_110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7e80574407_0_110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Reddit Sans Black"/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  <a:sym typeface="Reddit Sans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dit Sans Light"/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  <a:sym typeface="Reddit San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6">
          <p15:clr>
            <a:srgbClr val="E46962"/>
          </p15:clr>
        </p15:guide>
        <p15:guide id="2" orient="horz" pos="2903">
          <p15:clr>
            <a:srgbClr val="E46962"/>
          </p15:clr>
        </p15:guide>
        <p15:guide id="3" pos="2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4657177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88" name="Google Shape;88;p17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>
            <a:spLocks noGrp="1"/>
          </p:cNvSpPr>
          <p:nvPr>
            <p:ph type="body" idx="2"/>
          </p:nvPr>
        </p:nvSpPr>
        <p:spPr>
          <a:xfrm>
            <a:off x="450000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54C7C093-64D9-3144-9EE6-858CDE2C30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71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098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731" y="459486"/>
            <a:ext cx="5266944" cy="77495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256938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562731" y="157734"/>
            <a:ext cx="2648578" cy="31002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86724" y="157734"/>
            <a:ext cx="1259732" cy="31002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2730" y="1309878"/>
            <a:ext cx="5266944" cy="3605023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259320" y="0"/>
            <a:ext cx="0" cy="51435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04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61" r:id="rId9"/>
    <p:sldLayoutId id="2147483664" r:id="rId10"/>
    <p:sldLayoutId id="2147483665" r:id="rId11"/>
    <p:sldLayoutId id="2147483675" r:id="rId12"/>
    <p:sldLayoutId id="2147483676" r:id="rId13"/>
    <p:sldLayoutId id="214748367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hinkhdi.com/library/supportworld/2023/metrics-matter-for-it-support/" TargetMode="External"/><Relationship Id="rId13" Type="http://schemas.openxmlformats.org/officeDocument/2006/relationships/hyperlink" Target="https://www.servicedeskinstitute.com/resources/itsm-statistics-facts-and-trends-for-2024/" TargetMode="External"/><Relationship Id="rId3" Type="http://schemas.openxmlformats.org/officeDocument/2006/relationships/hyperlink" Target="https://www.sqmgroup.com/resources/library/blog/what-good-first-call-resolution-rate" TargetMode="External"/><Relationship Id="rId7" Type="http://schemas.openxmlformats.org/officeDocument/2006/relationships/hyperlink" Target="https://irisagent.com/customer-support-metrics/" TargetMode="External"/><Relationship Id="rId12" Type="http://schemas.openxmlformats.org/officeDocument/2006/relationships/hyperlink" Target="https://freshservice.com/assets/resources/freshservice/freshservice-it-service-management-benchmark-report-2024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helpdeskfocus.com/help-desk-metrics.html" TargetMode="External"/><Relationship Id="rId11" Type="http://schemas.openxmlformats.org/officeDocument/2006/relationships/hyperlink" Target="https://assets.contentstack.io/v3/assets/blt28ff6c4a2cf43126/blt03f46879a7d17fbc/68e4fbe251ce6710ec093b1a/2509_ITSM_ebook_StateofITSM.pdf" TargetMode="External"/><Relationship Id="rId5" Type="http://schemas.openxmlformats.org/officeDocument/2006/relationships/hyperlink" Target="https://www.thinkhdi.com/~/media/HDICorp/Files/Library-Archive/Insider%20Articles/mean-time-to-resolve.pdf" TargetMode="External"/><Relationship Id="rId10" Type="http://schemas.openxmlformats.org/officeDocument/2006/relationships/hyperlink" Target="https://kwestra.com/insights/itsm-automation-roi/" TargetMode="External"/><Relationship Id="rId4" Type="http://schemas.openxmlformats.org/officeDocument/2006/relationships/hyperlink" Target="https://www.thinkhdi.com/~/media/HDICorp/Files/Library-Archive/Insider%20Articles/First%20Contact%20Resolution.pdf" TargetMode="External"/><Relationship Id="rId9" Type="http://schemas.openxmlformats.org/officeDocument/2006/relationships/hyperlink" Target="https://www.givainc.com/blog/shift-left-analysis-how-to-guide-maximize-it-service-management-itsm-efficiency/" TargetMode="External"/><Relationship Id="rId14" Type="http://schemas.openxmlformats.org/officeDocument/2006/relationships/hyperlink" Target="https://stealthagents.com/research/ai-it-helpdesk-automation-statistics-2026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tricnet.com/service-desk-benchmarks/" TargetMode="External"/><Relationship Id="rId2" Type="http://schemas.openxmlformats.org/officeDocument/2006/relationships/hyperlink" Target="https://www.thinkhdi.com/~/media/HDICorp/Files/Standards/HDI-SC-Standard-v-5-0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ivainc.com/blog/shift-left-analysis-how-to-guide-maximize-it-service-management-itsm-efficiency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80574407_0_130"/>
          <p:cNvSpPr txBox="1">
            <a:spLocks noGrp="1"/>
          </p:cNvSpPr>
          <p:nvPr>
            <p:ph type="ctrTitle"/>
          </p:nvPr>
        </p:nvSpPr>
        <p:spPr>
          <a:xfrm>
            <a:off x="258889" y="1087521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/>
              <a:t>Mesa de Servicio de Nueva Generación (Next Gen)</a:t>
            </a:r>
            <a:endParaRPr err="1"/>
          </a:p>
        </p:txBody>
      </p:sp>
      <p:sp>
        <p:nvSpPr>
          <p:cNvPr id="110" name="Google Shape;110;g37e80574407_0_130"/>
          <p:cNvSpPr txBox="1">
            <a:spLocks noGrp="1"/>
          </p:cNvSpPr>
          <p:nvPr>
            <p:ph type="subTitle" idx="1"/>
          </p:nvPr>
        </p:nvSpPr>
        <p:spPr>
          <a:xfrm>
            <a:off x="256743" y="2875047"/>
            <a:ext cx="8478900" cy="14511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s-ES">
                <a:solidFill>
                  <a:schemeClr val="bg1"/>
                </a:solidFill>
              </a:rPr>
              <a:t>Operación Actual Mesas de Servicio</a:t>
            </a:r>
            <a:endParaRPr lang="es-E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B6DBC5D6-A59B-9220-8E08-1EB16860B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A11E1946-1C5C-7483-FF80-3D90E96264A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166CB5D3-5452-0F28-D678-36EABC0083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/>
              <a:t>Operación Actual</a:t>
            </a:r>
          </a:p>
        </p:txBody>
      </p:sp>
    </p:spTree>
    <p:extLst>
      <p:ext uri="{BB962C8B-B14F-4D97-AF65-F5344CB8AC3E}">
        <p14:creationId xmlns:p14="http://schemas.microsoft.com/office/powerpoint/2010/main" val="371986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chemeClr val="bg1"/>
                </a:solidFill>
                <a:sym typeface="Reddit Sans Medium"/>
              </a:rPr>
              <a:t>Mesas de Servicio Actuales</a:t>
            </a:r>
            <a:endParaRPr lang="es-ES">
              <a:solidFill>
                <a:schemeClr val="bg1"/>
              </a:solidFill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/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Nuestros Operación Actual</a:t>
            </a:r>
          </a:p>
        </p:txBody>
      </p:sp>
      <p:cxnSp>
        <p:nvCxnSpPr>
          <p:cNvPr id="147" name="Google Shape;147;p5"/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495EA2D-6DD3-3FCA-401B-6EC35075AA0A}"/>
              </a:ext>
            </a:extLst>
          </p:cNvPr>
          <p:cNvSpPr txBox="1"/>
          <p:nvPr/>
        </p:nvSpPr>
        <p:spPr>
          <a:xfrm>
            <a:off x="4844143" y="797380"/>
            <a:ext cx="3695702" cy="39626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Banca y Seguros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SURA, Bancolombia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de canales transaccionales, cumplimiento SFC/SOX,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fraude en tiempo real y BCP/DRP.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Energía</a:t>
            </a: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 b="1" i="0" u="none" strike="noStrike" baseline="0" err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Utilities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XM, AES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operación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critica 24x7, monitoreo de infraestructura y aplicaciones, </a:t>
            </a:r>
            <a:r>
              <a:rPr lang="es-ES" sz="1100" b="0" i="0" u="none" strike="noStrike" baseline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observabilidad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eventos de alta criticidad.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Salud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Medicarte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asistencial,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protección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datos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clínicos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(Habeas Data / Supersalud), interoperabilidad RIPS/PISIS y trazabilidad de historia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clínica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.</a:t>
            </a: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ctr"/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EF145EE0-E561-FEDD-0C89-684520E996B9}"/>
              </a:ext>
            </a:extLst>
          </p:cNvPr>
          <p:cNvSpPr/>
          <p:nvPr/>
        </p:nvSpPr>
        <p:spPr>
          <a:xfrm>
            <a:off x="2215243" y="953044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8BFDA1F-B97B-FF8B-A810-F7E06937EFF1}"/>
              </a:ext>
            </a:extLst>
          </p:cNvPr>
          <p:cNvSpPr/>
          <p:nvPr/>
        </p:nvSpPr>
        <p:spPr>
          <a:xfrm>
            <a:off x="2389414" y="970026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0072BC"/>
                </a:solidFill>
                <a:latin typeface="Reddit Sans Light"/>
                <a:ea typeface="Calibri" pitchFamily="34" charset="-122"/>
                <a:cs typeface="Reddit Sans Light"/>
              </a:rPr>
              <a:t>11</a:t>
            </a:r>
            <a:endParaRPr lang="en-US" sz="3000">
              <a:latin typeface="Reddit Sans Light"/>
              <a:cs typeface="Reddit Sans Light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6FD97E7-60D9-A9C3-3133-8B4DB1EDCFCF}"/>
              </a:ext>
            </a:extLst>
          </p:cNvPr>
          <p:cNvSpPr/>
          <p:nvPr/>
        </p:nvSpPr>
        <p:spPr>
          <a:xfrm>
            <a:off x="2389414" y="1518666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Mesas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9A2EAD06-D9DA-48BD-49DD-24A84487FEAA}"/>
              </a:ext>
            </a:extLst>
          </p:cNvPr>
          <p:cNvSpPr/>
          <p:nvPr/>
        </p:nvSpPr>
        <p:spPr>
          <a:xfrm>
            <a:off x="3773968" y="953044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3C601815-30F7-DFDA-B98B-2FB993338CB6}"/>
              </a:ext>
            </a:extLst>
          </p:cNvPr>
          <p:cNvSpPr/>
          <p:nvPr/>
        </p:nvSpPr>
        <p:spPr>
          <a:xfrm>
            <a:off x="3931811" y="970026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017490"/>
                </a:solidFill>
                <a:latin typeface="Reddit Sans Light"/>
                <a:ea typeface="Calibri"/>
                <a:cs typeface="Reddit Sans Light"/>
              </a:rPr>
              <a:t>57</a:t>
            </a:r>
            <a:endParaRPr lang="en-US" sz="300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43A6272A-CFCF-7A50-12C1-F31339E8BE35}"/>
              </a:ext>
            </a:extLst>
          </p:cNvPr>
          <p:cNvSpPr/>
          <p:nvPr/>
        </p:nvSpPr>
        <p:spPr>
          <a:xfrm>
            <a:off x="3931811" y="1518666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FTE </a:t>
            </a: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19F71853-6564-A7BC-D8B0-D167CA5F647F}"/>
              </a:ext>
            </a:extLst>
          </p:cNvPr>
          <p:cNvSpPr/>
          <p:nvPr/>
        </p:nvSpPr>
        <p:spPr>
          <a:xfrm>
            <a:off x="5387122" y="958487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73794636-C541-3A48-3C9E-D80BB73EC66F}"/>
              </a:ext>
            </a:extLst>
          </p:cNvPr>
          <p:cNvSpPr/>
          <p:nvPr/>
        </p:nvSpPr>
        <p:spPr>
          <a:xfrm>
            <a:off x="5572179" y="975469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B3261E"/>
                </a:solidFill>
                <a:latin typeface="Reddit Sans Light"/>
                <a:ea typeface="Calibri"/>
                <a:cs typeface="Reddit Sans Light"/>
              </a:rPr>
              <a:t>2</a:t>
            </a: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BB954CE0-F03D-7590-5363-C3A58DAE5E55}"/>
              </a:ext>
            </a:extLst>
          </p:cNvPr>
          <p:cNvSpPr/>
          <p:nvPr/>
        </p:nvSpPr>
        <p:spPr>
          <a:xfrm>
            <a:off x="5572179" y="1524109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En N3</a:t>
            </a:r>
            <a:endParaRPr lang="en-US" sz="950">
              <a:latin typeface="Reddit Sans Light"/>
              <a:ea typeface="Calibri Light"/>
              <a:cs typeface="Reddit Sans Light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9FDC9B93-707B-C2BF-913D-568E2AAC1F34}"/>
              </a:ext>
            </a:extLst>
          </p:cNvPr>
          <p:cNvSpPr/>
          <p:nvPr/>
        </p:nvSpPr>
        <p:spPr>
          <a:xfrm>
            <a:off x="648461" y="947601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9DA9FAC-E29B-87AD-F1AC-8D3881AC4186}"/>
              </a:ext>
            </a:extLst>
          </p:cNvPr>
          <p:cNvSpPr/>
          <p:nvPr/>
        </p:nvSpPr>
        <p:spPr>
          <a:xfrm>
            <a:off x="844404" y="959140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F7A4D"/>
                </a:solidFill>
                <a:latin typeface="Reddit Sans Light"/>
                <a:ea typeface="Calibri" pitchFamily="34" charset="-122"/>
                <a:cs typeface="Reddit Sans Light"/>
              </a:rPr>
              <a:t>4</a:t>
            </a:r>
            <a:endParaRPr lang="en-US" sz="3000">
              <a:latin typeface="Reddit Sans Light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CEAACE51-BC11-9F28-D4EB-E90BA7B2AA55}"/>
              </a:ext>
            </a:extLst>
          </p:cNvPr>
          <p:cNvSpPr/>
          <p:nvPr/>
        </p:nvSpPr>
        <p:spPr>
          <a:xfrm>
            <a:off x="844404" y="1469680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err="1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Clientes</a:t>
            </a:r>
            <a:endParaRPr lang="en-US" sz="975" err="1">
              <a:latin typeface="Reddit Sans Light"/>
              <a:cs typeface="Reddit Sans Light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8C4996C0-D6D7-24E3-25E1-EB43CBF58650}"/>
              </a:ext>
            </a:extLst>
          </p:cNvPr>
          <p:cNvSpPr/>
          <p:nvPr/>
        </p:nvSpPr>
        <p:spPr>
          <a:xfrm>
            <a:off x="332014" y="1936024"/>
            <a:ext cx="2558143" cy="209169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ACC30066-899D-3C09-3059-9BB6B2602527}"/>
              </a:ext>
            </a:extLst>
          </p:cNvPr>
          <p:cNvSpPr/>
          <p:nvPr/>
        </p:nvSpPr>
        <p:spPr>
          <a:xfrm>
            <a:off x="332014" y="1936024"/>
            <a:ext cx="2558143" cy="37719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24CF1C35-E4D3-0C6A-7A97-AF081690E26D}"/>
              </a:ext>
            </a:extLst>
          </p:cNvPr>
          <p:cNvSpPr/>
          <p:nvPr/>
        </p:nvSpPr>
        <p:spPr>
          <a:xfrm>
            <a:off x="434884" y="1936024"/>
            <a:ext cx="14325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FFFFFF"/>
                </a:solidFill>
                <a:latin typeface="Reddit Sans Light"/>
                <a:ea typeface="Calibri" pitchFamily="34" charset="-122"/>
                <a:cs typeface="Reddit Sans Light"/>
              </a:rPr>
              <a:t>N1 · Operación Reactiva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39053475-1421-F7C8-AD15-75DB9723B730}"/>
              </a:ext>
            </a:extLst>
          </p:cNvPr>
          <p:cNvSpPr/>
          <p:nvPr/>
        </p:nvSpPr>
        <p:spPr>
          <a:xfrm>
            <a:off x="1931669" y="2006781"/>
            <a:ext cx="81751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5 mesa</a:t>
            </a:r>
            <a:endParaRPr lang="en-US" sz="95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3564960B-23C8-45DA-2745-C36574CC176D}"/>
              </a:ext>
            </a:extLst>
          </p:cNvPr>
          <p:cNvSpPr/>
          <p:nvPr/>
        </p:nvSpPr>
        <p:spPr>
          <a:xfrm>
            <a:off x="349432" y="3047454"/>
            <a:ext cx="2539636" cy="926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Integración</a:t>
            </a: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.</a:t>
            </a:r>
            <a:endParaRPr lang="en-US" sz="1000" dirty="0"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Datos</a:t>
            </a:r>
            <a:endParaRPr lang="en-US" sz="1000"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endParaRPr lang="en-US" sz="1000" dirty="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Emma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Emma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Iseries</a:t>
            </a:r>
            <a:endParaRPr lang="en-US" sz="1000" dirty="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09E80C49-1784-AFE6-C216-5CE00A928742}"/>
              </a:ext>
            </a:extLst>
          </p:cNvPr>
          <p:cNvSpPr/>
          <p:nvPr/>
        </p:nvSpPr>
        <p:spPr>
          <a:xfrm>
            <a:off x="3267238" y="1936024"/>
            <a:ext cx="2558143" cy="209169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54F05A97-B24A-C53A-D343-169FE3831E11}"/>
              </a:ext>
            </a:extLst>
          </p:cNvPr>
          <p:cNvSpPr/>
          <p:nvPr/>
        </p:nvSpPr>
        <p:spPr>
          <a:xfrm>
            <a:off x="3267238" y="1936024"/>
            <a:ext cx="2558143" cy="37719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92BEB23B-D0A0-26DC-FF99-9ABFEA148B3D}"/>
              </a:ext>
            </a:extLst>
          </p:cNvPr>
          <p:cNvSpPr/>
          <p:nvPr/>
        </p:nvSpPr>
        <p:spPr>
          <a:xfrm>
            <a:off x="3370108" y="1936024"/>
            <a:ext cx="14325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FFFFFF"/>
                </a:solidFill>
                <a:latin typeface="Reddit Sans Light"/>
                <a:ea typeface="Calibri" pitchFamily="34" charset="-122"/>
                <a:cs typeface="Reddit Sans Light"/>
              </a:rPr>
              <a:t>N2 · Herramienta Activa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1C5DEF9A-FFC6-13CE-8541-DF862A2A84FA}"/>
              </a:ext>
            </a:extLst>
          </p:cNvPr>
          <p:cNvSpPr/>
          <p:nvPr/>
        </p:nvSpPr>
        <p:spPr>
          <a:xfrm>
            <a:off x="4888665" y="1990453"/>
            <a:ext cx="76853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5 mesas</a:t>
            </a:r>
            <a:endParaRPr lang="en-US" sz="95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72653892-AC8C-CBD6-79C1-85AAC042BB70}"/>
              </a:ext>
            </a:extLst>
          </p:cNvPr>
          <p:cNvSpPr/>
          <p:nvPr/>
        </p:nvSpPr>
        <p:spPr>
          <a:xfrm>
            <a:off x="2996183" y="2944042"/>
            <a:ext cx="1815737" cy="539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225"/>
              </a:spcAft>
              <a:buNone/>
            </a:pPr>
            <a:r>
              <a:rPr lang="en-US" sz="10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Cotizadores</a:t>
            </a:r>
            <a:endParaRPr lang="en-US" sz="1000" err="1">
              <a:latin typeface="Reddit Sans"/>
              <a:ea typeface="Reddit Sans"/>
              <a:cs typeface="Reddit Sans Light"/>
            </a:endParaRPr>
          </a:p>
          <a:p>
            <a:pPr marL="0" indent="0" algn="ctr">
              <a:spcAft>
                <a:spcPts val="225"/>
              </a:spcAft>
              <a:buNone/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Venta Digital</a:t>
            </a:r>
            <a:endParaRPr lang="en-US" sz="1000">
              <a:latin typeface="Reddit Sans"/>
              <a:ea typeface="Reddit Sans"/>
              <a:cs typeface="Reddit Sans Light"/>
            </a:endParaRPr>
          </a:p>
          <a:p>
            <a:pPr marL="0" indent="0" algn="ctr">
              <a:spcAft>
                <a:spcPts val="225"/>
              </a:spcAft>
              <a:buNone/>
            </a:pPr>
            <a:r>
              <a:rPr lang="en-US" sz="10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Automatización</a:t>
            </a:r>
            <a:endParaRPr lang="en-US" sz="1000" err="1">
              <a:latin typeface="Reddit Sans"/>
              <a:ea typeface="Reddit Sans"/>
              <a:cs typeface="Reddit Sans Light"/>
            </a:endParaRPr>
          </a:p>
          <a:p>
            <a:pPr marL="0" indent="0" algn="ctr">
              <a:spcAft>
                <a:spcPts val="225"/>
              </a:spcAft>
              <a:buNone/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Canales </a:t>
            </a:r>
            <a:r>
              <a:rPr lang="en-US" sz="10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Masivos</a:t>
            </a:r>
            <a:endParaRPr lang="en-US" sz="1000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F6DB335E-8497-36B2-29D1-A99F72ACCB5F}"/>
              </a:ext>
            </a:extLst>
          </p:cNvPr>
          <p:cNvSpPr/>
          <p:nvPr/>
        </p:nvSpPr>
        <p:spPr>
          <a:xfrm>
            <a:off x="6202462" y="1936024"/>
            <a:ext cx="2558143" cy="209169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A9CCE7CF-3E2A-DC0B-B2FA-FE8DB1E34887}"/>
              </a:ext>
            </a:extLst>
          </p:cNvPr>
          <p:cNvSpPr/>
          <p:nvPr/>
        </p:nvSpPr>
        <p:spPr>
          <a:xfrm>
            <a:off x="6202462" y="1936024"/>
            <a:ext cx="2558143" cy="37719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4436C922-BFF7-8292-582C-A83FAA29A772}"/>
              </a:ext>
            </a:extLst>
          </p:cNvPr>
          <p:cNvSpPr/>
          <p:nvPr/>
        </p:nvSpPr>
        <p:spPr>
          <a:xfrm>
            <a:off x="6289003" y="1936024"/>
            <a:ext cx="40930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N3</a:t>
            </a:r>
            <a:endParaRPr lang="en-US" sz="975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4552EAD8-AA87-92D6-6974-D301B38A6547}"/>
              </a:ext>
            </a:extLst>
          </p:cNvPr>
          <p:cNvSpPr/>
          <p:nvPr/>
        </p:nvSpPr>
        <p:spPr>
          <a:xfrm>
            <a:off x="7987174" y="1990453"/>
            <a:ext cx="60524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2 mesas</a:t>
            </a:r>
            <a:endParaRPr lang="en-US" sz="95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3A66E8B3-3227-F4DF-9117-22E082EE5136}"/>
              </a:ext>
            </a:extLst>
          </p:cNvPr>
          <p:cNvSpPr/>
          <p:nvPr/>
        </p:nvSpPr>
        <p:spPr>
          <a:xfrm>
            <a:off x="6339622" y="2416084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Aft>
                <a:spcPts val="225"/>
              </a:spcAft>
              <a:buNone/>
            </a:pPr>
            <a:endParaRPr lang="en-US" sz="938">
              <a:latin typeface="Reddit Sans Light"/>
              <a:cs typeface="Reddit Sans Light"/>
            </a:endParaRPr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3617E2F5-3A18-ACE4-E271-63674AA1C2BA}"/>
              </a:ext>
            </a:extLst>
          </p:cNvPr>
          <p:cNvSpPr/>
          <p:nvPr/>
        </p:nvSpPr>
        <p:spPr>
          <a:xfrm>
            <a:off x="342900" y="4349931"/>
            <a:ext cx="8455914" cy="327225"/>
          </a:xfrm>
          <a:prstGeom prst="roundRect">
            <a:avLst>
              <a:gd name="adj" fmla="val 8065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690CF84A-296B-2272-5D41-DB6EC483EA01}"/>
              </a:ext>
            </a:extLst>
          </p:cNvPr>
          <p:cNvSpPr/>
          <p:nvPr/>
        </p:nvSpPr>
        <p:spPr>
          <a:xfrm>
            <a:off x="480060" y="4366260"/>
            <a:ext cx="818159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En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este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levantamiento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inicial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no se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incluyó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a MEDICARTE,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ya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que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actualmente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se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encuentra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en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proceso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de </a:t>
            </a:r>
            <a:r>
              <a:rPr lang="en-US" sz="1100" b="1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empalme</a:t>
            </a:r>
            <a:r>
              <a:rPr lang="en-US" sz="1100" b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.</a:t>
            </a:r>
            <a:endParaRPr lang="es-ES" sz="1100" b="1">
              <a:solidFill>
                <a:schemeClr val="accent1">
                  <a:lumMod val="49000"/>
                </a:schemeClr>
              </a:solidFill>
              <a:latin typeface="Reddit Sans Light"/>
              <a:cs typeface="Reddit Sans Light"/>
            </a:endParaRPr>
          </a:p>
          <a:p>
            <a:endParaRPr lang="en-US" sz="950" b="1">
              <a:solidFill>
                <a:schemeClr val="accent1">
                  <a:lumMod val="49000"/>
                </a:schemeClr>
              </a:solidFill>
              <a:latin typeface="Reddit Sans Light"/>
              <a:ea typeface="Calibri Light"/>
              <a:cs typeface="Reddit Sans Light"/>
            </a:endParaRPr>
          </a:p>
        </p:txBody>
      </p:sp>
      <p:sp>
        <p:nvSpPr>
          <p:cNvPr id="3" name="Text 22">
            <a:extLst>
              <a:ext uri="{FF2B5EF4-FFF2-40B4-BE49-F238E27FC236}">
                <a16:creationId xmlns:a16="http://schemas.microsoft.com/office/drawing/2014/main" id="{7A8C7BD1-9176-A15B-5946-3D3FC0332A13}"/>
              </a:ext>
            </a:extLst>
          </p:cNvPr>
          <p:cNvSpPr/>
          <p:nvPr/>
        </p:nvSpPr>
        <p:spPr>
          <a:xfrm>
            <a:off x="6289112" y="2944041"/>
            <a:ext cx="917666" cy="169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225"/>
              </a:spcAft>
              <a:buNone/>
            </a:pPr>
            <a:r>
              <a:rPr lang="en-US" sz="10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Cotizadores</a:t>
            </a:r>
          </a:p>
        </p:txBody>
      </p:sp>
      <p:pic>
        <p:nvPicPr>
          <p:cNvPr id="4" name="Gráfico 3" descr="The logo of , showing a stylized leaf above the site name in bold, modern font. Links to the homepage.">
            <a:extLst>
              <a:ext uri="{FF2B5EF4-FFF2-40B4-BE49-F238E27FC236}">
                <a16:creationId xmlns:a16="http://schemas.microsoft.com/office/drawing/2014/main" id="{A0D4B0DF-F4E8-7E49-32F1-8519B02EC3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9224" y="2364921"/>
            <a:ext cx="487137" cy="206829"/>
          </a:xfrm>
          <a:prstGeom prst="rect">
            <a:avLst/>
          </a:prstGeom>
        </p:spPr>
      </p:pic>
      <p:pic>
        <p:nvPicPr>
          <p:cNvPr id="7" name="Gráfico 6" descr="Logo Bancolombia">
            <a:extLst>
              <a:ext uri="{FF2B5EF4-FFF2-40B4-BE49-F238E27FC236}">
                <a16:creationId xmlns:a16="http://schemas.microsoft.com/office/drawing/2014/main" id="{43D69C67-E535-7C60-A4E0-120FBA08E3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722" y="2673122"/>
            <a:ext cx="1326697" cy="374197"/>
          </a:xfrm>
          <a:prstGeom prst="rect">
            <a:avLst/>
          </a:prstGeom>
        </p:spPr>
      </p:pic>
      <p:pic>
        <p:nvPicPr>
          <p:cNvPr id="9" name="Gráfico 8" descr="logo Sura">
            <a:extLst>
              <a:ext uri="{FF2B5EF4-FFF2-40B4-BE49-F238E27FC236}">
                <a16:creationId xmlns:a16="http://schemas.microsoft.com/office/drawing/2014/main" id="{76884242-5B78-E8F5-196D-24CD953435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4853" y="2400299"/>
            <a:ext cx="987879" cy="342901"/>
          </a:xfrm>
          <a:prstGeom prst="rect">
            <a:avLst/>
          </a:prstGeom>
        </p:spPr>
      </p:pic>
      <p:pic>
        <p:nvPicPr>
          <p:cNvPr id="11" name="Imagen 10" descr="Logo">
            <a:extLst>
              <a:ext uri="{FF2B5EF4-FFF2-40B4-BE49-F238E27FC236}">
                <a16:creationId xmlns:a16="http://schemas.microsoft.com/office/drawing/2014/main" id="{895562EC-799E-D3C4-DC5A-4BE673F21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3321" y="2374447"/>
            <a:ext cx="778331" cy="389165"/>
          </a:xfrm>
          <a:prstGeom prst="rect">
            <a:avLst/>
          </a:prstGeom>
        </p:spPr>
      </p:pic>
      <p:pic>
        <p:nvPicPr>
          <p:cNvPr id="15" name="Gráfico 14" descr="logo Sura">
            <a:extLst>
              <a:ext uri="{FF2B5EF4-FFF2-40B4-BE49-F238E27FC236}">
                <a16:creationId xmlns:a16="http://schemas.microsoft.com/office/drawing/2014/main" id="{4E0D61E5-7B27-245D-52E8-8BECA618E7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5010" y="2427513"/>
            <a:ext cx="987879" cy="342901"/>
          </a:xfrm>
          <a:prstGeom prst="rect">
            <a:avLst/>
          </a:prstGeom>
        </p:spPr>
      </p:pic>
      <p:pic>
        <p:nvPicPr>
          <p:cNvPr id="17" name="Imagen 16" descr="Logo">
            <a:extLst>
              <a:ext uri="{FF2B5EF4-FFF2-40B4-BE49-F238E27FC236}">
                <a16:creationId xmlns:a16="http://schemas.microsoft.com/office/drawing/2014/main" id="{5A463B06-EF9E-16FF-193B-A64DB0EEF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3478" y="2401661"/>
            <a:ext cx="778331" cy="38916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3D4FF19C-DA59-E7C8-94CD-FC7572D8F0DB}"/>
              </a:ext>
            </a:extLst>
          </p:cNvPr>
          <p:cNvSpPr txBox="1"/>
          <p:nvPr/>
        </p:nvSpPr>
        <p:spPr>
          <a:xfrm>
            <a:off x="7364185" y="2724149"/>
            <a:ext cx="1741715" cy="4343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1000" b="0" i="0">
                <a:solidFill>
                  <a:srgbClr val="000000"/>
                </a:solidFill>
                <a:latin typeface="Reddit Sans"/>
                <a:ea typeface="Reddit Sans"/>
                <a:cs typeface="Segoe UI"/>
              </a:rPr>
              <a:t>​</a:t>
            </a:r>
          </a:p>
          <a:p>
            <a:pPr algn="ctr">
              <a:lnSpc>
                <a:spcPts val="1575"/>
              </a:lnSpc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Segoe UI"/>
              </a:rPr>
              <a:t>HU</a:t>
            </a:r>
            <a:r>
              <a:rPr lang="en-US" sz="1000" b="0" i="0" u="none" strike="noStrike" baseline="0">
                <a:solidFill>
                  <a:srgbClr val="1C1C1C"/>
                </a:solidFill>
                <a:latin typeface="Reddit Sans"/>
                <a:ea typeface="Reddit Sans"/>
                <a:cs typeface="Segoe UI"/>
              </a:rPr>
              <a:t> </a:t>
            </a:r>
            <a:r>
              <a:rPr lang="en-US" sz="1000" b="0" i="0" u="none" strike="noStrike" baseline="0" err="1">
                <a:solidFill>
                  <a:srgbClr val="1C1C1C"/>
                </a:solidFill>
                <a:latin typeface="Reddit Sans"/>
                <a:ea typeface="Reddit Sans"/>
                <a:cs typeface="Segoe UI"/>
              </a:rPr>
              <a:t>Evolutivas</a:t>
            </a: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C57F8888-D775-3BF7-793F-61267ABCCDC6}"/>
              </a:ext>
            </a:extLst>
          </p:cNvPr>
          <p:cNvSpPr/>
          <p:nvPr/>
        </p:nvSpPr>
        <p:spPr>
          <a:xfrm>
            <a:off x="4819540" y="2922271"/>
            <a:ext cx="961209" cy="578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s-CO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 App Criticas</a:t>
            </a:r>
          </a:p>
        </p:txBody>
      </p:sp>
      <p:sp>
        <p:nvSpPr>
          <p:cNvPr id="29" name="ttl">
            <a:extLst>
              <a:ext uri="{FF2B5EF4-FFF2-40B4-BE49-F238E27FC236}">
                <a16:creationId xmlns:a16="http://schemas.microsoft.com/office/drawing/2014/main" id="{D6522D37-9C92-E81E-6C63-45AC32BF548F}"/>
              </a:ext>
            </a:extLst>
          </p:cNvPr>
          <p:cNvSpPr txBox="1">
            <a:spLocks noGrp="1"/>
          </p:cNvSpPr>
          <p:nvPr/>
        </p:nvSpPr>
        <p:spPr>
          <a:xfrm>
            <a:off x="330925" y="173083"/>
            <a:ext cx="3173187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s-ES" sz="1700" b="1">
                <a:solidFill>
                  <a:schemeClr val="accent1">
                    <a:lumMod val="49000"/>
                  </a:schemeClr>
                </a:solidFill>
                <a:latin typeface="Reddit Sans"/>
                <a:ea typeface="Reddit Sans"/>
              </a:rPr>
              <a:t>Nuestra Operación Actual</a:t>
            </a:r>
          </a:p>
        </p:txBody>
      </p:sp>
      <p:sp>
        <p:nvSpPr>
          <p:cNvPr id="33" name="sub">
            <a:extLst>
              <a:ext uri="{FF2B5EF4-FFF2-40B4-BE49-F238E27FC236}">
                <a16:creationId xmlns:a16="http://schemas.microsoft.com/office/drawing/2014/main" id="{5A023ACB-452D-09FE-CAB0-D835DE0CC855}"/>
              </a:ext>
            </a:extLst>
          </p:cNvPr>
          <p:cNvSpPr txBox="1">
            <a:spLocks noGrp="1"/>
          </p:cNvSpPr>
          <p:nvPr/>
        </p:nvSpPr>
        <p:spPr>
          <a:xfrm>
            <a:off x="330925" y="566928"/>
            <a:ext cx="3222173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s-ES" sz="1000">
                <a:solidFill>
                  <a:srgbClr val="6B7280"/>
                </a:solidFill>
                <a:latin typeface="Reddit Sans"/>
                <a:ea typeface="Reddit Sans"/>
              </a:rPr>
              <a:t>Banca y Seguros · Energía y </a:t>
            </a:r>
            <a:r>
              <a:rPr lang="es-ES" sz="1000" err="1">
                <a:solidFill>
                  <a:srgbClr val="6B7280"/>
                </a:solidFill>
                <a:latin typeface="Reddit Sans"/>
                <a:ea typeface="Reddit Sans"/>
              </a:rPr>
              <a:t>Utilities</a:t>
            </a:r>
          </a:p>
        </p:txBody>
      </p:sp>
      <p:sp>
        <p:nvSpPr>
          <p:cNvPr id="2" name="Shape 10">
            <a:extLst>
              <a:ext uri="{FF2B5EF4-FFF2-40B4-BE49-F238E27FC236}">
                <a16:creationId xmlns:a16="http://schemas.microsoft.com/office/drawing/2014/main" id="{EF0FF842-835D-9AA8-2EFA-E7A5FB04F8CE}"/>
              </a:ext>
            </a:extLst>
          </p:cNvPr>
          <p:cNvSpPr/>
          <p:nvPr/>
        </p:nvSpPr>
        <p:spPr>
          <a:xfrm>
            <a:off x="6929518" y="958487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F7D46063-4A67-428F-7409-01FA53B4BB0F}"/>
              </a:ext>
            </a:extLst>
          </p:cNvPr>
          <p:cNvSpPr/>
          <p:nvPr/>
        </p:nvSpPr>
        <p:spPr>
          <a:xfrm>
            <a:off x="7125461" y="970026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3000" b="1">
              <a:solidFill>
                <a:srgbClr val="1F7A4D"/>
              </a:solidFill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EE68B4E7-36CA-E303-43C9-E5B05500E214}"/>
              </a:ext>
            </a:extLst>
          </p:cNvPr>
          <p:cNvSpPr/>
          <p:nvPr/>
        </p:nvSpPr>
        <p:spPr>
          <a:xfrm>
            <a:off x="7125461" y="1480566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err="1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Applicaciones</a:t>
            </a:r>
            <a:endParaRPr lang="en-US" sz="975" err="1">
              <a:latin typeface="Reddit Sans Light"/>
              <a:cs typeface="Reddit Sans Light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6041C1E6-7FE4-0BE7-8E9A-439271DA0562}"/>
              </a:ext>
            </a:extLst>
          </p:cNvPr>
          <p:cNvSpPr/>
          <p:nvPr/>
        </p:nvSpPr>
        <p:spPr>
          <a:xfrm>
            <a:off x="7038375" y="975468"/>
            <a:ext cx="10727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solidFill>
                  <a:srgbClr val="7030A0"/>
                </a:solidFill>
                <a:latin typeface="Reddit Sans Light"/>
                <a:ea typeface="Calibri"/>
                <a:cs typeface="Arial"/>
              </a:rPr>
              <a:t>37+</a:t>
            </a:r>
          </a:p>
        </p:txBody>
      </p:sp>
    </p:spTree>
    <p:extLst>
      <p:ext uri="{BB962C8B-B14F-4D97-AF65-F5344CB8AC3E}">
        <p14:creationId xmlns:p14="http://schemas.microsoft.com/office/powerpoint/2010/main" val="4143833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4143375" y="1975246"/>
            <a:ext cx="857250" cy="428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Reddit Sans"/>
              <a:ea typeface="Reddit Sans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93052" y="2232422"/>
            <a:ext cx="3157895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Cliente</a:t>
            </a:r>
            <a:r>
              <a:rPr lang="en-US" sz="3900" b="1" i="0" u="none" strike="noStrike" cap="none" dirty="0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 </a:t>
            </a:r>
            <a:r>
              <a:rPr lang="en-US" sz="3900" b="1" dirty="0">
                <a:solidFill>
                  <a:srgbClr val="38BDF8"/>
                </a:solidFill>
                <a:latin typeface="Reddit Sans"/>
                <a:ea typeface="Reddit Sans"/>
                <a:sym typeface="Urbanist"/>
              </a:rPr>
              <a:t>AES</a:t>
            </a:r>
            <a:endParaRPr sz="788" dirty="0">
              <a:latin typeface="Reddit Sans"/>
              <a:ea typeface="Reddit Sans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196703" y="2982515"/>
            <a:ext cx="4750594" cy="233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Soporte</a:t>
            </a: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 IT/OT</a:t>
            </a:r>
            <a:endParaRPr lang="es-ES" dirty="0"/>
          </a:p>
        </p:txBody>
      </p:sp>
      <p:pic>
        <p:nvPicPr>
          <p:cNvPr id="4" name="Gráfico 3" descr="The logo of , showing a stylized leaf above the site name in bold, modern font. Links to the homepage.">
            <a:extLst>
              <a:ext uri="{FF2B5EF4-FFF2-40B4-BE49-F238E27FC236}">
                <a16:creationId xmlns:a16="http://schemas.microsoft.com/office/drawing/2014/main" id="{1BC16475-83B8-1A7E-C76F-187AA7C86A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3952" y="1216478"/>
            <a:ext cx="1216479" cy="51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942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A85AB29-3E46-933C-6579-812A0A90BF01}"/>
              </a:ext>
            </a:extLst>
          </p:cNvPr>
          <p:cNvSpPr/>
          <p:nvPr/>
        </p:nvSpPr>
        <p:spPr>
          <a:xfrm>
            <a:off x="761999" y="316230"/>
            <a:ext cx="7966058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ASE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B174B41-2534-2DDB-D755-573AA23A9EF0}"/>
              </a:ext>
            </a:extLst>
          </p:cNvPr>
          <p:cNvSpPr/>
          <p:nvPr/>
        </p:nvSpPr>
        <p:spPr>
          <a:xfrm>
            <a:off x="359227" y="677527"/>
            <a:ext cx="8455914" cy="66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Contrato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: 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vence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agosto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2026 · RFP 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activo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con 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más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competidores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· 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Oportunidad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de 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reconversión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a managed service</a:t>
            </a:r>
          </a:p>
          <a:p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Herramienta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N1: ServiceNow</a:t>
            </a:r>
            <a:endParaRPr lang="en-US" sz="900">
              <a:solidFill>
                <a:srgbClr val="000000"/>
              </a:solidFill>
              <a:highlight>
                <a:srgbClr val="FFFFFF"/>
              </a:highlight>
              <a:latin typeface="Reddit Sans"/>
              <a:ea typeface="Reddit Sans"/>
              <a:cs typeface="Calibri Light"/>
            </a:endParaRPr>
          </a:p>
          <a:p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Soporte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: 8x5 · Presencia 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física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en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planta · Central </a:t>
            </a:r>
            <a:r>
              <a:rPr lang="en-US" sz="90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Hidroeléctrica</a:t>
            </a:r>
            <a:endParaRPr lang="en-US" err="1">
              <a:latin typeface="Reddit Sans"/>
              <a:ea typeface="Reddit Sans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6809503-22DB-9889-DE78-CC5B5299AF39}"/>
              </a:ext>
            </a:extLst>
          </p:cNvPr>
          <p:cNvSpPr/>
          <p:nvPr/>
        </p:nvSpPr>
        <p:spPr>
          <a:xfrm>
            <a:off x="304800" y="1264376"/>
            <a:ext cx="8455914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267071E3-C75F-EE89-2A37-AAD3BDF31F5E}"/>
              </a:ext>
            </a:extLst>
          </p:cNvPr>
          <p:cNvSpPr/>
          <p:nvPr/>
        </p:nvSpPr>
        <p:spPr>
          <a:xfrm>
            <a:off x="304800" y="1264376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D507D70-3AE7-04D0-AFD2-0EAC7330B64D}"/>
              </a:ext>
            </a:extLst>
          </p:cNvPr>
          <p:cNvSpPr/>
          <p:nvPr/>
        </p:nvSpPr>
        <p:spPr>
          <a:xfrm>
            <a:off x="441960" y="12643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IT/OT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Planta · Energía</a:t>
            </a:r>
            <a:endParaRPr lang="en-US" sz="11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DE1F8DC-5FEE-E676-21DC-E1068E039E99}"/>
              </a:ext>
            </a:extLst>
          </p:cNvPr>
          <p:cNvSpPr/>
          <p:nvPr/>
        </p:nvSpPr>
        <p:spPr>
          <a:xfrm>
            <a:off x="510540" y="17444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3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8034584-9083-7DF0-F3A5-E82B982A6571}"/>
              </a:ext>
            </a:extLst>
          </p:cNvPr>
          <p:cNvSpPr/>
          <p:nvPr/>
        </p:nvSpPr>
        <p:spPr>
          <a:xfrm>
            <a:off x="510540" y="21902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48EADF9-2797-147B-C132-F312D88F6975}"/>
              </a:ext>
            </a:extLst>
          </p:cNvPr>
          <p:cNvSpPr/>
          <p:nvPr/>
        </p:nvSpPr>
        <p:spPr>
          <a:xfrm>
            <a:off x="2348049" y="1983921"/>
            <a:ext cx="3074125" cy="43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Infra IT/OT (sin ITSM)</a:t>
            </a:r>
            <a:endParaRPr lang="en-US" sz="20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 algn="ctr">
              <a:buNone/>
            </a:pPr>
            <a:endParaRPr lang="en-US" sz="3000" b="1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E4D126B8-723F-0CDC-481E-4A41ECA0D157}"/>
              </a:ext>
            </a:extLst>
          </p:cNvPr>
          <p:cNvSpPr/>
          <p:nvPr/>
        </p:nvSpPr>
        <p:spPr>
          <a:xfrm>
            <a:off x="2827020" y="21902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F0034334-40A4-ED45-0E4D-9A586E1851AC}"/>
              </a:ext>
            </a:extLst>
          </p:cNvPr>
          <p:cNvSpPr/>
          <p:nvPr/>
        </p:nvSpPr>
        <p:spPr>
          <a:xfrm>
            <a:off x="510540" y="2498816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B796A2F1-2418-E77E-32E1-864C72B8C34E}"/>
              </a:ext>
            </a:extLst>
          </p:cNvPr>
          <p:cNvSpPr/>
          <p:nvPr/>
        </p:nvSpPr>
        <p:spPr>
          <a:xfrm>
            <a:off x="4762500" y="2498816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B65C6964-1D55-3313-D02F-2F0B4F4AA51B}"/>
              </a:ext>
            </a:extLst>
          </p:cNvPr>
          <p:cNvSpPr/>
          <p:nvPr/>
        </p:nvSpPr>
        <p:spPr>
          <a:xfrm>
            <a:off x="515983" y="2824299"/>
            <a:ext cx="397764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Modelo actual: staffing puro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planta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física</a:t>
            </a:r>
            <a:endParaRPr lang="en-US" sz="950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Contrato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vigente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hasta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agosto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2026</a:t>
            </a:r>
            <a:endParaRPr lang="en-US" sz="950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RFP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abierto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con 4-5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competidores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activos</a:t>
            </a:r>
            <a:endParaRPr lang="en-US" sz="950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El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cliente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quiere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pasar a managed service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completo</a:t>
            </a:r>
            <a:endParaRPr lang="en-US" sz="950">
              <a:latin typeface="Reddit Sans"/>
              <a:ea typeface="Reddit Sans"/>
              <a:cs typeface="Reddit Sans Light"/>
            </a:endParaRP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PersonalSoft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debe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cargar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toda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la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, 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oportunidad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crecimiento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AA4DD2AB-75A9-097A-CF01-197A34B65643}"/>
              </a:ext>
            </a:extLst>
          </p:cNvPr>
          <p:cNvSpPr/>
          <p:nvPr/>
        </p:nvSpPr>
        <p:spPr>
          <a:xfrm>
            <a:off x="4767943" y="2824299"/>
            <a:ext cx="384048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métricas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KPIs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formales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ningún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tipo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SLA contractual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documentado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gobierno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RACI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definido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KEDB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gestión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conocimiento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Infraestructura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on-premise sin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escalabilidad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físico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planta, 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disponibilidad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limitada</a:t>
            </a:r>
            <a:endParaRPr lang="en-US" sz="950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C262E403-5373-7EE0-8667-96770348380A}"/>
              </a:ext>
            </a:extLst>
          </p:cNvPr>
          <p:cNvSpPr/>
          <p:nvPr/>
        </p:nvSpPr>
        <p:spPr>
          <a:xfrm>
            <a:off x="359229" y="318298"/>
            <a:ext cx="40048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FD507D-04A7-080E-6E4A-F3C21367876D}"/>
              </a:ext>
            </a:extLst>
          </p:cNvPr>
          <p:cNvSpPr/>
          <p:nvPr/>
        </p:nvSpPr>
        <p:spPr>
          <a:xfrm>
            <a:off x="359228" y="595884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Lideradas por: 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Michael Arevalo Luna</a:t>
            </a:r>
            <a:endParaRPr lang="es-ES" sz="900">
              <a:solidFill>
                <a:srgbClr val="132346"/>
              </a:solidFill>
              <a:highlight>
                <a:srgbClr val="FFFFFF"/>
              </a:highlight>
              <a:latin typeface="Reddit Sans"/>
              <a:ea typeface="Reddit Sans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56774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4143375" y="1975246"/>
            <a:ext cx="857250" cy="428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Reddit Sans"/>
              <a:ea typeface="Reddit Sans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93052" y="2232422"/>
            <a:ext cx="3157895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38" b="1" i="0" u="none" strike="noStrike" cap="none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Cliente </a:t>
            </a:r>
            <a:r>
              <a:rPr lang="en-US" sz="3938" b="1" i="0" u="none" strike="noStrike" cap="none">
                <a:solidFill>
                  <a:srgbClr val="38BDF8"/>
                </a:solidFill>
                <a:latin typeface="Reddit Sans"/>
                <a:ea typeface="Reddit Sans"/>
                <a:sym typeface="Urbanist"/>
              </a:rPr>
              <a:t>SURA</a:t>
            </a:r>
            <a:endParaRPr sz="788">
              <a:latin typeface="Reddit Sans"/>
              <a:ea typeface="Reddit Sans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196703" y="2982515"/>
            <a:ext cx="4750594" cy="124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35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Cotizadores</a:t>
            </a:r>
            <a:endParaRPr lang="en-US" sz="1350">
              <a:solidFill>
                <a:srgbClr val="94A3B8"/>
              </a:solidFill>
              <a:latin typeface="Reddit Sans"/>
              <a:ea typeface="Reddit Sans"/>
            </a:endParaRPr>
          </a:p>
          <a:p>
            <a:pPr algn="ctr">
              <a:spcAft>
                <a:spcPts val="225"/>
              </a:spcAft>
            </a:pPr>
            <a:r>
              <a:rPr lang="en-US" sz="135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Venta Digital</a:t>
            </a:r>
            <a:endParaRPr lang="en-US" sz="1350">
              <a:solidFill>
                <a:srgbClr val="94A3B8"/>
              </a:solidFill>
              <a:latin typeface="Reddit Sans"/>
              <a:ea typeface="Reddit Sans"/>
            </a:endParaRPr>
          </a:p>
          <a:p>
            <a:pPr algn="ctr">
              <a:spcAft>
                <a:spcPts val="225"/>
              </a:spcAft>
            </a:pP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Automatización</a:t>
            </a:r>
            <a:endParaRPr lang="en-US" sz="1350" dirty="0" err="1">
              <a:solidFill>
                <a:srgbClr val="94A3B8"/>
              </a:solidFill>
              <a:latin typeface="Reddit Sans"/>
              <a:ea typeface="Reddit Sans"/>
            </a:endParaRPr>
          </a:p>
          <a:p>
            <a:pPr algn="ctr">
              <a:spcAft>
                <a:spcPts val="225"/>
              </a:spcAft>
            </a:pP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Canales </a:t>
            </a: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Masivos</a:t>
            </a:r>
            <a:endParaRPr lang="en-US" sz="1350" dirty="0" err="1">
              <a:solidFill>
                <a:srgbClr val="94A3B8"/>
              </a:solidFill>
              <a:latin typeface="Reddit Sans"/>
              <a:ea typeface="Reddit Sans"/>
            </a:endParaRPr>
          </a:p>
          <a:p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dirty="0">
              <a:solidFill>
                <a:srgbClr val="94A3B8"/>
              </a:solidFill>
              <a:latin typeface="Reddit Sans"/>
              <a:ea typeface="Reddit Sans"/>
            </a:endParaRPr>
          </a:p>
        </p:txBody>
      </p:sp>
      <p:pic>
        <p:nvPicPr>
          <p:cNvPr id="3" name="Gráfico 2" descr="logo Sura">
            <a:extLst>
              <a:ext uri="{FF2B5EF4-FFF2-40B4-BE49-F238E27FC236}">
                <a16:creationId xmlns:a16="http://schemas.microsoft.com/office/drawing/2014/main" id="{59DD51D8-D4AB-17CA-F5BF-F01588AD59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1424" y="1061356"/>
            <a:ext cx="2016579" cy="70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817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BE3EF-505A-A9AA-3DD7-2340C0CF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41FB6A4-A0E5-08F0-51BD-A9F67EE4928A}"/>
              </a:ext>
            </a:extLst>
          </p:cNvPr>
          <p:cNvSpPr/>
          <p:nvPr/>
        </p:nvSpPr>
        <p:spPr>
          <a:xfrm>
            <a:off x="1164769" y="316230"/>
            <a:ext cx="7557846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E708224-8AB7-F20F-AB49-F708F87CC8AC}"/>
              </a:ext>
            </a:extLst>
          </p:cNvPr>
          <p:cNvSpPr/>
          <p:nvPr/>
        </p:nvSpPr>
        <p:spPr>
          <a:xfrm>
            <a:off x="342898" y="1487532"/>
            <a:ext cx="8455914" cy="3143795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318D3E4-80AD-589B-EE30-4EA8C56F0CF6}"/>
              </a:ext>
            </a:extLst>
          </p:cNvPr>
          <p:cNvSpPr/>
          <p:nvPr/>
        </p:nvSpPr>
        <p:spPr>
          <a:xfrm>
            <a:off x="342900" y="1487532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267A0CA-08D4-FF07-9D67-7EC771F16370}"/>
              </a:ext>
            </a:extLst>
          </p:cNvPr>
          <p:cNvSpPr/>
          <p:nvPr/>
        </p:nvSpPr>
        <p:spPr>
          <a:xfrm>
            <a:off x="480060" y="1487532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N2-N3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Cotizadores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plataforma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cotizadores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para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venta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seguros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;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atención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principalmente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incidentes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con bajo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volumen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requerimientos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067E5589-714E-6974-161F-791DE51F2B39}"/>
              </a:ext>
            </a:extLst>
          </p:cNvPr>
          <p:cNvSpPr/>
          <p:nvPr/>
        </p:nvSpPr>
        <p:spPr>
          <a:xfrm>
            <a:off x="548640" y="1967592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8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09DCF838-9BBE-14D9-2F80-C2C3974E281C}"/>
              </a:ext>
            </a:extLst>
          </p:cNvPr>
          <p:cNvSpPr/>
          <p:nvPr/>
        </p:nvSpPr>
        <p:spPr>
          <a:xfrm>
            <a:off x="548640" y="230994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29BF4869-D295-EE03-CADD-BF1543FFC228}"/>
              </a:ext>
            </a:extLst>
          </p:cNvPr>
          <p:cNvSpPr/>
          <p:nvPr/>
        </p:nvSpPr>
        <p:spPr>
          <a:xfrm>
            <a:off x="1907177" y="1973035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668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8B67306F-8BF3-DED2-A4D9-9FA8D3A1CDD3}"/>
              </a:ext>
            </a:extLst>
          </p:cNvPr>
          <p:cNvSpPr/>
          <p:nvPr/>
        </p:nvSpPr>
        <p:spPr>
          <a:xfrm>
            <a:off x="1907177" y="2315391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45F01504-CC6E-8F47-1863-C9B380D62E61}"/>
              </a:ext>
            </a:extLst>
          </p:cNvPr>
          <p:cNvSpPr/>
          <p:nvPr/>
        </p:nvSpPr>
        <p:spPr>
          <a:xfrm>
            <a:off x="3216728" y="200024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24.58 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3780BEC4-3EB1-9929-8C38-9C939A33CA18}"/>
              </a:ext>
            </a:extLst>
          </p:cNvPr>
          <p:cNvSpPr/>
          <p:nvPr/>
        </p:nvSpPr>
        <p:spPr>
          <a:xfrm>
            <a:off x="3091543" y="234260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3BE52F09-E1B6-9F86-A128-7900F2C183E0}"/>
              </a:ext>
            </a:extLst>
          </p:cNvPr>
          <p:cNvSpPr/>
          <p:nvPr/>
        </p:nvSpPr>
        <p:spPr>
          <a:xfrm>
            <a:off x="4335779" y="1989363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70%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50979E78-07FE-1C55-9257-E52E5EEE8580}"/>
              </a:ext>
            </a:extLst>
          </p:cNvPr>
          <p:cNvSpPr/>
          <p:nvPr/>
        </p:nvSpPr>
        <p:spPr>
          <a:xfrm>
            <a:off x="4324893" y="2342605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DB8946C-38E7-7A80-461C-29EF308C7C09}"/>
              </a:ext>
            </a:extLst>
          </p:cNvPr>
          <p:cNvSpPr/>
          <p:nvPr/>
        </p:nvSpPr>
        <p:spPr>
          <a:xfrm>
            <a:off x="646611" y="2651215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7E8CC78D-8910-9CB9-25B0-46B48750AD3F}"/>
              </a:ext>
            </a:extLst>
          </p:cNvPr>
          <p:cNvSpPr/>
          <p:nvPr/>
        </p:nvSpPr>
        <p:spPr>
          <a:xfrm>
            <a:off x="4724400" y="2651215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D0670633-9994-2DD5-6A44-033753CB8296}"/>
              </a:ext>
            </a:extLst>
          </p:cNvPr>
          <p:cNvSpPr/>
          <p:nvPr/>
        </p:nvSpPr>
        <p:spPr>
          <a:xfrm>
            <a:off x="337459" y="318298"/>
            <a:ext cx="82502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N2 - N3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C65D8E17-F696-0C7A-EA0F-08EF126831F0}"/>
              </a:ext>
            </a:extLst>
          </p:cNvPr>
          <p:cNvSpPr txBox="1">
            <a:spLocks noGrp="1"/>
          </p:cNvSpPr>
          <p:nvPr/>
        </p:nvSpPr>
        <p:spPr>
          <a:xfrm>
            <a:off x="336367" y="645740"/>
            <a:ext cx="8284029" cy="8458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 Elsy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· 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 Modelo: FTE Dedicado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Contrato: Agosto con posible renovación hasta diciembre de 2026.  Propuesta con mirada de optimización; Compañía de Conexión / negociación comercial para el 2027. Se debe competir con otros proveedores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Lun-Vie · Atención de incidentes plataforma de suscripción</a:t>
            </a:r>
            <a:endParaRPr lang="es-ES">
              <a:latin typeface="Reddit Sans"/>
              <a:ea typeface="Reddit Sans"/>
            </a:endParaRP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651E7A52-FD27-B8D1-DBBF-5C695E099D45}"/>
              </a:ext>
            </a:extLst>
          </p:cNvPr>
          <p:cNvSpPr/>
          <p:nvPr/>
        </p:nvSpPr>
        <p:spPr>
          <a:xfrm>
            <a:off x="5691050" y="2005691"/>
            <a:ext cx="2627810" cy="33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</a:t>
            </a:r>
            <a:r>
              <a:rPr lang="en-US" sz="2000" b="1" err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plataforma</a:t>
            </a: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 core</a:t>
            </a:r>
            <a:endParaRPr lang="en-US" sz="20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7C9BE13C-0CE5-F911-C40A-6A6B8C764C93}"/>
              </a:ext>
            </a:extLst>
          </p:cNvPr>
          <p:cNvSpPr/>
          <p:nvPr/>
        </p:nvSpPr>
        <p:spPr>
          <a:xfrm>
            <a:off x="6044836" y="23426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1ABD29D1-06B5-1648-054C-78EFE108942C}"/>
              </a:ext>
            </a:extLst>
          </p:cNvPr>
          <p:cNvSpPr/>
          <p:nvPr/>
        </p:nvSpPr>
        <p:spPr>
          <a:xfrm>
            <a:off x="548639" y="2933155"/>
            <a:ext cx="3917769" cy="94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plataforma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cotizadores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para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venta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seguros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Atención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principalmente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incidentes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· MTTR 24.58h (meta: &lt;9h) · SLA 70% (meta: 92%)
· Backlog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promedio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: 65 tickets </a:t>
            </a: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84 tickets/FTE/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mes</a:t>
            </a: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" name="Text 17">
            <a:extLst>
              <a:ext uri="{FF2B5EF4-FFF2-40B4-BE49-F238E27FC236}">
                <a16:creationId xmlns:a16="http://schemas.microsoft.com/office/drawing/2014/main" id="{E96163CB-45D5-F809-787B-CB795BE21DFB}"/>
              </a:ext>
            </a:extLst>
          </p:cNvPr>
          <p:cNvSpPr/>
          <p:nvPr/>
        </p:nvSpPr>
        <p:spPr>
          <a:xfrm>
            <a:off x="4778828" y="2933155"/>
            <a:ext cx="3840480" cy="143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 · SLAs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incumplidos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MTTR 24.58h vs meta 9h, SLA 70% vs meta 92%
●  D3 · Sin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autoservicio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todo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llega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por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call o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correo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●  D9 · Scope creep — solicitudes fuera del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alcance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sin control
●  D13 · Sin roles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definidos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mismo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FTE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hace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N1, N2 y N3
●  D16 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Brechas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vendido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vs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ejecutado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volumetría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mal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estimada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●  D20 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Dimensionamiento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sin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modelo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asignación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por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criterio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experto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◐  D1 · Bus factor —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rotación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=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pérdida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conocimiento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crítico</a:t>
            </a:r>
          </a:p>
        </p:txBody>
      </p:sp>
    </p:spTree>
    <p:extLst>
      <p:ext uri="{BB962C8B-B14F-4D97-AF65-F5344CB8AC3E}">
        <p14:creationId xmlns:p14="http://schemas.microsoft.com/office/powerpoint/2010/main" val="2115233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F836D-88CA-8B83-ABB9-3D0CAD61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DE70C01E-E6EB-0109-645B-69BC46CDFB9D}"/>
              </a:ext>
            </a:extLst>
          </p:cNvPr>
          <p:cNvSpPr/>
          <p:nvPr/>
        </p:nvSpPr>
        <p:spPr>
          <a:xfrm>
            <a:off x="386442" y="1563733"/>
            <a:ext cx="8455914" cy="2866208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BB6A9426-F7DB-79EA-42CE-91FC8465FC55}"/>
              </a:ext>
            </a:extLst>
          </p:cNvPr>
          <p:cNvSpPr/>
          <p:nvPr/>
        </p:nvSpPr>
        <p:spPr>
          <a:xfrm>
            <a:off x="435428" y="1563732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DE6278C-90A9-F76C-7576-672C7BA3D8F3}"/>
              </a:ext>
            </a:extLst>
          </p:cNvPr>
          <p:cNvSpPr/>
          <p:nvPr/>
        </p:nvSpPr>
        <p:spPr>
          <a:xfrm>
            <a:off x="1164769" y="316230"/>
            <a:ext cx="7557846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75FDA1C9-480B-F4C2-9734-8766A0ADC24E}"/>
              </a:ext>
            </a:extLst>
          </p:cNvPr>
          <p:cNvSpPr/>
          <p:nvPr/>
        </p:nvSpPr>
        <p:spPr>
          <a:xfrm>
            <a:off x="337459" y="318298"/>
            <a:ext cx="82502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N2 - N3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249B8829-AC81-3D99-908D-64C8809ED052}"/>
              </a:ext>
            </a:extLst>
          </p:cNvPr>
          <p:cNvSpPr txBox="1">
            <a:spLocks noGrp="1"/>
          </p:cNvSpPr>
          <p:nvPr/>
        </p:nvSpPr>
        <p:spPr>
          <a:xfrm>
            <a:off x="336367" y="645740"/>
            <a:ext cx="8267701" cy="80227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 Elsy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· </a:t>
            </a:r>
            <a:endParaRPr lang="es-ES"/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 Modelo: FTE Dedicado</a:t>
            </a:r>
            <a:endParaRPr lang="es-ES"/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Contrato: Agosto con posible renovación hasta diciembre de 2026.  Propuesta con mirada de optimización; Compañía de Conexión / negociación comercial para el 2027. Se debe competir con otros proveedores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Lun-Vie · Atención de incidentes plataforma de suscripción</a:t>
            </a:r>
            <a:endParaRPr lang="es-ES"/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6C65A158-E06B-8336-F9EF-998EA06266DC}"/>
              </a:ext>
            </a:extLst>
          </p:cNvPr>
          <p:cNvSpPr/>
          <p:nvPr/>
        </p:nvSpPr>
        <p:spPr>
          <a:xfrm>
            <a:off x="578031" y="1558289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Digital Venta: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a canal digital de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venta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y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análisis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causa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raíz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.</a:t>
            </a: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18FB860B-1F09-2189-C219-860AF934D54C}"/>
              </a:ext>
            </a:extLst>
          </p:cNvPr>
          <p:cNvSpPr/>
          <p:nvPr/>
        </p:nvSpPr>
        <p:spPr>
          <a:xfrm>
            <a:off x="684711" y="281994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CF510602-C400-F937-4E3A-8592230D8647}"/>
              </a:ext>
            </a:extLst>
          </p:cNvPr>
          <p:cNvSpPr/>
          <p:nvPr/>
        </p:nvSpPr>
        <p:spPr>
          <a:xfrm>
            <a:off x="4762500" y="281994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72F00B03-AF2A-863E-05AA-63E00BE981FC}"/>
              </a:ext>
            </a:extLst>
          </p:cNvPr>
          <p:cNvSpPr/>
          <p:nvPr/>
        </p:nvSpPr>
        <p:spPr>
          <a:xfrm>
            <a:off x="646611" y="2049235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2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5F72D998-FA2E-7ED5-0854-8A7107974D0D}"/>
              </a:ext>
            </a:extLst>
          </p:cNvPr>
          <p:cNvSpPr/>
          <p:nvPr/>
        </p:nvSpPr>
        <p:spPr>
          <a:xfrm>
            <a:off x="646611" y="2391591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86FB2294-1C51-3715-8E2D-F15202B6913F}"/>
              </a:ext>
            </a:extLst>
          </p:cNvPr>
          <p:cNvSpPr/>
          <p:nvPr/>
        </p:nvSpPr>
        <p:spPr>
          <a:xfrm>
            <a:off x="2005148" y="2054678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668</a:t>
            </a:r>
            <a:endParaRPr lang="es-ES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818C97C7-44EB-53BC-6F43-977F0A644436}"/>
              </a:ext>
            </a:extLst>
          </p:cNvPr>
          <p:cNvSpPr/>
          <p:nvPr/>
        </p:nvSpPr>
        <p:spPr>
          <a:xfrm>
            <a:off x="2005148" y="2397034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AEF40A35-ACE8-D5BF-71A3-BA8A35F03D5E}"/>
              </a:ext>
            </a:extLst>
          </p:cNvPr>
          <p:cNvSpPr/>
          <p:nvPr/>
        </p:nvSpPr>
        <p:spPr>
          <a:xfrm>
            <a:off x="3314699" y="2081892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12.38 h</a:t>
            </a:r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377C7D55-988C-B6C2-F511-F7B521BA3ECA}"/>
              </a:ext>
            </a:extLst>
          </p:cNvPr>
          <p:cNvSpPr/>
          <p:nvPr/>
        </p:nvSpPr>
        <p:spPr>
          <a:xfrm>
            <a:off x="3189514" y="242424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D339085B-98F7-CD78-2E49-29C6EB180D7A}"/>
              </a:ext>
            </a:extLst>
          </p:cNvPr>
          <p:cNvSpPr/>
          <p:nvPr/>
        </p:nvSpPr>
        <p:spPr>
          <a:xfrm>
            <a:off x="4433750" y="207100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74%</a:t>
            </a:r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4D7A9895-21E4-FCC4-F767-BB33424022E1}"/>
              </a:ext>
            </a:extLst>
          </p:cNvPr>
          <p:cNvSpPr/>
          <p:nvPr/>
        </p:nvSpPr>
        <p:spPr>
          <a:xfrm>
            <a:off x="4422864" y="2424248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AF2BD15F-7084-5F2B-A6B3-1A3AA889829F}"/>
              </a:ext>
            </a:extLst>
          </p:cNvPr>
          <p:cNvSpPr/>
          <p:nvPr/>
        </p:nvSpPr>
        <p:spPr>
          <a:xfrm>
            <a:off x="5935979" y="2060121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portal digital</a:t>
            </a:r>
            <a:endParaRPr lang="es-ES" sz="2000">
              <a:solidFill>
                <a:srgbClr val="000000"/>
              </a:solidFill>
              <a:latin typeface="Arial"/>
              <a:ea typeface="Reddit Sans"/>
              <a:cs typeface="Arial"/>
            </a:endParaRPr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D3C54C75-2276-2507-A991-57AFC5E765BF}"/>
              </a:ext>
            </a:extLst>
          </p:cNvPr>
          <p:cNvSpPr/>
          <p:nvPr/>
        </p:nvSpPr>
        <p:spPr>
          <a:xfrm>
            <a:off x="5941421" y="2462349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/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E307EABC-CAF3-8B0A-1419-52CC14802427}"/>
              </a:ext>
            </a:extLst>
          </p:cNvPr>
          <p:cNvSpPr/>
          <p:nvPr/>
        </p:nvSpPr>
        <p:spPr>
          <a:xfrm>
            <a:off x="564968" y="3129098"/>
            <a:ext cx="3917769" cy="51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•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actual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basada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atención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reactiva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.</a:t>
            </a:r>
          </a:p>
          <a:p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•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Dependencia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del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conocimiento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experto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y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procesos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manuales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.</a:t>
            </a:r>
          </a:p>
          <a:p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•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Oportunidad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evolucionar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hacia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un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servicio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gestionado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con </a:t>
            </a:r>
            <a:r>
              <a:rPr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gobierno</a:t>
            </a:r>
            <a:r>
              <a:rPr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, KCS e IA.</a:t>
            </a:r>
          </a:p>
        </p:txBody>
      </p:sp>
      <p:sp>
        <p:nvSpPr>
          <p:cNvPr id="8" name="Google Shape;124;p15">
            <a:extLst>
              <a:ext uri="{FF2B5EF4-FFF2-40B4-BE49-F238E27FC236}">
                <a16:creationId xmlns:a16="http://schemas.microsoft.com/office/drawing/2014/main" id="{ED185800-62C0-CC9C-3A9B-58830D70CC91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9" name="Google Shape;126;p15">
            <a:extLst>
              <a:ext uri="{FF2B5EF4-FFF2-40B4-BE49-F238E27FC236}">
                <a16:creationId xmlns:a16="http://schemas.microsoft.com/office/drawing/2014/main" id="{C345DA2D-1FEE-7F99-67CE-052A01CB2185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10" name="Google Shape;128;p15">
            <a:extLst>
              <a:ext uri="{FF2B5EF4-FFF2-40B4-BE49-F238E27FC236}">
                <a16:creationId xmlns:a16="http://schemas.microsoft.com/office/drawing/2014/main" id="{5EBBE9AC-36B2-5EA9-DD8A-81E85F1C3907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11" name="Google Shape;130;p15">
            <a:extLst>
              <a:ext uri="{FF2B5EF4-FFF2-40B4-BE49-F238E27FC236}">
                <a16:creationId xmlns:a16="http://schemas.microsoft.com/office/drawing/2014/main" id="{3EE73CB0-7A56-CF10-18E6-337DDC0A3276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12" name="Google Shape;124;p15">
            <a:extLst>
              <a:ext uri="{FF2B5EF4-FFF2-40B4-BE49-F238E27FC236}">
                <a16:creationId xmlns:a16="http://schemas.microsoft.com/office/drawing/2014/main" id="{A87B9CFC-3FDB-E742-91DC-5EB18904FAF8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14" name="Google Shape;126;p15">
            <a:extLst>
              <a:ext uri="{FF2B5EF4-FFF2-40B4-BE49-F238E27FC236}">
                <a16:creationId xmlns:a16="http://schemas.microsoft.com/office/drawing/2014/main" id="{903387AD-713E-BE15-D3D5-F82E7DE143C0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16" name="Google Shape;128;p15">
            <a:extLst>
              <a:ext uri="{FF2B5EF4-FFF2-40B4-BE49-F238E27FC236}">
                <a16:creationId xmlns:a16="http://schemas.microsoft.com/office/drawing/2014/main" id="{63FC0E93-31E2-526E-9A23-A7A1F40CFC5A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18" name="Google Shape;130;p15">
            <a:extLst>
              <a:ext uri="{FF2B5EF4-FFF2-40B4-BE49-F238E27FC236}">
                <a16:creationId xmlns:a16="http://schemas.microsoft.com/office/drawing/2014/main" id="{E61709CA-3988-8DCC-6542-167353F31DFA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20" name="Google Shape;124;p15">
            <a:extLst>
              <a:ext uri="{FF2B5EF4-FFF2-40B4-BE49-F238E27FC236}">
                <a16:creationId xmlns:a16="http://schemas.microsoft.com/office/drawing/2014/main" id="{E525EDB6-4FE2-2A73-BFD9-27E534B550D3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21" name="Google Shape;126;p15">
            <a:extLst>
              <a:ext uri="{FF2B5EF4-FFF2-40B4-BE49-F238E27FC236}">
                <a16:creationId xmlns:a16="http://schemas.microsoft.com/office/drawing/2014/main" id="{CE843951-E354-63AC-4E86-995C3562B642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22" name="Google Shape;128;p15">
            <a:extLst>
              <a:ext uri="{FF2B5EF4-FFF2-40B4-BE49-F238E27FC236}">
                <a16:creationId xmlns:a16="http://schemas.microsoft.com/office/drawing/2014/main" id="{2D9863BC-C89F-8F77-C23C-FF02A6E29614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23" name="Google Shape;130;p15">
            <a:extLst>
              <a:ext uri="{FF2B5EF4-FFF2-40B4-BE49-F238E27FC236}">
                <a16:creationId xmlns:a16="http://schemas.microsoft.com/office/drawing/2014/main" id="{E01018E0-AA40-1683-DE9D-FC93D5681406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24" name="Google Shape;124;p15">
            <a:extLst>
              <a:ext uri="{FF2B5EF4-FFF2-40B4-BE49-F238E27FC236}">
                <a16:creationId xmlns:a16="http://schemas.microsoft.com/office/drawing/2014/main" id="{A34986EE-ECD5-5D1B-97C4-C4A336692E7F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incumplidos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(74% vs meta 92%).</a:t>
            </a:r>
            <a:endParaRPr dirty="0"/>
          </a:p>
        </p:txBody>
      </p:sp>
      <p:sp>
        <p:nvSpPr>
          <p:cNvPr id="25" name="Google Shape;126;p15">
            <a:extLst>
              <a:ext uri="{FF2B5EF4-FFF2-40B4-BE49-F238E27FC236}">
                <a16:creationId xmlns:a16="http://schemas.microsoft.com/office/drawing/2014/main" id="{66CC6237-1365-631E-5E8A-CED2F3E956AB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visibilidad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ejecutiva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6" name="Google Shape;128;p15">
            <a:extLst>
              <a:ext uri="{FF2B5EF4-FFF2-40B4-BE49-F238E27FC236}">
                <a16:creationId xmlns:a16="http://schemas.microsoft.com/office/drawing/2014/main" id="{9A91AC5D-F52B-486C-F88E-5D3819DF4812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alcance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27" name="Google Shape;130;p15">
            <a:extLst>
              <a:ext uri="{FF2B5EF4-FFF2-40B4-BE49-F238E27FC236}">
                <a16:creationId xmlns:a16="http://schemas.microsoft.com/office/drawing/2014/main" id="{509903F6-2B2C-B88D-2C76-0795A4ABA8E8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Brechas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vendido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ejecutado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(mal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dimensionado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28" name="Google Shape;124;p15">
            <a:extLst>
              <a:ext uri="{FF2B5EF4-FFF2-40B4-BE49-F238E27FC236}">
                <a16:creationId xmlns:a16="http://schemas.microsoft.com/office/drawing/2014/main" id="{2C093187-4D10-5900-1CEC-C8E5AAE92B56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29" name="Google Shape;126;p15">
            <a:extLst>
              <a:ext uri="{FF2B5EF4-FFF2-40B4-BE49-F238E27FC236}">
                <a16:creationId xmlns:a16="http://schemas.microsoft.com/office/drawing/2014/main" id="{25794CD1-779C-97D5-F5C7-54397654E1A3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30" name="Google Shape;128;p15">
            <a:extLst>
              <a:ext uri="{FF2B5EF4-FFF2-40B4-BE49-F238E27FC236}">
                <a16:creationId xmlns:a16="http://schemas.microsoft.com/office/drawing/2014/main" id="{130528D8-0CBA-A6DF-B256-57C6F7F2AC48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31" name="Google Shape;130;p15">
            <a:extLst>
              <a:ext uri="{FF2B5EF4-FFF2-40B4-BE49-F238E27FC236}">
                <a16:creationId xmlns:a16="http://schemas.microsoft.com/office/drawing/2014/main" id="{2BA76A58-5203-6BCC-02C7-BD4D51062E75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32" name="Google Shape;124;p15">
            <a:extLst>
              <a:ext uri="{FF2B5EF4-FFF2-40B4-BE49-F238E27FC236}">
                <a16:creationId xmlns:a16="http://schemas.microsoft.com/office/drawing/2014/main" id="{2BE8B473-24D6-3E97-FBD3-9D7A3975F609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33" name="Google Shape;126;p15">
            <a:extLst>
              <a:ext uri="{FF2B5EF4-FFF2-40B4-BE49-F238E27FC236}">
                <a16:creationId xmlns:a16="http://schemas.microsoft.com/office/drawing/2014/main" id="{95F9CF55-CDD0-748B-8981-F3038450D6AA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34" name="Google Shape;128;p15">
            <a:extLst>
              <a:ext uri="{FF2B5EF4-FFF2-40B4-BE49-F238E27FC236}">
                <a16:creationId xmlns:a16="http://schemas.microsoft.com/office/drawing/2014/main" id="{E88AB68F-104A-3B1D-4134-6C6F587D96CF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35" name="Google Shape;130;p15">
            <a:extLst>
              <a:ext uri="{FF2B5EF4-FFF2-40B4-BE49-F238E27FC236}">
                <a16:creationId xmlns:a16="http://schemas.microsoft.com/office/drawing/2014/main" id="{18454C70-EEC5-B7FC-2198-47469CFCC2EF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36" name="Google Shape;124;p15">
            <a:extLst>
              <a:ext uri="{FF2B5EF4-FFF2-40B4-BE49-F238E27FC236}">
                <a16:creationId xmlns:a16="http://schemas.microsoft.com/office/drawing/2014/main" id="{ABD16ABD-BA3D-52EC-5C3A-132648E2A667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38" name="Google Shape;126;p15">
            <a:extLst>
              <a:ext uri="{FF2B5EF4-FFF2-40B4-BE49-F238E27FC236}">
                <a16:creationId xmlns:a16="http://schemas.microsoft.com/office/drawing/2014/main" id="{1AC8DBBE-6CDC-2745-38B6-F88E85C932DE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40" name="Google Shape;128;p15">
            <a:extLst>
              <a:ext uri="{FF2B5EF4-FFF2-40B4-BE49-F238E27FC236}">
                <a16:creationId xmlns:a16="http://schemas.microsoft.com/office/drawing/2014/main" id="{F37A4029-0931-2266-4362-D893B71AAD19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41" name="Google Shape;130;p15">
            <a:extLst>
              <a:ext uri="{FF2B5EF4-FFF2-40B4-BE49-F238E27FC236}">
                <a16:creationId xmlns:a16="http://schemas.microsoft.com/office/drawing/2014/main" id="{38235FFB-0CB3-C116-8A6A-10109F18BDD5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42" name="Google Shape;124;p15">
            <a:extLst>
              <a:ext uri="{FF2B5EF4-FFF2-40B4-BE49-F238E27FC236}">
                <a16:creationId xmlns:a16="http://schemas.microsoft.com/office/drawing/2014/main" id="{E347EBA9-62D5-4419-C8D5-BD7E4E8E2054}"/>
              </a:ext>
            </a:extLst>
          </p:cNvPr>
          <p:cNvSpPr txBox="1"/>
          <p:nvPr/>
        </p:nvSpPr>
        <p:spPr>
          <a:xfrm>
            <a:off x="1057275" y="5848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D2: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SLAs incumplidos (74% vs meta 92%).</a:t>
            </a:r>
            <a:endParaRPr/>
          </a:p>
        </p:txBody>
      </p:sp>
      <p:sp>
        <p:nvSpPr>
          <p:cNvPr id="43" name="Google Shape;126;p15">
            <a:extLst>
              <a:ext uri="{FF2B5EF4-FFF2-40B4-BE49-F238E27FC236}">
                <a16:creationId xmlns:a16="http://schemas.microsoft.com/office/drawing/2014/main" id="{E0B0440D-2837-92EE-4369-BF4D6F64C7ED}"/>
              </a:ext>
            </a:extLst>
          </p:cNvPr>
          <p:cNvSpPr txBox="1"/>
          <p:nvPr/>
        </p:nvSpPr>
        <p:spPr>
          <a:xfrm>
            <a:off x="1057275" y="613410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D7: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 dashboard ni visibilidad ejecutiva.</a:t>
            </a:r>
            <a:endParaRPr/>
          </a:p>
        </p:txBody>
      </p:sp>
      <p:sp>
        <p:nvSpPr>
          <p:cNvPr id="54" name="Google Shape;128;p15">
            <a:extLst>
              <a:ext uri="{FF2B5EF4-FFF2-40B4-BE49-F238E27FC236}">
                <a16:creationId xmlns:a16="http://schemas.microsoft.com/office/drawing/2014/main" id="{EB2F99FC-0248-8A90-72C9-525A22A9CB17}"/>
              </a:ext>
            </a:extLst>
          </p:cNvPr>
          <p:cNvSpPr txBox="1"/>
          <p:nvPr/>
        </p:nvSpPr>
        <p:spPr>
          <a:xfrm>
            <a:off x="1057275" y="64198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D9: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Scope creep (solicitudes fuera del alcance).</a:t>
            </a:r>
            <a:endParaRPr/>
          </a:p>
        </p:txBody>
      </p:sp>
      <p:sp>
        <p:nvSpPr>
          <p:cNvPr id="55" name="Google Shape;130;p15">
            <a:extLst>
              <a:ext uri="{FF2B5EF4-FFF2-40B4-BE49-F238E27FC236}">
                <a16:creationId xmlns:a16="http://schemas.microsoft.com/office/drawing/2014/main" id="{848BCA2B-2E8D-1405-0661-36D1B591FA05}"/>
              </a:ext>
            </a:extLst>
          </p:cNvPr>
          <p:cNvSpPr txBox="1"/>
          <p:nvPr/>
        </p:nvSpPr>
        <p:spPr>
          <a:xfrm>
            <a:off x="1057275" y="6705600"/>
            <a:ext cx="45053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D16: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Brechas vendido vs ejecutado (mal dimensionado).</a:t>
            </a:r>
            <a:endParaRPr/>
          </a:p>
        </p:txBody>
      </p:sp>
      <p:sp>
        <p:nvSpPr>
          <p:cNvPr id="57" name="Google Shape;124;p15">
            <a:extLst>
              <a:ext uri="{FF2B5EF4-FFF2-40B4-BE49-F238E27FC236}">
                <a16:creationId xmlns:a16="http://schemas.microsoft.com/office/drawing/2014/main" id="{CE72179C-8788-48F8-99F9-0A5EBB9B1000}"/>
              </a:ext>
            </a:extLst>
          </p:cNvPr>
          <p:cNvSpPr txBox="1"/>
          <p:nvPr/>
        </p:nvSpPr>
        <p:spPr>
          <a:xfrm>
            <a:off x="4657387" y="3096305"/>
            <a:ext cx="3378994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lvl="0" indent="-171450" defTabSz="685800">
              <a:buFont typeface="Arial"/>
              <a:buChar char="•"/>
            </a:pP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  <a:sym typeface="Urbanist"/>
              </a:rPr>
              <a:t>D2: SLAs </a:t>
            </a:r>
            <a:r>
              <a:rPr lang="en-US" sz="950" kern="12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  <a:sym typeface="Urbanist"/>
              </a:rPr>
              <a:t>incumplidos</a:t>
            </a: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  <a:sym typeface="Urbanist"/>
              </a:rPr>
              <a:t> (74% vs meta 92%).</a:t>
            </a:r>
            <a:endParaRPr lang="es-ES" sz="950" kern="120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  <a:p>
            <a:pPr marL="171450" indent="-171450" defTabSz="685800">
              <a:buChar char="•"/>
            </a:pP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D7: Sin dashboard </a:t>
            </a:r>
            <a:r>
              <a:rPr lang="en-US" sz="950" kern="12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</a:t>
            </a: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950" kern="12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visibilidad</a:t>
            </a: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950" kern="12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ejecutiva</a:t>
            </a:r>
            <a:r>
              <a:rPr lang="en-US" sz="950" kern="12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.</a:t>
            </a:r>
          </a:p>
          <a:p>
            <a:pPr marL="171450" indent="-171450" defTabSz="685800">
              <a:buChar char="•"/>
            </a:pPr>
            <a:endParaRPr lang="en-US" sz="950" kern="1200" dirty="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9" name="Google Shape;126;p15">
            <a:extLst>
              <a:ext uri="{FF2B5EF4-FFF2-40B4-BE49-F238E27FC236}">
                <a16:creationId xmlns:a16="http://schemas.microsoft.com/office/drawing/2014/main" id="{BF6DD68F-E8C5-9073-27DC-F970BC9DF83C}"/>
              </a:ext>
            </a:extLst>
          </p:cNvPr>
          <p:cNvSpPr txBox="1"/>
          <p:nvPr/>
        </p:nvSpPr>
        <p:spPr>
          <a:xfrm>
            <a:off x="5005729" y="3386818"/>
            <a:ext cx="3378994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latin typeface="Reddit Sans"/>
              <a:ea typeface="Reddit Sans"/>
            </a:endParaRPr>
          </a:p>
        </p:txBody>
      </p:sp>
      <p:sp>
        <p:nvSpPr>
          <p:cNvPr id="61" name="Google Shape;128;p15">
            <a:extLst>
              <a:ext uri="{FF2B5EF4-FFF2-40B4-BE49-F238E27FC236}">
                <a16:creationId xmlns:a16="http://schemas.microsoft.com/office/drawing/2014/main" id="{8FD6844A-4AEF-D55E-FD3A-18301DD1D202}"/>
              </a:ext>
            </a:extLst>
          </p:cNvPr>
          <p:cNvSpPr txBox="1"/>
          <p:nvPr/>
        </p:nvSpPr>
        <p:spPr>
          <a:xfrm>
            <a:off x="5005729" y="3601130"/>
            <a:ext cx="3378994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latin typeface="Reddit Sans"/>
              <a:ea typeface="Reddit Sans"/>
            </a:endParaRPr>
          </a:p>
        </p:txBody>
      </p:sp>
      <p:sp>
        <p:nvSpPr>
          <p:cNvPr id="63" name="Google Shape;130;p15">
            <a:extLst>
              <a:ext uri="{FF2B5EF4-FFF2-40B4-BE49-F238E27FC236}">
                <a16:creationId xmlns:a16="http://schemas.microsoft.com/office/drawing/2014/main" id="{DD7517A6-7CAA-F4BD-278C-849CC0AE169F}"/>
              </a:ext>
            </a:extLst>
          </p:cNvPr>
          <p:cNvSpPr txBox="1"/>
          <p:nvPr/>
        </p:nvSpPr>
        <p:spPr>
          <a:xfrm>
            <a:off x="5005729" y="3815443"/>
            <a:ext cx="3378994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978741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00209-D4AE-875A-CC42-B245F806D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975050A0-27B2-E5BB-AB6D-6A66F974CA60}"/>
              </a:ext>
            </a:extLst>
          </p:cNvPr>
          <p:cNvSpPr/>
          <p:nvPr/>
        </p:nvSpPr>
        <p:spPr>
          <a:xfrm>
            <a:off x="342899" y="1324247"/>
            <a:ext cx="8450471" cy="2991394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78C0637D-F5DC-FFE0-248C-596E17DC288C}"/>
              </a:ext>
            </a:extLst>
          </p:cNvPr>
          <p:cNvSpPr/>
          <p:nvPr/>
        </p:nvSpPr>
        <p:spPr>
          <a:xfrm>
            <a:off x="761999" y="316230"/>
            <a:ext cx="7966058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6C82808-7438-BC6D-95DF-F67924E16665}"/>
              </a:ext>
            </a:extLst>
          </p:cNvPr>
          <p:cNvSpPr/>
          <p:nvPr/>
        </p:nvSpPr>
        <p:spPr>
          <a:xfrm>
            <a:off x="342900" y="1324247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A3B6513F-04E9-2ADE-D932-54FA0855FF2F}"/>
              </a:ext>
            </a:extLst>
          </p:cNvPr>
          <p:cNvSpPr/>
          <p:nvPr/>
        </p:nvSpPr>
        <p:spPr>
          <a:xfrm>
            <a:off x="480060" y="1324247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Automatización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y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de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automatizaciones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· Power Automate, PowerApps y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procesos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automatizados</a:t>
            </a:r>
            <a:endParaRPr lang="en-US" sz="11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500E9CB-276A-D1AF-F9FE-D676B7E4067E}"/>
              </a:ext>
            </a:extLst>
          </p:cNvPr>
          <p:cNvSpPr/>
          <p:nvPr/>
        </p:nvSpPr>
        <p:spPr>
          <a:xfrm>
            <a:off x="701040" y="2357301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EDB2C49F-FA80-E6CC-237F-41D9074E9B11}"/>
              </a:ext>
            </a:extLst>
          </p:cNvPr>
          <p:cNvSpPr/>
          <p:nvPr/>
        </p:nvSpPr>
        <p:spPr>
          <a:xfrm>
            <a:off x="4778829" y="2357301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E8A29DD-4BB7-0A4D-1E85-5AC88236D013}"/>
              </a:ext>
            </a:extLst>
          </p:cNvPr>
          <p:cNvSpPr/>
          <p:nvPr/>
        </p:nvSpPr>
        <p:spPr>
          <a:xfrm>
            <a:off x="359229" y="318298"/>
            <a:ext cx="40048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52E1C7C6-6A7D-5B4C-A06C-B6BD2C8EEFA8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305800" cy="611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Elsy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 Modelo: FTE Dedicado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SURA Automatización (6 FTE, 512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tix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/mes) + Canales Masivos (1 FTE, 171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tix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/mes)</a:t>
            </a:r>
            <a:endParaRPr lang="es-ES" sz="900">
              <a:latin typeface="Reddit Sans"/>
              <a:ea typeface="Reddit Sans"/>
            </a:endParaRP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E02C3BFD-2917-CA23-5561-62DD82AA38A2}"/>
              </a:ext>
            </a:extLst>
          </p:cNvPr>
          <p:cNvSpPr/>
          <p:nvPr/>
        </p:nvSpPr>
        <p:spPr>
          <a:xfrm>
            <a:off x="548640" y="1804307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8349B4D-E0FD-5902-2E54-4802E1B3E81A}"/>
              </a:ext>
            </a:extLst>
          </p:cNvPr>
          <p:cNvSpPr/>
          <p:nvPr/>
        </p:nvSpPr>
        <p:spPr>
          <a:xfrm>
            <a:off x="548640" y="2146663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E766BA8-E0DC-2DA2-FB33-93B14C428A54}"/>
              </a:ext>
            </a:extLst>
          </p:cNvPr>
          <p:cNvSpPr/>
          <p:nvPr/>
        </p:nvSpPr>
        <p:spPr>
          <a:xfrm>
            <a:off x="1907177" y="18097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512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9D25CDC6-D1A1-0447-66DD-69A456D3BC00}"/>
              </a:ext>
            </a:extLst>
          </p:cNvPr>
          <p:cNvSpPr/>
          <p:nvPr/>
        </p:nvSpPr>
        <p:spPr>
          <a:xfrm>
            <a:off x="1907177" y="21521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endParaRPr lang="en-US" sz="825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2EB3C36F-DDB6-9E44-B092-7A0E3E14FDCC}"/>
              </a:ext>
            </a:extLst>
          </p:cNvPr>
          <p:cNvSpPr/>
          <p:nvPr/>
        </p:nvSpPr>
        <p:spPr>
          <a:xfrm>
            <a:off x="3216728" y="1836964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2.98 h</a:t>
            </a: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35A22733-1FB9-F014-0B51-1DF9C149DBE6}"/>
              </a:ext>
            </a:extLst>
          </p:cNvPr>
          <p:cNvSpPr/>
          <p:nvPr/>
        </p:nvSpPr>
        <p:spPr>
          <a:xfrm>
            <a:off x="3091543" y="217932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E2A5A94C-EDE0-2A02-0D9B-DB6CED5287B1}"/>
              </a:ext>
            </a:extLst>
          </p:cNvPr>
          <p:cNvSpPr/>
          <p:nvPr/>
        </p:nvSpPr>
        <p:spPr>
          <a:xfrm>
            <a:off x="4335779" y="1826078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98%</a:t>
            </a:r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05334B2B-DE06-0D1E-DB05-8E45DE0AD598}"/>
              </a:ext>
            </a:extLst>
          </p:cNvPr>
          <p:cNvSpPr/>
          <p:nvPr/>
        </p:nvSpPr>
        <p:spPr>
          <a:xfrm>
            <a:off x="4324893" y="2179320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228C1B5E-3ABC-11E8-6F56-206B14C90DE3}"/>
              </a:ext>
            </a:extLst>
          </p:cNvPr>
          <p:cNvSpPr/>
          <p:nvPr/>
        </p:nvSpPr>
        <p:spPr>
          <a:xfrm>
            <a:off x="5838008" y="1885950"/>
            <a:ext cx="3199311" cy="463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 (Automate, PowerApps + 2 </a:t>
            </a:r>
            <a:r>
              <a:rPr lang="en-US" sz="1500" b="1" err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procesos</a:t>
            </a:r>
            <a:r>
              <a:rPr lang="en-US" sz="15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)</a:t>
            </a:r>
            <a:endParaRPr lang="en-US" sz="15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 algn="ctr">
              <a:buNone/>
            </a:pPr>
            <a:endParaRPr lang="en-US" sz="1500" b="1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C50CFAAB-6DC2-2070-C53C-14C505B9E729}"/>
              </a:ext>
            </a:extLst>
          </p:cNvPr>
          <p:cNvSpPr/>
          <p:nvPr/>
        </p:nvSpPr>
        <p:spPr>
          <a:xfrm>
            <a:off x="6393178" y="21902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EB5CF038-5476-92D2-B351-AB248EECE904}"/>
              </a:ext>
            </a:extLst>
          </p:cNvPr>
          <p:cNvSpPr/>
          <p:nvPr/>
        </p:nvSpPr>
        <p:spPr>
          <a:xfrm>
            <a:off x="630283" y="2677342"/>
            <a:ext cx="397764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Soporte y operación de automatizaciones (Automate, PowerApps) · 6 FTE
· 512 tickets/mes · MTTR 2.98h (mejor de SURA) · SLA 98% ✓
· 35% del volumen son requerimientos (mejora continua)
· Herramienta: BMC Helix ITSM + Power Apps/Automate
· Contrato vence agosto 2026 </a:t>
            </a:r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52D840D8-EF71-666C-664C-E12044C2CCF6}"/>
              </a:ext>
            </a:extLst>
          </p:cNvPr>
          <p:cNvSpPr/>
          <p:nvPr/>
        </p:nvSpPr>
        <p:spPr>
          <a:xfrm>
            <a:off x="4882243" y="2677342"/>
            <a:ext cx="384048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D3 · Sin autoservicio — todo entra por call, incluso incidentes simples
●  D7 · Sin dashboard ejecutivo — visibilidad solo manual
●  D9 · Scope creep — modernizaciones disfrazadas de incidentes
●  D13 · Sin roles definidos entre N1/N2/N3
●  D16 · Brechas vendido vs ejecutado
●  D20 · Dimensionamiento sin modelo de demanda
◐  D11 · Postura reactiva — sin predictiva ni preventiva</a:t>
            </a:r>
          </a:p>
        </p:txBody>
      </p:sp>
    </p:spTree>
    <p:extLst>
      <p:ext uri="{BB962C8B-B14F-4D97-AF65-F5344CB8AC3E}">
        <p14:creationId xmlns:p14="http://schemas.microsoft.com/office/powerpoint/2010/main" val="3721158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C4C9A-4D47-82B1-71F0-0022529D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3529D8AD-7618-F561-BCB9-38BEC2B33F96}"/>
              </a:ext>
            </a:extLst>
          </p:cNvPr>
          <p:cNvSpPr/>
          <p:nvPr/>
        </p:nvSpPr>
        <p:spPr>
          <a:xfrm>
            <a:off x="321129" y="1395003"/>
            <a:ext cx="8455914" cy="3111138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014F3392-A525-8973-41E2-C65C36BA0A60}"/>
              </a:ext>
            </a:extLst>
          </p:cNvPr>
          <p:cNvSpPr/>
          <p:nvPr/>
        </p:nvSpPr>
        <p:spPr>
          <a:xfrm>
            <a:off x="321128" y="1395004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AEF3B6E-E4E1-7259-B4F7-610DDF111460}"/>
              </a:ext>
            </a:extLst>
          </p:cNvPr>
          <p:cNvSpPr/>
          <p:nvPr/>
        </p:nvSpPr>
        <p:spPr>
          <a:xfrm>
            <a:off x="761999" y="316230"/>
            <a:ext cx="7966058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FE83E136-7AFA-86F2-1761-2FFC38303E69}"/>
              </a:ext>
            </a:extLst>
          </p:cNvPr>
          <p:cNvSpPr/>
          <p:nvPr/>
        </p:nvSpPr>
        <p:spPr>
          <a:xfrm>
            <a:off x="359229" y="318298"/>
            <a:ext cx="40048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4638CA0A-59D7-B59B-961E-3F2AC48ED120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305800" cy="611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Elsy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 Modelo: FTE Dedicado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SURA Automatización (6 FTE, 512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tix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/mes) + Canales Masivos (1 FTE, 171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tix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/mes)</a:t>
            </a:r>
            <a:endParaRPr lang="es-ES" sz="900">
              <a:latin typeface="Reddit Sans"/>
              <a:ea typeface="Reddit Sans"/>
            </a:endParaRP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8698D753-6CC3-04C8-7744-FD9DE1E57408}"/>
              </a:ext>
            </a:extLst>
          </p:cNvPr>
          <p:cNvSpPr/>
          <p:nvPr/>
        </p:nvSpPr>
        <p:spPr>
          <a:xfrm>
            <a:off x="458288" y="1395004"/>
            <a:ext cx="79683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Canales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Masivos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de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renovaciones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y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cancelaciones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masivas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de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pólizas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·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Campañas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digitales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y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operaciónde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1100" b="1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automatizaciones</a:t>
            </a:r>
            <a:r>
              <a:rPr lang="en-US" sz="11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Power Automate y PowerApps</a:t>
            </a:r>
            <a:endParaRPr lang="en-US" sz="11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53FD11F3-6065-DE40-B806-B82A3326D86F}"/>
              </a:ext>
            </a:extLst>
          </p:cNvPr>
          <p:cNvSpPr/>
          <p:nvPr/>
        </p:nvSpPr>
        <p:spPr>
          <a:xfrm>
            <a:off x="570411" y="2651215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D63F1FEF-231D-3AD9-BF43-3B1295C3EFC7}"/>
              </a:ext>
            </a:extLst>
          </p:cNvPr>
          <p:cNvSpPr/>
          <p:nvPr/>
        </p:nvSpPr>
        <p:spPr>
          <a:xfrm>
            <a:off x="4648200" y="2651215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CBF2633D-C53A-ED9A-A239-3AC58785EBD5}"/>
              </a:ext>
            </a:extLst>
          </p:cNvPr>
          <p:cNvSpPr/>
          <p:nvPr/>
        </p:nvSpPr>
        <p:spPr>
          <a:xfrm>
            <a:off x="505097" y="19403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3CEE4773-8F9A-070A-F713-4D4CD387C768}"/>
              </a:ext>
            </a:extLst>
          </p:cNvPr>
          <p:cNvSpPr/>
          <p:nvPr/>
        </p:nvSpPr>
        <p:spPr>
          <a:xfrm>
            <a:off x="505097" y="22827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C0BCBCBC-D63A-4C29-0AE3-7A08956AE3F5}"/>
              </a:ext>
            </a:extLst>
          </p:cNvPr>
          <p:cNvSpPr/>
          <p:nvPr/>
        </p:nvSpPr>
        <p:spPr>
          <a:xfrm>
            <a:off x="1863634" y="1945822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171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1F6CC825-4E3C-2846-E473-7C553BBC2283}"/>
              </a:ext>
            </a:extLst>
          </p:cNvPr>
          <p:cNvSpPr/>
          <p:nvPr/>
        </p:nvSpPr>
        <p:spPr>
          <a:xfrm>
            <a:off x="1863634" y="228817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endParaRPr lang="en-US" sz="825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9068E500-58DC-00EE-7592-72D94001E778}"/>
              </a:ext>
            </a:extLst>
          </p:cNvPr>
          <p:cNvSpPr/>
          <p:nvPr/>
        </p:nvSpPr>
        <p:spPr>
          <a:xfrm>
            <a:off x="3173185" y="19730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17.92 h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4F8B7442-DCFE-4B74-5C66-1EFBBB467245}"/>
              </a:ext>
            </a:extLst>
          </p:cNvPr>
          <p:cNvSpPr/>
          <p:nvPr/>
        </p:nvSpPr>
        <p:spPr>
          <a:xfrm>
            <a:off x="3048000" y="23153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199F0534-24CC-6797-A827-B290898E8CCB}"/>
              </a:ext>
            </a:extLst>
          </p:cNvPr>
          <p:cNvSpPr/>
          <p:nvPr/>
        </p:nvSpPr>
        <p:spPr>
          <a:xfrm>
            <a:off x="4292236" y="19621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72 %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B39160F4-08A4-C107-2B4B-2E1079AFC006}"/>
              </a:ext>
            </a:extLst>
          </p:cNvPr>
          <p:cNvSpPr/>
          <p:nvPr/>
        </p:nvSpPr>
        <p:spPr>
          <a:xfrm>
            <a:off x="4281350" y="2315392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DF907CAD-514E-BEC6-52B3-060DCF2C84CE}"/>
              </a:ext>
            </a:extLst>
          </p:cNvPr>
          <p:cNvSpPr/>
          <p:nvPr/>
        </p:nvSpPr>
        <p:spPr>
          <a:xfrm>
            <a:off x="5609408" y="1940380"/>
            <a:ext cx="2486297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 canales (Email, SMS, </a:t>
            </a:r>
            <a:r>
              <a:rPr lang="en-US" sz="1500" b="1" err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Notificaciones</a:t>
            </a:r>
            <a:r>
              <a:rPr lang="en-US" sz="15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)</a:t>
            </a:r>
            <a:endParaRPr lang="en-US" sz="15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 algn="ctr">
              <a:buNone/>
            </a:pPr>
            <a:endParaRPr lang="en-US" sz="1500" b="1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73" name="Text 13">
            <a:extLst>
              <a:ext uri="{FF2B5EF4-FFF2-40B4-BE49-F238E27FC236}">
                <a16:creationId xmlns:a16="http://schemas.microsoft.com/office/drawing/2014/main" id="{D43A9DFE-E0B8-6BB1-0C21-47510CAA48A1}"/>
              </a:ext>
            </a:extLst>
          </p:cNvPr>
          <p:cNvSpPr/>
          <p:nvPr/>
        </p:nvSpPr>
        <p:spPr>
          <a:xfrm>
            <a:off x="5974079" y="228817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42AE29BD-2C74-525E-9093-F28B58BA37DD}"/>
              </a:ext>
            </a:extLst>
          </p:cNvPr>
          <p:cNvSpPr/>
          <p:nvPr/>
        </p:nvSpPr>
        <p:spPr>
          <a:xfrm>
            <a:off x="559525" y="2982141"/>
            <a:ext cx="3917769" cy="94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Operación de renovaciones y cancelaciones masivas de pólizas · 1 FTE
·  171 tickets/mes · 171 tix/FTE — sobrecarga total, sin contingencia
·  MTTR 17.92h volátil (10h–30h) · SLA 72% (meta: 92%)
·  Volumen de requerimientos creciente (4→17 reqs/mes)
·  Contrato FTE Dedicado · vence agosto 2026
</a:t>
            </a:r>
            <a:endParaRPr lang="es-ES" err="1">
              <a:highlight>
                <a:srgbClr val="FFFF00"/>
              </a:highlight>
              <a:latin typeface="Reddit Sans"/>
              <a:ea typeface="Reddit Sans"/>
              <a:cs typeface="Arial"/>
            </a:endParaRPr>
          </a:p>
        </p:txBody>
      </p:sp>
      <p:sp>
        <p:nvSpPr>
          <p:cNvPr id="5" name="Text 17">
            <a:extLst>
              <a:ext uri="{FF2B5EF4-FFF2-40B4-BE49-F238E27FC236}">
                <a16:creationId xmlns:a16="http://schemas.microsoft.com/office/drawing/2014/main" id="{74A95A98-A371-8D2C-CBA6-F978D67F647E}"/>
              </a:ext>
            </a:extLst>
          </p:cNvPr>
          <p:cNvSpPr/>
          <p:nvPr/>
        </p:nvSpPr>
        <p:spPr>
          <a:xfrm>
            <a:off x="4789714" y="2982141"/>
            <a:ext cx="3840480" cy="143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D1 · Bus factor crítico — 1 solo FTE, sin backup ni contingencia
●  D2 · SLAs incumplidos — 72% vs meta 92% · MTTR 17.92h volátil
●  D9 · Scope creep — solicitudes fuera del alcance sin control
●  D14 · Penalización de la eficiencia
●  D17 · Sin métricas formales ni dashboard
●  D20 · Dimensionamiento sin modelo — 1 FTE para 171 tix/mes
</a:t>
            </a:r>
            <a:endParaRPr lang="en-US" sz="9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989694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4143375" y="1975246"/>
            <a:ext cx="857250" cy="428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Reddit Sans"/>
              <a:ea typeface="Reddit Sans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93052" y="2232422"/>
            <a:ext cx="3157895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900" b="1" i="0" u="none" strike="noStrike" cap="none" dirty="0" err="1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Cliente</a:t>
            </a:r>
            <a:r>
              <a:rPr lang="en-US" sz="3900" b="1" dirty="0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 </a:t>
            </a:r>
            <a:r>
              <a:rPr lang="en-US" sz="3900" b="1" dirty="0">
                <a:solidFill>
                  <a:srgbClr val="38BDF8"/>
                </a:solidFill>
                <a:latin typeface="Reddit Sans"/>
                <a:ea typeface="Reddit Sans"/>
                <a:sym typeface="Urbanist"/>
              </a:rPr>
              <a:t>XM</a:t>
            </a:r>
            <a:endParaRPr lang="es-ES" sz="750" dirty="0">
              <a:latin typeface="Reddit Sans"/>
              <a:ea typeface="Reddit Sans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196703" y="2982515"/>
            <a:ext cx="4750594" cy="233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Soporte</a:t>
            </a: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 IT/OT</a:t>
            </a:r>
            <a:endParaRPr lang="es-ES" dirty="0"/>
          </a:p>
        </p:txBody>
      </p:sp>
      <p:pic>
        <p:nvPicPr>
          <p:cNvPr id="3" name="Imagen 2" descr="Logo">
            <a:extLst>
              <a:ext uri="{FF2B5EF4-FFF2-40B4-BE49-F238E27FC236}">
                <a16:creationId xmlns:a16="http://schemas.microsoft.com/office/drawing/2014/main" id="{B88EC3CF-6664-50DE-6E37-B636A4B2C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908" y="1151165"/>
            <a:ext cx="1262745" cy="63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17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C6475-6AC7-B9BA-37B5-BC74A6559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798F28B-CCBE-73CC-A01F-6D9AF8586ABF}"/>
              </a:ext>
            </a:extLst>
          </p:cNvPr>
          <p:cNvSpPr/>
          <p:nvPr/>
        </p:nvSpPr>
        <p:spPr>
          <a:xfrm>
            <a:off x="1366156" y="316230"/>
            <a:ext cx="7356459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XM</a:t>
            </a:r>
            <a:endParaRPr lang="en-US" sz="1400" b="1" err="1">
              <a:solidFill>
                <a:srgbClr val="0E337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2FEFBC1-09CC-CB4A-F846-1A15A505A4B0}"/>
              </a:ext>
            </a:extLst>
          </p:cNvPr>
          <p:cNvSpPr/>
          <p:nvPr/>
        </p:nvSpPr>
        <p:spPr>
          <a:xfrm>
            <a:off x="342899" y="1340575"/>
            <a:ext cx="8455913" cy="3192781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598FA2B-C597-35E2-F5F6-821C0E4FA34A}"/>
              </a:ext>
            </a:extLst>
          </p:cNvPr>
          <p:cNvSpPr/>
          <p:nvPr/>
        </p:nvSpPr>
        <p:spPr>
          <a:xfrm>
            <a:off x="342900" y="1275261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802847D-905D-812A-3143-6DF5D87AD6F0}"/>
              </a:ext>
            </a:extLst>
          </p:cNvPr>
          <p:cNvSpPr/>
          <p:nvPr/>
        </p:nvSpPr>
        <p:spPr>
          <a:xfrm>
            <a:off x="496388" y="1286146"/>
            <a:ext cx="8098972" cy="400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Soporte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a 14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componentes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(11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aplicaciones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y 3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tareas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),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gestión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de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incidentes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/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requerimientos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,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disponibilidad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24x7 y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escalamiento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a N3 para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evolutivos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/HU. Presencia N2 y N3 para campos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en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aplicación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/ HU </a:t>
            </a:r>
            <a:r>
              <a:rPr lang="en-US" sz="1100" b="1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evolutivas</a:t>
            </a:r>
            <a:r>
              <a:rPr lang="en-US" sz="1100" b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.</a:t>
            </a:r>
            <a:endParaRPr lang="es-ES" b="1">
              <a:solidFill>
                <a:schemeClr val="bg1"/>
              </a:solidFill>
              <a:latin typeface="Reddit Sans"/>
              <a:ea typeface="Reddit Sans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221658D6-D3C0-AB8D-D2E0-96A98D2DD731}"/>
              </a:ext>
            </a:extLst>
          </p:cNvPr>
          <p:cNvSpPr/>
          <p:nvPr/>
        </p:nvSpPr>
        <p:spPr>
          <a:xfrm>
            <a:off x="548640" y="1613807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A099932-FE70-1FED-8760-8A2B1F8B149E}"/>
              </a:ext>
            </a:extLst>
          </p:cNvPr>
          <p:cNvSpPr/>
          <p:nvPr/>
        </p:nvSpPr>
        <p:spPr>
          <a:xfrm>
            <a:off x="548640" y="1956163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6FF4EB55-1478-2F09-F489-AF72C6B8CAFF}"/>
              </a:ext>
            </a:extLst>
          </p:cNvPr>
          <p:cNvSpPr/>
          <p:nvPr/>
        </p:nvSpPr>
        <p:spPr>
          <a:xfrm>
            <a:off x="2674620" y="1613807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90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257EC123-6CC2-21FB-4FC2-7C13A8447AFD}"/>
              </a:ext>
            </a:extLst>
          </p:cNvPr>
          <p:cNvSpPr/>
          <p:nvPr/>
        </p:nvSpPr>
        <p:spPr>
          <a:xfrm>
            <a:off x="2674620" y="1956163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25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endParaRPr lang="en-US" sz="825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540E4989-2AB4-D7F3-1D26-C03EB489A992}"/>
              </a:ext>
            </a:extLst>
          </p:cNvPr>
          <p:cNvSpPr/>
          <p:nvPr/>
        </p:nvSpPr>
        <p:spPr>
          <a:xfrm>
            <a:off x="701040" y="2166801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BB4B7B31-D259-E1AF-8769-0C7652F56120}"/>
              </a:ext>
            </a:extLst>
          </p:cNvPr>
          <p:cNvSpPr/>
          <p:nvPr/>
        </p:nvSpPr>
        <p:spPr>
          <a:xfrm>
            <a:off x="4778829" y="2166801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9E131C3B-8D0F-4C5F-9CFA-4C0CB1918FB9}"/>
              </a:ext>
            </a:extLst>
          </p:cNvPr>
          <p:cNvSpPr/>
          <p:nvPr/>
        </p:nvSpPr>
        <p:spPr>
          <a:xfrm>
            <a:off x="499654" y="2356213"/>
            <a:ext cx="397764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B9B08419-E535-4189-A419-F1A27E9C7B26}"/>
              </a:ext>
            </a:extLst>
          </p:cNvPr>
          <p:cNvSpPr/>
          <p:nvPr/>
        </p:nvSpPr>
        <p:spPr>
          <a:xfrm>
            <a:off x="4751614" y="2356213"/>
            <a:ext cx="2790009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8C8C5F07-3EAE-209B-57A4-5DEAB4AF2B59}"/>
              </a:ext>
            </a:extLst>
          </p:cNvPr>
          <p:cNvSpPr/>
          <p:nvPr/>
        </p:nvSpPr>
        <p:spPr>
          <a:xfrm>
            <a:off x="342901" y="318298"/>
            <a:ext cx="1020971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N2 - N3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EA809BB5-68D4-CA11-10BC-E889C01399D9}"/>
              </a:ext>
            </a:extLst>
          </p:cNvPr>
          <p:cNvSpPr txBox="1">
            <a:spLocks noGrp="1"/>
          </p:cNvSpPr>
          <p:nvPr/>
        </p:nvSpPr>
        <p:spPr>
          <a:xfrm>
            <a:off x="287382" y="591311"/>
            <a:ext cx="8289472" cy="617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 Diego Serna · 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C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ontrato: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Staffing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· Vigente hasta Julio 2027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</a:t>
            </a:r>
            <a:r>
              <a:rPr lang="es-ES" sz="900" err="1">
                <a:solidFill>
                  <a:srgbClr val="132346"/>
                </a:solidFill>
                <a:latin typeface="Reddit Sans"/>
                <a:ea typeface="Reddit Sans"/>
              </a:rPr>
              <a:t>ServiceNow</a:t>
            </a:r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 (del cliente) · Soporte a apps críticas del mercado eléctrico</a:t>
            </a:r>
            <a:endParaRPr lang="es-ES" sz="900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 24x7 a 14 componentes críticos (11 apps + 3 tareas) 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2E46CD37-1FC9-749A-3BE1-A5DE19EF6144}"/>
              </a:ext>
            </a:extLst>
          </p:cNvPr>
          <p:cNvSpPr/>
          <p:nvPr/>
        </p:nvSpPr>
        <p:spPr>
          <a:xfrm>
            <a:off x="5108664" y="15920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14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2C0BF800-1FB0-4AC7-7B98-772DF5905135}"/>
              </a:ext>
            </a:extLst>
          </p:cNvPr>
          <p:cNvSpPr/>
          <p:nvPr/>
        </p:nvSpPr>
        <p:spPr>
          <a:xfrm>
            <a:off x="5119550" y="1928949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9E131C3B-8D0F-4C5F-9CFA-4C0CB1918FB9}"/>
              </a:ext>
            </a:extLst>
          </p:cNvPr>
          <p:cNvSpPr/>
          <p:nvPr/>
        </p:nvSpPr>
        <p:spPr>
          <a:xfrm>
            <a:off x="701039" y="2622913"/>
            <a:ext cx="3776255" cy="17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a 14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componentes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críticos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(11 apps + 3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tareas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) del mercado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eléctrico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· 4 FTE · 90 tickets/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mes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· Tix/FTE = 22.5 (vs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industria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80+)
·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Disponibilidad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: 24x7 </a:t>
            </a: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Alta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especialización</a:t>
            </a: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Curva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aprendizaje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larga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, mercado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escasoaprendizaje</a:t>
            </a: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larga</a:t>
            </a:r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B9B08419-E535-4189-A419-F1A27E9C7B26}"/>
              </a:ext>
            </a:extLst>
          </p:cNvPr>
          <p:cNvSpPr/>
          <p:nvPr/>
        </p:nvSpPr>
        <p:spPr>
          <a:xfrm>
            <a:off x="4844143" y="2573927"/>
            <a:ext cx="3796937" cy="144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D3 · Sin autoservicio — todo llega por call o correo
●  D7 · Sin dashboard — sin visibilidad ejecutiva en tiempo real
●  D11 · Postura 100% reactiva — sin anticipación ni preventiva
●  D12 · Sin gobierno claro — sin RACI ni ANS formales con XM
●  D16 · Brechas vendido vs ejecutado — volumetría mal estimada
●  D17 · Ausencia de métricas · D20 Dimensionamiento: 4 FTE para 24x7
●  D21 · Disponibilidad mal dimensionada · D22 Sin dimensión por tecnología
◐  D1 · Bus factor — 4 especialistas concentran todo el know-how</a:t>
            </a:r>
          </a:p>
        </p:txBody>
      </p:sp>
    </p:spTree>
    <p:extLst>
      <p:ext uri="{BB962C8B-B14F-4D97-AF65-F5344CB8AC3E}">
        <p14:creationId xmlns:p14="http://schemas.microsoft.com/office/powerpoint/2010/main" val="3703308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6D39E-E5A7-7BC9-28AA-BBB25D44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D2CCED1-1E48-C86A-33D2-FD5AC7231E69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CB26EE1-5E05-ADB8-655D-EAA878DC62D8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02785061-0886-D81B-1F63-9FB3A184E5D4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AC964F71-7322-A740-01D7-51807B77BB2D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DBC91F5-3507-448C-32AD-381FA5E71CDF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32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96DEC461-FE08-C08F-AC6D-98E041314F9D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416E95A1-5408-423D-6759-D4FB2C2DF3B0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700–3.000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9779161-7A89-85C8-D360-3F29A3359A04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E193574-29B9-0D42-B56D-0B0A4692A800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2AD11DD1-A2D9-5247-2829-57AD1B193B9C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460866D2-F387-BE2D-71B8-C56A34C2B03C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  <a:endParaRPr lang="en-US" sz="16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84F583B-9D57-AEC1-AFF9-AEF5D337FDE7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D8BDC4D-63B2-D51F-63AF-43BD62D886B8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AF456EA6-C4D2-CD52-EE20-B35F98DE2017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D56AB6FE-7E86-E274-4CCE-4A48985B6428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Herramienta Helix es del Banco — PersonalSoft no controla el ITSM
·  32 FTE totales en bolsa de horas · 700–3.000 tickets/mesa/mes
·  Sin SLA de PS — rige solo el ANS del Banco y COES
·  Disponibilidad 24x7 con recargo económico (D23 confirmado)
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8C203546-945B-9850-49A8-5A7C5BD31D96}"/>
              </a:ext>
            </a:extLst>
          </p:cNvPr>
          <p:cNvSpPr/>
          <p:nvPr/>
        </p:nvSpPr>
        <p:spPr>
          <a:xfrm>
            <a:off x="4784271" y="2573927"/>
            <a:ext cx="3856808" cy="1686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D20 · Dimensionamiento sin modelo estandarizado — criterio experto individual
●  D16 · Brechas vendido vs ejecutado — volumetría sin datos reales
●  D23 · Recargo económico por jornada extendida — costo no planificado
◐  D1 · Bus factor por COES — conocimiento concentrado en 1-2 personas
◐  D3 · Sin autoservicio — todo entra por call o correo
◐  D8 · Reportes manuales — sin visibilidad ejecutiva consolidada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44D3723-A978-2BDF-88C1-D4EBCDFE8DFD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E9BE6C14-7D53-0008-0015-46150E7D88B6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FC82E36D-E047-FFA6-7AF3-44B1E37A6D76}"/>
              </a:ext>
            </a:extLst>
          </p:cNvPr>
          <p:cNvSpPr/>
          <p:nvPr/>
        </p:nvSpPr>
        <p:spPr>
          <a:xfrm>
            <a:off x="7062650" y="16301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5 COES</a:t>
            </a:r>
            <a:endParaRPr lang="es-ES" sz="1400">
              <a:latin typeface="Reddit Sans"/>
              <a:ea typeface="Reddit Sans"/>
              <a:cs typeface="Arial"/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E14755DC-D521-D1BF-5BB6-86EF6C6BE482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/>
          <p:cNvSpPr txBox="1">
            <a:spLocks noGrp="1"/>
          </p:cNvSpPr>
          <p:nvPr/>
        </p:nvSpPr>
        <p:spPr>
          <a:xfrm>
            <a:off x="417790" y="1219629"/>
            <a:ext cx="8169729" cy="40721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 dirty="0">
                <a:solidFill>
                  <a:srgbClr val="FFFFFF"/>
                </a:solidFill>
                <a:latin typeface="Reddit Sans"/>
              </a:rPr>
              <a:t>N1 COES Integración: </a:t>
            </a:r>
            <a:r>
              <a:rPr lang="es-ES" sz="1100" b="1" dirty="0">
                <a:solidFill>
                  <a:srgbClr val="FFFFFF"/>
                </a:solidFill>
                <a:latin typeface="Reddit Sans"/>
                <a:ea typeface="Reddit Sans"/>
              </a:rPr>
              <a:t>Soporte a integraciones del Banco (</a:t>
            </a:r>
            <a:r>
              <a:rPr lang="es-ES" sz="1100" b="1" dirty="0" err="1">
                <a:solidFill>
                  <a:srgbClr val="FFFFFF"/>
                </a:solidFill>
                <a:latin typeface="Reddit Sans"/>
                <a:ea typeface="Reddit Sans"/>
              </a:rPr>
              <a:t>APIs</a:t>
            </a:r>
            <a:r>
              <a:rPr lang="es-ES" sz="1100" b="1" dirty="0">
                <a:solidFill>
                  <a:srgbClr val="FFFFFF"/>
                </a:solidFill>
                <a:latin typeface="Reddit Sans"/>
                <a:ea typeface="Reddit Sans"/>
              </a:rPr>
              <a:t>, middleware) · 7 FTE · incidentes, requerimientos, post mortem y coordinación con frentes COES</a:t>
            </a:r>
            <a:endParaRPr lang="es-ES" sz="1100" dirty="0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1175311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>
          <a:extLst>
            <a:ext uri="{FF2B5EF4-FFF2-40B4-BE49-F238E27FC236}">
              <a16:creationId xmlns:a16="http://schemas.microsoft.com/office/drawing/2014/main" id="{769FBF78-A718-8B3B-C5B0-6E7C4598C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37873DCB-8C8D-F7F4-8348-BBC0F57A2A57}"/>
              </a:ext>
            </a:extLst>
          </p:cNvPr>
          <p:cNvSpPr/>
          <p:nvPr/>
        </p:nvSpPr>
        <p:spPr>
          <a:xfrm>
            <a:off x="4143375" y="1975246"/>
            <a:ext cx="857250" cy="428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Reddit Sans"/>
              <a:ea typeface="Reddit Sans"/>
              <a:sym typeface="Calibri"/>
            </a:endParaRPr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2F7BCEBF-D38F-17A5-394C-923A4E74E35D}"/>
              </a:ext>
            </a:extLst>
          </p:cNvPr>
          <p:cNvSpPr txBox="1"/>
          <p:nvPr/>
        </p:nvSpPr>
        <p:spPr>
          <a:xfrm>
            <a:off x="1545252" y="2232422"/>
            <a:ext cx="6641323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Cliente</a:t>
            </a:r>
            <a:r>
              <a:rPr lang="en-US" sz="3900" b="1" i="0" u="none" strike="noStrike" cap="none" dirty="0">
                <a:solidFill>
                  <a:srgbClr val="F8FAFC"/>
                </a:solidFill>
                <a:latin typeface="Reddit Sans"/>
                <a:ea typeface="Reddit Sans"/>
                <a:sym typeface="Urbanist"/>
              </a:rPr>
              <a:t> </a:t>
            </a:r>
            <a:r>
              <a:rPr lang="en-US" sz="3900" b="1" dirty="0" err="1">
                <a:solidFill>
                  <a:srgbClr val="38BDF8"/>
                </a:solidFill>
                <a:latin typeface="Reddit Sans"/>
                <a:ea typeface="Reddit Sans"/>
                <a:sym typeface="Urbanist"/>
              </a:rPr>
              <a:t>Bancolombia</a:t>
            </a:r>
            <a:endParaRPr sz="788" dirty="0" err="1">
              <a:latin typeface="Reddit Sans"/>
              <a:ea typeface="Reddit Sans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3C021803-20A1-E519-E973-30ECBC5620E5}"/>
              </a:ext>
            </a:extLst>
          </p:cNvPr>
          <p:cNvSpPr txBox="1"/>
          <p:nvPr/>
        </p:nvSpPr>
        <p:spPr>
          <a:xfrm>
            <a:off x="2196703" y="2982515"/>
            <a:ext cx="4750594" cy="1712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COES </a:t>
            </a: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Integración</a:t>
            </a: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.</a:t>
            </a:r>
          </a:p>
          <a:p>
            <a:pPr algn="ctr">
              <a:spcAft>
                <a:spcPts val="225"/>
              </a:spcAft>
            </a:pPr>
            <a:r>
              <a:rPr lang="en-US" sz="135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COES Datos</a:t>
            </a:r>
          </a:p>
          <a:p>
            <a:pPr algn="ctr">
              <a:spcAft>
                <a:spcPts val="225"/>
              </a:spcAft>
            </a:pP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COES </a:t>
            </a: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Soporte</a:t>
            </a:r>
            <a:endParaRPr lang="en-US" sz="1350" dirty="0" err="1">
              <a:solidFill>
                <a:srgbClr val="94A3B8"/>
              </a:solidFill>
              <a:latin typeface="Reddit Sans"/>
              <a:ea typeface="Reddit Sans"/>
            </a:endParaRPr>
          </a:p>
          <a:p>
            <a:pPr algn="ctr">
              <a:spcAft>
                <a:spcPts val="225"/>
              </a:spcAft>
            </a:pPr>
            <a:r>
              <a:rPr lang="en-US" sz="135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COES Emma</a:t>
            </a:r>
          </a:p>
          <a:p>
            <a:pPr algn="ctr">
              <a:spcAft>
                <a:spcPts val="225"/>
              </a:spcAft>
            </a:pPr>
            <a:r>
              <a:rPr lang="en-US" sz="1350" dirty="0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COES Emma </a:t>
            </a:r>
            <a:r>
              <a:rPr lang="en-US" sz="1350" dirty="0" err="1">
                <a:solidFill>
                  <a:srgbClr val="94A3B8"/>
                </a:solidFill>
                <a:latin typeface="Reddit Sans"/>
                <a:ea typeface="Reddit Sans"/>
                <a:sym typeface="Urbanist Medium"/>
              </a:rPr>
              <a:t>Iseries</a:t>
            </a:r>
            <a:endParaRPr lang="en-US" sz="1350" dirty="0" err="1">
              <a:solidFill>
                <a:srgbClr val="94A3B8"/>
              </a:solidFill>
              <a:latin typeface="Reddit Sans"/>
              <a:ea typeface="Reddit Sans"/>
            </a:endParaRPr>
          </a:p>
          <a:p>
            <a:pPr algn="ctr">
              <a:spcAft>
                <a:spcPts val="225"/>
              </a:spcAft>
            </a:pPr>
            <a:endParaRPr lang="en-US" sz="1350" dirty="0">
              <a:solidFill>
                <a:srgbClr val="94A3B8"/>
              </a:solidFill>
              <a:latin typeface="Reddit Sans"/>
              <a:ea typeface="Reddit Sans"/>
            </a:endParaRPr>
          </a:p>
          <a:p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dirty="0">
              <a:solidFill>
                <a:srgbClr val="94A3B8"/>
              </a:solidFill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1258457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2662A-3C16-537F-4C56-7FA1C6CD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135FBC5-F04B-BBA2-4E91-854DA9A2552F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9ECC5B0F-27EA-0B58-2565-BFC1A46A647C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E73A1282-F1D0-B21A-0BC4-AF6C06B3307B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F16457A6-5698-6BC4-25F5-01E4C0E0F57F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F671DB0B-0612-9A83-39A9-D5192B071A65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</a:t>
            </a:r>
            <a:endParaRPr lang="es-E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0120486-D13A-DFDB-069C-B869B5B12770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FD4C918-C45A-E4F3-021C-D778A5A42164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50-100</a:t>
            </a:r>
            <a:endParaRPr lang="en-US" sz="2000" b="1" dirty="0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ACA3E93A-F9B4-2E1E-DFD2-35F33347AFC3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4FD00C0-2D7B-47EE-5B2F-D4DE059E5151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FC077A58-F636-79B7-3423-6D4E80E16703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33F12F8E-1614-4FD5-80E1-20C4B1562F37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2905F5ED-7BE9-49D4-58C6-BEDC48CF1751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A572C2F9-6A08-466B-2D09-1EB8E4BAF786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7C41A0F6-053F-8AC9-BBA9-1E24444A5F09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35063F8B-4BB3-0C2C-9868-B0E3FCA3C5A3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D4DDC9BB-F3CF-1D0F-1CC8-E3FF7C10D024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48A07BFE-49DF-5DC9-CA7A-4FFEE0BB08D2}"/>
              </a:ext>
            </a:extLst>
          </p:cNvPr>
          <p:cNvSpPr/>
          <p:nvPr/>
        </p:nvSpPr>
        <p:spPr>
          <a:xfrm>
            <a:off x="7536178" y="1619249"/>
            <a:ext cx="96229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~15 APIs</a:t>
            </a:r>
            <a:endParaRPr lang="es-ES" dirty="0"/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D9E35F81-E9BD-C33D-3172-ACEA5B72F7BA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1C253BED-A7D2-D9F8-A0D0-2361085402E4}"/>
              </a:ext>
            </a:extLst>
          </p:cNvPr>
          <p:cNvSpPr txBox="1">
            <a:spLocks noGrp="1"/>
          </p:cNvSpPr>
          <p:nvPr/>
        </p:nvSpPr>
        <p:spPr>
          <a:xfrm>
            <a:off x="417790" y="1219629"/>
            <a:ext cx="8158843" cy="3963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Integración: Atención COES de integración: incidentes, requerimientos, seguimiento mensual, post mortem y coordinación con frentes del banco.</a:t>
            </a:r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12A0E5F1-D273-B363-06DB-8AFE269EE2D9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Atención COES de integración: incidentes, requerimientos y post mortem
·  7 FTE en bolsa de horas · 50–100 incidentes/mes · 80–250 tix/agente
·  Backlog: ticket propio &lt;12h · con dependencia de otra área 8–15 días
·  Sin SLA de PS — rige el ANS del Banco y COES · 5 años de operación
</a:t>
            </a:r>
            <a:r>
              <a:rPr lang="en-US" sz="950" dirty="0">
                <a:solidFill>
                  <a:srgbClr val="1C1C1C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
</a:t>
            </a:r>
            <a:endParaRPr lang="es-ES">
              <a:highlight>
                <a:srgbClr val="FFFF00"/>
              </a:highlight>
              <a:cs typeface="Arial"/>
            </a:endParaRPr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F5C6A28C-069A-F51A-B07C-7AAE2614B3B7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D20 · Dimensionamiento sin modelo — asignación por criterio experto
●  D16 · Brechas vendido vs ejecutado — volumetría sin datos reales
●  D23 · Recargo económico por jornada extendida 24x7
◐  D1 · Bus factor — conocimiento en service manager/líderes
◐  D3 · Sin autoservicio — todo entra por call o correo
◐  D8 · Reportes manuales — sin visibilidad ejecutiva consolidada
</a:t>
            </a: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792176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C60BA-5871-C5FC-1E02-DB373ACB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FCBB05E-212B-F327-4BC5-DB9D7ABB59B2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BC1EEB7-2CD9-2E42-4163-EFDEDAD837ED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7E8B72B-EDED-BA7B-C447-6780E030078C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9CEA81F-CCE3-5ACF-D025-45F761012D2D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0566488-0275-E3E4-A2DE-3733CD711443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</a:t>
            </a:r>
            <a:endParaRPr lang="es-E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B020708E-51DA-E964-96B7-F19B2AEBD98F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3C707BD-CC0F-0DF6-5ECA-1C1613BF0258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80–250</a:t>
            </a:r>
            <a:endParaRPr lang="es-E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37908C06-FE90-FFC1-04C2-E250F810A4A5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BE0FC9E-DAB0-AE1A-03B4-8B10B47E9005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9F39DA0C-E2F2-9F14-4648-D38692453BAE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6E9B95EE-B317-0779-60B8-45AEFD2191CD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C408EDC0-CBE5-93E2-D134-BCE26C136624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14D8F436-A705-2671-F79B-7BE8D7E5B1E0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63862CA3-B3FB-E108-FCA8-78545522C5BC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4055F39A-C1AC-A866-6E07-4160F6752686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0CE6445E-1CA0-74B4-DE99-A06F078BF25A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89E876E1-9052-1B98-3AB4-A34BE22D8F88}"/>
              </a:ext>
            </a:extLst>
          </p:cNvPr>
          <p:cNvSpPr/>
          <p:nvPr/>
        </p:nvSpPr>
        <p:spPr>
          <a:xfrm>
            <a:off x="7536178" y="1619249"/>
            <a:ext cx="96229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~8 </a:t>
            </a:r>
            <a:r>
              <a:rPr lang="en-US" sz="1200" b="1" dirty="0" err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fuentes</a:t>
            </a:r>
            <a:r>
              <a:rPr lang="en-US" sz="1200" b="1" dirty="0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200" b="1" dirty="0" err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datos</a:t>
            </a:r>
            <a:endParaRPr lang="en-US" sz="1200" b="1" dirty="0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0A3F7D2E-FB0D-DF86-9AD8-1E03E30F0DF5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9D6202BF-9F5F-CAF8-F5C4-1C99C44F57F7}"/>
              </a:ext>
            </a:extLst>
          </p:cNvPr>
          <p:cNvSpPr txBox="1">
            <a:spLocks noGrp="1"/>
          </p:cNvSpPr>
          <p:nvPr/>
        </p:nvSpPr>
        <p:spPr>
          <a:xfrm>
            <a:off x="385133" y="1235957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Datos: Gestión de datos del Banco: consultas, reportes e incidentes · 7 FTE · seguimiento mensual y coordinación con frentes COES</a:t>
            </a:r>
            <a:endParaRPr lang="es-ES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7FDE8A15-4765-EF3C-C0A6-B300EA78299C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Gestión de datos, consultas y reportería sobre ~8 fuentes del Banco
·  7 FTE en bolsa de horas · 80–250 tickets/agente/mes
·  Backlog: ticket propio &lt;12h · con dependencia de otra área 8–15 días
</a:t>
            </a:r>
            <a:endParaRPr lang="es-ES">
              <a:highlight>
                <a:srgbClr val="FFFF00"/>
              </a:highlight>
              <a:cs typeface="Arial"/>
            </a:endParaRPr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510BAD0B-2A49-AEB4-A095-8CEDCC04F875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D20 · Dimensionamiento sin modelo — asignación por criterio experto
●  D16 · Brechas vendido vs ejecutado — volumetría sin datos reales
●  D23 · Recargo económico por jornada extendida 24x7
◐  D1 · Bus factor — conocimiento concentrado en 1-2 personas
◐  D3 · Sin autoservicio — todo entra por call o correo
◐  D8 · Reportes manuales — sin visibilidad ejecutiva consolidada
</a:t>
            </a:r>
            <a:endParaRPr lang="en-US" sz="9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446436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7EA00-9205-2764-A7C2-BDF8259E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BAF5C6B-A3C3-B2DA-6F63-374A5E727E5F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F1F80A5-D4E7-16DE-3724-B6F14F311DDB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6B426324-C023-5BD3-B451-0D7EFB106988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954C9055-1A89-004F-F121-39BEB7ACD0C2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4F17E07-8030-73C8-85C7-DC4EBB2DB7D5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13</a:t>
            </a:r>
            <a:endParaRPr lang="es-E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9188031C-A504-6132-6F75-AADE6C689454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1F54A963-94F8-9227-FD85-667D79B3CE69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700–3.000</a:t>
            </a:r>
            <a:endParaRPr lang="es-E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1EB4E950-8FEC-D172-9960-15483BBCE315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todas</a:t>
            </a:r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las mesas</a:t>
            </a:r>
            <a:endParaRPr lang="en-US" sz="825" dirty="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5EC8F20F-2790-FB58-CF75-EED0E345E100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s-E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1320CA2-7F1B-46E4-0EFA-1F1BB6393306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6373AC81-F586-4EE8-918F-20E802EF7923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  <a:endParaRPr lang="es-ES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757B92D2-B9DB-851F-5997-22B0AF318B89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8116E748-AD27-2B5D-67C3-737F118EDCBE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47646300-66C1-80C2-DB19-0A6CCD48815B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F3E79573-A051-269B-B2E0-D2F81E88C286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7708B830-4096-DFCD-B88D-73F8F89F0896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4C4A6CA9-E6AD-FC62-C88E-49162A5DACA6}"/>
              </a:ext>
            </a:extLst>
          </p:cNvPr>
          <p:cNvSpPr/>
          <p:nvPr/>
        </p:nvSpPr>
        <p:spPr>
          <a:xfrm>
            <a:off x="7062650" y="16301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Transversal (5 COES)</a:t>
            </a:r>
            <a:endParaRPr lang="es-ES"/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0598AED6-E610-3723-5B4E-61F6B94BEC0F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424B5428-2929-70F7-B5F6-15386CE808FD}"/>
              </a:ext>
            </a:extLst>
          </p:cNvPr>
          <p:cNvSpPr txBox="1">
            <a:spLocks noGrp="1"/>
          </p:cNvSpPr>
          <p:nvPr/>
        </p:nvSpPr>
        <p:spPr>
          <a:xfrm>
            <a:off x="417790" y="1219629"/>
            <a:ext cx="8175172" cy="40721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Soporte: Mesa transversal de soporte a los COES · 13 FTE · atención de casos, coordinación, informes mensuales y novedades por frente</a:t>
            </a:r>
            <a:endParaRPr lang="es-ES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40D29E26-96CA-F514-655E-D622C60E4E0C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Mesa transversal, el mayor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equipo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COES con 13 FTE
· 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Atención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casos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,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coordinación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informes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mensuales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por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frente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·  Backlog: ticket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propio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&lt;12h </a:t>
            </a:r>
            <a:endParaRPr lang="es-ES">
              <a:solidFill>
                <a:srgbClr val="000000"/>
              </a:solidFill>
              <a:highlight>
                <a:srgbClr val="FFFF00"/>
              </a:highlight>
              <a:latin typeface="Arial"/>
              <a:ea typeface="Reddit Sans"/>
              <a:cs typeface="Arial"/>
            </a:endParaRPr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Con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dependencia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otra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área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8–15 días
·  ANS del Banco y COES 
</a:t>
            </a:r>
            <a:endParaRPr lang="es-ES">
              <a:highlight>
                <a:srgbClr val="FFFF00"/>
              </a:highlight>
              <a:cs typeface="Arial"/>
            </a:endParaRPr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163182DC-C2A0-85AB-E0EE-F8C42495A9ED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D20 · Dimensionamiento sin modelo — alto volumen por frente
●  D16 · Brechas vendido vs ejecutado — volumetría sin datos reales
●  D23 · Recargo económico por jornada extendida 24x7
◐  D1 · Bus factor — conocimiento concentrado en líderes
◐  D3 · Sin autoservicio — todo entra por call o correo
◐  D8 · Reportes manuales — sin visibilidad ejecutiva consolidada
</a:t>
            </a:r>
            <a:endParaRPr lang="en-US" sz="9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319106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80F81-FC5A-73E6-CAF7-D7733D77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CE806D9-1A1C-AF8B-C1A7-AB9A1F2ACA4B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3FF49EC-55C0-43D2-F5F6-68B770135618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D7DE6981-2190-DE90-EE19-072F5156B0BE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6747797C-E45B-7D34-7B46-C605DFA7D434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FE55F347-9486-FAB8-7EAF-1B2D169F3D87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s-E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2A70CAD0-D8EB-6A40-FCFF-CBA0EA82D08F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D6E59B8-EED4-C885-3943-16BC0E3681B7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700–3.000</a:t>
            </a:r>
            <a:endParaRPr lang="es-E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820FA9E-C170-DB8E-38BD-EDC1EF1C6E49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todas</a:t>
            </a:r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las mesas</a:t>
            </a:r>
            <a:endParaRPr lang="en-US" sz="825" dirty="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CC0198A-5937-5E7A-D170-F99220561A9A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s-E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135800D6-0C78-3759-A82A-E595B6C07DD8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763E255-A6F3-868B-D356-DA892A8A87B5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  <a:endParaRPr lang="es-ES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05EA32BB-02D3-D2F8-5E6A-E25B30765E5E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FC286880-371E-260A-FBDE-8C0C44B8F2DE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CBBBAF9C-26BE-2E2C-8201-4A8EA6F71FDF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4ADE8EB7-0CD3-ABA0-C5DB-16A8FB6D5495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Soporte y operación de la plataforma Emma del Banco · 4 FTE
·  Escalamiento por líder técnico / service manager / frentes Banco
·  Post mortem obligatorio en incidentes críticos
</a:t>
            </a:r>
            <a:endParaRPr lang="es-ES">
              <a:highlight>
                <a:srgbClr val="FFFF00"/>
              </a:highlight>
              <a:cs typeface="Arial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5D198852-E61D-9583-2A4D-3D71D0EC918C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D20 · Dimensionamiento sin modelo — criterio experto individual
●  D16 · Brechas vendido vs ejecutado — volumetría sin datos reales
●  D23 · Recargo económico por jornada extendida 24x7
◐  D1 · Bus factor — conocimiento concentrado en pocos especialistas
◐  D3 · Sin autoservicio — todo entra por call o correo
◐  D8 · Reportes manuales — sin visibilidad ejecutiva consolidada
</a:t>
            </a:r>
            <a:endParaRPr lang="en-US" sz="9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735CBFD8-BE59-1A63-A7D2-9F63E584D2E8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E3FEA418-66B2-C534-11F8-65C85CFA1FE6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30DFD2D9-2273-2E18-85FA-66127B797883}"/>
              </a:ext>
            </a:extLst>
          </p:cNvPr>
          <p:cNvSpPr/>
          <p:nvPr/>
        </p:nvSpPr>
        <p:spPr>
          <a:xfrm>
            <a:off x="7062650" y="16301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(Plataforma Emma)</a:t>
            </a:r>
            <a:endParaRPr lang="es-ES" sz="1400">
              <a:latin typeface="Reddit Sans"/>
              <a:ea typeface="Reddit Sans"/>
              <a:cs typeface="Arial"/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C64A46B5-F4D2-7DF1-BF55-404CC388C914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28764278-E9A1-B6AB-A2CA-EA355FF496A4}"/>
              </a:ext>
            </a:extLst>
          </p:cNvPr>
          <p:cNvSpPr txBox="1">
            <a:spLocks noGrp="1"/>
          </p:cNvSpPr>
          <p:nvPr/>
        </p:nvSpPr>
        <p:spPr>
          <a:xfrm>
            <a:off x="385133" y="1235957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Emma: Soporte y operación de la plataforma Emma · 4 FTE · incidentes, requerimientos y coordinación con frentes del Banco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2223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E2BA-DA11-6E3B-7FD5-7B4EE89DD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D693F2D-9F87-D6F6-695D-66527C88D03D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B82124D-2A20-02F9-5DA0-722D788062BA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3A0EAABC-F8F9-2E24-3A04-5E58B58F8B4D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079CA34-86F8-21FD-442F-1F4EE4565F24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B66FFCF1-89A1-B7D8-96FF-6D8AFD98F7F8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F96AD932-1CF9-13E4-C840-1CE49EA0198B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2EF51841-D2FC-3B72-983F-A0429CB1DA13}"/>
              </a:ext>
            </a:extLst>
          </p:cNvPr>
          <p:cNvSpPr/>
          <p:nvPr/>
        </p:nvSpPr>
        <p:spPr>
          <a:xfrm>
            <a:off x="2576648" y="1700893"/>
            <a:ext cx="1887583" cy="338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700–3.000</a:t>
            </a:r>
            <a:endParaRPr lang="es-E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14ED22B-E0B8-693E-BECB-3C1419DF87EC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todas</a:t>
            </a:r>
            <a:r>
              <a:rPr lang="en-US" sz="800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las mesas</a:t>
            </a:r>
            <a:endParaRPr lang="en-US" sz="825" dirty="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D81F29C-96C4-7F03-2B66-70B457BADE30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s-E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7F7190FC-3363-2320-2727-4E58A5ACC7C2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F5AEF71C-8931-070C-D76B-EAB636FC9471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  <a:endParaRPr lang="es-ES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1F834416-5C04-5121-8AFD-C955B9E077C8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A02E62CF-9141-B8A8-CAA2-3C0CCDCF729D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2B209A4D-FB6D-F906-824F-38E88448DE82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D3A49191-C541-1489-E5D2-854059D9AC53}"/>
              </a:ext>
            </a:extLst>
          </p:cNvPr>
          <p:cNvSpPr/>
          <p:nvPr/>
        </p:nvSpPr>
        <p:spPr>
          <a:xfrm>
            <a:off x="592182" y="2573927"/>
            <a:ext cx="4081054" cy="907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a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sistemas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legacy iSeries · 1 solo FTE
· 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Conocimiento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especializado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tecnología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legacy de mercado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escaso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·  Backlog: ticket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propio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&lt;12h </a:t>
            </a:r>
            <a:endParaRPr lang="es-ES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Reddit Sans"/>
              <a:cs typeface="Arial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Con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dependencia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otra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área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8–15 días
</a:t>
            </a:r>
            <a:endParaRPr lang="es-ES" dirty="0">
              <a:highlight>
                <a:srgbClr val="FFFF00"/>
              </a:highlight>
              <a:cs typeface="Arial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62E0EFE9-239A-D66C-022E-E219FEE23CA6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D1 · Bus factor crítico — 1 solo FTE concentra el conocimiento legacy
●  D20 · Dimensionamiento sin modelo — sin contingencia ni backup
●  D16 · Brechas vendido vs ejecutado — volumetría sin datos reales
●  D23 · Recargo económico por jornada extendida 24x7
◐  D3 · Sin autoservicio — todo entra por call o correo
◐  D8 · Reportes manuales — sin visibilidad ejecutiva consolidada
</a:t>
            </a:r>
            <a:endParaRPr lang="en-US" sz="90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96C91F2C-DF9C-EDCD-FAAE-5B4B6ECCEF8B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40C7491E-85E0-2F2D-BAE6-DBE5D1611F77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</a:p>
          <a:p>
            <a:endParaRPr lang="es-ES" sz="90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B764241E-6108-7AF0-8F76-956E70A3201A}"/>
              </a:ext>
            </a:extLst>
          </p:cNvPr>
          <p:cNvSpPr/>
          <p:nvPr/>
        </p:nvSpPr>
        <p:spPr>
          <a:xfrm>
            <a:off x="7062650" y="1662793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(iSeries legacy)</a:t>
            </a:r>
            <a:endParaRPr lang="es-ES"/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F5AD19C6-71AF-E1BB-9105-698AEEDD558E}"/>
              </a:ext>
            </a:extLst>
          </p:cNvPr>
          <p:cNvSpPr/>
          <p:nvPr/>
        </p:nvSpPr>
        <p:spPr>
          <a:xfrm>
            <a:off x="7062650" y="20105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70A73E0E-2067-6FDB-E453-56F6EE79A828}"/>
              </a:ext>
            </a:extLst>
          </p:cNvPr>
          <p:cNvSpPr txBox="1">
            <a:spLocks noGrp="1"/>
          </p:cNvSpPr>
          <p:nvPr/>
        </p:nvSpPr>
        <p:spPr>
          <a:xfrm>
            <a:off x="385133" y="1235957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Emma </a:t>
            </a:r>
            <a:r>
              <a:rPr lang="es-ES" sz="1100" b="1" err="1">
                <a:solidFill>
                  <a:srgbClr val="FFFFFF"/>
                </a:solidFill>
                <a:latin typeface="Reddit Sans"/>
                <a:ea typeface="Reddit Sans"/>
              </a:rPr>
              <a:t>ISeries</a:t>
            </a:r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: Soporte especializado a sistemas legacy iSeries · 1 FTE · capacidad reducida y coordinación con los COES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5108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5400E17-6F52-36D3-3EA7-834AB78AC514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b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Dolores </a:t>
            </a:r>
            <a:r>
              <a:rPr lang="en-US" sz="1950" b="1" err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Críticos</a:t>
            </a:r>
            <a:r>
              <a:rPr lang="en-US" sz="1950" b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 — </a:t>
            </a:r>
            <a:r>
              <a:rPr lang="en-US" sz="1950" b="1" err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Parte</a:t>
            </a:r>
            <a:r>
              <a:rPr lang="en-US" sz="1950" b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 1 de 2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D9533AD-E866-2120-3AAA-D54FF198E98B}"/>
              </a:ext>
            </a:extLst>
          </p:cNvPr>
          <p:cNvSpPr/>
          <p:nvPr/>
        </p:nvSpPr>
        <p:spPr>
          <a:xfrm>
            <a:off x="342900" y="672084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5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Presentes</a:t>
            </a:r>
            <a:r>
              <a:rPr lang="en-US" sz="95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</a:t>
            </a:r>
            <a:r>
              <a:rPr lang="en-US" sz="95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en</a:t>
            </a:r>
            <a:r>
              <a:rPr lang="en-US" sz="95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</a:t>
            </a:r>
            <a:r>
              <a:rPr lang="en-US" sz="95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más</a:t>
            </a:r>
            <a:r>
              <a:rPr lang="en-US" sz="95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de la </a:t>
            </a:r>
            <a:r>
              <a:rPr lang="en-US" sz="95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mitad</a:t>
            </a:r>
            <a:r>
              <a:rPr lang="en-US" sz="95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de las 11 mesas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474D591-1D0D-7E5B-202A-8B1BD6739676}"/>
              </a:ext>
            </a:extLst>
          </p:cNvPr>
          <p:cNvSpPr/>
          <p:nvPr/>
        </p:nvSpPr>
        <p:spPr>
          <a:xfrm>
            <a:off x="342900" y="117957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D20</a:t>
            </a:r>
            <a:endParaRPr lang="en-US" sz="1125">
              <a:latin typeface="Reddit Sans"/>
              <a:ea typeface="Reddit San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BF7C26EC-B883-B59F-F60A-98F02D7CBB68}"/>
              </a:ext>
            </a:extLst>
          </p:cNvPr>
          <p:cNvSpPr/>
          <p:nvPr/>
        </p:nvSpPr>
        <p:spPr>
          <a:xfrm>
            <a:off x="960120" y="117957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Ausencia de gobierno formal (SLA, escalamiento, responsabilidades)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FC4725FD-E949-2C5C-4A4E-8784602F59B9}"/>
              </a:ext>
            </a:extLst>
          </p:cNvPr>
          <p:cNvSpPr/>
          <p:nvPr/>
        </p:nvSpPr>
        <p:spPr>
          <a:xfrm>
            <a:off x="3977640" y="131673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BBA89A9F-EFAE-F4FC-0A80-2BDCB94580CC}"/>
              </a:ext>
            </a:extLst>
          </p:cNvPr>
          <p:cNvSpPr/>
          <p:nvPr/>
        </p:nvSpPr>
        <p:spPr>
          <a:xfrm>
            <a:off x="3977640" y="1316736"/>
            <a:ext cx="3909060" cy="26060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C490153E-AB11-9659-5D2D-8BA96BC79393}"/>
              </a:ext>
            </a:extLst>
          </p:cNvPr>
          <p:cNvSpPr/>
          <p:nvPr/>
        </p:nvSpPr>
        <p:spPr>
          <a:xfrm>
            <a:off x="7955280" y="128244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11/11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EF6CF520-5181-81B9-BCA9-DE6AE8125B3B}"/>
              </a:ext>
            </a:extLst>
          </p:cNvPr>
          <p:cNvSpPr/>
          <p:nvPr/>
        </p:nvSpPr>
        <p:spPr>
          <a:xfrm>
            <a:off x="342900" y="176250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D16</a:t>
            </a:r>
            <a:endParaRPr lang="en-US" sz="1125">
              <a:latin typeface="Reddit Sans"/>
              <a:ea typeface="Reddit Sans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D778023-3206-6875-3C96-2DC6C2E9EAC2}"/>
              </a:ext>
            </a:extLst>
          </p:cNvPr>
          <p:cNvSpPr/>
          <p:nvPr/>
        </p:nvSpPr>
        <p:spPr>
          <a:xfrm>
            <a:off x="960120" y="176250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Gestión</a:t>
            </a: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 de </a:t>
            </a:r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conocimiento</a:t>
            </a: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 informal — solo </a:t>
            </a:r>
            <a:r>
              <a:rPr lang="en-US" sz="900" err="1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en</a:t>
            </a: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 la cabeza de las personas</a:t>
            </a:r>
            <a:endParaRPr lang="en-US" sz="900">
              <a:latin typeface="Reddit Sans"/>
              <a:ea typeface="Reddit Sans"/>
              <a:cs typeface="Calibri Light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605F7AAE-33ED-70DF-CBD3-844F11B9A264}"/>
              </a:ext>
            </a:extLst>
          </p:cNvPr>
          <p:cNvSpPr/>
          <p:nvPr/>
        </p:nvSpPr>
        <p:spPr>
          <a:xfrm>
            <a:off x="3977640" y="189966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6BDFB223-37B7-CFD7-4804-1A3D9D8905F2}"/>
              </a:ext>
            </a:extLst>
          </p:cNvPr>
          <p:cNvSpPr/>
          <p:nvPr/>
        </p:nvSpPr>
        <p:spPr>
          <a:xfrm>
            <a:off x="3977640" y="1899666"/>
            <a:ext cx="3198322" cy="26060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A4C0FDA3-7376-F340-B8A2-515947837991}"/>
              </a:ext>
            </a:extLst>
          </p:cNvPr>
          <p:cNvSpPr/>
          <p:nvPr/>
        </p:nvSpPr>
        <p:spPr>
          <a:xfrm>
            <a:off x="7244542" y="186537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9/11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F3C451BF-90CC-165D-112F-3ED1D93AA689}"/>
              </a:ext>
            </a:extLst>
          </p:cNvPr>
          <p:cNvSpPr/>
          <p:nvPr/>
        </p:nvSpPr>
        <p:spPr>
          <a:xfrm>
            <a:off x="342900" y="234543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D9</a:t>
            </a:r>
            <a:endParaRPr lang="en-US" sz="1125">
              <a:latin typeface="Reddit Sans"/>
              <a:ea typeface="Reddit Sans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90400AC-2DD4-6CDE-71B1-089FC062269E}"/>
              </a:ext>
            </a:extLst>
          </p:cNvPr>
          <p:cNvSpPr/>
          <p:nvPr/>
        </p:nvSpPr>
        <p:spPr>
          <a:xfrm>
            <a:off x="960120" y="234543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estandarización de proceso ni RACI definido entre mesas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1E009C9F-6938-1FE1-5CE1-25528F7DF105}"/>
              </a:ext>
            </a:extLst>
          </p:cNvPr>
          <p:cNvSpPr/>
          <p:nvPr/>
        </p:nvSpPr>
        <p:spPr>
          <a:xfrm>
            <a:off x="3977640" y="248259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82982DFC-BE78-CE29-FE95-399DE3C9FBF1}"/>
              </a:ext>
            </a:extLst>
          </p:cNvPr>
          <p:cNvSpPr/>
          <p:nvPr/>
        </p:nvSpPr>
        <p:spPr>
          <a:xfrm>
            <a:off x="3977640" y="2482596"/>
            <a:ext cx="2487584" cy="260604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07785ACF-FCF5-A31D-2B0A-A39BCAC8DAC6}"/>
              </a:ext>
            </a:extLst>
          </p:cNvPr>
          <p:cNvSpPr/>
          <p:nvPr/>
        </p:nvSpPr>
        <p:spPr>
          <a:xfrm>
            <a:off x="6533804" y="244830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7/11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5D5C0E93-0BA6-854E-9D7F-632CD281F75F}"/>
              </a:ext>
            </a:extLst>
          </p:cNvPr>
          <p:cNvSpPr/>
          <p:nvPr/>
        </p:nvSpPr>
        <p:spPr>
          <a:xfrm>
            <a:off x="342900" y="292836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D13</a:t>
            </a:r>
            <a:endParaRPr lang="en-US" sz="1125">
              <a:latin typeface="Reddit Sans"/>
              <a:ea typeface="Reddit Sans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77B120C1-B47F-F1D5-B641-F505AEF88864}"/>
              </a:ext>
            </a:extLst>
          </p:cNvPr>
          <p:cNvSpPr/>
          <p:nvPr/>
        </p:nvSpPr>
        <p:spPr>
          <a:xfrm>
            <a:off x="960120" y="292836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métricas formales ni dashboard de KPIs operacionales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067EE241-9F77-E557-1FB1-1D341AD37A61}"/>
              </a:ext>
            </a:extLst>
          </p:cNvPr>
          <p:cNvSpPr/>
          <p:nvPr/>
        </p:nvSpPr>
        <p:spPr>
          <a:xfrm>
            <a:off x="3977640" y="306552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093B6400-7FBB-D150-213E-46721B404DC7}"/>
              </a:ext>
            </a:extLst>
          </p:cNvPr>
          <p:cNvSpPr/>
          <p:nvPr/>
        </p:nvSpPr>
        <p:spPr>
          <a:xfrm>
            <a:off x="3977640" y="3065526"/>
            <a:ext cx="2487584" cy="260604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C839B680-C59A-916F-A72F-30AD16C1E6DF}"/>
              </a:ext>
            </a:extLst>
          </p:cNvPr>
          <p:cNvSpPr/>
          <p:nvPr/>
        </p:nvSpPr>
        <p:spPr>
          <a:xfrm>
            <a:off x="6533804" y="30312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7/11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019D5E76-B73E-80A9-F29B-832E99052E3A}"/>
              </a:ext>
            </a:extLst>
          </p:cNvPr>
          <p:cNvSpPr/>
          <p:nvPr/>
        </p:nvSpPr>
        <p:spPr>
          <a:xfrm>
            <a:off x="342900" y="351129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D3</a:t>
            </a:r>
            <a:endParaRPr lang="en-US" sz="1125">
              <a:latin typeface="Reddit Sans"/>
              <a:ea typeface="Reddit Sans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2F515447-CC4D-4E6C-FD0D-A330C9A9EBCE}"/>
              </a:ext>
            </a:extLst>
          </p:cNvPr>
          <p:cNvSpPr/>
          <p:nvPr/>
        </p:nvSpPr>
        <p:spPr>
          <a:xfrm>
            <a:off x="960120" y="351129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KB / KEDB documentado — resolución depende del experto disponible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AC607055-9572-F24D-ED28-6DCD43F1CBA6}"/>
              </a:ext>
            </a:extLst>
          </p:cNvPr>
          <p:cNvSpPr/>
          <p:nvPr/>
        </p:nvSpPr>
        <p:spPr>
          <a:xfrm>
            <a:off x="3977640" y="364845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18EAAD36-328C-9C1E-7F56-650E123A3C0E}"/>
              </a:ext>
            </a:extLst>
          </p:cNvPr>
          <p:cNvSpPr/>
          <p:nvPr/>
        </p:nvSpPr>
        <p:spPr>
          <a:xfrm>
            <a:off x="3977640" y="3648456"/>
            <a:ext cx="2132215" cy="260604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212781F7-6505-78C0-F963-EBDDAC26EACE}"/>
              </a:ext>
            </a:extLst>
          </p:cNvPr>
          <p:cNvSpPr/>
          <p:nvPr/>
        </p:nvSpPr>
        <p:spPr>
          <a:xfrm>
            <a:off x="6178435" y="361416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6/11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1B4526EE-8269-D721-8C0F-E0F1414798E5}"/>
              </a:ext>
            </a:extLst>
          </p:cNvPr>
          <p:cNvSpPr/>
          <p:nvPr/>
        </p:nvSpPr>
        <p:spPr>
          <a:xfrm>
            <a:off x="342900" y="4217670"/>
            <a:ext cx="8455914" cy="4800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27097DFD-CD09-7E61-DDCC-E58FEBD5DD45}"/>
              </a:ext>
            </a:extLst>
          </p:cNvPr>
          <p:cNvSpPr/>
          <p:nvPr/>
        </p:nvSpPr>
        <p:spPr>
          <a:xfrm>
            <a:off x="480060" y="4217670"/>
            <a:ext cx="818159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latin typeface="Reddit Sans"/>
                <a:ea typeface="Reddit Sans"/>
                <a:cs typeface="Calibri Light"/>
              </a:rPr>
              <a:t> </a:t>
            </a:r>
            <a:r>
              <a:rPr lang="en-US" sz="950">
                <a:latin typeface="Reddit Sans"/>
                <a:ea typeface="Reddit Sans"/>
                <a:cs typeface="Calibri Light"/>
              </a:rPr>
              <a:t>D20 y D16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presentes</a:t>
            </a:r>
            <a:r>
              <a:rPr lang="en-US" sz="950">
                <a:latin typeface="Reddit Sans"/>
                <a:ea typeface="Reddit Sans"/>
                <a:cs typeface="Calibri Light"/>
              </a:rPr>
              <a:t>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en</a:t>
            </a:r>
            <a:r>
              <a:rPr lang="en-US" sz="950">
                <a:latin typeface="Reddit Sans"/>
                <a:ea typeface="Reddit Sans"/>
                <a:cs typeface="Calibri Light"/>
              </a:rPr>
              <a:t> la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totalidad</a:t>
            </a:r>
            <a:r>
              <a:rPr lang="en-US" sz="950">
                <a:latin typeface="Reddit Sans"/>
                <a:ea typeface="Reddit Sans"/>
                <a:cs typeface="Calibri Light"/>
              </a:rPr>
              <a:t> de mesas — el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problema</a:t>
            </a:r>
            <a:r>
              <a:rPr lang="en-US" sz="950">
                <a:latin typeface="Reddit Sans"/>
                <a:ea typeface="Reddit Sans"/>
                <a:cs typeface="Calibri Light"/>
              </a:rPr>
              <a:t> es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estructural</a:t>
            </a:r>
            <a:r>
              <a:rPr lang="en-US" sz="950">
                <a:latin typeface="Reddit Sans"/>
                <a:ea typeface="Reddit Sans"/>
                <a:cs typeface="Calibri Light"/>
              </a:rPr>
              <a:t>, no </a:t>
            </a:r>
            <a:r>
              <a:rPr lang="en-US" sz="950" err="1">
                <a:latin typeface="Reddit Sans"/>
                <a:ea typeface="Reddit Sans"/>
                <a:cs typeface="Calibri Light"/>
              </a:rPr>
              <a:t>operativo</a:t>
            </a:r>
            <a:r>
              <a:rPr lang="en-US" sz="950">
                <a:latin typeface="Reddit Sans"/>
                <a:ea typeface="Reddit Sans"/>
                <a:cs typeface="Calibri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3130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680F953-661E-6F27-112F-71CF5A615264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Dolores Críticos — Parte 2 de 2 · Impacto Operacional</a:t>
            </a:r>
            <a:endParaRPr lang="en-US" sz="1950">
              <a:latin typeface="Reddit Sans"/>
              <a:ea typeface="Reddit San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2D19271-AA76-3284-897A-19C29C233808}"/>
              </a:ext>
            </a:extLst>
          </p:cNvPr>
          <p:cNvSpPr/>
          <p:nvPr/>
        </p:nvSpPr>
        <p:spPr>
          <a:xfrm>
            <a:off x="342900" y="672084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75">
                <a:solidFill>
                  <a:srgbClr val="017490"/>
                </a:solidFill>
                <a:latin typeface="Reddit Sans"/>
                <a:ea typeface="Reddit Sans"/>
                <a:cs typeface="Calibri Light" pitchFamily="34" charset="-120"/>
              </a:rPr>
              <a:t>Dolores recurrentes que generan sobrecarga, errores y riesgo de continuidad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8D0C203-52D1-11B7-F34C-8E8D766DB819}"/>
              </a:ext>
            </a:extLst>
          </p:cNvPr>
          <p:cNvSpPr/>
          <p:nvPr/>
        </p:nvSpPr>
        <p:spPr>
          <a:xfrm>
            <a:off x="342900" y="113157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D7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D5A3DC4D-302A-4982-6B96-426D8D4A23DC}"/>
              </a:ext>
            </a:extLst>
          </p:cNvPr>
          <p:cNvSpPr/>
          <p:nvPr/>
        </p:nvSpPr>
        <p:spPr>
          <a:xfrm>
            <a:off x="960120" y="113157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Capacidad insuficiente — demanda supera el equipo disponible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78C689AF-9240-48A0-5AC7-717839F265D2}"/>
              </a:ext>
            </a:extLst>
          </p:cNvPr>
          <p:cNvSpPr/>
          <p:nvPr/>
        </p:nvSpPr>
        <p:spPr>
          <a:xfrm>
            <a:off x="3977640" y="124129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E5E8CD2D-51E2-4843-C65F-D4D8A80F6EE5}"/>
              </a:ext>
            </a:extLst>
          </p:cNvPr>
          <p:cNvSpPr/>
          <p:nvPr/>
        </p:nvSpPr>
        <p:spPr>
          <a:xfrm>
            <a:off x="3977641" y="1241298"/>
            <a:ext cx="1776845" cy="2331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2252A263-6434-E495-F52B-916D5D0CCA0E}"/>
              </a:ext>
            </a:extLst>
          </p:cNvPr>
          <p:cNvSpPr/>
          <p:nvPr/>
        </p:nvSpPr>
        <p:spPr>
          <a:xfrm>
            <a:off x="5823065" y="120015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5/11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22674AB-E352-6A28-BA07-4E4823139CA2}"/>
              </a:ext>
            </a:extLst>
          </p:cNvPr>
          <p:cNvSpPr/>
          <p:nvPr/>
        </p:nvSpPr>
        <p:spPr>
          <a:xfrm>
            <a:off x="342900" y="157734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06926587-EAD0-36BB-288F-44EBBC89A11A}"/>
              </a:ext>
            </a:extLst>
          </p:cNvPr>
          <p:cNvSpPr/>
          <p:nvPr/>
        </p:nvSpPr>
        <p:spPr>
          <a:xfrm>
            <a:off x="960120" y="157734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Bus factor crítico — 1-4 personas concentran todo el conocimiento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DCD169B3-6E21-9D57-9B14-353BFC408289}"/>
              </a:ext>
            </a:extLst>
          </p:cNvPr>
          <p:cNvSpPr/>
          <p:nvPr/>
        </p:nvSpPr>
        <p:spPr>
          <a:xfrm>
            <a:off x="3977640" y="168706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606545B4-2675-781C-2924-FFF77CBC379A}"/>
              </a:ext>
            </a:extLst>
          </p:cNvPr>
          <p:cNvSpPr/>
          <p:nvPr/>
        </p:nvSpPr>
        <p:spPr>
          <a:xfrm>
            <a:off x="3977641" y="1687068"/>
            <a:ext cx="1776845" cy="23317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3F0FD9FE-17A5-C13D-8AE3-0351B3F0E9A6}"/>
              </a:ext>
            </a:extLst>
          </p:cNvPr>
          <p:cNvSpPr/>
          <p:nvPr/>
        </p:nvSpPr>
        <p:spPr>
          <a:xfrm>
            <a:off x="5823065" y="164592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5/11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FBA18AC-75B6-69FA-7CF7-8697372C2832}"/>
              </a:ext>
            </a:extLst>
          </p:cNvPr>
          <p:cNvSpPr/>
          <p:nvPr/>
        </p:nvSpPr>
        <p:spPr>
          <a:xfrm>
            <a:off x="342900" y="202311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D18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7B7179A4-48BA-FC57-1EA2-5878CDE4A7C4}"/>
              </a:ext>
            </a:extLst>
          </p:cNvPr>
          <p:cNvSpPr/>
          <p:nvPr/>
        </p:nvSpPr>
        <p:spPr>
          <a:xfrm>
            <a:off x="960120" y="202311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cobertura nocturna / fin de semana en mesas críticas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937A6487-649D-DE83-FAE5-66F08A2DFF1A}"/>
              </a:ext>
            </a:extLst>
          </p:cNvPr>
          <p:cNvSpPr/>
          <p:nvPr/>
        </p:nvSpPr>
        <p:spPr>
          <a:xfrm>
            <a:off x="3977640" y="213283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454C3707-67C9-D52A-3ACE-6324410D3F6D}"/>
              </a:ext>
            </a:extLst>
          </p:cNvPr>
          <p:cNvSpPr/>
          <p:nvPr/>
        </p:nvSpPr>
        <p:spPr>
          <a:xfrm>
            <a:off x="3977640" y="2132838"/>
            <a:ext cx="1421477" cy="2331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6218BCAB-B234-3C14-D749-2598583D665C}"/>
              </a:ext>
            </a:extLst>
          </p:cNvPr>
          <p:cNvSpPr/>
          <p:nvPr/>
        </p:nvSpPr>
        <p:spPr>
          <a:xfrm>
            <a:off x="5467697" y="209169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4/11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CD0F51B3-7FFA-67FB-F1D9-A70B321065AA}"/>
              </a:ext>
            </a:extLst>
          </p:cNvPr>
          <p:cNvSpPr/>
          <p:nvPr/>
        </p:nvSpPr>
        <p:spPr>
          <a:xfrm>
            <a:off x="342900" y="246888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D11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8350811C-504F-8D01-9EC5-424C2FA76F5E}"/>
              </a:ext>
            </a:extLst>
          </p:cNvPr>
          <p:cNvSpPr/>
          <p:nvPr/>
        </p:nvSpPr>
        <p:spPr>
          <a:xfrm>
            <a:off x="960120" y="246888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Herramienta de gestión del cliente (no de PS) — sin control de datos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DCE6494D-913C-C582-62B1-59B3C84A4AAB}"/>
              </a:ext>
            </a:extLst>
          </p:cNvPr>
          <p:cNvSpPr/>
          <p:nvPr/>
        </p:nvSpPr>
        <p:spPr>
          <a:xfrm>
            <a:off x="3977640" y="257860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05FFE816-F7A8-55D6-E993-E1C8C7DA219D}"/>
              </a:ext>
            </a:extLst>
          </p:cNvPr>
          <p:cNvSpPr/>
          <p:nvPr/>
        </p:nvSpPr>
        <p:spPr>
          <a:xfrm>
            <a:off x="3977640" y="2578608"/>
            <a:ext cx="1421477" cy="2331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FAB69A29-8DF7-9614-6472-3EA8168B102D}"/>
              </a:ext>
            </a:extLst>
          </p:cNvPr>
          <p:cNvSpPr/>
          <p:nvPr/>
        </p:nvSpPr>
        <p:spPr>
          <a:xfrm>
            <a:off x="5467697" y="253746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4/11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EF6837E3-97B3-EEB4-8FDA-30A05399AC08}"/>
              </a:ext>
            </a:extLst>
          </p:cNvPr>
          <p:cNvSpPr/>
          <p:nvPr/>
        </p:nvSpPr>
        <p:spPr>
          <a:xfrm>
            <a:off x="342900" y="291465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D5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4DCB54BB-5757-D281-429E-DF1B9E7B5596}"/>
              </a:ext>
            </a:extLst>
          </p:cNvPr>
          <p:cNvSpPr/>
          <p:nvPr/>
        </p:nvSpPr>
        <p:spPr>
          <a:xfrm>
            <a:off x="960120" y="291465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causa raíz ni gestión proactiva de incidentes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42005D65-9513-90AD-C9FD-DB2A67EA13C9}"/>
              </a:ext>
            </a:extLst>
          </p:cNvPr>
          <p:cNvSpPr/>
          <p:nvPr/>
        </p:nvSpPr>
        <p:spPr>
          <a:xfrm>
            <a:off x="3977640" y="302437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A9B5C8B9-0CB0-C11D-DBF9-9624A16EFD3B}"/>
              </a:ext>
            </a:extLst>
          </p:cNvPr>
          <p:cNvSpPr/>
          <p:nvPr/>
        </p:nvSpPr>
        <p:spPr>
          <a:xfrm>
            <a:off x="3977640" y="3024378"/>
            <a:ext cx="1421477" cy="233172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80894721-B9C0-FF29-5D72-C4A27D54300E}"/>
              </a:ext>
            </a:extLst>
          </p:cNvPr>
          <p:cNvSpPr/>
          <p:nvPr/>
        </p:nvSpPr>
        <p:spPr>
          <a:xfrm>
            <a:off x="5467697" y="298323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4/11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A9B39169-5D42-6283-CE51-B129DD8F608E}"/>
              </a:ext>
            </a:extLst>
          </p:cNvPr>
          <p:cNvSpPr/>
          <p:nvPr/>
        </p:nvSpPr>
        <p:spPr>
          <a:xfrm>
            <a:off x="342900" y="336042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D15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5E1FFD80-F574-9C4B-5F30-953698879912}"/>
              </a:ext>
            </a:extLst>
          </p:cNvPr>
          <p:cNvSpPr/>
          <p:nvPr/>
        </p:nvSpPr>
        <p:spPr>
          <a:xfrm>
            <a:off x="960120" y="336042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Tickets sin documentar lección aprendida — reincidencia alta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62" name="Shape 29">
            <a:extLst>
              <a:ext uri="{FF2B5EF4-FFF2-40B4-BE49-F238E27FC236}">
                <a16:creationId xmlns:a16="http://schemas.microsoft.com/office/drawing/2014/main" id="{ADCBD4FE-DBD2-F9EE-E4E5-AA5C2336CAE8}"/>
              </a:ext>
            </a:extLst>
          </p:cNvPr>
          <p:cNvSpPr/>
          <p:nvPr/>
        </p:nvSpPr>
        <p:spPr>
          <a:xfrm>
            <a:off x="3977640" y="347014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64" name="Shape 30">
            <a:extLst>
              <a:ext uri="{FF2B5EF4-FFF2-40B4-BE49-F238E27FC236}">
                <a16:creationId xmlns:a16="http://schemas.microsoft.com/office/drawing/2014/main" id="{D8ECD55E-4713-B42A-FB0A-611B3253E20F}"/>
              </a:ext>
            </a:extLst>
          </p:cNvPr>
          <p:cNvSpPr/>
          <p:nvPr/>
        </p:nvSpPr>
        <p:spPr>
          <a:xfrm>
            <a:off x="3977640" y="3470148"/>
            <a:ext cx="1066107" cy="233172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10E3360B-CFB0-0828-C870-CA6BAD8F2EC8}"/>
              </a:ext>
            </a:extLst>
          </p:cNvPr>
          <p:cNvSpPr/>
          <p:nvPr/>
        </p:nvSpPr>
        <p:spPr>
          <a:xfrm>
            <a:off x="5112327" y="342900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3/11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90F72D2F-9CB6-625E-E5E5-F4F7B8F87CE4}"/>
              </a:ext>
            </a:extLst>
          </p:cNvPr>
          <p:cNvSpPr/>
          <p:nvPr/>
        </p:nvSpPr>
        <p:spPr>
          <a:xfrm>
            <a:off x="342900" y="380619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D22</a:t>
            </a:r>
            <a:endParaRPr lang="en-US" sz="975">
              <a:latin typeface="Reddit Sans"/>
              <a:ea typeface="Reddit Sans"/>
            </a:endParaRPr>
          </a:p>
        </p:txBody>
      </p:sp>
      <p:sp>
        <p:nvSpPr>
          <p:cNvPr id="70" name="Text 33">
            <a:extLst>
              <a:ext uri="{FF2B5EF4-FFF2-40B4-BE49-F238E27FC236}">
                <a16:creationId xmlns:a16="http://schemas.microsoft.com/office/drawing/2014/main" id="{9211CE7F-7CE3-4036-23FC-59757EBE43AF}"/>
              </a:ext>
            </a:extLst>
          </p:cNvPr>
          <p:cNvSpPr/>
          <p:nvPr/>
        </p:nvSpPr>
        <p:spPr>
          <a:xfrm>
            <a:off x="960120" y="380619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Modelo económico mal calibrado — precio/ticket no refleja costo real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A834F26D-E24C-7268-7852-F404355DB86E}"/>
              </a:ext>
            </a:extLst>
          </p:cNvPr>
          <p:cNvSpPr/>
          <p:nvPr/>
        </p:nvSpPr>
        <p:spPr>
          <a:xfrm>
            <a:off x="3977640" y="391591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74" name="Shape 35">
            <a:extLst>
              <a:ext uri="{FF2B5EF4-FFF2-40B4-BE49-F238E27FC236}">
                <a16:creationId xmlns:a16="http://schemas.microsoft.com/office/drawing/2014/main" id="{4CF0C8D9-5AA3-51FA-2334-7B1DB6500B44}"/>
              </a:ext>
            </a:extLst>
          </p:cNvPr>
          <p:cNvSpPr/>
          <p:nvPr/>
        </p:nvSpPr>
        <p:spPr>
          <a:xfrm>
            <a:off x="3977640" y="3915918"/>
            <a:ext cx="1066107" cy="233172"/>
          </a:xfrm>
          <a:prstGeom prst="rect">
            <a:avLst/>
          </a:prstGeom>
          <a:solidFill>
            <a:srgbClr val="132346"/>
          </a:solidFill>
          <a:ln/>
        </p:spPr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D8DCDBC2-27E4-C3C2-9F7C-9A21DF58AC0E}"/>
              </a:ext>
            </a:extLst>
          </p:cNvPr>
          <p:cNvSpPr/>
          <p:nvPr/>
        </p:nvSpPr>
        <p:spPr>
          <a:xfrm>
            <a:off x="5112327" y="387477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3/11</a:t>
            </a:r>
            <a:endParaRPr lang="en-US" sz="938">
              <a:latin typeface="Reddit Sans"/>
              <a:ea typeface="Reddit Sans"/>
            </a:endParaRPr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4A3ED498-0B49-BE02-D5C9-6D2DC4BCF582}"/>
              </a:ext>
            </a:extLst>
          </p:cNvPr>
          <p:cNvSpPr/>
          <p:nvPr/>
        </p:nvSpPr>
        <p:spPr>
          <a:xfrm>
            <a:off x="342900" y="4217670"/>
            <a:ext cx="8455914" cy="4800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</p:sp>
      <p:sp>
        <p:nvSpPr>
          <p:cNvPr id="80" name="Text 38">
            <a:extLst>
              <a:ext uri="{FF2B5EF4-FFF2-40B4-BE49-F238E27FC236}">
                <a16:creationId xmlns:a16="http://schemas.microsoft.com/office/drawing/2014/main" id="{F42D67EE-5E59-35EE-B905-2B8837D00FFD}"/>
              </a:ext>
            </a:extLst>
          </p:cNvPr>
          <p:cNvSpPr/>
          <p:nvPr/>
        </p:nvSpPr>
        <p:spPr>
          <a:xfrm>
            <a:off x="480060" y="4217670"/>
            <a:ext cx="818159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>
                <a:latin typeface="Reddit Sans"/>
                <a:ea typeface="Reddit Sans"/>
                <a:cs typeface="Calibri Light"/>
              </a:rPr>
              <a:t> </a:t>
            </a:r>
            <a:r>
              <a:rPr lang="en-US" sz="900">
                <a:latin typeface="Reddit Sans"/>
                <a:ea typeface="Reddit Sans"/>
                <a:cs typeface="Calibri Light"/>
              </a:rPr>
              <a:t>Bus factor (D1) y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capacidad</a:t>
            </a:r>
            <a:r>
              <a:rPr lang="en-US" sz="900">
                <a:latin typeface="Reddit Sans"/>
                <a:ea typeface="Reddit Sans"/>
                <a:cs typeface="Calibri Light"/>
              </a:rPr>
              <a:t> (D7) son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riesgo</a:t>
            </a:r>
            <a:r>
              <a:rPr lang="en-US" sz="900">
                <a:latin typeface="Reddit Sans"/>
                <a:ea typeface="Reddit Sans"/>
                <a:cs typeface="Calibri Light"/>
              </a:rPr>
              <a:t> de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continuidad</a:t>
            </a:r>
            <a:r>
              <a:rPr lang="en-US" sz="90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inmediato</a:t>
            </a:r>
            <a:r>
              <a:rPr lang="en-US" sz="900">
                <a:latin typeface="Reddit Sans"/>
                <a:ea typeface="Reddit Sans"/>
                <a:cs typeface="Calibri Light"/>
              </a:rPr>
              <a:t>. El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modelo</a:t>
            </a:r>
            <a:r>
              <a:rPr lang="en-US" sz="90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económico</a:t>
            </a:r>
            <a:r>
              <a:rPr lang="en-US" sz="900">
                <a:latin typeface="Reddit Sans"/>
                <a:ea typeface="Reddit Sans"/>
                <a:cs typeface="Calibri Light"/>
              </a:rPr>
              <a:t> (D22)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debe</a:t>
            </a:r>
            <a:r>
              <a:rPr lang="en-US" sz="90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recalibrarse</a:t>
            </a:r>
            <a:r>
              <a:rPr lang="en-US" sz="90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en</a:t>
            </a:r>
            <a:r>
              <a:rPr lang="en-US" sz="900">
                <a:latin typeface="Reddit Sans"/>
                <a:ea typeface="Reddit Sans"/>
                <a:cs typeface="Calibri Light"/>
              </a:rPr>
              <a:t> la </a:t>
            </a:r>
            <a:r>
              <a:rPr lang="en-US" sz="900" err="1">
                <a:latin typeface="Reddit Sans"/>
                <a:ea typeface="Reddit Sans"/>
                <a:cs typeface="Calibri Light"/>
              </a:rPr>
              <a:t>propuesta</a:t>
            </a:r>
            <a:r>
              <a:rPr lang="en-US" sz="900">
                <a:latin typeface="Reddit Sans"/>
                <a:ea typeface="Reddit Sans"/>
                <a:cs typeface="Calibri Light"/>
              </a:rPr>
              <a:t> Next Gen.</a:t>
            </a:r>
          </a:p>
        </p:txBody>
      </p:sp>
    </p:spTree>
    <p:extLst>
      <p:ext uri="{BB962C8B-B14F-4D97-AF65-F5344CB8AC3E}">
        <p14:creationId xmlns:p14="http://schemas.microsoft.com/office/powerpoint/2010/main" val="2971066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ABD62-546E-981A-BFE6-E59CC3AC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Mapa de Dolores Críticos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DBA0FF28-AD5E-AA5B-81CF-383728684079}"/>
              </a:ext>
            </a:extLst>
          </p:cNvPr>
          <p:cNvSpPr txBox="1">
            <a:spLocks noGrp="1"/>
          </p:cNvSpPr>
          <p:nvPr/>
        </p:nvSpPr>
        <p:spPr>
          <a:xfrm>
            <a:off x="342029" y="552559"/>
            <a:ext cx="77175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950">
                <a:latin typeface="Calibri"/>
              </a:rPr>
              <a:t>● Confirmado · ◐ Parcial · ○ No identificado · Agrupado por categoría</a:t>
            </a:r>
          </a:p>
        </p:txBody>
      </p:sp>
    </p:spTree>
    <p:extLst>
      <p:ext uri="{BB962C8B-B14F-4D97-AF65-F5344CB8AC3E}">
        <p14:creationId xmlns:p14="http://schemas.microsoft.com/office/powerpoint/2010/main" val="2281360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10" name="dhdr"/>
          <p:cNvSpPr>
            <a:spLocks noGrp="1"/>
          </p:cNvSpPr>
          <p:nvPr/>
        </p:nvSpPr>
        <p:spPr>
          <a:xfrm>
            <a:off x="320040" y="768096"/>
            <a:ext cx="2560320" cy="43891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1" name="dht"/>
          <p:cNvSpPr txBox="1">
            <a:spLocks noGrp="1"/>
          </p:cNvSpPr>
          <p:nvPr/>
        </p:nvSpPr>
        <p:spPr>
          <a:xfrm>
            <a:off x="320040" y="768096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80" b="1">
                <a:solidFill>
                  <a:srgbClr val="FFFFFF"/>
                </a:solidFill>
                <a:latin typeface="Calibri"/>
              </a:rPr>
              <a:t>DOLOR CRITICO</a:t>
            </a:r>
          </a:p>
        </p:txBody>
      </p:sp>
      <p:sp>
        <p:nvSpPr>
          <p:cNvPr id="12" name="sura_hdr"/>
          <p:cNvSpPr>
            <a:spLocks noGrp="1"/>
          </p:cNvSpPr>
          <p:nvPr/>
        </p:nvSpPr>
        <p:spPr>
          <a:xfrm>
            <a:off x="2880360" y="768096"/>
            <a:ext cx="1645920" cy="219456"/>
          </a:xfrm>
          <a:prstGeom prst="rect">
            <a:avLst/>
          </a:prstGeom>
          <a:solidFill>
            <a:srgbClr val="1E2F80"/>
          </a:solidFill>
          <a:ln>
            <a:noFill/>
          </a:ln>
        </p:spPr>
      </p:sp>
      <p:sp>
        <p:nvSpPr>
          <p:cNvPr id="13" name="sura_ht"/>
          <p:cNvSpPr txBox="1">
            <a:spLocks noGrp="1"/>
          </p:cNvSpPr>
          <p:nvPr/>
        </p:nvSpPr>
        <p:spPr>
          <a:xfrm>
            <a:off x="2880360" y="76809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80" b="1">
                <a:solidFill>
                  <a:srgbClr val="FFFFFF"/>
                </a:solidFill>
                <a:latin typeface="Calibri"/>
              </a:rPr>
              <a:t>SURA</a:t>
            </a:r>
          </a:p>
        </p:txBody>
      </p:sp>
      <p:sp>
        <p:nvSpPr>
          <p:cNvPr id="20" name="ch"/>
          <p:cNvSpPr>
            <a:spLocks noGrp="1"/>
          </p:cNvSpPr>
          <p:nvPr/>
        </p:nvSpPr>
        <p:spPr>
          <a:xfrm>
            <a:off x="288036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1" name="cht"/>
          <p:cNvSpPr txBox="1">
            <a:spLocks noGrp="1"/>
          </p:cNvSpPr>
          <p:nvPr/>
        </p:nvSpPr>
        <p:spPr>
          <a:xfrm>
            <a:off x="28803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SURA
Cotiz.</a:t>
            </a:r>
          </a:p>
        </p:txBody>
      </p:sp>
      <p:sp>
        <p:nvSpPr>
          <p:cNvPr id="22" name="ch"/>
          <p:cNvSpPr>
            <a:spLocks noGrp="1"/>
          </p:cNvSpPr>
          <p:nvPr/>
        </p:nvSpPr>
        <p:spPr>
          <a:xfrm>
            <a:off x="329184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3" name="cht"/>
          <p:cNvSpPr txBox="1">
            <a:spLocks noGrp="1"/>
          </p:cNvSpPr>
          <p:nvPr/>
        </p:nvSpPr>
        <p:spPr>
          <a:xfrm>
            <a:off x="329184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SURA
V.Dig.</a:t>
            </a:r>
          </a:p>
        </p:txBody>
      </p:sp>
      <p:sp>
        <p:nvSpPr>
          <p:cNvPr id="24" name="ch"/>
          <p:cNvSpPr>
            <a:spLocks noGrp="1"/>
          </p:cNvSpPr>
          <p:nvPr/>
        </p:nvSpPr>
        <p:spPr>
          <a:xfrm>
            <a:off x="370332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5" name="cht"/>
          <p:cNvSpPr txBox="1">
            <a:spLocks noGrp="1"/>
          </p:cNvSpPr>
          <p:nvPr/>
        </p:nvSpPr>
        <p:spPr>
          <a:xfrm>
            <a:off x="370332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SURA
Auto.</a:t>
            </a:r>
          </a:p>
        </p:txBody>
      </p:sp>
      <p:sp>
        <p:nvSpPr>
          <p:cNvPr id="26" name="ch"/>
          <p:cNvSpPr>
            <a:spLocks noGrp="1"/>
          </p:cNvSpPr>
          <p:nvPr/>
        </p:nvSpPr>
        <p:spPr>
          <a:xfrm>
            <a:off x="411480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27" name="cht"/>
          <p:cNvSpPr txBox="1">
            <a:spLocks noGrp="1"/>
          </p:cNvSpPr>
          <p:nvPr/>
        </p:nvSpPr>
        <p:spPr>
          <a:xfrm>
            <a:off x="411480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SURA
Canales</a:t>
            </a:r>
          </a:p>
        </p:txBody>
      </p:sp>
      <p:sp>
        <p:nvSpPr>
          <p:cNvPr id="28" name="ch"/>
          <p:cNvSpPr>
            <a:spLocks noGrp="1"/>
          </p:cNvSpPr>
          <p:nvPr/>
        </p:nvSpPr>
        <p:spPr>
          <a:xfrm>
            <a:off x="4526280" y="987552"/>
            <a:ext cx="411480" cy="21945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29" name="cht"/>
          <p:cNvSpPr txBox="1">
            <a:spLocks noGrp="1"/>
          </p:cNvSpPr>
          <p:nvPr/>
        </p:nvSpPr>
        <p:spPr>
          <a:xfrm>
            <a:off x="452628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XM</a:t>
            </a:r>
          </a:p>
        </p:txBody>
      </p:sp>
      <p:sp>
        <p:nvSpPr>
          <p:cNvPr id="30" name="ch"/>
          <p:cNvSpPr>
            <a:spLocks noGrp="1"/>
          </p:cNvSpPr>
          <p:nvPr/>
        </p:nvSpPr>
        <p:spPr>
          <a:xfrm>
            <a:off x="4937760" y="987552"/>
            <a:ext cx="411480" cy="21945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1" name="cht"/>
          <p:cNvSpPr txBox="1">
            <a:spLocks noGrp="1"/>
          </p:cNvSpPr>
          <p:nvPr/>
        </p:nvSpPr>
        <p:spPr>
          <a:xfrm>
            <a:off x="49377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AES</a:t>
            </a:r>
          </a:p>
        </p:txBody>
      </p:sp>
      <p:sp>
        <p:nvSpPr>
          <p:cNvPr id="32" name="ch"/>
          <p:cNvSpPr>
            <a:spLocks noGrp="1"/>
          </p:cNvSpPr>
          <p:nvPr/>
        </p:nvSpPr>
        <p:spPr>
          <a:xfrm>
            <a:off x="534924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3" name="cht"/>
          <p:cNvSpPr txBox="1">
            <a:spLocks noGrp="1"/>
          </p:cNvSpPr>
          <p:nvPr/>
        </p:nvSpPr>
        <p:spPr>
          <a:xfrm>
            <a:off x="534924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BCO
COES-I</a:t>
            </a:r>
          </a:p>
        </p:txBody>
      </p:sp>
      <p:sp>
        <p:nvSpPr>
          <p:cNvPr id="34" name="ch"/>
          <p:cNvSpPr>
            <a:spLocks noGrp="1"/>
          </p:cNvSpPr>
          <p:nvPr/>
        </p:nvSpPr>
        <p:spPr>
          <a:xfrm>
            <a:off x="576072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5" name="cht"/>
          <p:cNvSpPr txBox="1">
            <a:spLocks noGrp="1"/>
          </p:cNvSpPr>
          <p:nvPr/>
        </p:nvSpPr>
        <p:spPr>
          <a:xfrm>
            <a:off x="576072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BCO
COES-D</a:t>
            </a:r>
          </a:p>
        </p:txBody>
      </p:sp>
      <p:sp>
        <p:nvSpPr>
          <p:cNvPr id="36" name="ch"/>
          <p:cNvSpPr>
            <a:spLocks noGrp="1"/>
          </p:cNvSpPr>
          <p:nvPr/>
        </p:nvSpPr>
        <p:spPr>
          <a:xfrm>
            <a:off x="617220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7" name="cht"/>
          <p:cNvSpPr txBox="1">
            <a:spLocks noGrp="1"/>
          </p:cNvSpPr>
          <p:nvPr/>
        </p:nvSpPr>
        <p:spPr>
          <a:xfrm>
            <a:off x="617220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BCO
Sop.</a:t>
            </a:r>
          </a:p>
        </p:txBody>
      </p:sp>
      <p:sp>
        <p:nvSpPr>
          <p:cNvPr id="38" name="ch"/>
          <p:cNvSpPr>
            <a:spLocks noGrp="1"/>
          </p:cNvSpPr>
          <p:nvPr/>
        </p:nvSpPr>
        <p:spPr>
          <a:xfrm>
            <a:off x="658368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9" name="cht"/>
          <p:cNvSpPr txBox="1">
            <a:spLocks noGrp="1"/>
          </p:cNvSpPr>
          <p:nvPr/>
        </p:nvSpPr>
        <p:spPr>
          <a:xfrm>
            <a:off x="658368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BCO
Emma</a:t>
            </a:r>
          </a:p>
        </p:txBody>
      </p:sp>
      <p:sp>
        <p:nvSpPr>
          <p:cNvPr id="40" name="ch"/>
          <p:cNvSpPr>
            <a:spLocks noGrp="1"/>
          </p:cNvSpPr>
          <p:nvPr/>
        </p:nvSpPr>
        <p:spPr>
          <a:xfrm>
            <a:off x="699516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1" name="cht"/>
          <p:cNvSpPr txBox="1">
            <a:spLocks noGrp="1"/>
          </p:cNvSpPr>
          <p:nvPr/>
        </p:nvSpPr>
        <p:spPr>
          <a:xfrm>
            <a:off x="69951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FFFFFF"/>
                </a:solidFill>
                <a:latin typeface="Calibri"/>
              </a:rPr>
              <a:t>BCO
iSeries</a:t>
            </a:r>
          </a:p>
        </p:txBody>
      </p:sp>
      <p:sp>
        <p:nvSpPr>
          <p:cNvPr id="100" name="cb"/>
          <p:cNvSpPr>
            <a:spLocks noGrp="1"/>
          </p:cNvSpPr>
          <p:nvPr/>
        </p:nvSpPr>
        <p:spPr>
          <a:xfrm>
            <a:off x="320040" y="1207008"/>
            <a:ext cx="402336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101" name="ct"/>
          <p:cNvSpPr txBox="1">
            <a:spLocks noGrp="1"/>
          </p:cNvSpPr>
          <p:nvPr/>
        </p:nvSpPr>
        <p:spPr>
          <a:xfrm>
            <a:off x="320040" y="1207008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0D1B5E"/>
                </a:solidFill>
                <a:latin typeface="Calibri"/>
              </a:rPr>
              <a:t>GOB</a:t>
            </a:r>
          </a:p>
        </p:txBody>
      </p:sp>
      <p:sp>
        <p:nvSpPr>
          <p:cNvPr id="102" name="db"/>
          <p:cNvSpPr>
            <a:spLocks noGrp="1"/>
          </p:cNvSpPr>
          <p:nvPr/>
        </p:nvSpPr>
        <p:spPr>
          <a:xfrm>
            <a:off x="722376" y="1207008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103" name="dt"/>
          <p:cNvSpPr txBox="1">
            <a:spLocks noGrp="1"/>
          </p:cNvSpPr>
          <p:nvPr/>
        </p:nvSpPr>
        <p:spPr>
          <a:xfrm>
            <a:off x="777240" y="120700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RACI ni roles definidos</a:t>
            </a:r>
          </a:p>
        </p:txBody>
      </p:sp>
      <p:sp>
        <p:nvSpPr>
          <p:cNvPr id="104" name="c"/>
          <p:cNvSpPr>
            <a:spLocks noGrp="1"/>
          </p:cNvSpPr>
          <p:nvPr/>
        </p:nvSpPr>
        <p:spPr>
          <a:xfrm>
            <a:off x="28803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5" name="ct2"/>
          <p:cNvSpPr txBox="1">
            <a:spLocks noGrp="1"/>
          </p:cNvSpPr>
          <p:nvPr/>
        </p:nvSpPr>
        <p:spPr>
          <a:xfrm>
            <a:off x="28803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" name="c"/>
          <p:cNvSpPr>
            <a:spLocks noGrp="1"/>
          </p:cNvSpPr>
          <p:nvPr/>
        </p:nvSpPr>
        <p:spPr>
          <a:xfrm>
            <a:off x="329184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6" name="ct2"/>
          <p:cNvSpPr txBox="1">
            <a:spLocks noGrp="1"/>
          </p:cNvSpPr>
          <p:nvPr/>
        </p:nvSpPr>
        <p:spPr>
          <a:xfrm>
            <a:off x="329184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" name="c"/>
          <p:cNvSpPr>
            <a:spLocks noGrp="1"/>
          </p:cNvSpPr>
          <p:nvPr/>
        </p:nvSpPr>
        <p:spPr>
          <a:xfrm>
            <a:off x="370332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7" name="ct2"/>
          <p:cNvSpPr txBox="1">
            <a:spLocks noGrp="1"/>
          </p:cNvSpPr>
          <p:nvPr/>
        </p:nvSpPr>
        <p:spPr>
          <a:xfrm>
            <a:off x="370332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8" name="c"/>
          <p:cNvSpPr>
            <a:spLocks noGrp="1"/>
          </p:cNvSpPr>
          <p:nvPr/>
        </p:nvSpPr>
        <p:spPr>
          <a:xfrm>
            <a:off x="411480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8" name="ct2"/>
          <p:cNvSpPr txBox="1">
            <a:spLocks noGrp="1"/>
          </p:cNvSpPr>
          <p:nvPr/>
        </p:nvSpPr>
        <p:spPr>
          <a:xfrm>
            <a:off x="411480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" name="c"/>
          <p:cNvSpPr>
            <a:spLocks noGrp="1"/>
          </p:cNvSpPr>
          <p:nvPr/>
        </p:nvSpPr>
        <p:spPr>
          <a:xfrm>
            <a:off x="452628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09" name="ct2"/>
          <p:cNvSpPr txBox="1">
            <a:spLocks noGrp="1"/>
          </p:cNvSpPr>
          <p:nvPr/>
        </p:nvSpPr>
        <p:spPr>
          <a:xfrm>
            <a:off x="452628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" name="c"/>
          <p:cNvSpPr>
            <a:spLocks noGrp="1"/>
          </p:cNvSpPr>
          <p:nvPr/>
        </p:nvSpPr>
        <p:spPr>
          <a:xfrm>
            <a:off x="49377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0" name="ct2"/>
          <p:cNvSpPr txBox="1">
            <a:spLocks noGrp="1"/>
          </p:cNvSpPr>
          <p:nvPr/>
        </p:nvSpPr>
        <p:spPr>
          <a:xfrm>
            <a:off x="49377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" name="c"/>
          <p:cNvSpPr>
            <a:spLocks noGrp="1"/>
          </p:cNvSpPr>
          <p:nvPr/>
        </p:nvSpPr>
        <p:spPr>
          <a:xfrm>
            <a:off x="534924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1" name="ct2"/>
          <p:cNvSpPr txBox="1">
            <a:spLocks noGrp="1"/>
          </p:cNvSpPr>
          <p:nvPr/>
        </p:nvSpPr>
        <p:spPr>
          <a:xfrm>
            <a:off x="534924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6" name="c"/>
          <p:cNvSpPr>
            <a:spLocks noGrp="1"/>
          </p:cNvSpPr>
          <p:nvPr/>
        </p:nvSpPr>
        <p:spPr>
          <a:xfrm>
            <a:off x="576072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2" name="ct2"/>
          <p:cNvSpPr txBox="1">
            <a:spLocks noGrp="1"/>
          </p:cNvSpPr>
          <p:nvPr/>
        </p:nvSpPr>
        <p:spPr>
          <a:xfrm>
            <a:off x="576072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7" name="c"/>
          <p:cNvSpPr>
            <a:spLocks noGrp="1"/>
          </p:cNvSpPr>
          <p:nvPr/>
        </p:nvSpPr>
        <p:spPr>
          <a:xfrm>
            <a:off x="617220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3" name="ct2"/>
          <p:cNvSpPr txBox="1">
            <a:spLocks noGrp="1"/>
          </p:cNvSpPr>
          <p:nvPr/>
        </p:nvSpPr>
        <p:spPr>
          <a:xfrm>
            <a:off x="617220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8" name="c"/>
          <p:cNvSpPr>
            <a:spLocks noGrp="1"/>
          </p:cNvSpPr>
          <p:nvPr/>
        </p:nvSpPr>
        <p:spPr>
          <a:xfrm>
            <a:off x="658368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4" name="ct2"/>
          <p:cNvSpPr txBox="1">
            <a:spLocks noGrp="1"/>
          </p:cNvSpPr>
          <p:nvPr/>
        </p:nvSpPr>
        <p:spPr>
          <a:xfrm>
            <a:off x="658368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9" name="c"/>
          <p:cNvSpPr>
            <a:spLocks noGrp="1"/>
          </p:cNvSpPr>
          <p:nvPr/>
        </p:nvSpPr>
        <p:spPr>
          <a:xfrm>
            <a:off x="69951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5" name="ct2"/>
          <p:cNvSpPr txBox="1">
            <a:spLocks noGrp="1"/>
          </p:cNvSpPr>
          <p:nvPr/>
        </p:nvSpPr>
        <p:spPr>
          <a:xfrm>
            <a:off x="69951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5" name="db"/>
          <p:cNvSpPr>
            <a:spLocks noGrp="1"/>
          </p:cNvSpPr>
          <p:nvPr/>
        </p:nvSpPr>
        <p:spPr>
          <a:xfrm>
            <a:off x="722376" y="1426464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46" name="dt"/>
          <p:cNvSpPr txBox="1">
            <a:spLocks noGrp="1"/>
          </p:cNvSpPr>
          <p:nvPr/>
        </p:nvSpPr>
        <p:spPr>
          <a:xfrm>
            <a:off x="777240" y="142646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gobierno — sin ANS formales</a:t>
            </a:r>
          </a:p>
        </p:txBody>
      </p:sp>
      <p:sp>
        <p:nvSpPr>
          <p:cNvPr id="47" name="c"/>
          <p:cNvSpPr>
            <a:spLocks noGrp="1"/>
          </p:cNvSpPr>
          <p:nvPr/>
        </p:nvSpPr>
        <p:spPr>
          <a:xfrm>
            <a:off x="288036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8" name="ct2"/>
          <p:cNvSpPr txBox="1">
            <a:spLocks noGrp="1"/>
          </p:cNvSpPr>
          <p:nvPr/>
        </p:nvSpPr>
        <p:spPr>
          <a:xfrm>
            <a:off x="28803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9" name="c"/>
          <p:cNvSpPr>
            <a:spLocks noGrp="1"/>
          </p:cNvSpPr>
          <p:nvPr/>
        </p:nvSpPr>
        <p:spPr>
          <a:xfrm>
            <a:off x="329184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50" name="ct2"/>
          <p:cNvSpPr txBox="1">
            <a:spLocks noGrp="1"/>
          </p:cNvSpPr>
          <p:nvPr/>
        </p:nvSpPr>
        <p:spPr>
          <a:xfrm>
            <a:off x="329184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" name="c"/>
          <p:cNvSpPr>
            <a:spLocks noGrp="1"/>
          </p:cNvSpPr>
          <p:nvPr/>
        </p:nvSpPr>
        <p:spPr>
          <a:xfrm>
            <a:off x="370332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17" name="ct2"/>
          <p:cNvSpPr txBox="1">
            <a:spLocks noGrp="1"/>
          </p:cNvSpPr>
          <p:nvPr/>
        </p:nvSpPr>
        <p:spPr>
          <a:xfrm>
            <a:off x="370332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2" name="c"/>
          <p:cNvSpPr>
            <a:spLocks noGrp="1"/>
          </p:cNvSpPr>
          <p:nvPr/>
        </p:nvSpPr>
        <p:spPr>
          <a:xfrm>
            <a:off x="411480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18" name="ct2"/>
          <p:cNvSpPr txBox="1">
            <a:spLocks noGrp="1"/>
          </p:cNvSpPr>
          <p:nvPr/>
        </p:nvSpPr>
        <p:spPr>
          <a:xfrm>
            <a:off x="411480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3" name="c"/>
          <p:cNvSpPr>
            <a:spLocks noGrp="1"/>
          </p:cNvSpPr>
          <p:nvPr/>
        </p:nvSpPr>
        <p:spPr>
          <a:xfrm>
            <a:off x="452628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19" name="ct2"/>
          <p:cNvSpPr txBox="1">
            <a:spLocks noGrp="1"/>
          </p:cNvSpPr>
          <p:nvPr/>
        </p:nvSpPr>
        <p:spPr>
          <a:xfrm>
            <a:off x="452628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4" name="c"/>
          <p:cNvSpPr>
            <a:spLocks noGrp="1"/>
          </p:cNvSpPr>
          <p:nvPr/>
        </p:nvSpPr>
        <p:spPr>
          <a:xfrm>
            <a:off x="493776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0" name="ct2"/>
          <p:cNvSpPr txBox="1">
            <a:spLocks noGrp="1"/>
          </p:cNvSpPr>
          <p:nvPr/>
        </p:nvSpPr>
        <p:spPr>
          <a:xfrm>
            <a:off x="49377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5" name="c"/>
          <p:cNvSpPr>
            <a:spLocks noGrp="1"/>
          </p:cNvSpPr>
          <p:nvPr/>
        </p:nvSpPr>
        <p:spPr>
          <a:xfrm>
            <a:off x="534924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1" name="ct2"/>
          <p:cNvSpPr txBox="1">
            <a:spLocks noGrp="1"/>
          </p:cNvSpPr>
          <p:nvPr/>
        </p:nvSpPr>
        <p:spPr>
          <a:xfrm>
            <a:off x="534924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6" name="c"/>
          <p:cNvSpPr>
            <a:spLocks noGrp="1"/>
          </p:cNvSpPr>
          <p:nvPr/>
        </p:nvSpPr>
        <p:spPr>
          <a:xfrm>
            <a:off x="576072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2" name="ct2"/>
          <p:cNvSpPr txBox="1">
            <a:spLocks noGrp="1"/>
          </p:cNvSpPr>
          <p:nvPr/>
        </p:nvSpPr>
        <p:spPr>
          <a:xfrm>
            <a:off x="576072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7" name="c"/>
          <p:cNvSpPr>
            <a:spLocks noGrp="1"/>
          </p:cNvSpPr>
          <p:nvPr/>
        </p:nvSpPr>
        <p:spPr>
          <a:xfrm>
            <a:off x="617220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3" name="ct2"/>
          <p:cNvSpPr txBox="1">
            <a:spLocks noGrp="1"/>
          </p:cNvSpPr>
          <p:nvPr/>
        </p:nvSpPr>
        <p:spPr>
          <a:xfrm>
            <a:off x="617220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8" name="c"/>
          <p:cNvSpPr>
            <a:spLocks noGrp="1"/>
          </p:cNvSpPr>
          <p:nvPr/>
        </p:nvSpPr>
        <p:spPr>
          <a:xfrm>
            <a:off x="658368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4" name="ct2"/>
          <p:cNvSpPr txBox="1">
            <a:spLocks noGrp="1"/>
          </p:cNvSpPr>
          <p:nvPr/>
        </p:nvSpPr>
        <p:spPr>
          <a:xfrm>
            <a:off x="658368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9" name="c"/>
          <p:cNvSpPr>
            <a:spLocks noGrp="1"/>
          </p:cNvSpPr>
          <p:nvPr/>
        </p:nvSpPr>
        <p:spPr>
          <a:xfrm>
            <a:off x="699516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25" name="ct2"/>
          <p:cNvSpPr txBox="1">
            <a:spLocks noGrp="1"/>
          </p:cNvSpPr>
          <p:nvPr/>
        </p:nvSpPr>
        <p:spPr>
          <a:xfrm>
            <a:off x="69951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1" name="db"/>
          <p:cNvSpPr>
            <a:spLocks noGrp="1"/>
          </p:cNvSpPr>
          <p:nvPr/>
        </p:nvSpPr>
        <p:spPr>
          <a:xfrm>
            <a:off x="722376" y="1645920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</p:sp>
      <p:sp>
        <p:nvSpPr>
          <p:cNvPr id="62" name="dt"/>
          <p:cNvSpPr txBox="1">
            <a:spLocks noGrp="1"/>
          </p:cNvSpPr>
          <p:nvPr/>
        </p:nvSpPr>
        <p:spPr>
          <a:xfrm>
            <a:off x="777240" y="164592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Catalogo de servicios desactualizado</a:t>
            </a:r>
          </a:p>
        </p:txBody>
      </p:sp>
      <p:sp>
        <p:nvSpPr>
          <p:cNvPr id="63" name="c"/>
          <p:cNvSpPr>
            <a:spLocks noGrp="1"/>
          </p:cNvSpPr>
          <p:nvPr/>
        </p:nvSpPr>
        <p:spPr>
          <a:xfrm>
            <a:off x="28803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48" name="ct2"/>
          <p:cNvSpPr txBox="1">
            <a:spLocks noGrp="1"/>
          </p:cNvSpPr>
          <p:nvPr/>
        </p:nvSpPr>
        <p:spPr>
          <a:xfrm>
            <a:off x="28803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49" name="c"/>
          <p:cNvSpPr>
            <a:spLocks noGrp="1"/>
          </p:cNvSpPr>
          <p:nvPr/>
        </p:nvSpPr>
        <p:spPr>
          <a:xfrm>
            <a:off x="329184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50" name="ct2"/>
          <p:cNvSpPr txBox="1">
            <a:spLocks noGrp="1"/>
          </p:cNvSpPr>
          <p:nvPr/>
        </p:nvSpPr>
        <p:spPr>
          <a:xfrm>
            <a:off x="329184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1" name="c"/>
          <p:cNvSpPr>
            <a:spLocks noGrp="1"/>
          </p:cNvSpPr>
          <p:nvPr/>
        </p:nvSpPr>
        <p:spPr>
          <a:xfrm>
            <a:off x="370332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7" name="ct2"/>
          <p:cNvSpPr txBox="1">
            <a:spLocks noGrp="1"/>
          </p:cNvSpPr>
          <p:nvPr/>
        </p:nvSpPr>
        <p:spPr>
          <a:xfrm>
            <a:off x="370332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2" name="c"/>
          <p:cNvSpPr>
            <a:spLocks noGrp="1"/>
          </p:cNvSpPr>
          <p:nvPr/>
        </p:nvSpPr>
        <p:spPr>
          <a:xfrm>
            <a:off x="411480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8" name="ct2"/>
          <p:cNvSpPr txBox="1">
            <a:spLocks noGrp="1"/>
          </p:cNvSpPr>
          <p:nvPr/>
        </p:nvSpPr>
        <p:spPr>
          <a:xfrm>
            <a:off x="411480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3" name="c"/>
          <p:cNvSpPr>
            <a:spLocks noGrp="1"/>
          </p:cNvSpPr>
          <p:nvPr/>
        </p:nvSpPr>
        <p:spPr>
          <a:xfrm>
            <a:off x="452628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29" name="ct2"/>
          <p:cNvSpPr txBox="1">
            <a:spLocks noGrp="1"/>
          </p:cNvSpPr>
          <p:nvPr/>
        </p:nvSpPr>
        <p:spPr>
          <a:xfrm>
            <a:off x="452628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4" name="c"/>
          <p:cNvSpPr>
            <a:spLocks noGrp="1"/>
          </p:cNvSpPr>
          <p:nvPr/>
        </p:nvSpPr>
        <p:spPr>
          <a:xfrm>
            <a:off x="49377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0" name="ct2"/>
          <p:cNvSpPr txBox="1">
            <a:spLocks noGrp="1"/>
          </p:cNvSpPr>
          <p:nvPr/>
        </p:nvSpPr>
        <p:spPr>
          <a:xfrm>
            <a:off x="49377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5" name="c"/>
          <p:cNvSpPr>
            <a:spLocks noGrp="1"/>
          </p:cNvSpPr>
          <p:nvPr/>
        </p:nvSpPr>
        <p:spPr>
          <a:xfrm>
            <a:off x="534924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1" name="ct2"/>
          <p:cNvSpPr txBox="1">
            <a:spLocks noGrp="1"/>
          </p:cNvSpPr>
          <p:nvPr/>
        </p:nvSpPr>
        <p:spPr>
          <a:xfrm>
            <a:off x="534924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6" name="c"/>
          <p:cNvSpPr>
            <a:spLocks noGrp="1"/>
          </p:cNvSpPr>
          <p:nvPr/>
        </p:nvSpPr>
        <p:spPr>
          <a:xfrm>
            <a:off x="576072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2" name="ct2"/>
          <p:cNvSpPr txBox="1">
            <a:spLocks noGrp="1"/>
          </p:cNvSpPr>
          <p:nvPr/>
        </p:nvSpPr>
        <p:spPr>
          <a:xfrm>
            <a:off x="576072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7" name="c"/>
          <p:cNvSpPr>
            <a:spLocks noGrp="1"/>
          </p:cNvSpPr>
          <p:nvPr/>
        </p:nvSpPr>
        <p:spPr>
          <a:xfrm>
            <a:off x="617220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3" name="ct2"/>
          <p:cNvSpPr txBox="1">
            <a:spLocks noGrp="1"/>
          </p:cNvSpPr>
          <p:nvPr/>
        </p:nvSpPr>
        <p:spPr>
          <a:xfrm>
            <a:off x="617220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8" name="c"/>
          <p:cNvSpPr>
            <a:spLocks noGrp="1"/>
          </p:cNvSpPr>
          <p:nvPr/>
        </p:nvSpPr>
        <p:spPr>
          <a:xfrm>
            <a:off x="658368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4" name="ct2"/>
          <p:cNvSpPr txBox="1">
            <a:spLocks noGrp="1"/>
          </p:cNvSpPr>
          <p:nvPr/>
        </p:nvSpPr>
        <p:spPr>
          <a:xfrm>
            <a:off x="658368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9" name="c"/>
          <p:cNvSpPr>
            <a:spLocks noGrp="1"/>
          </p:cNvSpPr>
          <p:nvPr/>
        </p:nvSpPr>
        <p:spPr>
          <a:xfrm>
            <a:off x="69951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5" name="ct2"/>
          <p:cNvSpPr txBox="1">
            <a:spLocks noGrp="1"/>
          </p:cNvSpPr>
          <p:nvPr/>
        </p:nvSpPr>
        <p:spPr>
          <a:xfrm>
            <a:off x="69951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61" name="cb"/>
          <p:cNvSpPr>
            <a:spLocks noGrp="1"/>
          </p:cNvSpPr>
          <p:nvPr/>
        </p:nvSpPr>
        <p:spPr>
          <a:xfrm>
            <a:off x="320040" y="1865376"/>
            <a:ext cx="402336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62" name="ct"/>
          <p:cNvSpPr txBox="1">
            <a:spLocks noGrp="1"/>
          </p:cNvSpPr>
          <p:nvPr/>
        </p:nvSpPr>
        <p:spPr>
          <a:xfrm>
            <a:off x="320040" y="1865376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1A3A8F"/>
                </a:solidFill>
                <a:latin typeface="Calibri"/>
              </a:rPr>
              <a:t>OPS</a:t>
            </a:r>
          </a:p>
        </p:txBody>
      </p:sp>
      <p:sp>
        <p:nvSpPr>
          <p:cNvPr id="463" name="db"/>
          <p:cNvSpPr>
            <a:spLocks noGrp="1"/>
          </p:cNvSpPr>
          <p:nvPr/>
        </p:nvSpPr>
        <p:spPr>
          <a:xfrm>
            <a:off x="722376" y="1865376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64" name="dt"/>
          <p:cNvSpPr txBox="1">
            <a:spLocks noGrp="1"/>
          </p:cNvSpPr>
          <p:nvPr/>
        </p:nvSpPr>
        <p:spPr>
          <a:xfrm>
            <a:off x="777240" y="186537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Postura 100% reactiva</a:t>
            </a:r>
          </a:p>
        </p:txBody>
      </p:sp>
      <p:sp>
        <p:nvSpPr>
          <p:cNvPr id="465" name="c"/>
          <p:cNvSpPr>
            <a:spLocks noGrp="1"/>
          </p:cNvSpPr>
          <p:nvPr/>
        </p:nvSpPr>
        <p:spPr>
          <a:xfrm>
            <a:off x="28803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66" name="ct2"/>
          <p:cNvSpPr txBox="1">
            <a:spLocks noGrp="1"/>
          </p:cNvSpPr>
          <p:nvPr/>
        </p:nvSpPr>
        <p:spPr>
          <a:xfrm>
            <a:off x="28803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67" name="c"/>
          <p:cNvSpPr>
            <a:spLocks noGrp="1"/>
          </p:cNvSpPr>
          <p:nvPr/>
        </p:nvSpPr>
        <p:spPr>
          <a:xfrm>
            <a:off x="3291840" y="186537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468" name="ct2"/>
          <p:cNvSpPr txBox="1">
            <a:spLocks noGrp="1"/>
          </p:cNvSpPr>
          <p:nvPr/>
        </p:nvSpPr>
        <p:spPr>
          <a:xfrm>
            <a:off x="329184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69" name="c"/>
          <p:cNvSpPr>
            <a:spLocks noGrp="1"/>
          </p:cNvSpPr>
          <p:nvPr/>
        </p:nvSpPr>
        <p:spPr>
          <a:xfrm>
            <a:off x="3703320" y="186537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37" name="ct2"/>
          <p:cNvSpPr txBox="1">
            <a:spLocks noGrp="1"/>
          </p:cNvSpPr>
          <p:nvPr/>
        </p:nvSpPr>
        <p:spPr>
          <a:xfrm>
            <a:off x="370332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70" name="c"/>
          <p:cNvSpPr>
            <a:spLocks noGrp="1"/>
          </p:cNvSpPr>
          <p:nvPr/>
        </p:nvSpPr>
        <p:spPr>
          <a:xfrm>
            <a:off x="411480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38" name="ct2"/>
          <p:cNvSpPr txBox="1">
            <a:spLocks noGrp="1"/>
          </p:cNvSpPr>
          <p:nvPr/>
        </p:nvSpPr>
        <p:spPr>
          <a:xfrm>
            <a:off x="411480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1" name="c"/>
          <p:cNvSpPr>
            <a:spLocks noGrp="1"/>
          </p:cNvSpPr>
          <p:nvPr/>
        </p:nvSpPr>
        <p:spPr>
          <a:xfrm>
            <a:off x="452628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39" name="ct2"/>
          <p:cNvSpPr txBox="1">
            <a:spLocks noGrp="1"/>
          </p:cNvSpPr>
          <p:nvPr/>
        </p:nvSpPr>
        <p:spPr>
          <a:xfrm>
            <a:off x="452628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2" name="c"/>
          <p:cNvSpPr>
            <a:spLocks noGrp="1"/>
          </p:cNvSpPr>
          <p:nvPr/>
        </p:nvSpPr>
        <p:spPr>
          <a:xfrm>
            <a:off x="49377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0" name="ct2"/>
          <p:cNvSpPr txBox="1">
            <a:spLocks noGrp="1"/>
          </p:cNvSpPr>
          <p:nvPr/>
        </p:nvSpPr>
        <p:spPr>
          <a:xfrm>
            <a:off x="49377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3" name="c"/>
          <p:cNvSpPr>
            <a:spLocks noGrp="1"/>
          </p:cNvSpPr>
          <p:nvPr/>
        </p:nvSpPr>
        <p:spPr>
          <a:xfrm>
            <a:off x="534924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1" name="ct2"/>
          <p:cNvSpPr txBox="1">
            <a:spLocks noGrp="1"/>
          </p:cNvSpPr>
          <p:nvPr/>
        </p:nvSpPr>
        <p:spPr>
          <a:xfrm>
            <a:off x="534924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4" name="c"/>
          <p:cNvSpPr>
            <a:spLocks noGrp="1"/>
          </p:cNvSpPr>
          <p:nvPr/>
        </p:nvSpPr>
        <p:spPr>
          <a:xfrm>
            <a:off x="576072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2" name="ct2"/>
          <p:cNvSpPr txBox="1">
            <a:spLocks noGrp="1"/>
          </p:cNvSpPr>
          <p:nvPr/>
        </p:nvSpPr>
        <p:spPr>
          <a:xfrm>
            <a:off x="576072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5" name="c"/>
          <p:cNvSpPr>
            <a:spLocks noGrp="1"/>
          </p:cNvSpPr>
          <p:nvPr/>
        </p:nvSpPr>
        <p:spPr>
          <a:xfrm>
            <a:off x="617220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3" name="ct2"/>
          <p:cNvSpPr txBox="1">
            <a:spLocks noGrp="1"/>
          </p:cNvSpPr>
          <p:nvPr/>
        </p:nvSpPr>
        <p:spPr>
          <a:xfrm>
            <a:off x="617220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6" name="c"/>
          <p:cNvSpPr>
            <a:spLocks noGrp="1"/>
          </p:cNvSpPr>
          <p:nvPr/>
        </p:nvSpPr>
        <p:spPr>
          <a:xfrm>
            <a:off x="658368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4" name="ct2"/>
          <p:cNvSpPr txBox="1">
            <a:spLocks noGrp="1"/>
          </p:cNvSpPr>
          <p:nvPr/>
        </p:nvSpPr>
        <p:spPr>
          <a:xfrm>
            <a:off x="658368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7" name="c"/>
          <p:cNvSpPr>
            <a:spLocks noGrp="1"/>
          </p:cNvSpPr>
          <p:nvPr/>
        </p:nvSpPr>
        <p:spPr>
          <a:xfrm>
            <a:off x="69951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5" name="ct2"/>
          <p:cNvSpPr txBox="1">
            <a:spLocks noGrp="1"/>
          </p:cNvSpPr>
          <p:nvPr/>
        </p:nvSpPr>
        <p:spPr>
          <a:xfrm>
            <a:off x="69951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9" name="db"/>
          <p:cNvSpPr>
            <a:spLocks noGrp="1"/>
          </p:cNvSpPr>
          <p:nvPr/>
        </p:nvSpPr>
        <p:spPr>
          <a:xfrm>
            <a:off x="722376" y="2084832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80" name="dt"/>
          <p:cNvSpPr txBox="1">
            <a:spLocks noGrp="1"/>
          </p:cNvSpPr>
          <p:nvPr/>
        </p:nvSpPr>
        <p:spPr>
          <a:xfrm>
            <a:off x="777240" y="208483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autoservicio — todo por call</a:t>
            </a:r>
          </a:p>
        </p:txBody>
      </p:sp>
      <p:sp>
        <p:nvSpPr>
          <p:cNvPr id="481" name="c"/>
          <p:cNvSpPr>
            <a:spLocks noGrp="1"/>
          </p:cNvSpPr>
          <p:nvPr/>
        </p:nvSpPr>
        <p:spPr>
          <a:xfrm>
            <a:off x="28803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82" name="ct2"/>
          <p:cNvSpPr txBox="1">
            <a:spLocks noGrp="1"/>
          </p:cNvSpPr>
          <p:nvPr/>
        </p:nvSpPr>
        <p:spPr>
          <a:xfrm>
            <a:off x="28803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3" name="c"/>
          <p:cNvSpPr>
            <a:spLocks noGrp="1"/>
          </p:cNvSpPr>
          <p:nvPr/>
        </p:nvSpPr>
        <p:spPr>
          <a:xfrm>
            <a:off x="329184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84" name="ct2"/>
          <p:cNvSpPr txBox="1">
            <a:spLocks noGrp="1"/>
          </p:cNvSpPr>
          <p:nvPr/>
        </p:nvSpPr>
        <p:spPr>
          <a:xfrm>
            <a:off x="329184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5" name="c"/>
          <p:cNvSpPr>
            <a:spLocks noGrp="1"/>
          </p:cNvSpPr>
          <p:nvPr/>
        </p:nvSpPr>
        <p:spPr>
          <a:xfrm>
            <a:off x="370332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7" name="ct2"/>
          <p:cNvSpPr txBox="1">
            <a:spLocks noGrp="1"/>
          </p:cNvSpPr>
          <p:nvPr/>
        </p:nvSpPr>
        <p:spPr>
          <a:xfrm>
            <a:off x="370332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6" name="c"/>
          <p:cNvSpPr>
            <a:spLocks noGrp="1"/>
          </p:cNvSpPr>
          <p:nvPr/>
        </p:nvSpPr>
        <p:spPr>
          <a:xfrm>
            <a:off x="411480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8" name="ct2"/>
          <p:cNvSpPr txBox="1">
            <a:spLocks noGrp="1"/>
          </p:cNvSpPr>
          <p:nvPr/>
        </p:nvSpPr>
        <p:spPr>
          <a:xfrm>
            <a:off x="411480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7" name="c"/>
          <p:cNvSpPr>
            <a:spLocks noGrp="1"/>
          </p:cNvSpPr>
          <p:nvPr/>
        </p:nvSpPr>
        <p:spPr>
          <a:xfrm>
            <a:off x="452628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49" name="ct2"/>
          <p:cNvSpPr txBox="1">
            <a:spLocks noGrp="1"/>
          </p:cNvSpPr>
          <p:nvPr/>
        </p:nvSpPr>
        <p:spPr>
          <a:xfrm>
            <a:off x="452628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8" name="c"/>
          <p:cNvSpPr>
            <a:spLocks noGrp="1"/>
          </p:cNvSpPr>
          <p:nvPr/>
        </p:nvSpPr>
        <p:spPr>
          <a:xfrm>
            <a:off x="49377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0" name="ct2"/>
          <p:cNvSpPr txBox="1">
            <a:spLocks noGrp="1"/>
          </p:cNvSpPr>
          <p:nvPr/>
        </p:nvSpPr>
        <p:spPr>
          <a:xfrm>
            <a:off x="49377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9" name="c"/>
          <p:cNvSpPr>
            <a:spLocks noGrp="1"/>
          </p:cNvSpPr>
          <p:nvPr/>
        </p:nvSpPr>
        <p:spPr>
          <a:xfrm>
            <a:off x="534924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1" name="ct2"/>
          <p:cNvSpPr txBox="1">
            <a:spLocks noGrp="1"/>
          </p:cNvSpPr>
          <p:nvPr/>
        </p:nvSpPr>
        <p:spPr>
          <a:xfrm>
            <a:off x="534924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0" name="c"/>
          <p:cNvSpPr>
            <a:spLocks noGrp="1"/>
          </p:cNvSpPr>
          <p:nvPr/>
        </p:nvSpPr>
        <p:spPr>
          <a:xfrm>
            <a:off x="576072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2" name="ct2"/>
          <p:cNvSpPr txBox="1">
            <a:spLocks noGrp="1"/>
          </p:cNvSpPr>
          <p:nvPr/>
        </p:nvSpPr>
        <p:spPr>
          <a:xfrm>
            <a:off x="576072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1" name="c"/>
          <p:cNvSpPr>
            <a:spLocks noGrp="1"/>
          </p:cNvSpPr>
          <p:nvPr/>
        </p:nvSpPr>
        <p:spPr>
          <a:xfrm>
            <a:off x="617220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3" name="ct2"/>
          <p:cNvSpPr txBox="1">
            <a:spLocks noGrp="1"/>
          </p:cNvSpPr>
          <p:nvPr/>
        </p:nvSpPr>
        <p:spPr>
          <a:xfrm>
            <a:off x="617220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2" name="c"/>
          <p:cNvSpPr>
            <a:spLocks noGrp="1"/>
          </p:cNvSpPr>
          <p:nvPr/>
        </p:nvSpPr>
        <p:spPr>
          <a:xfrm>
            <a:off x="658368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4" name="ct2"/>
          <p:cNvSpPr txBox="1">
            <a:spLocks noGrp="1"/>
          </p:cNvSpPr>
          <p:nvPr/>
        </p:nvSpPr>
        <p:spPr>
          <a:xfrm>
            <a:off x="658368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3" name="c"/>
          <p:cNvSpPr>
            <a:spLocks noGrp="1"/>
          </p:cNvSpPr>
          <p:nvPr/>
        </p:nvSpPr>
        <p:spPr>
          <a:xfrm>
            <a:off x="69951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5" name="ct2"/>
          <p:cNvSpPr txBox="1">
            <a:spLocks noGrp="1"/>
          </p:cNvSpPr>
          <p:nvPr/>
        </p:nvSpPr>
        <p:spPr>
          <a:xfrm>
            <a:off x="69951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5" name="db"/>
          <p:cNvSpPr>
            <a:spLocks noGrp="1"/>
          </p:cNvSpPr>
          <p:nvPr/>
        </p:nvSpPr>
        <p:spPr>
          <a:xfrm>
            <a:off x="722376" y="2304288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496" name="dt"/>
          <p:cNvSpPr txBox="1">
            <a:spLocks noGrp="1"/>
          </p:cNvSpPr>
          <p:nvPr/>
        </p:nvSpPr>
        <p:spPr>
          <a:xfrm>
            <a:off x="777240" y="230428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Scope creep — alcance no controlado</a:t>
            </a:r>
          </a:p>
        </p:txBody>
      </p:sp>
      <p:sp>
        <p:nvSpPr>
          <p:cNvPr id="497" name="c"/>
          <p:cNvSpPr>
            <a:spLocks noGrp="1"/>
          </p:cNvSpPr>
          <p:nvPr/>
        </p:nvSpPr>
        <p:spPr>
          <a:xfrm>
            <a:off x="288036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498" name="ct2"/>
          <p:cNvSpPr txBox="1">
            <a:spLocks noGrp="1"/>
          </p:cNvSpPr>
          <p:nvPr/>
        </p:nvSpPr>
        <p:spPr>
          <a:xfrm>
            <a:off x="28803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9" name="c"/>
          <p:cNvSpPr>
            <a:spLocks noGrp="1"/>
          </p:cNvSpPr>
          <p:nvPr/>
        </p:nvSpPr>
        <p:spPr>
          <a:xfrm>
            <a:off x="329184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501" name="ct2"/>
          <p:cNvSpPr txBox="1">
            <a:spLocks noGrp="1"/>
          </p:cNvSpPr>
          <p:nvPr/>
        </p:nvSpPr>
        <p:spPr>
          <a:xfrm>
            <a:off x="329184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2" name="c"/>
          <p:cNvSpPr>
            <a:spLocks noGrp="1"/>
          </p:cNvSpPr>
          <p:nvPr/>
        </p:nvSpPr>
        <p:spPr>
          <a:xfrm>
            <a:off x="370332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7" name="ct2"/>
          <p:cNvSpPr txBox="1">
            <a:spLocks noGrp="1"/>
          </p:cNvSpPr>
          <p:nvPr/>
        </p:nvSpPr>
        <p:spPr>
          <a:xfrm>
            <a:off x="370332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3" name="c"/>
          <p:cNvSpPr>
            <a:spLocks noGrp="1"/>
          </p:cNvSpPr>
          <p:nvPr/>
        </p:nvSpPr>
        <p:spPr>
          <a:xfrm>
            <a:off x="411480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58" name="ct2"/>
          <p:cNvSpPr txBox="1">
            <a:spLocks noGrp="1"/>
          </p:cNvSpPr>
          <p:nvPr/>
        </p:nvSpPr>
        <p:spPr>
          <a:xfrm>
            <a:off x="411480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4" name="c"/>
          <p:cNvSpPr>
            <a:spLocks noGrp="1"/>
          </p:cNvSpPr>
          <p:nvPr/>
        </p:nvSpPr>
        <p:spPr>
          <a:xfrm>
            <a:off x="452628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59" name="ct2"/>
          <p:cNvSpPr txBox="1">
            <a:spLocks noGrp="1"/>
          </p:cNvSpPr>
          <p:nvPr/>
        </p:nvSpPr>
        <p:spPr>
          <a:xfrm>
            <a:off x="452628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5" name="c"/>
          <p:cNvSpPr>
            <a:spLocks noGrp="1"/>
          </p:cNvSpPr>
          <p:nvPr/>
        </p:nvSpPr>
        <p:spPr>
          <a:xfrm>
            <a:off x="493776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0" name="ct2"/>
          <p:cNvSpPr txBox="1">
            <a:spLocks noGrp="1"/>
          </p:cNvSpPr>
          <p:nvPr/>
        </p:nvSpPr>
        <p:spPr>
          <a:xfrm>
            <a:off x="49377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6" name="c"/>
          <p:cNvSpPr>
            <a:spLocks noGrp="1"/>
          </p:cNvSpPr>
          <p:nvPr/>
        </p:nvSpPr>
        <p:spPr>
          <a:xfrm>
            <a:off x="534924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1" name="ct2"/>
          <p:cNvSpPr txBox="1">
            <a:spLocks noGrp="1"/>
          </p:cNvSpPr>
          <p:nvPr/>
        </p:nvSpPr>
        <p:spPr>
          <a:xfrm>
            <a:off x="534924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7" name="c"/>
          <p:cNvSpPr>
            <a:spLocks noGrp="1"/>
          </p:cNvSpPr>
          <p:nvPr/>
        </p:nvSpPr>
        <p:spPr>
          <a:xfrm>
            <a:off x="576072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2" name="ct2"/>
          <p:cNvSpPr txBox="1">
            <a:spLocks noGrp="1"/>
          </p:cNvSpPr>
          <p:nvPr/>
        </p:nvSpPr>
        <p:spPr>
          <a:xfrm>
            <a:off x="576072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8" name="c"/>
          <p:cNvSpPr>
            <a:spLocks noGrp="1"/>
          </p:cNvSpPr>
          <p:nvPr/>
        </p:nvSpPr>
        <p:spPr>
          <a:xfrm>
            <a:off x="617220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3" name="ct2"/>
          <p:cNvSpPr txBox="1">
            <a:spLocks noGrp="1"/>
          </p:cNvSpPr>
          <p:nvPr/>
        </p:nvSpPr>
        <p:spPr>
          <a:xfrm>
            <a:off x="617220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9" name="c"/>
          <p:cNvSpPr>
            <a:spLocks noGrp="1"/>
          </p:cNvSpPr>
          <p:nvPr/>
        </p:nvSpPr>
        <p:spPr>
          <a:xfrm>
            <a:off x="658368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4" name="ct2"/>
          <p:cNvSpPr txBox="1">
            <a:spLocks noGrp="1"/>
          </p:cNvSpPr>
          <p:nvPr/>
        </p:nvSpPr>
        <p:spPr>
          <a:xfrm>
            <a:off x="658368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0" name="c"/>
          <p:cNvSpPr>
            <a:spLocks noGrp="1"/>
          </p:cNvSpPr>
          <p:nvPr/>
        </p:nvSpPr>
        <p:spPr>
          <a:xfrm>
            <a:off x="699516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65" name="ct2"/>
          <p:cNvSpPr txBox="1">
            <a:spLocks noGrp="1"/>
          </p:cNvSpPr>
          <p:nvPr/>
        </p:nvSpPr>
        <p:spPr>
          <a:xfrm>
            <a:off x="69951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64" name="db"/>
          <p:cNvSpPr>
            <a:spLocks noGrp="1"/>
          </p:cNvSpPr>
          <p:nvPr/>
        </p:nvSpPr>
        <p:spPr>
          <a:xfrm>
            <a:off x="722376" y="2523744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65" name="dt"/>
          <p:cNvSpPr txBox="1">
            <a:spLocks noGrp="1"/>
          </p:cNvSpPr>
          <p:nvPr/>
        </p:nvSpPr>
        <p:spPr>
          <a:xfrm>
            <a:off x="777240" y="252374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SLAs incumplidos / penalizaciones</a:t>
            </a:r>
          </a:p>
        </p:txBody>
      </p:sp>
      <p:sp>
        <p:nvSpPr>
          <p:cNvPr id="66" name="c"/>
          <p:cNvSpPr>
            <a:spLocks noGrp="1"/>
          </p:cNvSpPr>
          <p:nvPr/>
        </p:nvSpPr>
        <p:spPr>
          <a:xfrm>
            <a:off x="288036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67" name="ct2"/>
          <p:cNvSpPr txBox="1">
            <a:spLocks noGrp="1"/>
          </p:cNvSpPr>
          <p:nvPr/>
        </p:nvSpPr>
        <p:spPr>
          <a:xfrm>
            <a:off x="28803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8" name="c"/>
          <p:cNvSpPr>
            <a:spLocks noGrp="1"/>
          </p:cNvSpPr>
          <p:nvPr/>
        </p:nvSpPr>
        <p:spPr>
          <a:xfrm>
            <a:off x="329184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69" name="ct2"/>
          <p:cNvSpPr txBox="1">
            <a:spLocks noGrp="1"/>
          </p:cNvSpPr>
          <p:nvPr/>
        </p:nvSpPr>
        <p:spPr>
          <a:xfrm>
            <a:off x="329184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0" name="c"/>
          <p:cNvSpPr>
            <a:spLocks noGrp="1"/>
          </p:cNvSpPr>
          <p:nvPr/>
        </p:nvSpPr>
        <p:spPr>
          <a:xfrm>
            <a:off x="370332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67" name="ct2"/>
          <p:cNvSpPr txBox="1">
            <a:spLocks noGrp="1"/>
          </p:cNvSpPr>
          <p:nvPr/>
        </p:nvSpPr>
        <p:spPr>
          <a:xfrm>
            <a:off x="370332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1" name="c"/>
          <p:cNvSpPr>
            <a:spLocks noGrp="1"/>
          </p:cNvSpPr>
          <p:nvPr/>
        </p:nvSpPr>
        <p:spPr>
          <a:xfrm>
            <a:off x="411480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68" name="ct2"/>
          <p:cNvSpPr txBox="1">
            <a:spLocks noGrp="1"/>
          </p:cNvSpPr>
          <p:nvPr/>
        </p:nvSpPr>
        <p:spPr>
          <a:xfrm>
            <a:off x="411480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2" name="c"/>
          <p:cNvSpPr>
            <a:spLocks noGrp="1"/>
          </p:cNvSpPr>
          <p:nvPr/>
        </p:nvSpPr>
        <p:spPr>
          <a:xfrm>
            <a:off x="452628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69" name="ct2"/>
          <p:cNvSpPr txBox="1">
            <a:spLocks noGrp="1"/>
          </p:cNvSpPr>
          <p:nvPr/>
        </p:nvSpPr>
        <p:spPr>
          <a:xfrm>
            <a:off x="452628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3" name="c"/>
          <p:cNvSpPr>
            <a:spLocks noGrp="1"/>
          </p:cNvSpPr>
          <p:nvPr/>
        </p:nvSpPr>
        <p:spPr>
          <a:xfrm>
            <a:off x="493776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0" name="ct2"/>
          <p:cNvSpPr txBox="1">
            <a:spLocks noGrp="1"/>
          </p:cNvSpPr>
          <p:nvPr/>
        </p:nvSpPr>
        <p:spPr>
          <a:xfrm>
            <a:off x="49377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4" name="c"/>
          <p:cNvSpPr>
            <a:spLocks noGrp="1"/>
          </p:cNvSpPr>
          <p:nvPr/>
        </p:nvSpPr>
        <p:spPr>
          <a:xfrm>
            <a:off x="534924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1" name="ct2"/>
          <p:cNvSpPr txBox="1">
            <a:spLocks noGrp="1"/>
          </p:cNvSpPr>
          <p:nvPr/>
        </p:nvSpPr>
        <p:spPr>
          <a:xfrm>
            <a:off x="534924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5" name="c"/>
          <p:cNvSpPr>
            <a:spLocks noGrp="1"/>
          </p:cNvSpPr>
          <p:nvPr/>
        </p:nvSpPr>
        <p:spPr>
          <a:xfrm>
            <a:off x="576072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2" name="ct2"/>
          <p:cNvSpPr txBox="1">
            <a:spLocks noGrp="1"/>
          </p:cNvSpPr>
          <p:nvPr/>
        </p:nvSpPr>
        <p:spPr>
          <a:xfrm>
            <a:off x="576072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6" name="c"/>
          <p:cNvSpPr>
            <a:spLocks noGrp="1"/>
          </p:cNvSpPr>
          <p:nvPr/>
        </p:nvSpPr>
        <p:spPr>
          <a:xfrm>
            <a:off x="617220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3" name="ct2"/>
          <p:cNvSpPr txBox="1">
            <a:spLocks noGrp="1"/>
          </p:cNvSpPr>
          <p:nvPr/>
        </p:nvSpPr>
        <p:spPr>
          <a:xfrm>
            <a:off x="617220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7" name="c"/>
          <p:cNvSpPr>
            <a:spLocks noGrp="1"/>
          </p:cNvSpPr>
          <p:nvPr/>
        </p:nvSpPr>
        <p:spPr>
          <a:xfrm>
            <a:off x="658368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4" name="ct2"/>
          <p:cNvSpPr txBox="1">
            <a:spLocks noGrp="1"/>
          </p:cNvSpPr>
          <p:nvPr/>
        </p:nvSpPr>
        <p:spPr>
          <a:xfrm>
            <a:off x="658368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8" name="c"/>
          <p:cNvSpPr>
            <a:spLocks noGrp="1"/>
          </p:cNvSpPr>
          <p:nvPr/>
        </p:nvSpPr>
        <p:spPr>
          <a:xfrm>
            <a:off x="699516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175" name="ct2"/>
          <p:cNvSpPr txBox="1">
            <a:spLocks noGrp="1"/>
          </p:cNvSpPr>
          <p:nvPr/>
        </p:nvSpPr>
        <p:spPr>
          <a:xfrm>
            <a:off x="69951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80" name="cb"/>
          <p:cNvSpPr>
            <a:spLocks noGrp="1"/>
          </p:cNvSpPr>
          <p:nvPr/>
        </p:nvSpPr>
        <p:spPr>
          <a:xfrm>
            <a:off x="320040" y="2743200"/>
            <a:ext cx="402336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81" name="ct"/>
          <p:cNvSpPr txBox="1">
            <a:spLocks noGrp="1"/>
          </p:cNvSpPr>
          <p:nvPr/>
        </p:nvSpPr>
        <p:spPr>
          <a:xfrm>
            <a:off x="320040" y="2743200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1B7B85"/>
                </a:solidFill>
                <a:latin typeface="Calibri"/>
              </a:rPr>
              <a:t>MET</a:t>
            </a:r>
          </a:p>
        </p:txBody>
      </p:sp>
      <p:sp>
        <p:nvSpPr>
          <p:cNvPr id="82" name="db"/>
          <p:cNvSpPr>
            <a:spLocks noGrp="1"/>
          </p:cNvSpPr>
          <p:nvPr/>
        </p:nvSpPr>
        <p:spPr>
          <a:xfrm>
            <a:off x="722376" y="2743200"/>
            <a:ext cx="2157984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83" name="dt"/>
          <p:cNvSpPr txBox="1">
            <a:spLocks noGrp="1"/>
          </p:cNvSpPr>
          <p:nvPr/>
        </p:nvSpPr>
        <p:spPr>
          <a:xfrm>
            <a:off x="777240" y="274320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metricas ni KPIs</a:t>
            </a:r>
          </a:p>
        </p:txBody>
      </p:sp>
      <p:sp>
        <p:nvSpPr>
          <p:cNvPr id="84" name="c"/>
          <p:cNvSpPr>
            <a:spLocks noGrp="1"/>
          </p:cNvSpPr>
          <p:nvPr/>
        </p:nvSpPr>
        <p:spPr>
          <a:xfrm>
            <a:off x="288036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85" name="ct2"/>
          <p:cNvSpPr txBox="1">
            <a:spLocks noGrp="1"/>
          </p:cNvSpPr>
          <p:nvPr/>
        </p:nvSpPr>
        <p:spPr>
          <a:xfrm>
            <a:off x="28803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6" name="c"/>
          <p:cNvSpPr>
            <a:spLocks noGrp="1"/>
          </p:cNvSpPr>
          <p:nvPr/>
        </p:nvSpPr>
        <p:spPr>
          <a:xfrm>
            <a:off x="329184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87" name="ct2"/>
          <p:cNvSpPr txBox="1">
            <a:spLocks noGrp="1"/>
          </p:cNvSpPr>
          <p:nvPr/>
        </p:nvSpPr>
        <p:spPr>
          <a:xfrm>
            <a:off x="329184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8" name="c"/>
          <p:cNvSpPr>
            <a:spLocks noGrp="1"/>
          </p:cNvSpPr>
          <p:nvPr/>
        </p:nvSpPr>
        <p:spPr>
          <a:xfrm>
            <a:off x="370332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77" name="ct2"/>
          <p:cNvSpPr txBox="1">
            <a:spLocks noGrp="1"/>
          </p:cNvSpPr>
          <p:nvPr/>
        </p:nvSpPr>
        <p:spPr>
          <a:xfrm>
            <a:off x="370332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9" name="c"/>
          <p:cNvSpPr>
            <a:spLocks noGrp="1"/>
          </p:cNvSpPr>
          <p:nvPr/>
        </p:nvSpPr>
        <p:spPr>
          <a:xfrm>
            <a:off x="411480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78" name="ct2"/>
          <p:cNvSpPr txBox="1">
            <a:spLocks noGrp="1"/>
          </p:cNvSpPr>
          <p:nvPr/>
        </p:nvSpPr>
        <p:spPr>
          <a:xfrm>
            <a:off x="411480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0" name="c"/>
          <p:cNvSpPr>
            <a:spLocks noGrp="1"/>
          </p:cNvSpPr>
          <p:nvPr/>
        </p:nvSpPr>
        <p:spPr>
          <a:xfrm>
            <a:off x="452628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79" name="ct2"/>
          <p:cNvSpPr txBox="1">
            <a:spLocks noGrp="1"/>
          </p:cNvSpPr>
          <p:nvPr/>
        </p:nvSpPr>
        <p:spPr>
          <a:xfrm>
            <a:off x="452628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1" name="c"/>
          <p:cNvSpPr>
            <a:spLocks noGrp="1"/>
          </p:cNvSpPr>
          <p:nvPr/>
        </p:nvSpPr>
        <p:spPr>
          <a:xfrm>
            <a:off x="493776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0" name="ct2"/>
          <p:cNvSpPr txBox="1">
            <a:spLocks noGrp="1"/>
          </p:cNvSpPr>
          <p:nvPr/>
        </p:nvSpPr>
        <p:spPr>
          <a:xfrm>
            <a:off x="49377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2" name="c"/>
          <p:cNvSpPr>
            <a:spLocks noGrp="1"/>
          </p:cNvSpPr>
          <p:nvPr/>
        </p:nvSpPr>
        <p:spPr>
          <a:xfrm>
            <a:off x="534924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1" name="ct2"/>
          <p:cNvSpPr txBox="1">
            <a:spLocks noGrp="1"/>
          </p:cNvSpPr>
          <p:nvPr/>
        </p:nvSpPr>
        <p:spPr>
          <a:xfrm>
            <a:off x="534924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3" name="c"/>
          <p:cNvSpPr>
            <a:spLocks noGrp="1"/>
          </p:cNvSpPr>
          <p:nvPr/>
        </p:nvSpPr>
        <p:spPr>
          <a:xfrm>
            <a:off x="576072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2" name="ct2"/>
          <p:cNvSpPr txBox="1">
            <a:spLocks noGrp="1"/>
          </p:cNvSpPr>
          <p:nvPr/>
        </p:nvSpPr>
        <p:spPr>
          <a:xfrm>
            <a:off x="576072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4" name="c"/>
          <p:cNvSpPr>
            <a:spLocks noGrp="1"/>
          </p:cNvSpPr>
          <p:nvPr/>
        </p:nvSpPr>
        <p:spPr>
          <a:xfrm>
            <a:off x="617220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3" name="ct2"/>
          <p:cNvSpPr txBox="1">
            <a:spLocks noGrp="1"/>
          </p:cNvSpPr>
          <p:nvPr/>
        </p:nvSpPr>
        <p:spPr>
          <a:xfrm>
            <a:off x="617220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5" name="c"/>
          <p:cNvSpPr>
            <a:spLocks noGrp="1"/>
          </p:cNvSpPr>
          <p:nvPr/>
        </p:nvSpPr>
        <p:spPr>
          <a:xfrm>
            <a:off x="658368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4" name="ct2"/>
          <p:cNvSpPr txBox="1">
            <a:spLocks noGrp="1"/>
          </p:cNvSpPr>
          <p:nvPr/>
        </p:nvSpPr>
        <p:spPr>
          <a:xfrm>
            <a:off x="658368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6" name="c"/>
          <p:cNvSpPr>
            <a:spLocks noGrp="1"/>
          </p:cNvSpPr>
          <p:nvPr/>
        </p:nvSpPr>
        <p:spPr>
          <a:xfrm>
            <a:off x="699516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5" name="ct2"/>
          <p:cNvSpPr txBox="1">
            <a:spLocks noGrp="1"/>
          </p:cNvSpPr>
          <p:nvPr/>
        </p:nvSpPr>
        <p:spPr>
          <a:xfrm>
            <a:off x="69951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8" name="db"/>
          <p:cNvSpPr>
            <a:spLocks noGrp="1"/>
          </p:cNvSpPr>
          <p:nvPr/>
        </p:nvSpPr>
        <p:spPr>
          <a:xfrm>
            <a:off x="722376" y="2962656"/>
            <a:ext cx="2157984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</p:sp>
      <p:sp>
        <p:nvSpPr>
          <p:cNvPr id="99" name="dt"/>
          <p:cNvSpPr txBox="1">
            <a:spLocks noGrp="1"/>
          </p:cNvSpPr>
          <p:nvPr/>
        </p:nvSpPr>
        <p:spPr>
          <a:xfrm>
            <a:off x="777240" y="296265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dashboard ejecutivo</a:t>
            </a:r>
          </a:p>
        </p:txBody>
      </p:sp>
      <p:sp>
        <p:nvSpPr>
          <p:cNvPr id="257" name="c"/>
          <p:cNvSpPr>
            <a:spLocks noGrp="1"/>
          </p:cNvSpPr>
          <p:nvPr/>
        </p:nvSpPr>
        <p:spPr>
          <a:xfrm>
            <a:off x="2880360" y="296265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58" name="ct2"/>
          <p:cNvSpPr txBox="1">
            <a:spLocks noGrp="1"/>
          </p:cNvSpPr>
          <p:nvPr/>
        </p:nvSpPr>
        <p:spPr>
          <a:xfrm>
            <a:off x="28803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59" name="c"/>
          <p:cNvSpPr>
            <a:spLocks noGrp="1"/>
          </p:cNvSpPr>
          <p:nvPr/>
        </p:nvSpPr>
        <p:spPr>
          <a:xfrm>
            <a:off x="329184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60" name="ct2"/>
          <p:cNvSpPr txBox="1">
            <a:spLocks noGrp="1"/>
          </p:cNvSpPr>
          <p:nvPr/>
        </p:nvSpPr>
        <p:spPr>
          <a:xfrm>
            <a:off x="329184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1" name="c"/>
          <p:cNvSpPr>
            <a:spLocks noGrp="1"/>
          </p:cNvSpPr>
          <p:nvPr/>
        </p:nvSpPr>
        <p:spPr>
          <a:xfrm>
            <a:off x="370332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7" name="ct2"/>
          <p:cNvSpPr txBox="1">
            <a:spLocks noGrp="1"/>
          </p:cNvSpPr>
          <p:nvPr/>
        </p:nvSpPr>
        <p:spPr>
          <a:xfrm>
            <a:off x="370332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2" name="c"/>
          <p:cNvSpPr>
            <a:spLocks noGrp="1"/>
          </p:cNvSpPr>
          <p:nvPr/>
        </p:nvSpPr>
        <p:spPr>
          <a:xfrm>
            <a:off x="411480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88" name="ct2"/>
          <p:cNvSpPr txBox="1">
            <a:spLocks noGrp="1"/>
          </p:cNvSpPr>
          <p:nvPr/>
        </p:nvSpPr>
        <p:spPr>
          <a:xfrm>
            <a:off x="411480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3" name="c"/>
          <p:cNvSpPr>
            <a:spLocks noGrp="1"/>
          </p:cNvSpPr>
          <p:nvPr/>
        </p:nvSpPr>
        <p:spPr>
          <a:xfrm>
            <a:off x="452628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189" name="ct2"/>
          <p:cNvSpPr txBox="1">
            <a:spLocks noGrp="1"/>
          </p:cNvSpPr>
          <p:nvPr/>
        </p:nvSpPr>
        <p:spPr>
          <a:xfrm>
            <a:off x="452628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4" name="c"/>
          <p:cNvSpPr>
            <a:spLocks noGrp="1"/>
          </p:cNvSpPr>
          <p:nvPr/>
        </p:nvSpPr>
        <p:spPr>
          <a:xfrm>
            <a:off x="493776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0" name="ct2"/>
          <p:cNvSpPr txBox="1">
            <a:spLocks noGrp="1"/>
          </p:cNvSpPr>
          <p:nvPr/>
        </p:nvSpPr>
        <p:spPr>
          <a:xfrm>
            <a:off x="49377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5" name="c"/>
          <p:cNvSpPr>
            <a:spLocks noGrp="1"/>
          </p:cNvSpPr>
          <p:nvPr/>
        </p:nvSpPr>
        <p:spPr>
          <a:xfrm>
            <a:off x="534924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1" name="ct2"/>
          <p:cNvSpPr txBox="1">
            <a:spLocks noGrp="1"/>
          </p:cNvSpPr>
          <p:nvPr/>
        </p:nvSpPr>
        <p:spPr>
          <a:xfrm>
            <a:off x="534924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6" name="c"/>
          <p:cNvSpPr>
            <a:spLocks noGrp="1"/>
          </p:cNvSpPr>
          <p:nvPr/>
        </p:nvSpPr>
        <p:spPr>
          <a:xfrm>
            <a:off x="576072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2" name="ct2"/>
          <p:cNvSpPr txBox="1">
            <a:spLocks noGrp="1"/>
          </p:cNvSpPr>
          <p:nvPr/>
        </p:nvSpPr>
        <p:spPr>
          <a:xfrm>
            <a:off x="576072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7" name="c"/>
          <p:cNvSpPr>
            <a:spLocks noGrp="1"/>
          </p:cNvSpPr>
          <p:nvPr/>
        </p:nvSpPr>
        <p:spPr>
          <a:xfrm>
            <a:off x="617220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3" name="ct2"/>
          <p:cNvSpPr txBox="1">
            <a:spLocks noGrp="1"/>
          </p:cNvSpPr>
          <p:nvPr/>
        </p:nvSpPr>
        <p:spPr>
          <a:xfrm>
            <a:off x="617220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8" name="c"/>
          <p:cNvSpPr>
            <a:spLocks noGrp="1"/>
          </p:cNvSpPr>
          <p:nvPr/>
        </p:nvSpPr>
        <p:spPr>
          <a:xfrm>
            <a:off x="658368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4" name="ct2"/>
          <p:cNvSpPr txBox="1">
            <a:spLocks noGrp="1"/>
          </p:cNvSpPr>
          <p:nvPr/>
        </p:nvSpPr>
        <p:spPr>
          <a:xfrm>
            <a:off x="658368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9" name="c"/>
          <p:cNvSpPr>
            <a:spLocks noGrp="1"/>
          </p:cNvSpPr>
          <p:nvPr/>
        </p:nvSpPr>
        <p:spPr>
          <a:xfrm>
            <a:off x="699516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5" name="ct2"/>
          <p:cNvSpPr txBox="1">
            <a:spLocks noGrp="1"/>
          </p:cNvSpPr>
          <p:nvPr/>
        </p:nvSpPr>
        <p:spPr>
          <a:xfrm>
            <a:off x="69951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1" name="cb"/>
          <p:cNvSpPr>
            <a:spLocks noGrp="1"/>
          </p:cNvSpPr>
          <p:nvPr/>
        </p:nvSpPr>
        <p:spPr>
          <a:xfrm>
            <a:off x="320040" y="3182112"/>
            <a:ext cx="402336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72" name="ct"/>
          <p:cNvSpPr txBox="1">
            <a:spLocks noGrp="1"/>
          </p:cNvSpPr>
          <p:nvPr/>
        </p:nvSpPr>
        <p:spPr>
          <a:xfrm>
            <a:off x="320040" y="3182112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5B21B6"/>
                </a:solidFill>
                <a:latin typeface="Calibri"/>
              </a:rPr>
              <a:t>TAL</a:t>
            </a:r>
          </a:p>
        </p:txBody>
      </p:sp>
      <p:sp>
        <p:nvSpPr>
          <p:cNvPr id="273" name="db"/>
          <p:cNvSpPr>
            <a:spLocks noGrp="1"/>
          </p:cNvSpPr>
          <p:nvPr/>
        </p:nvSpPr>
        <p:spPr>
          <a:xfrm>
            <a:off x="722376" y="3182112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74" name="dt"/>
          <p:cNvSpPr txBox="1">
            <a:spLocks noGrp="1"/>
          </p:cNvSpPr>
          <p:nvPr/>
        </p:nvSpPr>
        <p:spPr>
          <a:xfrm>
            <a:off x="777240" y="318211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Rotacion — perdida conocimiento</a:t>
            </a:r>
          </a:p>
        </p:txBody>
      </p:sp>
      <p:sp>
        <p:nvSpPr>
          <p:cNvPr id="275" name="c"/>
          <p:cNvSpPr>
            <a:spLocks noGrp="1"/>
          </p:cNvSpPr>
          <p:nvPr/>
        </p:nvSpPr>
        <p:spPr>
          <a:xfrm>
            <a:off x="28803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76" name="ct2"/>
          <p:cNvSpPr txBox="1">
            <a:spLocks noGrp="1"/>
          </p:cNvSpPr>
          <p:nvPr/>
        </p:nvSpPr>
        <p:spPr>
          <a:xfrm>
            <a:off x="28803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7" name="c"/>
          <p:cNvSpPr>
            <a:spLocks noGrp="1"/>
          </p:cNvSpPr>
          <p:nvPr/>
        </p:nvSpPr>
        <p:spPr>
          <a:xfrm>
            <a:off x="329184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78" name="ct2"/>
          <p:cNvSpPr txBox="1">
            <a:spLocks noGrp="1"/>
          </p:cNvSpPr>
          <p:nvPr/>
        </p:nvSpPr>
        <p:spPr>
          <a:xfrm>
            <a:off x="329184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9" name="c"/>
          <p:cNvSpPr>
            <a:spLocks noGrp="1"/>
          </p:cNvSpPr>
          <p:nvPr/>
        </p:nvSpPr>
        <p:spPr>
          <a:xfrm>
            <a:off x="370332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7" name="ct2"/>
          <p:cNvSpPr txBox="1">
            <a:spLocks noGrp="1"/>
          </p:cNvSpPr>
          <p:nvPr/>
        </p:nvSpPr>
        <p:spPr>
          <a:xfrm>
            <a:off x="370332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0" name="c"/>
          <p:cNvSpPr>
            <a:spLocks noGrp="1"/>
          </p:cNvSpPr>
          <p:nvPr/>
        </p:nvSpPr>
        <p:spPr>
          <a:xfrm>
            <a:off x="411480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8" name="ct2"/>
          <p:cNvSpPr txBox="1">
            <a:spLocks noGrp="1"/>
          </p:cNvSpPr>
          <p:nvPr/>
        </p:nvSpPr>
        <p:spPr>
          <a:xfrm>
            <a:off x="411480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1" name="c"/>
          <p:cNvSpPr>
            <a:spLocks noGrp="1"/>
          </p:cNvSpPr>
          <p:nvPr/>
        </p:nvSpPr>
        <p:spPr>
          <a:xfrm>
            <a:off x="452628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199" name="ct2"/>
          <p:cNvSpPr txBox="1">
            <a:spLocks noGrp="1"/>
          </p:cNvSpPr>
          <p:nvPr/>
        </p:nvSpPr>
        <p:spPr>
          <a:xfrm>
            <a:off x="452628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2" name="c"/>
          <p:cNvSpPr>
            <a:spLocks noGrp="1"/>
          </p:cNvSpPr>
          <p:nvPr/>
        </p:nvSpPr>
        <p:spPr>
          <a:xfrm>
            <a:off x="49377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0" name="ct2"/>
          <p:cNvSpPr txBox="1">
            <a:spLocks noGrp="1"/>
          </p:cNvSpPr>
          <p:nvPr/>
        </p:nvSpPr>
        <p:spPr>
          <a:xfrm>
            <a:off x="49377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3" name="c"/>
          <p:cNvSpPr>
            <a:spLocks noGrp="1"/>
          </p:cNvSpPr>
          <p:nvPr/>
        </p:nvSpPr>
        <p:spPr>
          <a:xfrm>
            <a:off x="534924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1" name="ct2"/>
          <p:cNvSpPr txBox="1">
            <a:spLocks noGrp="1"/>
          </p:cNvSpPr>
          <p:nvPr/>
        </p:nvSpPr>
        <p:spPr>
          <a:xfrm>
            <a:off x="534924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4" name="c"/>
          <p:cNvSpPr>
            <a:spLocks noGrp="1"/>
          </p:cNvSpPr>
          <p:nvPr/>
        </p:nvSpPr>
        <p:spPr>
          <a:xfrm>
            <a:off x="576072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2" name="ct2"/>
          <p:cNvSpPr txBox="1">
            <a:spLocks noGrp="1"/>
          </p:cNvSpPr>
          <p:nvPr/>
        </p:nvSpPr>
        <p:spPr>
          <a:xfrm>
            <a:off x="576072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5" name="c"/>
          <p:cNvSpPr>
            <a:spLocks noGrp="1"/>
          </p:cNvSpPr>
          <p:nvPr/>
        </p:nvSpPr>
        <p:spPr>
          <a:xfrm>
            <a:off x="617220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3" name="ct2"/>
          <p:cNvSpPr txBox="1">
            <a:spLocks noGrp="1"/>
          </p:cNvSpPr>
          <p:nvPr/>
        </p:nvSpPr>
        <p:spPr>
          <a:xfrm>
            <a:off x="617220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6" name="c"/>
          <p:cNvSpPr>
            <a:spLocks noGrp="1"/>
          </p:cNvSpPr>
          <p:nvPr/>
        </p:nvSpPr>
        <p:spPr>
          <a:xfrm>
            <a:off x="658368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4" name="ct2"/>
          <p:cNvSpPr txBox="1">
            <a:spLocks noGrp="1"/>
          </p:cNvSpPr>
          <p:nvPr/>
        </p:nvSpPr>
        <p:spPr>
          <a:xfrm>
            <a:off x="658368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7" name="c"/>
          <p:cNvSpPr>
            <a:spLocks noGrp="1"/>
          </p:cNvSpPr>
          <p:nvPr/>
        </p:nvSpPr>
        <p:spPr>
          <a:xfrm>
            <a:off x="69951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05" name="ct2"/>
          <p:cNvSpPr txBox="1">
            <a:spLocks noGrp="1"/>
          </p:cNvSpPr>
          <p:nvPr/>
        </p:nvSpPr>
        <p:spPr>
          <a:xfrm>
            <a:off x="69951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9" name="db"/>
          <p:cNvSpPr>
            <a:spLocks noGrp="1"/>
          </p:cNvSpPr>
          <p:nvPr/>
        </p:nvSpPr>
        <p:spPr>
          <a:xfrm>
            <a:off x="722376" y="3401568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290" name="dt"/>
          <p:cNvSpPr txBox="1">
            <a:spLocks noGrp="1"/>
          </p:cNvSpPr>
          <p:nvPr/>
        </p:nvSpPr>
        <p:spPr>
          <a:xfrm>
            <a:off x="777240" y="340156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Asignacion sin modelo demanda</a:t>
            </a:r>
          </a:p>
        </p:txBody>
      </p:sp>
      <p:sp>
        <p:nvSpPr>
          <p:cNvPr id="291" name="c"/>
          <p:cNvSpPr>
            <a:spLocks noGrp="1"/>
          </p:cNvSpPr>
          <p:nvPr/>
        </p:nvSpPr>
        <p:spPr>
          <a:xfrm>
            <a:off x="28803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92" name="ct2"/>
          <p:cNvSpPr txBox="1">
            <a:spLocks noGrp="1"/>
          </p:cNvSpPr>
          <p:nvPr/>
        </p:nvSpPr>
        <p:spPr>
          <a:xfrm>
            <a:off x="28803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3" name="c"/>
          <p:cNvSpPr>
            <a:spLocks noGrp="1"/>
          </p:cNvSpPr>
          <p:nvPr/>
        </p:nvSpPr>
        <p:spPr>
          <a:xfrm>
            <a:off x="329184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94" name="ct2"/>
          <p:cNvSpPr txBox="1">
            <a:spLocks noGrp="1"/>
          </p:cNvSpPr>
          <p:nvPr/>
        </p:nvSpPr>
        <p:spPr>
          <a:xfrm>
            <a:off x="329184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5" name="c"/>
          <p:cNvSpPr>
            <a:spLocks noGrp="1"/>
          </p:cNvSpPr>
          <p:nvPr/>
        </p:nvSpPr>
        <p:spPr>
          <a:xfrm>
            <a:off x="370332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7" name="ct2"/>
          <p:cNvSpPr txBox="1">
            <a:spLocks noGrp="1"/>
          </p:cNvSpPr>
          <p:nvPr/>
        </p:nvSpPr>
        <p:spPr>
          <a:xfrm>
            <a:off x="370332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6" name="c"/>
          <p:cNvSpPr>
            <a:spLocks noGrp="1"/>
          </p:cNvSpPr>
          <p:nvPr/>
        </p:nvSpPr>
        <p:spPr>
          <a:xfrm>
            <a:off x="411480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8" name="ct2"/>
          <p:cNvSpPr txBox="1">
            <a:spLocks noGrp="1"/>
          </p:cNvSpPr>
          <p:nvPr/>
        </p:nvSpPr>
        <p:spPr>
          <a:xfrm>
            <a:off x="411480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7" name="c"/>
          <p:cNvSpPr>
            <a:spLocks noGrp="1"/>
          </p:cNvSpPr>
          <p:nvPr/>
        </p:nvSpPr>
        <p:spPr>
          <a:xfrm>
            <a:off x="452628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09" name="ct2"/>
          <p:cNvSpPr txBox="1">
            <a:spLocks noGrp="1"/>
          </p:cNvSpPr>
          <p:nvPr/>
        </p:nvSpPr>
        <p:spPr>
          <a:xfrm>
            <a:off x="452628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8" name="c"/>
          <p:cNvSpPr>
            <a:spLocks noGrp="1"/>
          </p:cNvSpPr>
          <p:nvPr/>
        </p:nvSpPr>
        <p:spPr>
          <a:xfrm>
            <a:off x="49377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0" name="ct2"/>
          <p:cNvSpPr txBox="1">
            <a:spLocks noGrp="1"/>
          </p:cNvSpPr>
          <p:nvPr/>
        </p:nvSpPr>
        <p:spPr>
          <a:xfrm>
            <a:off x="49377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9" name="c"/>
          <p:cNvSpPr>
            <a:spLocks noGrp="1"/>
          </p:cNvSpPr>
          <p:nvPr/>
        </p:nvSpPr>
        <p:spPr>
          <a:xfrm>
            <a:off x="534924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1" name="ct2"/>
          <p:cNvSpPr txBox="1">
            <a:spLocks noGrp="1"/>
          </p:cNvSpPr>
          <p:nvPr/>
        </p:nvSpPr>
        <p:spPr>
          <a:xfrm>
            <a:off x="534924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0" name="c"/>
          <p:cNvSpPr>
            <a:spLocks noGrp="1"/>
          </p:cNvSpPr>
          <p:nvPr/>
        </p:nvSpPr>
        <p:spPr>
          <a:xfrm>
            <a:off x="576072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2" name="ct2"/>
          <p:cNvSpPr txBox="1">
            <a:spLocks noGrp="1"/>
          </p:cNvSpPr>
          <p:nvPr/>
        </p:nvSpPr>
        <p:spPr>
          <a:xfrm>
            <a:off x="576072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1" name="c"/>
          <p:cNvSpPr>
            <a:spLocks noGrp="1"/>
          </p:cNvSpPr>
          <p:nvPr/>
        </p:nvSpPr>
        <p:spPr>
          <a:xfrm>
            <a:off x="617220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3" name="ct2"/>
          <p:cNvSpPr txBox="1">
            <a:spLocks noGrp="1"/>
          </p:cNvSpPr>
          <p:nvPr/>
        </p:nvSpPr>
        <p:spPr>
          <a:xfrm>
            <a:off x="617220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2" name="c"/>
          <p:cNvSpPr>
            <a:spLocks noGrp="1"/>
          </p:cNvSpPr>
          <p:nvPr/>
        </p:nvSpPr>
        <p:spPr>
          <a:xfrm>
            <a:off x="658368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4" name="ct2"/>
          <p:cNvSpPr txBox="1">
            <a:spLocks noGrp="1"/>
          </p:cNvSpPr>
          <p:nvPr/>
        </p:nvSpPr>
        <p:spPr>
          <a:xfrm>
            <a:off x="658368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3" name="c"/>
          <p:cNvSpPr>
            <a:spLocks noGrp="1"/>
          </p:cNvSpPr>
          <p:nvPr/>
        </p:nvSpPr>
        <p:spPr>
          <a:xfrm>
            <a:off x="69951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5" name="ct2"/>
          <p:cNvSpPr txBox="1">
            <a:spLocks noGrp="1"/>
          </p:cNvSpPr>
          <p:nvPr/>
        </p:nvSpPr>
        <p:spPr>
          <a:xfrm>
            <a:off x="69951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5" name="db"/>
          <p:cNvSpPr>
            <a:spLocks noGrp="1"/>
          </p:cNvSpPr>
          <p:nvPr/>
        </p:nvSpPr>
        <p:spPr>
          <a:xfrm>
            <a:off x="722376" y="3621024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</p:sp>
      <p:sp>
        <p:nvSpPr>
          <p:cNvPr id="306" name="dt"/>
          <p:cNvSpPr txBox="1">
            <a:spLocks noGrp="1"/>
          </p:cNvSpPr>
          <p:nvPr/>
        </p:nvSpPr>
        <p:spPr>
          <a:xfrm>
            <a:off x="777240" y="362102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Penalizacion de la eficiencia</a:t>
            </a:r>
          </a:p>
        </p:txBody>
      </p:sp>
      <p:sp>
        <p:nvSpPr>
          <p:cNvPr id="307" name="c"/>
          <p:cNvSpPr>
            <a:spLocks noGrp="1"/>
          </p:cNvSpPr>
          <p:nvPr/>
        </p:nvSpPr>
        <p:spPr>
          <a:xfrm>
            <a:off x="28803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308" name="ct2"/>
          <p:cNvSpPr txBox="1">
            <a:spLocks noGrp="1"/>
          </p:cNvSpPr>
          <p:nvPr/>
        </p:nvSpPr>
        <p:spPr>
          <a:xfrm>
            <a:off x="28803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09" name="c"/>
          <p:cNvSpPr>
            <a:spLocks noGrp="1"/>
          </p:cNvSpPr>
          <p:nvPr/>
        </p:nvSpPr>
        <p:spPr>
          <a:xfrm>
            <a:off x="329184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310" name="ct2"/>
          <p:cNvSpPr txBox="1">
            <a:spLocks noGrp="1"/>
          </p:cNvSpPr>
          <p:nvPr/>
        </p:nvSpPr>
        <p:spPr>
          <a:xfrm>
            <a:off x="329184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1" name="c"/>
          <p:cNvSpPr>
            <a:spLocks noGrp="1"/>
          </p:cNvSpPr>
          <p:nvPr/>
        </p:nvSpPr>
        <p:spPr>
          <a:xfrm>
            <a:off x="3703320" y="362102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7" name="ct2"/>
          <p:cNvSpPr txBox="1">
            <a:spLocks noGrp="1"/>
          </p:cNvSpPr>
          <p:nvPr/>
        </p:nvSpPr>
        <p:spPr>
          <a:xfrm>
            <a:off x="370332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12" name="c"/>
          <p:cNvSpPr>
            <a:spLocks noGrp="1"/>
          </p:cNvSpPr>
          <p:nvPr/>
        </p:nvSpPr>
        <p:spPr>
          <a:xfrm>
            <a:off x="4114800" y="362102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18" name="ct2"/>
          <p:cNvSpPr txBox="1">
            <a:spLocks noGrp="1"/>
          </p:cNvSpPr>
          <p:nvPr/>
        </p:nvSpPr>
        <p:spPr>
          <a:xfrm>
            <a:off x="411480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313" name="c"/>
          <p:cNvSpPr>
            <a:spLocks noGrp="1"/>
          </p:cNvSpPr>
          <p:nvPr/>
        </p:nvSpPr>
        <p:spPr>
          <a:xfrm>
            <a:off x="4526280" y="362102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19" name="ct2"/>
          <p:cNvSpPr txBox="1">
            <a:spLocks noGrp="1"/>
          </p:cNvSpPr>
          <p:nvPr/>
        </p:nvSpPr>
        <p:spPr>
          <a:xfrm>
            <a:off x="452628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14" name="c"/>
          <p:cNvSpPr>
            <a:spLocks noGrp="1"/>
          </p:cNvSpPr>
          <p:nvPr/>
        </p:nvSpPr>
        <p:spPr>
          <a:xfrm>
            <a:off x="49377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0" name="ct2"/>
          <p:cNvSpPr txBox="1">
            <a:spLocks noGrp="1"/>
          </p:cNvSpPr>
          <p:nvPr/>
        </p:nvSpPr>
        <p:spPr>
          <a:xfrm>
            <a:off x="49377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5" name="c"/>
          <p:cNvSpPr>
            <a:spLocks noGrp="1"/>
          </p:cNvSpPr>
          <p:nvPr/>
        </p:nvSpPr>
        <p:spPr>
          <a:xfrm>
            <a:off x="534924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1" name="ct2"/>
          <p:cNvSpPr txBox="1">
            <a:spLocks noGrp="1"/>
          </p:cNvSpPr>
          <p:nvPr/>
        </p:nvSpPr>
        <p:spPr>
          <a:xfrm>
            <a:off x="534924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6" name="c"/>
          <p:cNvSpPr>
            <a:spLocks noGrp="1"/>
          </p:cNvSpPr>
          <p:nvPr/>
        </p:nvSpPr>
        <p:spPr>
          <a:xfrm>
            <a:off x="576072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2" name="ct2"/>
          <p:cNvSpPr txBox="1">
            <a:spLocks noGrp="1"/>
          </p:cNvSpPr>
          <p:nvPr/>
        </p:nvSpPr>
        <p:spPr>
          <a:xfrm>
            <a:off x="576072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7" name="c"/>
          <p:cNvSpPr>
            <a:spLocks noGrp="1"/>
          </p:cNvSpPr>
          <p:nvPr/>
        </p:nvSpPr>
        <p:spPr>
          <a:xfrm>
            <a:off x="617220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3" name="ct2"/>
          <p:cNvSpPr txBox="1">
            <a:spLocks noGrp="1"/>
          </p:cNvSpPr>
          <p:nvPr/>
        </p:nvSpPr>
        <p:spPr>
          <a:xfrm>
            <a:off x="617220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8" name="c"/>
          <p:cNvSpPr>
            <a:spLocks noGrp="1"/>
          </p:cNvSpPr>
          <p:nvPr/>
        </p:nvSpPr>
        <p:spPr>
          <a:xfrm>
            <a:off x="658368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4" name="ct2"/>
          <p:cNvSpPr txBox="1">
            <a:spLocks noGrp="1"/>
          </p:cNvSpPr>
          <p:nvPr/>
        </p:nvSpPr>
        <p:spPr>
          <a:xfrm>
            <a:off x="658368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9" name="c"/>
          <p:cNvSpPr>
            <a:spLocks noGrp="1"/>
          </p:cNvSpPr>
          <p:nvPr/>
        </p:nvSpPr>
        <p:spPr>
          <a:xfrm>
            <a:off x="69951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25" name="ct2"/>
          <p:cNvSpPr txBox="1">
            <a:spLocks noGrp="1"/>
          </p:cNvSpPr>
          <p:nvPr/>
        </p:nvSpPr>
        <p:spPr>
          <a:xfrm>
            <a:off x="69951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3" name="cb"/>
          <p:cNvSpPr>
            <a:spLocks noGrp="1"/>
          </p:cNvSpPr>
          <p:nvPr/>
        </p:nvSpPr>
        <p:spPr>
          <a:xfrm>
            <a:off x="320040" y="3840480"/>
            <a:ext cx="402336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14" name="ct"/>
          <p:cNvSpPr txBox="1">
            <a:spLocks noGrp="1"/>
          </p:cNvSpPr>
          <p:nvPr/>
        </p:nvSpPr>
        <p:spPr>
          <a:xfrm>
            <a:off x="320040" y="3840480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>
                <a:solidFill>
                  <a:srgbClr val="6B2D5E"/>
                </a:solidFill>
                <a:latin typeface="Calibri"/>
              </a:rPr>
              <a:t>COM</a:t>
            </a:r>
          </a:p>
        </p:txBody>
      </p:sp>
      <p:sp>
        <p:nvSpPr>
          <p:cNvPr id="515" name="db"/>
          <p:cNvSpPr>
            <a:spLocks noGrp="1"/>
          </p:cNvSpPr>
          <p:nvPr/>
        </p:nvSpPr>
        <p:spPr>
          <a:xfrm>
            <a:off x="722376" y="3840480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16" name="dt"/>
          <p:cNvSpPr txBox="1">
            <a:spLocks noGrp="1"/>
          </p:cNvSpPr>
          <p:nvPr/>
        </p:nvSpPr>
        <p:spPr>
          <a:xfrm>
            <a:off x="777240" y="384048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517" name="c"/>
          <p:cNvSpPr>
            <a:spLocks noGrp="1"/>
          </p:cNvSpPr>
          <p:nvPr/>
        </p:nvSpPr>
        <p:spPr>
          <a:xfrm>
            <a:off x="28803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518" name="ct2"/>
          <p:cNvSpPr txBox="1">
            <a:spLocks noGrp="1"/>
          </p:cNvSpPr>
          <p:nvPr/>
        </p:nvSpPr>
        <p:spPr>
          <a:xfrm>
            <a:off x="28803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19" name="c"/>
          <p:cNvSpPr>
            <a:spLocks noGrp="1"/>
          </p:cNvSpPr>
          <p:nvPr/>
        </p:nvSpPr>
        <p:spPr>
          <a:xfrm>
            <a:off x="329184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520" name="ct2"/>
          <p:cNvSpPr txBox="1">
            <a:spLocks noGrp="1"/>
          </p:cNvSpPr>
          <p:nvPr/>
        </p:nvSpPr>
        <p:spPr>
          <a:xfrm>
            <a:off x="329184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1" name="c"/>
          <p:cNvSpPr>
            <a:spLocks noGrp="1"/>
          </p:cNvSpPr>
          <p:nvPr/>
        </p:nvSpPr>
        <p:spPr>
          <a:xfrm>
            <a:off x="370332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7" name="ct2"/>
          <p:cNvSpPr txBox="1">
            <a:spLocks noGrp="1"/>
          </p:cNvSpPr>
          <p:nvPr/>
        </p:nvSpPr>
        <p:spPr>
          <a:xfrm>
            <a:off x="370332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2" name="c"/>
          <p:cNvSpPr>
            <a:spLocks noGrp="1"/>
          </p:cNvSpPr>
          <p:nvPr/>
        </p:nvSpPr>
        <p:spPr>
          <a:xfrm>
            <a:off x="411480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8" name="ct2"/>
          <p:cNvSpPr txBox="1">
            <a:spLocks noGrp="1"/>
          </p:cNvSpPr>
          <p:nvPr/>
        </p:nvSpPr>
        <p:spPr>
          <a:xfrm>
            <a:off x="411480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3" name="c"/>
          <p:cNvSpPr>
            <a:spLocks noGrp="1"/>
          </p:cNvSpPr>
          <p:nvPr/>
        </p:nvSpPr>
        <p:spPr>
          <a:xfrm>
            <a:off x="452628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29" name="ct2"/>
          <p:cNvSpPr txBox="1">
            <a:spLocks noGrp="1"/>
          </p:cNvSpPr>
          <p:nvPr/>
        </p:nvSpPr>
        <p:spPr>
          <a:xfrm>
            <a:off x="452628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4" name="c"/>
          <p:cNvSpPr>
            <a:spLocks noGrp="1"/>
          </p:cNvSpPr>
          <p:nvPr/>
        </p:nvSpPr>
        <p:spPr>
          <a:xfrm>
            <a:off x="49377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0" name="ct2"/>
          <p:cNvSpPr txBox="1">
            <a:spLocks noGrp="1"/>
          </p:cNvSpPr>
          <p:nvPr/>
        </p:nvSpPr>
        <p:spPr>
          <a:xfrm>
            <a:off x="49377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5" name="c"/>
          <p:cNvSpPr>
            <a:spLocks noGrp="1"/>
          </p:cNvSpPr>
          <p:nvPr/>
        </p:nvSpPr>
        <p:spPr>
          <a:xfrm>
            <a:off x="534924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1" name="ct2"/>
          <p:cNvSpPr txBox="1">
            <a:spLocks noGrp="1"/>
          </p:cNvSpPr>
          <p:nvPr/>
        </p:nvSpPr>
        <p:spPr>
          <a:xfrm>
            <a:off x="534924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6" name="c"/>
          <p:cNvSpPr>
            <a:spLocks noGrp="1"/>
          </p:cNvSpPr>
          <p:nvPr/>
        </p:nvSpPr>
        <p:spPr>
          <a:xfrm>
            <a:off x="576072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2" name="ct2"/>
          <p:cNvSpPr txBox="1">
            <a:spLocks noGrp="1"/>
          </p:cNvSpPr>
          <p:nvPr/>
        </p:nvSpPr>
        <p:spPr>
          <a:xfrm>
            <a:off x="576072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7" name="c"/>
          <p:cNvSpPr>
            <a:spLocks noGrp="1"/>
          </p:cNvSpPr>
          <p:nvPr/>
        </p:nvSpPr>
        <p:spPr>
          <a:xfrm>
            <a:off x="617220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3" name="ct2"/>
          <p:cNvSpPr txBox="1">
            <a:spLocks noGrp="1"/>
          </p:cNvSpPr>
          <p:nvPr/>
        </p:nvSpPr>
        <p:spPr>
          <a:xfrm>
            <a:off x="617220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8" name="c"/>
          <p:cNvSpPr>
            <a:spLocks noGrp="1"/>
          </p:cNvSpPr>
          <p:nvPr/>
        </p:nvSpPr>
        <p:spPr>
          <a:xfrm>
            <a:off x="658368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4" name="ct2"/>
          <p:cNvSpPr txBox="1">
            <a:spLocks noGrp="1"/>
          </p:cNvSpPr>
          <p:nvPr/>
        </p:nvSpPr>
        <p:spPr>
          <a:xfrm>
            <a:off x="658368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9" name="c"/>
          <p:cNvSpPr>
            <a:spLocks noGrp="1"/>
          </p:cNvSpPr>
          <p:nvPr/>
        </p:nvSpPr>
        <p:spPr>
          <a:xfrm>
            <a:off x="69951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5" name="ct2"/>
          <p:cNvSpPr txBox="1">
            <a:spLocks noGrp="1"/>
          </p:cNvSpPr>
          <p:nvPr/>
        </p:nvSpPr>
        <p:spPr>
          <a:xfrm>
            <a:off x="69951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31" name="db"/>
          <p:cNvSpPr>
            <a:spLocks noGrp="1"/>
          </p:cNvSpPr>
          <p:nvPr/>
        </p:nvSpPr>
        <p:spPr>
          <a:xfrm>
            <a:off x="722376" y="4059936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32" name="dt"/>
          <p:cNvSpPr txBox="1">
            <a:spLocks noGrp="1"/>
          </p:cNvSpPr>
          <p:nvPr/>
        </p:nvSpPr>
        <p:spPr>
          <a:xfrm>
            <a:off x="777240" y="405993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Sin KEDB — gestion informal</a:t>
            </a:r>
          </a:p>
        </p:txBody>
      </p:sp>
      <p:sp>
        <p:nvSpPr>
          <p:cNvPr id="533" name="c"/>
          <p:cNvSpPr>
            <a:spLocks noGrp="1"/>
          </p:cNvSpPr>
          <p:nvPr/>
        </p:nvSpPr>
        <p:spPr>
          <a:xfrm>
            <a:off x="28803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534" name="ct2"/>
          <p:cNvSpPr txBox="1">
            <a:spLocks noGrp="1"/>
          </p:cNvSpPr>
          <p:nvPr/>
        </p:nvSpPr>
        <p:spPr>
          <a:xfrm>
            <a:off x="28803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5" name="c"/>
          <p:cNvSpPr>
            <a:spLocks noGrp="1"/>
          </p:cNvSpPr>
          <p:nvPr/>
        </p:nvSpPr>
        <p:spPr>
          <a:xfrm>
            <a:off x="329184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536" name="ct2"/>
          <p:cNvSpPr txBox="1">
            <a:spLocks noGrp="1"/>
          </p:cNvSpPr>
          <p:nvPr/>
        </p:nvSpPr>
        <p:spPr>
          <a:xfrm>
            <a:off x="329184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7" name="c"/>
          <p:cNvSpPr>
            <a:spLocks noGrp="1"/>
          </p:cNvSpPr>
          <p:nvPr/>
        </p:nvSpPr>
        <p:spPr>
          <a:xfrm>
            <a:off x="370332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37" name="ct2"/>
          <p:cNvSpPr txBox="1">
            <a:spLocks noGrp="1"/>
          </p:cNvSpPr>
          <p:nvPr/>
        </p:nvSpPr>
        <p:spPr>
          <a:xfrm>
            <a:off x="370332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8" name="c"/>
          <p:cNvSpPr>
            <a:spLocks noGrp="1"/>
          </p:cNvSpPr>
          <p:nvPr/>
        </p:nvSpPr>
        <p:spPr>
          <a:xfrm>
            <a:off x="411480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38" name="ct2"/>
          <p:cNvSpPr txBox="1">
            <a:spLocks noGrp="1"/>
          </p:cNvSpPr>
          <p:nvPr/>
        </p:nvSpPr>
        <p:spPr>
          <a:xfrm>
            <a:off x="411480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9" name="c"/>
          <p:cNvSpPr>
            <a:spLocks noGrp="1"/>
          </p:cNvSpPr>
          <p:nvPr/>
        </p:nvSpPr>
        <p:spPr>
          <a:xfrm>
            <a:off x="4526280" y="405993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39" name="ct2"/>
          <p:cNvSpPr txBox="1">
            <a:spLocks noGrp="1"/>
          </p:cNvSpPr>
          <p:nvPr/>
        </p:nvSpPr>
        <p:spPr>
          <a:xfrm>
            <a:off x="452628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40" name="c"/>
          <p:cNvSpPr>
            <a:spLocks noGrp="1"/>
          </p:cNvSpPr>
          <p:nvPr/>
        </p:nvSpPr>
        <p:spPr>
          <a:xfrm>
            <a:off x="49377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0" name="ct2"/>
          <p:cNvSpPr txBox="1">
            <a:spLocks noGrp="1"/>
          </p:cNvSpPr>
          <p:nvPr/>
        </p:nvSpPr>
        <p:spPr>
          <a:xfrm>
            <a:off x="49377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1" name="c"/>
          <p:cNvSpPr>
            <a:spLocks noGrp="1"/>
          </p:cNvSpPr>
          <p:nvPr/>
        </p:nvSpPr>
        <p:spPr>
          <a:xfrm>
            <a:off x="534924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1" name="ct2"/>
          <p:cNvSpPr txBox="1">
            <a:spLocks noGrp="1"/>
          </p:cNvSpPr>
          <p:nvPr/>
        </p:nvSpPr>
        <p:spPr>
          <a:xfrm>
            <a:off x="534924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2" name="c"/>
          <p:cNvSpPr>
            <a:spLocks noGrp="1"/>
          </p:cNvSpPr>
          <p:nvPr/>
        </p:nvSpPr>
        <p:spPr>
          <a:xfrm>
            <a:off x="576072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2" name="ct2"/>
          <p:cNvSpPr txBox="1">
            <a:spLocks noGrp="1"/>
          </p:cNvSpPr>
          <p:nvPr/>
        </p:nvSpPr>
        <p:spPr>
          <a:xfrm>
            <a:off x="576072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3" name="c"/>
          <p:cNvSpPr>
            <a:spLocks noGrp="1"/>
          </p:cNvSpPr>
          <p:nvPr/>
        </p:nvSpPr>
        <p:spPr>
          <a:xfrm>
            <a:off x="617220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3" name="ct2"/>
          <p:cNvSpPr txBox="1">
            <a:spLocks noGrp="1"/>
          </p:cNvSpPr>
          <p:nvPr/>
        </p:nvSpPr>
        <p:spPr>
          <a:xfrm>
            <a:off x="617220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4" name="c"/>
          <p:cNvSpPr>
            <a:spLocks noGrp="1"/>
          </p:cNvSpPr>
          <p:nvPr/>
        </p:nvSpPr>
        <p:spPr>
          <a:xfrm>
            <a:off x="658368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4" name="ct2"/>
          <p:cNvSpPr txBox="1">
            <a:spLocks noGrp="1"/>
          </p:cNvSpPr>
          <p:nvPr/>
        </p:nvSpPr>
        <p:spPr>
          <a:xfrm>
            <a:off x="658368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5" name="c"/>
          <p:cNvSpPr>
            <a:spLocks noGrp="1"/>
          </p:cNvSpPr>
          <p:nvPr/>
        </p:nvSpPr>
        <p:spPr>
          <a:xfrm>
            <a:off x="69951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</p:sp>
      <p:sp>
        <p:nvSpPr>
          <p:cNvPr id="245" name="ct2"/>
          <p:cNvSpPr txBox="1">
            <a:spLocks noGrp="1"/>
          </p:cNvSpPr>
          <p:nvPr/>
        </p:nvSpPr>
        <p:spPr>
          <a:xfrm>
            <a:off x="69951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7" name="db"/>
          <p:cNvSpPr>
            <a:spLocks noGrp="1"/>
          </p:cNvSpPr>
          <p:nvPr/>
        </p:nvSpPr>
        <p:spPr>
          <a:xfrm>
            <a:off x="722376" y="4279392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</p:sp>
      <p:sp>
        <p:nvSpPr>
          <p:cNvPr id="548" name="dt"/>
          <p:cNvSpPr txBox="1">
            <a:spLocks noGrp="1"/>
          </p:cNvSpPr>
          <p:nvPr/>
        </p:nvSpPr>
        <p:spPr>
          <a:xfrm>
            <a:off x="777240" y="427939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549" name="c"/>
          <p:cNvSpPr>
            <a:spLocks noGrp="1"/>
          </p:cNvSpPr>
          <p:nvPr/>
        </p:nvSpPr>
        <p:spPr>
          <a:xfrm>
            <a:off x="288036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550" name="ct2"/>
          <p:cNvSpPr txBox="1">
            <a:spLocks noGrp="1"/>
          </p:cNvSpPr>
          <p:nvPr/>
        </p:nvSpPr>
        <p:spPr>
          <a:xfrm>
            <a:off x="28803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1" name="c"/>
          <p:cNvSpPr>
            <a:spLocks noGrp="1"/>
          </p:cNvSpPr>
          <p:nvPr/>
        </p:nvSpPr>
        <p:spPr>
          <a:xfrm>
            <a:off x="329184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552" name="ct2"/>
          <p:cNvSpPr txBox="1">
            <a:spLocks noGrp="1"/>
          </p:cNvSpPr>
          <p:nvPr/>
        </p:nvSpPr>
        <p:spPr>
          <a:xfrm>
            <a:off x="329184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3" name="c"/>
          <p:cNvSpPr>
            <a:spLocks noGrp="1"/>
          </p:cNvSpPr>
          <p:nvPr/>
        </p:nvSpPr>
        <p:spPr>
          <a:xfrm>
            <a:off x="370332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7" name="ct2"/>
          <p:cNvSpPr txBox="1">
            <a:spLocks noGrp="1"/>
          </p:cNvSpPr>
          <p:nvPr/>
        </p:nvSpPr>
        <p:spPr>
          <a:xfrm>
            <a:off x="370332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4" name="c"/>
          <p:cNvSpPr>
            <a:spLocks noGrp="1"/>
          </p:cNvSpPr>
          <p:nvPr/>
        </p:nvSpPr>
        <p:spPr>
          <a:xfrm>
            <a:off x="411480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8" name="ct2"/>
          <p:cNvSpPr txBox="1">
            <a:spLocks noGrp="1"/>
          </p:cNvSpPr>
          <p:nvPr/>
        </p:nvSpPr>
        <p:spPr>
          <a:xfrm>
            <a:off x="411480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5" name="c"/>
          <p:cNvSpPr>
            <a:spLocks noGrp="1"/>
          </p:cNvSpPr>
          <p:nvPr/>
        </p:nvSpPr>
        <p:spPr>
          <a:xfrm>
            <a:off x="452628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49" name="ct2"/>
          <p:cNvSpPr txBox="1">
            <a:spLocks noGrp="1"/>
          </p:cNvSpPr>
          <p:nvPr/>
        </p:nvSpPr>
        <p:spPr>
          <a:xfrm>
            <a:off x="452628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6" name="c"/>
          <p:cNvSpPr>
            <a:spLocks noGrp="1"/>
          </p:cNvSpPr>
          <p:nvPr/>
        </p:nvSpPr>
        <p:spPr>
          <a:xfrm>
            <a:off x="4937760" y="427939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</p:sp>
      <p:sp>
        <p:nvSpPr>
          <p:cNvPr id="250" name="ct2"/>
          <p:cNvSpPr txBox="1">
            <a:spLocks noGrp="1"/>
          </p:cNvSpPr>
          <p:nvPr/>
        </p:nvSpPr>
        <p:spPr>
          <a:xfrm>
            <a:off x="49377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57" name="c"/>
          <p:cNvSpPr>
            <a:spLocks noGrp="1"/>
          </p:cNvSpPr>
          <p:nvPr/>
        </p:nvSpPr>
        <p:spPr>
          <a:xfrm>
            <a:off x="534924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1" name="ct2"/>
          <p:cNvSpPr txBox="1">
            <a:spLocks noGrp="1"/>
          </p:cNvSpPr>
          <p:nvPr/>
        </p:nvSpPr>
        <p:spPr>
          <a:xfrm>
            <a:off x="534924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8" name="c"/>
          <p:cNvSpPr>
            <a:spLocks noGrp="1"/>
          </p:cNvSpPr>
          <p:nvPr/>
        </p:nvSpPr>
        <p:spPr>
          <a:xfrm>
            <a:off x="576072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2" name="ct2"/>
          <p:cNvSpPr txBox="1">
            <a:spLocks noGrp="1"/>
          </p:cNvSpPr>
          <p:nvPr/>
        </p:nvSpPr>
        <p:spPr>
          <a:xfrm>
            <a:off x="576072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9" name="c"/>
          <p:cNvSpPr>
            <a:spLocks noGrp="1"/>
          </p:cNvSpPr>
          <p:nvPr/>
        </p:nvSpPr>
        <p:spPr>
          <a:xfrm>
            <a:off x="617220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3" name="ct2"/>
          <p:cNvSpPr txBox="1">
            <a:spLocks noGrp="1"/>
          </p:cNvSpPr>
          <p:nvPr/>
        </p:nvSpPr>
        <p:spPr>
          <a:xfrm>
            <a:off x="617220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60" name="c"/>
          <p:cNvSpPr>
            <a:spLocks noGrp="1"/>
          </p:cNvSpPr>
          <p:nvPr/>
        </p:nvSpPr>
        <p:spPr>
          <a:xfrm>
            <a:off x="658368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4" name="ct2"/>
          <p:cNvSpPr txBox="1">
            <a:spLocks noGrp="1"/>
          </p:cNvSpPr>
          <p:nvPr/>
        </p:nvSpPr>
        <p:spPr>
          <a:xfrm>
            <a:off x="658368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61" name="c"/>
          <p:cNvSpPr>
            <a:spLocks noGrp="1"/>
          </p:cNvSpPr>
          <p:nvPr/>
        </p:nvSpPr>
        <p:spPr>
          <a:xfrm>
            <a:off x="699516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</p:sp>
      <p:sp>
        <p:nvSpPr>
          <p:cNvPr id="255" name="ct2"/>
          <p:cNvSpPr txBox="1">
            <a:spLocks noGrp="1"/>
          </p:cNvSpPr>
          <p:nvPr/>
        </p:nvSpPr>
        <p:spPr>
          <a:xfrm>
            <a:off x="69951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</p:spTree>
    <p:extLst>
      <p:ext uri="{BB962C8B-B14F-4D97-AF65-F5344CB8AC3E}">
        <p14:creationId xmlns:p14="http://schemas.microsoft.com/office/powerpoint/2010/main" val="2415958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8904784-1FEF-360A-E160-2DD109EE14D0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950" b="1">
                <a:solidFill>
                  <a:srgbClr val="132346"/>
                </a:solidFill>
                <a:latin typeface="Calibri"/>
                <a:ea typeface="Calibri"/>
                <a:cs typeface="Calibri"/>
              </a:rPr>
              <a:t>Oportunidades de Mejora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2F1F850-60C9-69E7-8C44-E9DDCD2E8873}"/>
              </a:ext>
            </a:extLst>
          </p:cNvPr>
          <p:cNvSpPr/>
          <p:nvPr/>
        </p:nvSpPr>
        <p:spPr>
          <a:xfrm>
            <a:off x="310243" y="723900"/>
            <a:ext cx="4120242" cy="3690257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F939E145-84D0-7046-ED8F-566B78FC8998}"/>
              </a:ext>
            </a:extLst>
          </p:cNvPr>
          <p:cNvSpPr/>
          <p:nvPr/>
        </p:nvSpPr>
        <p:spPr>
          <a:xfrm>
            <a:off x="310243" y="723900"/>
            <a:ext cx="4120242" cy="685800"/>
          </a:xfrm>
          <a:prstGeom prst="rect">
            <a:avLst/>
          </a:prstGeom>
          <a:solidFill>
            <a:srgbClr val="017490"/>
          </a:solidFill>
          <a:ln/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8A55A45D-D824-9EB3-C40C-A9680A059E13}"/>
              </a:ext>
            </a:extLst>
          </p:cNvPr>
          <p:cNvSpPr/>
          <p:nvPr/>
        </p:nvSpPr>
        <p:spPr>
          <a:xfrm>
            <a:off x="481693" y="837655"/>
            <a:ext cx="3940628" cy="332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Las mesas actuales necesitan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38EC3BC-83FE-049B-BAC2-DFB58B39162D}"/>
              </a:ext>
            </a:extLst>
          </p:cNvPr>
          <p:cNvSpPr/>
          <p:nvPr/>
        </p:nvSpPr>
        <p:spPr>
          <a:xfrm>
            <a:off x="484959" y="1526721"/>
            <a:ext cx="3877491" cy="2635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Formalizar RACI y niveles en todas las mesas </a:t>
            </a:r>
            <a:endParaRPr lang="es-CO" sz="900">
              <a:solidFill>
                <a:srgbClr val="1C1C1C"/>
              </a:solidFill>
              <a:latin typeface="Reddit Sans"/>
              <a:ea typeface="Reddit Sans"/>
              <a:cs typeface="Calibri Light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CSAT básico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Documentar KEDB mínimo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Dashboard</a:t>
            </a: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para las mesas de servicio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Dashboard para la operación de </a:t>
            </a: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PersonalSoft</a:t>
            </a: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automatizaciones (mesas de soporte, gestión de horas extras y recargos) (dolores de XM y Bancolombia)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el Top tendencia, para predecir comportamiento inusual (Bancolombia lo hace)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un plan carrera (Bancolombia lo hace)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Modelo de gestión del conocimiento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Se necesita un modo de dimensionamiento para las capacidades de soporte, disponibilidad y roles del equipo.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spcAft>
                <a:spcPts val="900"/>
              </a:spcAft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Definir un modelo de gobierno</a:t>
            </a:r>
            <a:endParaRPr lang="es-CO" sz="900">
              <a:latin typeface="Reddit Sans"/>
              <a:ea typeface="Reddit Sans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450DD2F-8092-F4F3-9041-C6D9786E0224}"/>
              </a:ext>
            </a:extLst>
          </p:cNvPr>
          <p:cNvSpPr/>
          <p:nvPr/>
        </p:nvSpPr>
        <p:spPr>
          <a:xfrm>
            <a:off x="4493406" y="723900"/>
            <a:ext cx="4430485" cy="3690257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14796837-BFCD-EAAD-6CB4-5BEFD896C81D}"/>
              </a:ext>
            </a:extLst>
          </p:cNvPr>
          <p:cNvSpPr/>
          <p:nvPr/>
        </p:nvSpPr>
        <p:spPr>
          <a:xfrm>
            <a:off x="4493406" y="723900"/>
            <a:ext cx="4430485" cy="6858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85B0F7B-4D98-D2F1-EA0A-AD1245E4CEB7}"/>
              </a:ext>
            </a:extLst>
          </p:cNvPr>
          <p:cNvSpPr/>
          <p:nvPr/>
        </p:nvSpPr>
        <p:spPr>
          <a:xfrm>
            <a:off x="4719284" y="837655"/>
            <a:ext cx="4294414" cy="462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Mesa de Servicio de Nueva Generación (Next Gent)</a:t>
            </a:r>
            <a:endParaRPr lang="en-US" sz="165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630686D-7B38-75EB-D3F4-D22F080F0174}"/>
              </a:ext>
            </a:extLst>
          </p:cNvPr>
          <p:cNvSpPr/>
          <p:nvPr/>
        </p:nvSpPr>
        <p:spPr>
          <a:xfrm>
            <a:off x="4787864" y="1526721"/>
            <a:ext cx="2331720" cy="2091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Autoservicio ≥ 50%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AIOps</a:t>
            </a: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en producción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Pricing</a:t>
            </a: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por </a:t>
            </a: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outcomes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Insight</a:t>
            </a: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del mercado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Conocimiento de Negocio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Referente del sector</a:t>
            </a:r>
            <a:endParaRPr lang="en-US" sz="900">
              <a:solidFill>
                <a:srgbClr val="1C1C1C"/>
              </a:solidFill>
              <a:latin typeface="Reddit Sans"/>
              <a:ea typeface="Reddit Sans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3737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A5640-8028-37AE-5A26-6AFA696A5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15" y="178621"/>
            <a:ext cx="8232771" cy="398529"/>
          </a:xfrm>
        </p:spPr>
        <p:txBody>
          <a:bodyPr>
            <a:normAutofit fontScale="90000"/>
          </a:bodyPr>
          <a:lstStyle/>
          <a:p>
            <a:r>
              <a:rPr lang="en-US" err="1"/>
              <a:t>Visualización</a:t>
            </a:r>
            <a:r>
              <a:rPr lang="en-US"/>
              <a:t>: Benchmarks de </a:t>
            </a:r>
            <a:r>
              <a:rPr lang="es-CO"/>
              <a:t>industria</a:t>
            </a:r>
            <a:r>
              <a:rPr lang="es-CO" sz="1200"/>
              <a:t> </a:t>
            </a:r>
          </a:p>
        </p:txBody>
      </p:sp>
      <p:sp>
        <p:nvSpPr>
          <p:cNvPr id="102" name="txt102"/>
          <p:cNvSpPr>
            <a:spLocks noGrp="1"/>
          </p:cNvSpPr>
          <p:nvPr/>
        </p:nvSpPr>
        <p:spPr>
          <a:xfrm>
            <a:off x="311331" y="631155"/>
            <a:ext cx="8412480" cy="237744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CO" sz="1200" spc="-25">
                <a:solidFill>
                  <a:srgbClr val="595959"/>
                </a:solidFill>
                <a:latin typeface="Reddit Sans"/>
                <a:ea typeface="Reddit Sans"/>
              </a:rPr>
              <a:t>Promedio industria vs. World-Class vs. Next Gen Objetivo</a:t>
            </a:r>
          </a:p>
        </p:txBody>
      </p:sp>
      <p:sp>
        <p:nvSpPr>
          <p:cNvPr id="103" name="txt103"/>
          <p:cNvSpPr>
            <a:spLocks noGrp="1"/>
          </p:cNvSpPr>
          <p:nvPr/>
        </p:nvSpPr>
        <p:spPr>
          <a:xfrm>
            <a:off x="274320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FCR (First Contact Resolution)</a:t>
            </a:r>
          </a:p>
        </p:txBody>
      </p:sp>
      <p:sp>
        <p:nvSpPr>
          <p:cNvPr id="104" name="bar104"/>
          <p:cNvSpPr/>
          <p:nvPr/>
        </p:nvSpPr>
        <p:spPr>
          <a:xfrm>
            <a:off x="32004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5" name="bar105"/>
          <p:cNvSpPr/>
          <p:nvPr/>
        </p:nvSpPr>
        <p:spPr>
          <a:xfrm>
            <a:off x="320040" y="1481328"/>
            <a:ext cx="1725473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txt106"/>
          <p:cNvSpPr>
            <a:spLocks noGrp="1"/>
          </p:cNvSpPr>
          <p:nvPr/>
        </p:nvSpPr>
        <p:spPr>
          <a:xfrm>
            <a:off x="320040" y="1472184"/>
            <a:ext cx="1707185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74%</a:t>
            </a:r>
          </a:p>
        </p:txBody>
      </p:sp>
      <p:sp>
        <p:nvSpPr>
          <p:cNvPr id="107" name="txt107"/>
          <p:cNvSpPr>
            <a:spLocks noGrp="1"/>
          </p:cNvSpPr>
          <p:nvPr/>
        </p:nvSpPr>
        <p:spPr>
          <a:xfrm>
            <a:off x="320040" y="1687068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Promedio industria</a:t>
            </a:r>
          </a:p>
        </p:txBody>
      </p:sp>
      <p:sp>
        <p:nvSpPr>
          <p:cNvPr id="108" name="bar108"/>
          <p:cNvSpPr/>
          <p:nvPr/>
        </p:nvSpPr>
        <p:spPr>
          <a:xfrm>
            <a:off x="320040" y="1956816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bar109"/>
          <p:cNvSpPr/>
          <p:nvPr/>
        </p:nvSpPr>
        <p:spPr>
          <a:xfrm>
            <a:off x="320040" y="1956816"/>
            <a:ext cx="1865376" cy="201168"/>
          </a:xfrm>
          <a:prstGeom prst="roundRect">
            <a:avLst>
              <a:gd name="adj" fmla="val 25000"/>
            </a:avLst>
          </a:prstGeom>
          <a:solidFill>
            <a:srgbClr val="13234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txt110"/>
          <p:cNvSpPr>
            <a:spLocks noGrp="1"/>
          </p:cNvSpPr>
          <p:nvPr/>
        </p:nvSpPr>
        <p:spPr>
          <a:xfrm>
            <a:off x="320040" y="1947672"/>
            <a:ext cx="1847088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80%+</a:t>
            </a:r>
          </a:p>
        </p:txBody>
      </p:sp>
      <p:sp>
        <p:nvSpPr>
          <p:cNvPr id="111" name="txt111"/>
          <p:cNvSpPr>
            <a:spLocks noGrp="1"/>
          </p:cNvSpPr>
          <p:nvPr/>
        </p:nvSpPr>
        <p:spPr>
          <a:xfrm>
            <a:off x="320040" y="2162556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World-Class</a:t>
            </a:r>
          </a:p>
        </p:txBody>
      </p:sp>
      <p:sp>
        <p:nvSpPr>
          <p:cNvPr id="112" name="bar112"/>
          <p:cNvSpPr/>
          <p:nvPr/>
        </p:nvSpPr>
        <p:spPr>
          <a:xfrm>
            <a:off x="320040" y="2432304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bar113"/>
          <p:cNvSpPr/>
          <p:nvPr/>
        </p:nvSpPr>
        <p:spPr>
          <a:xfrm>
            <a:off x="320040" y="2432304"/>
            <a:ext cx="1981962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txt114"/>
          <p:cNvSpPr>
            <a:spLocks noGrp="1"/>
          </p:cNvSpPr>
          <p:nvPr/>
        </p:nvSpPr>
        <p:spPr>
          <a:xfrm>
            <a:off x="320040" y="2423160"/>
            <a:ext cx="1963674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85%+</a:t>
            </a:r>
          </a:p>
        </p:txBody>
      </p:sp>
      <p:sp>
        <p:nvSpPr>
          <p:cNvPr id="115" name="txt115"/>
          <p:cNvSpPr>
            <a:spLocks noGrp="1"/>
          </p:cNvSpPr>
          <p:nvPr/>
        </p:nvSpPr>
        <p:spPr>
          <a:xfrm>
            <a:off x="320040" y="2638044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Objetivo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 (N5)</a:t>
            </a:r>
          </a:p>
        </p:txBody>
      </p:sp>
      <p:sp>
        <p:nvSpPr>
          <p:cNvPr id="116" name="txt116"/>
          <p:cNvSpPr>
            <a:spLocks noGrp="1"/>
          </p:cNvSpPr>
          <p:nvPr/>
        </p:nvSpPr>
        <p:spPr>
          <a:xfrm>
            <a:off x="274320" y="3112008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Deflection Rate</a:t>
            </a:r>
          </a:p>
        </p:txBody>
      </p:sp>
      <p:sp>
        <p:nvSpPr>
          <p:cNvPr id="117" name="bar117"/>
          <p:cNvSpPr/>
          <p:nvPr/>
        </p:nvSpPr>
        <p:spPr>
          <a:xfrm>
            <a:off x="320040" y="3467971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bar118"/>
          <p:cNvSpPr/>
          <p:nvPr/>
        </p:nvSpPr>
        <p:spPr>
          <a:xfrm>
            <a:off x="320040" y="3467971"/>
            <a:ext cx="536296" cy="201168"/>
          </a:xfrm>
          <a:prstGeom prst="roundRect">
            <a:avLst>
              <a:gd name="adj" fmla="val 25000"/>
            </a:avLst>
          </a:prstGeom>
          <a:solidFill>
            <a:srgbClr val="7A797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9" name="txt119"/>
          <p:cNvSpPr>
            <a:spLocks noGrp="1"/>
          </p:cNvSpPr>
          <p:nvPr/>
        </p:nvSpPr>
        <p:spPr>
          <a:xfrm>
            <a:off x="902056" y="3458827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7A7974"/>
                </a:solidFill>
                <a:latin typeface="Aptos"/>
              </a:rPr>
              <a:t>23%</a:t>
            </a:r>
            <a:r>
              <a:rPr lang="es-CO" sz="950" b="0">
                <a:solidFill>
                  <a:srgbClr val="7A7A7A"/>
                </a:solidFill>
                <a:latin typeface="Aptos"/>
              </a:rPr>
              <a:t>  industria</a:t>
            </a:r>
          </a:p>
        </p:txBody>
      </p:sp>
      <p:sp>
        <p:nvSpPr>
          <p:cNvPr id="120" name="bar120"/>
          <p:cNvSpPr/>
          <p:nvPr/>
        </p:nvSpPr>
        <p:spPr>
          <a:xfrm>
            <a:off x="320040" y="3778867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1" name="bar121"/>
          <p:cNvSpPr/>
          <p:nvPr/>
        </p:nvSpPr>
        <p:spPr>
          <a:xfrm>
            <a:off x="320040" y="3778867"/>
            <a:ext cx="1165860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txt122"/>
          <p:cNvSpPr>
            <a:spLocks noGrp="1"/>
          </p:cNvSpPr>
          <p:nvPr/>
        </p:nvSpPr>
        <p:spPr>
          <a:xfrm>
            <a:off x="1508760" y="3769723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237B89"/>
                </a:solidFill>
                <a:latin typeface="Aptos"/>
              </a:rPr>
              <a:t>50%</a:t>
            </a:r>
            <a:r>
              <a:rPr lang="es-CO" sz="950" b="0">
                <a:solidFill>
                  <a:srgbClr val="7A7A7A"/>
                </a:solidFill>
                <a:latin typeface="Aptos"/>
              </a:rPr>
              <a:t>  maduro</a:t>
            </a:r>
          </a:p>
        </p:txBody>
      </p:sp>
      <p:sp>
        <p:nvSpPr>
          <p:cNvPr id="123" name="bar123"/>
          <p:cNvSpPr/>
          <p:nvPr/>
        </p:nvSpPr>
        <p:spPr>
          <a:xfrm>
            <a:off x="320040" y="4089763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4" name="bar124"/>
          <p:cNvSpPr/>
          <p:nvPr/>
        </p:nvSpPr>
        <p:spPr>
          <a:xfrm>
            <a:off x="320040" y="4089763"/>
            <a:ext cx="2098548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5" name="txt125"/>
          <p:cNvSpPr>
            <a:spLocks noGrp="1"/>
          </p:cNvSpPr>
          <p:nvPr/>
        </p:nvSpPr>
        <p:spPr>
          <a:xfrm>
            <a:off x="1508760" y="4080619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D4A017"/>
                </a:solidFill>
                <a:latin typeface="Aptos"/>
              </a:rPr>
              <a:t>90%+</a:t>
            </a:r>
          </a:p>
        </p:txBody>
      </p:sp>
      <p:sp>
        <p:nvSpPr>
          <p:cNvPr id="126" name="txt126"/>
          <p:cNvSpPr>
            <a:spLocks noGrp="1"/>
          </p:cNvSpPr>
          <p:nvPr/>
        </p:nvSpPr>
        <p:spPr>
          <a:xfrm>
            <a:off x="320040" y="4400659"/>
            <a:ext cx="274320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IA </a:t>
            </a:r>
            <a:r>
              <a:rPr lang="es-CO" sz="850" b="0" err="1">
                <a:solidFill>
                  <a:srgbClr val="7A7A7A"/>
                </a:solidFill>
                <a:latin typeface="Aptos"/>
              </a:rPr>
              <a:t>agéntica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 (casos líderes)</a:t>
            </a:r>
          </a:p>
        </p:txBody>
      </p:sp>
      <p:sp>
        <p:nvSpPr>
          <p:cNvPr id="127" name="txt127"/>
          <p:cNvSpPr>
            <a:spLocks noGrp="1"/>
          </p:cNvSpPr>
          <p:nvPr/>
        </p:nvSpPr>
        <p:spPr>
          <a:xfrm>
            <a:off x="3107871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MTTR (Mean Time to Resolution)</a:t>
            </a:r>
          </a:p>
        </p:txBody>
      </p:sp>
      <p:sp>
        <p:nvSpPr>
          <p:cNvPr id="128" name="bar128"/>
          <p:cNvSpPr/>
          <p:nvPr/>
        </p:nvSpPr>
        <p:spPr>
          <a:xfrm>
            <a:off x="324612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bar129"/>
          <p:cNvSpPr/>
          <p:nvPr/>
        </p:nvSpPr>
        <p:spPr>
          <a:xfrm>
            <a:off x="324612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A5442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0" name="txt130"/>
          <p:cNvSpPr>
            <a:spLocks noGrp="1"/>
          </p:cNvSpPr>
          <p:nvPr/>
        </p:nvSpPr>
        <p:spPr>
          <a:xfrm>
            <a:off x="3246120" y="1472184"/>
            <a:ext cx="2313432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8.85h</a:t>
            </a:r>
          </a:p>
        </p:txBody>
      </p:sp>
      <p:sp>
        <p:nvSpPr>
          <p:cNvPr id="131" name="txt131"/>
          <p:cNvSpPr>
            <a:spLocks noGrp="1"/>
          </p:cNvSpPr>
          <p:nvPr/>
        </p:nvSpPr>
        <p:spPr>
          <a:xfrm>
            <a:off x="3246120" y="1737360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Bueno</a:t>
            </a:r>
          </a:p>
        </p:txBody>
      </p:sp>
      <p:sp>
        <p:nvSpPr>
          <p:cNvPr id="132" name="bar132"/>
          <p:cNvSpPr/>
          <p:nvPr/>
        </p:nvSpPr>
        <p:spPr>
          <a:xfrm>
            <a:off x="3246120" y="1901952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3" name="bar133"/>
          <p:cNvSpPr/>
          <p:nvPr/>
        </p:nvSpPr>
        <p:spPr>
          <a:xfrm>
            <a:off x="3246120" y="1901952"/>
            <a:ext cx="1049274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txt134"/>
          <p:cNvSpPr>
            <a:spLocks noGrp="1"/>
          </p:cNvSpPr>
          <p:nvPr/>
        </p:nvSpPr>
        <p:spPr>
          <a:xfrm>
            <a:off x="3246120" y="1892808"/>
            <a:ext cx="1030986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&lt;4h</a:t>
            </a:r>
          </a:p>
        </p:txBody>
      </p:sp>
      <p:sp>
        <p:nvSpPr>
          <p:cNvPr id="135" name="txt135"/>
          <p:cNvSpPr>
            <a:spLocks noGrp="1"/>
          </p:cNvSpPr>
          <p:nvPr/>
        </p:nvSpPr>
        <p:spPr>
          <a:xfrm>
            <a:off x="3246120" y="2157984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World-Class</a:t>
            </a:r>
          </a:p>
        </p:txBody>
      </p:sp>
      <p:sp>
        <p:nvSpPr>
          <p:cNvPr id="136" name="bar136"/>
          <p:cNvSpPr/>
          <p:nvPr/>
        </p:nvSpPr>
        <p:spPr>
          <a:xfrm>
            <a:off x="3246120" y="2322576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bar137"/>
          <p:cNvSpPr/>
          <p:nvPr/>
        </p:nvSpPr>
        <p:spPr>
          <a:xfrm>
            <a:off x="3246120" y="2322576"/>
            <a:ext cx="349758" cy="201168"/>
          </a:xfrm>
          <a:prstGeom prst="roundRect">
            <a:avLst>
              <a:gd name="adj" fmla="val 25000"/>
            </a:avLst>
          </a:prstGeom>
          <a:solidFill>
            <a:srgbClr val="13234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8" name="txt138"/>
          <p:cNvSpPr>
            <a:spLocks noGrp="1"/>
          </p:cNvSpPr>
          <p:nvPr/>
        </p:nvSpPr>
        <p:spPr>
          <a:xfrm>
            <a:off x="3623310" y="2313432"/>
            <a:ext cx="73152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132346"/>
                </a:solidFill>
                <a:latin typeface="Aptos"/>
              </a:rPr>
              <a:t>&lt;1h</a:t>
            </a:r>
          </a:p>
        </p:txBody>
      </p:sp>
      <p:sp>
        <p:nvSpPr>
          <p:cNvPr id="139" name="txt139"/>
          <p:cNvSpPr>
            <a:spLocks noGrp="1"/>
          </p:cNvSpPr>
          <p:nvPr/>
        </p:nvSpPr>
        <p:spPr>
          <a:xfrm>
            <a:off x="3246120" y="2578608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(N5)</a:t>
            </a:r>
          </a:p>
        </p:txBody>
      </p:sp>
      <p:sp>
        <p:nvSpPr>
          <p:cNvPr id="140" name="bar140"/>
          <p:cNvSpPr/>
          <p:nvPr/>
        </p:nvSpPr>
        <p:spPr>
          <a:xfrm>
            <a:off x="3246120" y="2743200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1" name="bar141"/>
          <p:cNvSpPr/>
          <p:nvPr/>
        </p:nvSpPr>
        <p:spPr>
          <a:xfrm>
            <a:off x="3246120" y="2743200"/>
            <a:ext cx="582930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2" name="txt142"/>
          <p:cNvSpPr>
            <a:spLocks noGrp="1"/>
          </p:cNvSpPr>
          <p:nvPr/>
        </p:nvSpPr>
        <p:spPr>
          <a:xfrm>
            <a:off x="3856482" y="2734056"/>
            <a:ext cx="73152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D4A017"/>
                </a:solidFill>
                <a:latin typeface="Aptos"/>
              </a:rPr>
              <a:t>&lt;2h</a:t>
            </a:r>
          </a:p>
        </p:txBody>
      </p:sp>
      <p:sp>
        <p:nvSpPr>
          <p:cNvPr id="143" name="txt143"/>
          <p:cNvSpPr>
            <a:spLocks noGrp="1"/>
          </p:cNvSpPr>
          <p:nvPr/>
        </p:nvSpPr>
        <p:spPr>
          <a:xfrm>
            <a:off x="3200400" y="3108960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Impacto GenAI en Métricas</a:t>
            </a:r>
          </a:p>
        </p:txBody>
      </p:sp>
      <p:sp>
        <p:nvSpPr>
          <p:cNvPr id="144" name="bar144"/>
          <p:cNvSpPr/>
          <p:nvPr/>
        </p:nvSpPr>
        <p:spPr>
          <a:xfrm>
            <a:off x="3200400" y="3419856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5" name="txt145"/>
          <p:cNvSpPr>
            <a:spLocks noGrp="1"/>
          </p:cNvSpPr>
          <p:nvPr/>
        </p:nvSpPr>
        <p:spPr>
          <a:xfrm>
            <a:off x="3291840" y="3419856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↓ MTTR</a:t>
            </a:r>
          </a:p>
        </p:txBody>
      </p:sp>
      <p:sp>
        <p:nvSpPr>
          <p:cNvPr id="146" name="txt146"/>
          <p:cNvSpPr>
            <a:spLocks noGrp="1"/>
          </p:cNvSpPr>
          <p:nvPr/>
        </p:nvSpPr>
        <p:spPr>
          <a:xfrm>
            <a:off x="4800600" y="3419856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A54426"/>
                </a:solidFill>
                <a:latin typeface="Aptos"/>
              </a:rPr>
              <a:t>−26.6%</a:t>
            </a:r>
          </a:p>
        </p:txBody>
      </p:sp>
      <p:sp>
        <p:nvSpPr>
          <p:cNvPr id="147" name="bar147"/>
          <p:cNvSpPr/>
          <p:nvPr/>
        </p:nvSpPr>
        <p:spPr>
          <a:xfrm>
            <a:off x="3200400" y="3730752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8" name="txt148"/>
          <p:cNvSpPr>
            <a:spLocks noGrp="1"/>
          </p:cNvSpPr>
          <p:nvPr/>
        </p:nvSpPr>
        <p:spPr>
          <a:xfrm>
            <a:off x="3291840" y="3730752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Resolución</a:t>
            </a:r>
          </a:p>
        </p:txBody>
      </p:sp>
      <p:sp>
        <p:nvSpPr>
          <p:cNvPr id="149" name="txt149"/>
          <p:cNvSpPr>
            <a:spLocks noGrp="1"/>
          </p:cNvSpPr>
          <p:nvPr/>
        </p:nvSpPr>
        <p:spPr>
          <a:xfrm>
            <a:off x="4800600" y="3730752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+34.6%</a:t>
            </a:r>
          </a:p>
        </p:txBody>
      </p:sp>
      <p:sp>
        <p:nvSpPr>
          <p:cNvPr id="150" name="bar150"/>
          <p:cNvSpPr/>
          <p:nvPr/>
        </p:nvSpPr>
        <p:spPr>
          <a:xfrm>
            <a:off x="3200400" y="4041648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1" name="txt151"/>
          <p:cNvSpPr>
            <a:spLocks noGrp="1"/>
          </p:cNvSpPr>
          <p:nvPr/>
        </p:nvSpPr>
        <p:spPr>
          <a:xfrm>
            <a:off x="3291840" y="4041648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CSAT c/espera</a:t>
            </a:r>
          </a:p>
        </p:txBody>
      </p:sp>
      <p:sp>
        <p:nvSpPr>
          <p:cNvPr id="152" name="txt152"/>
          <p:cNvSpPr>
            <a:spLocks noGrp="1"/>
          </p:cNvSpPr>
          <p:nvPr/>
        </p:nvSpPr>
        <p:spPr>
          <a:xfrm>
            <a:off x="4800600" y="4041648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+15–22 pts</a:t>
            </a:r>
          </a:p>
        </p:txBody>
      </p:sp>
      <p:sp>
        <p:nvSpPr>
          <p:cNvPr id="153" name="bar153"/>
          <p:cNvSpPr/>
          <p:nvPr/>
        </p:nvSpPr>
        <p:spPr>
          <a:xfrm>
            <a:off x="3200400" y="4352544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4" name="txt154"/>
          <p:cNvSpPr>
            <a:spLocks noGrp="1"/>
          </p:cNvSpPr>
          <p:nvPr/>
        </p:nvSpPr>
        <p:spPr>
          <a:xfrm>
            <a:off x="3291840" y="4352544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FCR con KCS+IA</a:t>
            </a:r>
          </a:p>
        </p:txBody>
      </p:sp>
      <p:sp>
        <p:nvSpPr>
          <p:cNvPr id="155" name="txt155"/>
          <p:cNvSpPr>
            <a:spLocks noGrp="1"/>
          </p:cNvSpPr>
          <p:nvPr/>
        </p:nvSpPr>
        <p:spPr>
          <a:xfrm>
            <a:off x="4800600" y="4352544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5–7 pts</a:t>
            </a:r>
          </a:p>
        </p:txBody>
      </p:sp>
      <p:sp>
        <p:nvSpPr>
          <p:cNvPr id="156" name="txt156"/>
          <p:cNvSpPr>
            <a:spLocks noGrp="1"/>
          </p:cNvSpPr>
          <p:nvPr/>
        </p:nvSpPr>
        <p:spPr>
          <a:xfrm>
            <a:off x="6126480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Costo por Ticket (USD)</a:t>
            </a:r>
          </a:p>
        </p:txBody>
      </p:sp>
      <p:sp>
        <p:nvSpPr>
          <p:cNvPr id="157" name="bar157"/>
          <p:cNvSpPr/>
          <p:nvPr/>
        </p:nvSpPr>
        <p:spPr>
          <a:xfrm>
            <a:off x="6172200" y="1481328"/>
            <a:ext cx="128016" cy="219456"/>
          </a:xfrm>
          <a:prstGeom prst="roundRect">
            <a:avLst>
              <a:gd name="adj" fmla="val 17500"/>
            </a:avLst>
          </a:prstGeom>
          <a:solidFill>
            <a:srgbClr val="4E7A3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8" name="txt158"/>
          <p:cNvSpPr>
            <a:spLocks noGrp="1"/>
          </p:cNvSpPr>
          <p:nvPr/>
        </p:nvSpPr>
        <p:spPr>
          <a:xfrm>
            <a:off x="6355080" y="1463040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N0: $2</a:t>
            </a:r>
          </a:p>
        </p:txBody>
      </p:sp>
      <p:sp>
        <p:nvSpPr>
          <p:cNvPr id="159" name="txt159"/>
          <p:cNvSpPr>
            <a:spLocks noGrp="1"/>
          </p:cNvSpPr>
          <p:nvPr/>
        </p:nvSpPr>
        <p:spPr>
          <a:xfrm>
            <a:off x="7863840" y="1463040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Autoservicio</a:t>
            </a:r>
          </a:p>
        </p:txBody>
      </p:sp>
      <p:sp>
        <p:nvSpPr>
          <p:cNvPr id="160" name="bar160"/>
          <p:cNvSpPr/>
          <p:nvPr/>
        </p:nvSpPr>
        <p:spPr>
          <a:xfrm>
            <a:off x="6172200" y="1810512"/>
            <a:ext cx="329184" cy="219456"/>
          </a:xfrm>
          <a:prstGeom prst="roundRect">
            <a:avLst>
              <a:gd name="adj" fmla="val 175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1" name="txt161"/>
          <p:cNvSpPr>
            <a:spLocks noGrp="1"/>
          </p:cNvSpPr>
          <p:nvPr/>
        </p:nvSpPr>
        <p:spPr>
          <a:xfrm>
            <a:off x="6556248" y="1792224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N1: $22–35</a:t>
            </a:r>
          </a:p>
        </p:txBody>
      </p:sp>
      <p:sp>
        <p:nvSpPr>
          <p:cNvPr id="162" name="txt162"/>
          <p:cNvSpPr>
            <a:spLocks noGrp="1"/>
          </p:cNvSpPr>
          <p:nvPr/>
        </p:nvSpPr>
        <p:spPr>
          <a:xfrm>
            <a:off x="7863840" y="1792224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1er contacto</a:t>
            </a:r>
          </a:p>
        </p:txBody>
      </p:sp>
      <p:sp>
        <p:nvSpPr>
          <p:cNvPr id="163" name="bar163"/>
          <p:cNvSpPr/>
          <p:nvPr/>
        </p:nvSpPr>
        <p:spPr>
          <a:xfrm>
            <a:off x="6172200" y="2139696"/>
            <a:ext cx="731520" cy="219456"/>
          </a:xfrm>
          <a:prstGeom prst="roundRect">
            <a:avLst>
              <a:gd name="adj" fmla="val 175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4" name="txt164"/>
          <p:cNvSpPr>
            <a:spLocks noGrp="1"/>
          </p:cNvSpPr>
          <p:nvPr/>
        </p:nvSpPr>
        <p:spPr>
          <a:xfrm>
            <a:off x="6958584" y="2121408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N2: $69</a:t>
            </a:r>
          </a:p>
        </p:txBody>
      </p:sp>
      <p:sp>
        <p:nvSpPr>
          <p:cNvPr id="165" name="txt165"/>
          <p:cNvSpPr>
            <a:spLocks noGrp="1"/>
          </p:cNvSpPr>
          <p:nvPr/>
        </p:nvSpPr>
        <p:spPr>
          <a:xfrm>
            <a:off x="7863840" y="2121408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Técnico</a:t>
            </a:r>
          </a:p>
        </p:txBody>
      </p:sp>
      <p:sp>
        <p:nvSpPr>
          <p:cNvPr id="166" name="bar166"/>
          <p:cNvSpPr/>
          <p:nvPr/>
        </p:nvSpPr>
        <p:spPr>
          <a:xfrm>
            <a:off x="6172200" y="2468880"/>
            <a:ext cx="1097280" cy="219456"/>
          </a:xfrm>
          <a:prstGeom prst="roundRect">
            <a:avLst>
              <a:gd name="adj" fmla="val 17500"/>
            </a:avLst>
          </a:prstGeom>
          <a:solidFill>
            <a:srgbClr val="A5442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7" name="txt167"/>
          <p:cNvSpPr>
            <a:spLocks noGrp="1"/>
          </p:cNvSpPr>
          <p:nvPr/>
        </p:nvSpPr>
        <p:spPr>
          <a:xfrm>
            <a:off x="7324344" y="2450592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N3: $104</a:t>
            </a:r>
          </a:p>
        </p:txBody>
      </p:sp>
      <p:sp>
        <p:nvSpPr>
          <p:cNvPr id="168" name="txt168"/>
          <p:cNvSpPr>
            <a:spLocks noGrp="1"/>
          </p:cNvSpPr>
          <p:nvPr/>
        </p:nvSpPr>
        <p:spPr>
          <a:xfrm>
            <a:off x="7863840" y="2450592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Arquitecto</a:t>
            </a:r>
          </a:p>
        </p:txBody>
      </p:sp>
      <p:sp>
        <p:nvSpPr>
          <p:cNvPr id="169" name="shp169"/>
          <p:cNvSpPr/>
          <p:nvPr/>
        </p:nvSpPr>
        <p:spPr>
          <a:xfrm>
            <a:off x="6199632" y="2816352"/>
            <a:ext cx="164592" cy="23774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E7A3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0" name="txt170"/>
          <p:cNvSpPr>
            <a:spLocks noGrp="1"/>
          </p:cNvSpPr>
          <p:nvPr/>
        </p:nvSpPr>
        <p:spPr>
          <a:xfrm>
            <a:off x="6437376" y="2761488"/>
            <a:ext cx="2414016" cy="365760"/>
          </a:xfrm>
          <a:prstGeom prst="rect">
            <a:avLst/>
          </a:prstGeom>
          <a:noFill/>
        </p:spPr>
        <p:txBody>
          <a:bodyPr wrap="square" lIns="18000" tIns="6000" rIns="18000" bIns="6000" anchor="ctr">
            <a:normAutofit/>
          </a:bodyPr>
          <a:lstStyle/>
          <a:p>
            <a:pPr algn="l"/>
            <a:r>
              <a:rPr lang="es-CO" sz="900" b="1">
                <a:solidFill>
                  <a:srgbClr val="3C7D3C"/>
                </a:solidFill>
                <a:latin typeface="Aptos"/>
              </a:rPr>
              <a:t>Shift-Left: cada punto de deflección = ahorro $22–102</a:t>
            </a:r>
          </a:p>
        </p:txBody>
      </p:sp>
      <p:sp>
        <p:nvSpPr>
          <p:cNvPr id="171" name="txt171"/>
          <p:cNvSpPr>
            <a:spLocks noGrp="1"/>
          </p:cNvSpPr>
          <p:nvPr/>
        </p:nvSpPr>
        <p:spPr>
          <a:xfrm>
            <a:off x="5559552" y="3273552"/>
            <a:ext cx="28803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CSAT Objetivo</a:t>
            </a:r>
          </a:p>
        </p:txBody>
      </p:sp>
      <p:sp>
        <p:nvSpPr>
          <p:cNvPr id="172" name="shp172"/>
          <p:cNvSpPr/>
          <p:nvPr/>
        </p:nvSpPr>
        <p:spPr>
          <a:xfrm>
            <a:off x="6382512" y="3529584"/>
            <a:ext cx="1234440" cy="1234440"/>
          </a:xfrm>
          <a:prstGeom prst="donut">
            <a:avLst>
              <a:gd name="adj" fmla="val 17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3" name="shp173"/>
          <p:cNvSpPr/>
          <p:nvPr/>
        </p:nvSpPr>
        <p:spPr>
          <a:xfrm>
            <a:off x="6382512" y="3529584"/>
            <a:ext cx="1234440" cy="1234440"/>
          </a:xfrm>
          <a:prstGeom prst="arc">
            <a:avLst>
              <a:gd name="adj1" fmla="val 15300000"/>
              <a:gd name="adj2" fmla="val 12000000"/>
            </a:avLst>
          </a:prstGeom>
          <a:noFill/>
          <a:ln w="109728" cap="rnd">
            <a:solidFill>
              <a:srgbClr val="237B89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74" name="txt174"/>
          <p:cNvSpPr>
            <a:spLocks noGrp="1"/>
          </p:cNvSpPr>
          <p:nvPr/>
        </p:nvSpPr>
        <p:spPr>
          <a:xfrm>
            <a:off x="6382512" y="3840480"/>
            <a:ext cx="1234440" cy="27432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500" b="1">
                <a:solidFill>
                  <a:srgbClr val="132346"/>
                </a:solidFill>
                <a:latin typeface="Aptos"/>
              </a:rPr>
              <a:t>73–86%</a:t>
            </a:r>
          </a:p>
        </p:txBody>
      </p:sp>
      <p:sp>
        <p:nvSpPr>
          <p:cNvPr id="175" name="txt175"/>
          <p:cNvSpPr>
            <a:spLocks noGrp="1"/>
          </p:cNvSpPr>
          <p:nvPr/>
        </p:nvSpPr>
        <p:spPr>
          <a:xfrm>
            <a:off x="6382512" y="4114800"/>
            <a:ext cx="1234440" cy="18288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900" b="0">
                <a:solidFill>
                  <a:srgbClr val="7A7A7A"/>
                </a:solidFill>
                <a:latin typeface="Aptos"/>
              </a:rPr>
              <a:t>industria</a:t>
            </a:r>
          </a:p>
        </p:txBody>
      </p:sp>
      <p:sp>
        <p:nvSpPr>
          <p:cNvPr id="176" name="txt176"/>
          <p:cNvSpPr>
            <a:spLocks noGrp="1"/>
          </p:cNvSpPr>
          <p:nvPr/>
        </p:nvSpPr>
        <p:spPr>
          <a:xfrm>
            <a:off x="6382512" y="4297680"/>
            <a:ext cx="1234440" cy="18288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900" b="1">
                <a:solidFill>
                  <a:srgbClr val="B8860B"/>
                </a:solidFill>
                <a:latin typeface="Aptos"/>
              </a:rPr>
              <a:t>≥92% N5</a:t>
            </a:r>
          </a:p>
        </p:txBody>
      </p:sp>
      <p:sp>
        <p:nvSpPr>
          <p:cNvPr id="11" name="src">
            <a:extLst>
              <a:ext uri="{FF2B5EF4-FFF2-40B4-BE49-F238E27FC236}">
                <a16:creationId xmlns:a16="http://schemas.microsoft.com/office/drawing/2014/main" id="{DC2C431D-DA19-1000-A4C0-0A08EFD3BEF6}"/>
              </a:ext>
            </a:extLst>
          </p:cNvPr>
          <p:cNvSpPr txBox="1">
            <a:spLocks noGrp="1"/>
          </p:cNvSpPr>
          <p:nvPr/>
        </p:nvSpPr>
        <p:spPr>
          <a:xfrm>
            <a:off x="178526" y="4837829"/>
            <a:ext cx="8905602" cy="3714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F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uente: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3"/>
              </a:rPr>
              <a:t>HDI/MetricNet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4"/>
              </a:rPr>
              <a:t>HDI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 ,  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5"/>
              </a:rPr>
              <a:t>MetricNet/HDI, HDI metrics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6"/>
              </a:rPr>
              <a:t>HelpDeskFocus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7"/>
              </a:rPr>
              <a:t>IrisAgent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8"/>
              </a:rPr>
              <a:t>HDI metrics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9"/>
              </a:rPr>
              <a:t>Giva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Kwestra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/>
              </a:rPr>
              <a:t>,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/>
              </a:rPr>
              <a:t>servicedeskagents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10"/>
              </a:rPr>
              <a:t>Kwestra</a:t>
            </a:r>
            <a:r>
              <a:rPr lang="es-ES" sz="700" u="sng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1"/>
              </a:rPr>
              <a:t>Freshservice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2"/>
              </a:rPr>
              <a:t>Freshservice benchmark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3"/>
              </a:rPr>
              <a:t>SDI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14"/>
              </a:rPr>
              <a:t>Stealth Agents</a:t>
            </a:r>
            <a:endParaRPr lang="es-ES" sz="700"/>
          </a:p>
        </p:txBody>
      </p:sp>
    </p:spTree>
    <p:extLst>
      <p:ext uri="{BB962C8B-B14F-4D97-AF65-F5344CB8AC3E}">
        <p14:creationId xmlns:p14="http://schemas.microsoft.com/office/powerpoint/2010/main" val="2138282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8D7DB-024A-6729-601E-EFEFEC7A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>
                <a:solidFill>
                  <a:srgbClr val="000000"/>
                </a:solidFill>
              </a:rPr>
              <a:t>Análisis Financiero: Costo USD / Ticket</a:t>
            </a:r>
            <a:endParaRPr lang="es-ES" sz="1400"/>
          </a:p>
          <a:p>
            <a:endParaRPr lang="es-ES" dirty="0"/>
          </a:p>
        </p:txBody>
      </p:sp>
      <p:sp>
        <p:nvSpPr>
          <p:cNvPr id="100" name="cat0"/>
          <p:cNvSpPr txBox="1"/>
          <p:nvPr/>
        </p:nvSpPr>
        <p:spPr>
          <a:xfrm>
            <a:off x="428625" y="1120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SURA Cotizadores</a:t>
            </a:r>
          </a:p>
        </p:txBody>
      </p:sp>
      <p:sp>
        <p:nvSpPr>
          <p:cNvPr id="101" name="bar0"/>
          <p:cNvSpPr/>
          <p:nvPr/>
        </p:nvSpPr>
        <p:spPr>
          <a:xfrm>
            <a:off x="3028625" y="1222000"/>
            <a:ext cx="4901666" cy="320000"/>
          </a:xfrm>
          <a:prstGeom prst="roundRect">
            <a:avLst>
              <a:gd name="adj" fmla="val 8000"/>
            </a:avLst>
          </a:prstGeom>
          <a:solidFill>
            <a:srgbClr val="F76B6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2" name="val0"/>
          <p:cNvSpPr txBox="1"/>
          <p:nvPr/>
        </p:nvSpPr>
        <p:spPr>
          <a:xfrm>
            <a:off x="7955291" y="1120000"/>
            <a:ext cx="52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$40</a:t>
            </a:r>
          </a:p>
        </p:txBody>
      </p:sp>
      <p:sp>
        <p:nvSpPr>
          <p:cNvPr id="103" name="cat1"/>
          <p:cNvSpPr txBox="1"/>
          <p:nvPr/>
        </p:nvSpPr>
        <p:spPr>
          <a:xfrm>
            <a:off x="428625" y="1644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SURA Automatización</a:t>
            </a:r>
          </a:p>
        </p:txBody>
      </p:sp>
      <p:sp>
        <p:nvSpPr>
          <p:cNvPr id="104" name="bar1"/>
          <p:cNvSpPr/>
          <p:nvPr/>
        </p:nvSpPr>
        <p:spPr>
          <a:xfrm>
            <a:off x="3028625" y="1746000"/>
            <a:ext cx="4779125" cy="320000"/>
          </a:xfrm>
          <a:prstGeom prst="roundRect">
            <a:avLst>
              <a:gd name="adj" fmla="val 8000"/>
            </a:avLst>
          </a:prstGeom>
          <a:solidFill>
            <a:srgbClr val="F76B6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5" name="val1"/>
          <p:cNvSpPr txBox="1"/>
          <p:nvPr/>
        </p:nvSpPr>
        <p:spPr>
          <a:xfrm>
            <a:off x="7832750" y="1644000"/>
            <a:ext cx="52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$39</a:t>
            </a:r>
          </a:p>
        </p:txBody>
      </p:sp>
      <p:sp>
        <p:nvSpPr>
          <p:cNvPr id="106" name="cat2"/>
          <p:cNvSpPr txBox="1"/>
          <p:nvPr/>
        </p:nvSpPr>
        <p:spPr>
          <a:xfrm>
            <a:off x="428625" y="2168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Industria N1-N2 (Benchmark)</a:t>
            </a:r>
          </a:p>
        </p:txBody>
      </p:sp>
      <p:sp>
        <p:nvSpPr>
          <p:cNvPr id="107" name="bar2"/>
          <p:cNvSpPr/>
          <p:nvPr/>
        </p:nvSpPr>
        <p:spPr>
          <a:xfrm>
            <a:off x="3006854" y="2270000"/>
            <a:ext cx="4288958" cy="320000"/>
          </a:xfrm>
          <a:prstGeom prst="roundRect">
            <a:avLst>
              <a:gd name="adj" fmla="val 8000"/>
            </a:avLst>
          </a:prstGeom>
          <a:solidFill>
            <a:srgbClr val="8C9BB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8" name="val2"/>
          <p:cNvSpPr txBox="1"/>
          <p:nvPr/>
        </p:nvSpPr>
        <p:spPr>
          <a:xfrm>
            <a:off x="7342583" y="2168000"/>
            <a:ext cx="52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$35</a:t>
            </a:r>
          </a:p>
        </p:txBody>
      </p:sp>
      <p:sp>
        <p:nvSpPr>
          <p:cNvPr id="109" name="cat3"/>
          <p:cNvSpPr txBox="1"/>
          <p:nvPr/>
        </p:nvSpPr>
        <p:spPr>
          <a:xfrm>
            <a:off x="428625" y="2692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SURA Canales Masivos</a:t>
            </a:r>
          </a:p>
        </p:txBody>
      </p:sp>
      <p:sp>
        <p:nvSpPr>
          <p:cNvPr id="110" name="bar3"/>
          <p:cNvSpPr/>
          <p:nvPr/>
        </p:nvSpPr>
        <p:spPr>
          <a:xfrm>
            <a:off x="3028625" y="2794000"/>
            <a:ext cx="2450833" cy="320000"/>
          </a:xfrm>
          <a:prstGeom prst="roundRect">
            <a:avLst>
              <a:gd name="adj" fmla="val 8000"/>
            </a:avLst>
          </a:prstGeom>
          <a:solidFill>
            <a:srgbClr val="25C88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val3"/>
          <p:cNvSpPr txBox="1"/>
          <p:nvPr/>
        </p:nvSpPr>
        <p:spPr>
          <a:xfrm>
            <a:off x="5504458" y="2692000"/>
            <a:ext cx="52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$20</a:t>
            </a:r>
          </a:p>
        </p:txBody>
      </p:sp>
      <p:sp>
        <p:nvSpPr>
          <p:cNvPr id="112" name="cat4"/>
          <p:cNvSpPr txBox="1"/>
          <p:nvPr/>
        </p:nvSpPr>
        <p:spPr>
          <a:xfrm>
            <a:off x="428625" y="3216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Meta Gen Next N3</a:t>
            </a:r>
          </a:p>
        </p:txBody>
      </p:sp>
      <p:sp>
        <p:nvSpPr>
          <p:cNvPr id="113" name="bar4"/>
          <p:cNvSpPr/>
          <p:nvPr/>
        </p:nvSpPr>
        <p:spPr>
          <a:xfrm>
            <a:off x="3028625" y="3318000"/>
            <a:ext cx="1838125" cy="320000"/>
          </a:xfrm>
          <a:prstGeom prst="roundRect">
            <a:avLst>
              <a:gd name="adj" fmla="val 8000"/>
            </a:avLst>
          </a:prstGeom>
          <a:solidFill>
            <a:srgbClr val="21B0F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val4"/>
          <p:cNvSpPr txBox="1"/>
          <p:nvPr/>
        </p:nvSpPr>
        <p:spPr>
          <a:xfrm>
            <a:off x="4891750" y="3216000"/>
            <a:ext cx="52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$15</a:t>
            </a:r>
          </a:p>
        </p:txBody>
      </p:sp>
      <p:sp>
        <p:nvSpPr>
          <p:cNvPr id="6" name="Google Shape;349;p22">
            <a:extLst>
              <a:ext uri="{FF2B5EF4-FFF2-40B4-BE49-F238E27FC236}">
                <a16:creationId xmlns:a16="http://schemas.microsoft.com/office/drawing/2014/main" id="{DCA64EE5-A371-A1C4-4BE8-E19C8C57DAD6}"/>
              </a:ext>
            </a:extLst>
          </p:cNvPr>
          <p:cNvSpPr txBox="1"/>
          <p:nvPr/>
        </p:nvSpPr>
        <p:spPr>
          <a:xfrm>
            <a:off x="428625" y="4557043"/>
            <a:ext cx="828675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Las mesas críticas de SURA superan el benchmark de la industria ($35). Alcanzar la meta Gen Next N3 ($15) generaría ahorros superiores a $33,000 USD/mes.</a:t>
            </a:r>
            <a:endParaRPr sz="788">
              <a:latin typeface="Reddit Sans"/>
              <a:ea typeface="Reddit Sans"/>
            </a:endParaRPr>
          </a:p>
        </p:txBody>
      </p:sp>
      <p:sp>
        <p:nvSpPr>
          <p:cNvPr id="8" name="Formula Costo USD"/>
          <p:cNvSpPr txBox="1"/>
          <p:nvPr/>
        </p:nvSpPr>
        <p:spPr>
          <a:xfrm>
            <a:off x="2606869" y="3820000"/>
            <a:ext cx="3930262" cy="5200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s-ES" sz="1100" b="1">
                <a:solidFill>
                  <a:srgbClr val="000000"/>
                </a:solidFill>
                <a:latin typeface="Reddit Sans"/>
                <a:ea typeface="Reddit Sans"/>
              </a:rPr>
              <a:t>Costo USD = (FTE × 160h × $88K COP) ÷ (Tickets/mes × $4.200)</a:t>
            </a:r>
          </a:p>
        </p:txBody>
      </p:sp>
    </p:spTree>
    <p:extLst>
      <p:ext uri="{BB962C8B-B14F-4D97-AF65-F5344CB8AC3E}">
        <p14:creationId xmlns:p14="http://schemas.microsoft.com/office/powerpoint/2010/main" val="660894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8D7DB-024A-6729-601E-EFEFEC7A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>
                <a:solidFill>
                  <a:srgbClr val="000000"/>
                </a:solidFill>
              </a:rPr>
              <a:t>Análisis Financiero: Costo USD / Ticket — XM y Bancolombia vs Industria</a:t>
            </a:r>
            <a:endParaRPr lang="es-ES" sz="1400"/>
          </a:p>
          <a:p>
            <a:endParaRPr lang="es-ES" dirty="0"/>
          </a:p>
        </p:txBody>
      </p:sp>
      <p:sp>
        <p:nvSpPr>
          <p:cNvPr id="6" name="Google Shape;349;p22">
            <a:extLst>
              <a:ext uri="{FF2B5EF4-FFF2-40B4-BE49-F238E27FC236}">
                <a16:creationId xmlns:a16="http://schemas.microsoft.com/office/drawing/2014/main" id="{DCA64EE5-A371-A1C4-4BE8-E19C8C57DAD6}"/>
              </a:ext>
            </a:extLst>
          </p:cNvPr>
          <p:cNvSpPr txBox="1"/>
          <p:nvPr/>
        </p:nvSpPr>
        <p:spPr>
          <a:xfrm>
            <a:off x="428625" y="4557043"/>
            <a:ext cx="828675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XM: $149/ticket — 4 FTE 24x7 resuelven 90 tix/mes (22.5 tix/FTE vs 80+ industria); es costo de disponibilidad, no ineficiencia. Bancolombia: estimado $451M COP/mes ÷ 3.500–15.000 tickets (700–3.000 × 5 COES) ÷ $4.200 → USD $7–$31; sin dato formal de tickets por mesa.</a:t>
            </a:r>
            <a:endParaRPr sz="788">
              <a:latin typeface="Reddit Sans"/>
              <a:ea typeface="Reddit Sans"/>
            </a:endParaRPr>
          </a:p>
        </p:txBody>
      </p:sp>
      <p:sp>
        <p:nvSpPr>
          <p:cNvPr id="8" name="Formula Costo USD"/>
          <p:cNvSpPr txBox="1"/>
          <p:nvPr/>
        </p:nvSpPr>
        <p:spPr>
          <a:xfrm>
            <a:off x="2606869" y="3820000"/>
            <a:ext cx="3930262" cy="5200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s-ES" sz="1100" b="1">
                <a:solidFill>
                  <a:srgbClr val="000000"/>
                </a:solidFill>
                <a:latin typeface="Reddit Sans"/>
                <a:ea typeface="Reddit Sans"/>
              </a:rPr>
              <a:t>Costo USD = (FTE × 160h × $88K COP) ÷ (Tickets/mes × $4.200)</a:t>
            </a:r>
          </a:p>
        </p:txBody>
      </p:sp>
      <p:sp>
        <p:nvSpPr>
          <p:cNvPr id="300" name="ncat0"/>
          <p:cNvSpPr txBox="1"/>
          <p:nvPr/>
        </p:nvSpPr>
        <p:spPr>
          <a:xfrm>
            <a:off x="428625" y="1120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XM Apps Críticas</a:t>
            </a:r>
          </a:p>
        </p:txBody>
      </p:sp>
      <p:sp>
        <p:nvSpPr>
          <p:cNvPr id="301" name="nbar0"/>
          <p:cNvSpPr/>
          <p:nvPr/>
        </p:nvSpPr>
        <p:spPr>
          <a:xfrm>
            <a:off x="3028625" y="1222000"/>
            <a:ext cx="4900000" cy="320000"/>
          </a:xfrm>
          <a:prstGeom prst="roundRect">
            <a:avLst>
              <a:gd name="adj" fmla="val 8000"/>
            </a:avLst>
          </a:prstGeom>
          <a:solidFill>
            <a:srgbClr val="F76B6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2" name="nval0"/>
          <p:cNvSpPr txBox="1"/>
          <p:nvPr/>
        </p:nvSpPr>
        <p:spPr>
          <a:xfrm>
            <a:off x="7953625" y="1120000"/>
            <a:ext cx="98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$149</a:t>
            </a:r>
          </a:p>
        </p:txBody>
      </p:sp>
      <p:sp>
        <p:nvSpPr>
          <p:cNvPr id="303" name="ncat1"/>
          <p:cNvSpPr txBox="1"/>
          <p:nvPr/>
        </p:nvSpPr>
        <p:spPr>
          <a:xfrm>
            <a:off x="428625" y="1644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Industria N1-N2 (Benchmark)</a:t>
            </a:r>
          </a:p>
        </p:txBody>
      </p:sp>
      <p:sp>
        <p:nvSpPr>
          <p:cNvPr id="304" name="nbar1"/>
          <p:cNvSpPr/>
          <p:nvPr/>
        </p:nvSpPr>
        <p:spPr>
          <a:xfrm>
            <a:off x="3028625" y="1746000"/>
            <a:ext cx="1151007" cy="320000"/>
          </a:xfrm>
          <a:prstGeom prst="roundRect">
            <a:avLst>
              <a:gd name="adj" fmla="val 8000"/>
            </a:avLst>
          </a:prstGeom>
          <a:solidFill>
            <a:srgbClr val="8C9BB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5" name="nval1"/>
          <p:cNvSpPr txBox="1"/>
          <p:nvPr/>
        </p:nvSpPr>
        <p:spPr>
          <a:xfrm>
            <a:off x="4204632" y="1644000"/>
            <a:ext cx="98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$35</a:t>
            </a:r>
          </a:p>
        </p:txBody>
      </p:sp>
      <p:sp>
        <p:nvSpPr>
          <p:cNvPr id="306" name="ncat2"/>
          <p:cNvSpPr txBox="1"/>
          <p:nvPr/>
        </p:nvSpPr>
        <p:spPr>
          <a:xfrm>
            <a:off x="428625" y="2168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Bancolombia 5 COES (estimado)</a:t>
            </a:r>
          </a:p>
        </p:txBody>
      </p:sp>
      <p:sp>
        <p:nvSpPr>
          <p:cNvPr id="307" name="nbar2"/>
          <p:cNvSpPr/>
          <p:nvPr/>
        </p:nvSpPr>
        <p:spPr>
          <a:xfrm>
            <a:off x="3258826" y="2270000"/>
            <a:ext cx="789262" cy="320000"/>
          </a:xfrm>
          <a:prstGeom prst="roundRect">
            <a:avLst>
              <a:gd name="adj" fmla="val 8000"/>
            </a:avLst>
          </a:prstGeom>
          <a:solidFill>
            <a:srgbClr val="21B0F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8" name="nval2"/>
          <p:cNvSpPr txBox="1"/>
          <p:nvPr/>
        </p:nvSpPr>
        <p:spPr>
          <a:xfrm>
            <a:off x="4073088" y="2168000"/>
            <a:ext cx="98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$7–$31 (est.)</a:t>
            </a:r>
          </a:p>
        </p:txBody>
      </p:sp>
      <p:sp>
        <p:nvSpPr>
          <p:cNvPr id="309" name="ncat3"/>
          <p:cNvSpPr txBox="1"/>
          <p:nvPr/>
        </p:nvSpPr>
        <p:spPr>
          <a:xfrm>
            <a:off x="428625" y="2692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Meta Gen Next N3</a:t>
            </a:r>
          </a:p>
        </p:txBody>
      </p:sp>
      <p:sp>
        <p:nvSpPr>
          <p:cNvPr id="310" name="nbar3"/>
          <p:cNvSpPr/>
          <p:nvPr/>
        </p:nvSpPr>
        <p:spPr>
          <a:xfrm>
            <a:off x="3028625" y="2794000"/>
            <a:ext cx="493289" cy="320000"/>
          </a:xfrm>
          <a:prstGeom prst="roundRect">
            <a:avLst>
              <a:gd name="adj" fmla="val 8000"/>
            </a:avLst>
          </a:prstGeom>
          <a:solidFill>
            <a:srgbClr val="25C88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1" name="nval3"/>
          <p:cNvSpPr txBox="1"/>
          <p:nvPr/>
        </p:nvSpPr>
        <p:spPr>
          <a:xfrm>
            <a:off x="3546914" y="2692000"/>
            <a:ext cx="98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$15</a:t>
            </a:r>
          </a:p>
        </p:txBody>
      </p:sp>
    </p:spTree>
    <p:extLst>
      <p:ext uri="{BB962C8B-B14F-4D97-AF65-F5344CB8AC3E}">
        <p14:creationId xmlns:p14="http://schemas.microsoft.com/office/powerpoint/2010/main" val="660894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B4BCB-3B16-1F30-7B99-854A4EE6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err="1">
                <a:solidFill>
                  <a:srgbClr val="000000"/>
                </a:solidFill>
              </a:rPr>
              <a:t>Distribución</a:t>
            </a:r>
            <a:r>
              <a:rPr lang="en-US" sz="1400">
                <a:solidFill>
                  <a:srgbClr val="000000"/>
                </a:solidFill>
              </a:rPr>
              <a:t> de </a:t>
            </a:r>
            <a:r>
              <a:rPr lang="en-US" sz="1400" err="1">
                <a:solidFill>
                  <a:srgbClr val="000000"/>
                </a:solidFill>
              </a:rPr>
              <a:t>Capacidad</a:t>
            </a:r>
            <a:r>
              <a:rPr lang="en-US" sz="1400">
                <a:solidFill>
                  <a:srgbClr val="000000"/>
                </a:solidFill>
              </a:rPr>
              <a:t> (FTE </a:t>
            </a:r>
            <a:r>
              <a:rPr lang="en-US" sz="1400" err="1">
                <a:solidFill>
                  <a:srgbClr val="000000"/>
                </a:solidFill>
              </a:rPr>
              <a:t>por</a:t>
            </a:r>
            <a:r>
              <a:rPr lang="en-US" sz="1400">
                <a:solidFill>
                  <a:srgbClr val="000000"/>
                </a:solidFill>
              </a:rPr>
              <a:t> </a:t>
            </a:r>
            <a:r>
              <a:rPr lang="en-US" sz="1400" err="1">
                <a:solidFill>
                  <a:srgbClr val="000000"/>
                </a:solidFill>
              </a:rPr>
              <a:t>Cliente</a:t>
            </a:r>
            <a:r>
              <a:rPr lang="en-US" sz="1400">
                <a:solidFill>
                  <a:srgbClr val="000000"/>
                </a:solidFill>
              </a:rPr>
              <a:t>)</a:t>
            </a:r>
            <a:endParaRPr lang="es-ES" sz="1400" dirty="0"/>
          </a:p>
          <a:p>
            <a:endParaRPr lang="es-ES" dirty="0"/>
          </a:p>
        </p:txBody>
      </p:sp>
      <p:sp>
        <p:nvSpPr>
          <p:cNvPr id="100" name="pie0"/>
          <p:cNvSpPr/>
          <p:nvPr/>
        </p:nvSpPr>
        <p:spPr>
          <a:xfrm>
            <a:off x="850000" y="1318674"/>
            <a:ext cx="3000000" cy="3000000"/>
          </a:xfrm>
          <a:prstGeom prst="pie">
            <a:avLst>
              <a:gd name="adj1" fmla="val 16200000"/>
              <a:gd name="adj2" fmla="val 6726316"/>
            </a:avLst>
          </a:prstGeom>
          <a:solidFill>
            <a:srgbClr val="38BDF8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1" name="pie1"/>
          <p:cNvSpPr/>
          <p:nvPr/>
        </p:nvSpPr>
        <p:spPr>
          <a:xfrm>
            <a:off x="850000" y="1318674"/>
            <a:ext cx="3000000" cy="3000000"/>
          </a:xfrm>
          <a:prstGeom prst="pie">
            <a:avLst>
              <a:gd name="adj1" fmla="val 6726316"/>
              <a:gd name="adj2" fmla="val 13168421"/>
            </a:avLst>
          </a:prstGeom>
          <a:solidFill>
            <a:srgbClr val="34D399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2" name="pie2"/>
          <p:cNvSpPr/>
          <p:nvPr/>
        </p:nvSpPr>
        <p:spPr>
          <a:xfrm>
            <a:off x="850000" y="1318674"/>
            <a:ext cx="3000000" cy="3000000"/>
          </a:xfrm>
          <a:prstGeom prst="pie">
            <a:avLst>
              <a:gd name="adj1" fmla="val 13168421"/>
              <a:gd name="adj2" fmla="val 14684211"/>
            </a:avLst>
          </a:prstGeom>
          <a:solidFill>
            <a:srgbClr val="FBBF24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3" name="pie3"/>
          <p:cNvSpPr/>
          <p:nvPr/>
        </p:nvSpPr>
        <p:spPr>
          <a:xfrm>
            <a:off x="850000" y="1318674"/>
            <a:ext cx="3000000" cy="3000000"/>
          </a:xfrm>
          <a:prstGeom prst="pie">
            <a:avLst>
              <a:gd name="adj1" fmla="val 14684211"/>
              <a:gd name="adj2" fmla="val 16200000"/>
            </a:avLst>
          </a:prstGeom>
          <a:solidFill>
            <a:srgbClr val="F87171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04" name="pct0"/>
          <p:cNvSpPr txBox="1"/>
          <p:nvPr/>
        </p:nvSpPr>
        <p:spPr>
          <a:xfrm>
            <a:off x="2926926" y="2722995"/>
            <a:ext cx="6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>56%</a:t>
            </a:r>
          </a:p>
        </p:txBody>
      </p:sp>
      <p:sp>
        <p:nvSpPr>
          <p:cNvPr id="105" name="pct1"/>
          <p:cNvSpPr txBox="1"/>
          <p:nvPr/>
        </p:nvSpPr>
        <p:spPr>
          <a:xfrm>
            <a:off x="1187139" y="2964247"/>
            <a:ext cx="6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>30%</a:t>
            </a:r>
          </a:p>
        </p:txBody>
      </p:sp>
      <p:sp>
        <p:nvSpPr>
          <p:cNvPr id="106" name="pct2"/>
          <p:cNvSpPr txBox="1"/>
          <p:nvPr/>
        </p:nvSpPr>
        <p:spPr>
          <a:xfrm>
            <a:off x="1311371" y="1725379"/>
            <a:ext cx="6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>7%</a:t>
            </a:r>
          </a:p>
        </p:txBody>
      </p:sp>
      <p:sp>
        <p:nvSpPr>
          <p:cNvPr id="107" name="pct3"/>
          <p:cNvSpPr txBox="1"/>
          <p:nvPr/>
        </p:nvSpPr>
        <p:spPr>
          <a:xfrm>
            <a:off x="1774143" y="1506992"/>
            <a:ext cx="6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>7%</a:t>
            </a:r>
          </a:p>
        </p:txBody>
      </p:sp>
      <p:sp>
        <p:nvSpPr>
          <p:cNvPr id="108" name="legsq0"/>
          <p:cNvSpPr/>
          <p:nvPr/>
        </p:nvSpPr>
        <p:spPr>
          <a:xfrm>
            <a:off x="5850000" y="2080000"/>
            <a:ext cx="200000" cy="20000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legtx0"/>
          <p:cNvSpPr txBox="1"/>
          <p:nvPr/>
        </p:nvSpPr>
        <p:spPr>
          <a:xfrm>
            <a:off x="6140000" y="2010000"/>
            <a:ext cx="3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50" b="0" i="0" dirty="0">
                <a:solidFill>
                  <a:srgbClr val="000000"/>
                </a:solidFill>
                <a:latin typeface="Arial"/>
                <a:cs typeface="Arial"/>
              </a:rPr>
              <a:t>Bancolombia  ·  32 FTE (56%)</a:t>
            </a:r>
          </a:p>
        </p:txBody>
      </p:sp>
      <p:sp>
        <p:nvSpPr>
          <p:cNvPr id="110" name="legsq1"/>
          <p:cNvSpPr/>
          <p:nvPr/>
        </p:nvSpPr>
        <p:spPr>
          <a:xfrm>
            <a:off x="5850000" y="2510000"/>
            <a:ext cx="200000" cy="20000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legtx1"/>
          <p:cNvSpPr txBox="1"/>
          <p:nvPr/>
        </p:nvSpPr>
        <p:spPr>
          <a:xfrm>
            <a:off x="6140000" y="2440000"/>
            <a:ext cx="3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50" b="0" i="0" dirty="0">
                <a:solidFill>
                  <a:srgbClr val="000000"/>
                </a:solidFill>
                <a:latin typeface="Arial"/>
                <a:cs typeface="Arial"/>
              </a:rPr>
              <a:t>SURA  ·  17 FTE (30%)</a:t>
            </a:r>
          </a:p>
        </p:txBody>
      </p:sp>
      <p:sp>
        <p:nvSpPr>
          <p:cNvPr id="112" name="legsq2"/>
          <p:cNvSpPr/>
          <p:nvPr/>
        </p:nvSpPr>
        <p:spPr>
          <a:xfrm>
            <a:off x="5850000" y="2940000"/>
            <a:ext cx="200000" cy="200000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legtx2"/>
          <p:cNvSpPr txBox="1"/>
          <p:nvPr/>
        </p:nvSpPr>
        <p:spPr>
          <a:xfrm>
            <a:off x="6140000" y="2870000"/>
            <a:ext cx="3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50" b="0" i="0" dirty="0">
                <a:solidFill>
                  <a:srgbClr val="000000"/>
                </a:solidFill>
                <a:latin typeface="Arial"/>
                <a:cs typeface="Arial"/>
              </a:rPr>
              <a:t>XM Apps Críticas  ·  4 FTE (7%)</a:t>
            </a:r>
          </a:p>
        </p:txBody>
      </p:sp>
      <p:sp>
        <p:nvSpPr>
          <p:cNvPr id="114" name="legsq3"/>
          <p:cNvSpPr/>
          <p:nvPr/>
        </p:nvSpPr>
        <p:spPr>
          <a:xfrm>
            <a:off x="5850000" y="3370000"/>
            <a:ext cx="200000" cy="20000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5" name="legtx3"/>
          <p:cNvSpPr txBox="1"/>
          <p:nvPr/>
        </p:nvSpPr>
        <p:spPr>
          <a:xfrm>
            <a:off x="6140000" y="3300000"/>
            <a:ext cx="3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50" b="0" i="0" dirty="0">
                <a:solidFill>
                  <a:srgbClr val="000000"/>
                </a:solidFill>
                <a:latin typeface="Arial"/>
                <a:cs typeface="Arial"/>
              </a:rPr>
              <a:t>AES Soporte  ·  4 FTE (7%)</a:t>
            </a:r>
          </a:p>
        </p:txBody>
      </p:sp>
      <p:sp>
        <p:nvSpPr>
          <p:cNvPr id="6" name="Google Shape;359;p23">
            <a:extLst>
              <a:ext uri="{FF2B5EF4-FFF2-40B4-BE49-F238E27FC236}">
                <a16:creationId xmlns:a16="http://schemas.microsoft.com/office/drawing/2014/main" id="{81F1A9BF-173E-601B-C605-AAC84364AB94}"/>
              </a:ext>
            </a:extLst>
          </p:cNvPr>
          <p:cNvSpPr txBox="1"/>
          <p:nvPr/>
        </p:nvSpPr>
        <p:spPr>
          <a:xfrm>
            <a:off x="428625" y="4593431"/>
            <a:ext cx="828675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La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operación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de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Bancolombia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concentra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más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del 50% de la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fuerza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laboral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evaluada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(57 FTE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totales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),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requiriendo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modelos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de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estandarización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urgentes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para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habilitar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 </a:t>
            </a:r>
            <a:r>
              <a:rPr lang="en-US" sz="1100" b="0" u="none" strike="noStrike" cap="none" dirty="0" err="1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escalabilidad</a:t>
            </a:r>
            <a:r>
              <a:rPr lang="en-US" sz="1100" b="0" u="none" strike="noStrike" cap="none" dirty="0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.</a:t>
            </a:r>
            <a:endParaRPr sz="1100" dirty="0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62529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tl"/>
          <p:cNvSpPr/>
          <p:nvPr/>
        </p:nvSpPr>
        <p:spPr>
          <a:xfrm>
            <a:off x="318951" y="97971"/>
            <a:ext cx="6745007" cy="4953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600" b="1" dirty="0" err="1">
                <a:solidFill>
                  <a:srgbClr val="132346"/>
                </a:solidFill>
                <a:latin typeface="Reddit Sans"/>
              </a:rPr>
              <a:t>Benchmarks</a:t>
            </a:r>
            <a:r>
              <a:rPr lang="es-ES" sz="1600" b="1" dirty="0">
                <a:solidFill>
                  <a:srgbClr val="132346"/>
                </a:solidFill>
                <a:latin typeface="Reddit Sans"/>
              </a:rPr>
              <a:t> de Industria vs Mesas Actuales </a:t>
            </a:r>
            <a:r>
              <a:rPr lang="es-ES" sz="1600" b="1" dirty="0" err="1">
                <a:solidFill>
                  <a:srgbClr val="132346"/>
                </a:solidFill>
                <a:latin typeface="Reddit Sans"/>
              </a:rPr>
              <a:t>PersonalSoft</a:t>
            </a:r>
            <a:endParaRPr lang="es-ES" sz="1600" b="1">
              <a:solidFill>
                <a:srgbClr val="132346"/>
              </a:solidFill>
              <a:latin typeface="Reddit Sans"/>
            </a:endParaRPr>
          </a:p>
        </p:txBody>
      </p:sp>
      <p:sp>
        <p:nvSpPr>
          <p:cNvPr id="4" name="sub"/>
          <p:cNvSpPr/>
          <p:nvPr/>
        </p:nvSpPr>
        <p:spPr>
          <a:xfrm>
            <a:off x="318951" y="459160"/>
            <a:ext cx="8007750" cy="27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r>
              <a:rPr lang="es-ES" sz="1000">
                <a:solidFill>
                  <a:srgbClr val="017490"/>
                </a:solidFill>
                <a:latin typeface="Reddit Sans"/>
              </a:rPr>
              <a:t>Promedio industria · Clase mundial · Mesas Actuales · Gen Next Objetivo (N3-N5)  ·  $88.000 COP/hora-FTE · 1 USD = $4.200 COP</a:t>
            </a:r>
          </a:p>
        </p:txBody>
      </p:sp>
      <p:sp>
        <p:nvSpPr>
          <p:cNvPr id="5" name="lb"/>
          <p:cNvSpPr/>
          <p:nvPr/>
        </p:nvSpPr>
        <p:spPr>
          <a:xfrm>
            <a:off x="373380" y="797052"/>
            <a:ext cx="146304" cy="146304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6" name="ll"/>
          <p:cNvSpPr/>
          <p:nvPr/>
        </p:nvSpPr>
        <p:spPr>
          <a:xfrm>
            <a:off x="556260" y="7787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Industria promedio</a:t>
            </a:r>
          </a:p>
        </p:txBody>
      </p:sp>
      <p:sp>
        <p:nvSpPr>
          <p:cNvPr id="7" name="lb"/>
          <p:cNvSpPr/>
          <p:nvPr/>
        </p:nvSpPr>
        <p:spPr>
          <a:xfrm>
            <a:off x="2549652" y="797052"/>
            <a:ext cx="146304" cy="14630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8" name="ll"/>
          <p:cNvSpPr/>
          <p:nvPr/>
        </p:nvSpPr>
        <p:spPr>
          <a:xfrm>
            <a:off x="2732532" y="7787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World-Class</a:t>
            </a:r>
          </a:p>
        </p:txBody>
      </p:sp>
      <p:sp>
        <p:nvSpPr>
          <p:cNvPr id="9" name="lb"/>
          <p:cNvSpPr/>
          <p:nvPr/>
        </p:nvSpPr>
        <p:spPr>
          <a:xfrm>
            <a:off x="3822410" y="797052"/>
            <a:ext cx="146304" cy="146304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10" name="ll"/>
          <p:cNvSpPr/>
          <p:nvPr/>
        </p:nvSpPr>
        <p:spPr>
          <a:xfrm>
            <a:off x="4005290" y="7787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Gen Next N5</a:t>
            </a:r>
          </a:p>
        </p:txBody>
      </p:sp>
      <p:sp>
        <p:nvSpPr>
          <p:cNvPr id="11" name="lb"/>
          <p:cNvSpPr/>
          <p:nvPr/>
        </p:nvSpPr>
        <p:spPr>
          <a:xfrm>
            <a:off x="5263896" y="797052"/>
            <a:ext cx="146304" cy="146304"/>
          </a:xfrm>
          <a:prstGeom prst="rect">
            <a:avLst/>
          </a:prstGeom>
          <a:solidFill>
            <a:srgbClr val="B3261E"/>
          </a:solidFill>
          <a:ln>
            <a:noFill/>
          </a:ln>
        </p:spPr>
      </p:sp>
      <p:sp>
        <p:nvSpPr>
          <p:cNvPr id="12" name="ll"/>
          <p:cNvSpPr/>
          <p:nvPr/>
        </p:nvSpPr>
        <p:spPr>
          <a:xfrm>
            <a:off x="5446776" y="7787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Mesas Actuales</a:t>
            </a:r>
          </a:p>
        </p:txBody>
      </p:sp>
      <p:sp>
        <p:nvSpPr>
          <p:cNvPr id="13" name="lb"/>
          <p:cNvSpPr/>
          <p:nvPr/>
        </p:nvSpPr>
        <p:spPr>
          <a:xfrm>
            <a:off x="6656397" y="786166"/>
            <a:ext cx="146304" cy="146304"/>
          </a:xfrm>
          <a:prstGeom prst="rect">
            <a:avLst/>
          </a:prstGeom>
          <a:solidFill>
            <a:srgbClr val="1F7A4D"/>
          </a:solidFill>
          <a:ln>
            <a:noFill/>
          </a:ln>
        </p:spPr>
      </p:sp>
      <p:sp>
        <p:nvSpPr>
          <p:cNvPr id="14" name="ll"/>
          <p:cNvSpPr/>
          <p:nvPr/>
        </p:nvSpPr>
        <p:spPr>
          <a:xfrm>
            <a:off x="6839277" y="767878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Buena referencia</a:t>
            </a:r>
          </a:p>
        </p:txBody>
      </p:sp>
      <p:sp>
        <p:nvSpPr>
          <p:cNvPr id="70" name="c2h"/>
          <p:cNvSpPr/>
          <p:nvPr/>
        </p:nvSpPr>
        <p:spPr>
          <a:xfrm>
            <a:off x="317209" y="1063535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132346"/>
                </a:solidFill>
                <a:latin typeface="Reddit Sans"/>
              </a:rPr>
              <a:t>MTTR — Mean Time to Resolution</a:t>
            </a:r>
          </a:p>
        </p:txBody>
      </p:sp>
      <p:sp>
        <p:nvSpPr>
          <p:cNvPr id="80" name="tr"/>
          <p:cNvSpPr/>
          <p:nvPr/>
        </p:nvSpPr>
        <p:spPr>
          <a:xfrm>
            <a:off x="317209" y="1337855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81" name="fl"/>
          <p:cNvSpPr/>
          <p:nvPr/>
        </p:nvSpPr>
        <p:spPr>
          <a:xfrm>
            <a:off x="317209" y="1337855"/>
            <a:ext cx="126242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82" name="lb"/>
          <p:cNvSpPr/>
          <p:nvPr/>
        </p:nvSpPr>
        <p:spPr>
          <a:xfrm>
            <a:off x="1596716" y="1375955"/>
            <a:ext cx="2162014" cy="28868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1B7B85"/>
                </a:solidFill>
                <a:latin typeface="Reddit Sans"/>
              </a:rPr>
              <a:t>8.85h  Bueno (industria)</a:t>
            </a:r>
          </a:p>
        </p:txBody>
      </p:sp>
      <p:sp>
        <p:nvSpPr>
          <p:cNvPr id="85" name="tr"/>
          <p:cNvSpPr/>
          <p:nvPr/>
        </p:nvSpPr>
        <p:spPr>
          <a:xfrm>
            <a:off x="317209" y="1667039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86" name="fl"/>
          <p:cNvSpPr/>
          <p:nvPr/>
        </p:nvSpPr>
        <p:spPr>
          <a:xfrm>
            <a:off x="317209" y="1667039"/>
            <a:ext cx="570585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87" name="lb"/>
          <p:cNvSpPr/>
          <p:nvPr/>
        </p:nvSpPr>
        <p:spPr>
          <a:xfrm>
            <a:off x="949016" y="1699696"/>
            <a:ext cx="2166866" cy="2941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0D1B5E"/>
                </a:solidFill>
                <a:latin typeface="Reddit Sans"/>
              </a:rPr>
              <a:t>&lt;4h  World-Class</a:t>
            </a:r>
          </a:p>
        </p:txBody>
      </p:sp>
      <p:sp>
        <p:nvSpPr>
          <p:cNvPr id="90" name="tr"/>
          <p:cNvSpPr/>
          <p:nvPr/>
        </p:nvSpPr>
        <p:spPr>
          <a:xfrm>
            <a:off x="317209" y="1996223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91" name="fl"/>
          <p:cNvSpPr/>
          <p:nvPr/>
        </p:nvSpPr>
        <p:spPr>
          <a:xfrm>
            <a:off x="317209" y="1996223"/>
            <a:ext cx="142646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92" name="lb"/>
          <p:cNvSpPr/>
          <p:nvPr/>
        </p:nvSpPr>
        <p:spPr>
          <a:xfrm>
            <a:off x="459160" y="2007108"/>
            <a:ext cx="2696869" cy="2397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r>
              <a:rPr lang="es-ES" sz="850" b="1">
                <a:solidFill>
                  <a:srgbClr val="0D1B5E"/>
                </a:solidFill>
                <a:latin typeface="Reddit Sans"/>
              </a:rPr>
              <a:t>&lt;1h  Next Gen (N5)</a:t>
            </a:r>
          </a:p>
        </p:txBody>
      </p:sp>
      <p:sp>
        <p:nvSpPr>
          <p:cNvPr id="95" name="tr"/>
          <p:cNvSpPr/>
          <p:nvPr/>
        </p:nvSpPr>
        <p:spPr>
          <a:xfrm>
            <a:off x="317209" y="2325407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96" name="fl"/>
          <p:cNvSpPr/>
          <p:nvPr/>
        </p:nvSpPr>
        <p:spPr>
          <a:xfrm>
            <a:off x="317209" y="2325407"/>
            <a:ext cx="425086" cy="256032"/>
          </a:xfrm>
          <a:prstGeom prst="rect">
            <a:avLst/>
          </a:prstGeom>
          <a:solidFill>
            <a:srgbClr val="1F7A4D"/>
          </a:solidFill>
          <a:ln>
            <a:noFill/>
          </a:ln>
        </p:spPr>
      </p:sp>
      <p:sp>
        <p:nvSpPr>
          <p:cNvPr id="97" name="lb"/>
          <p:cNvSpPr/>
          <p:nvPr/>
        </p:nvSpPr>
        <p:spPr>
          <a:xfrm>
            <a:off x="823831" y="2341735"/>
            <a:ext cx="1651252" cy="2397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1F7A4D"/>
                </a:solidFill>
                <a:latin typeface="Reddit Sans"/>
              </a:rPr>
              <a:t>SURA Auto: 2.98h ✓</a:t>
            </a:r>
          </a:p>
        </p:txBody>
      </p:sp>
      <p:sp>
        <p:nvSpPr>
          <p:cNvPr id="100" name="tr"/>
          <p:cNvSpPr/>
          <p:nvPr/>
        </p:nvSpPr>
        <p:spPr>
          <a:xfrm>
            <a:off x="317209" y="2654591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01" name="fl"/>
          <p:cNvSpPr/>
          <p:nvPr/>
        </p:nvSpPr>
        <p:spPr>
          <a:xfrm>
            <a:off x="317209" y="2654591"/>
            <a:ext cx="1765962" cy="256032"/>
          </a:xfrm>
          <a:prstGeom prst="rect">
            <a:avLst/>
          </a:prstGeom>
          <a:solidFill>
            <a:srgbClr val="132346"/>
          </a:solidFill>
          <a:ln>
            <a:noFill/>
          </a:ln>
        </p:spPr>
      </p:sp>
      <p:sp>
        <p:nvSpPr>
          <p:cNvPr id="102" name="lb"/>
          <p:cNvSpPr/>
          <p:nvPr/>
        </p:nvSpPr>
        <p:spPr>
          <a:xfrm>
            <a:off x="372073" y="2654591"/>
            <a:ext cx="172938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SURA Venta Digital: 12.38h</a:t>
            </a:r>
          </a:p>
        </p:txBody>
      </p:sp>
      <p:sp>
        <p:nvSpPr>
          <p:cNvPr id="105" name="tr"/>
          <p:cNvSpPr/>
          <p:nvPr/>
        </p:nvSpPr>
        <p:spPr>
          <a:xfrm>
            <a:off x="317209" y="2983775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06" name="fl"/>
          <p:cNvSpPr/>
          <p:nvPr/>
        </p:nvSpPr>
        <p:spPr>
          <a:xfrm>
            <a:off x="317209" y="2983775"/>
            <a:ext cx="2556223" cy="256032"/>
          </a:xfrm>
          <a:prstGeom prst="rect">
            <a:avLst/>
          </a:prstGeom>
          <a:solidFill>
            <a:srgbClr val="B3261E"/>
          </a:solidFill>
          <a:ln>
            <a:noFill/>
          </a:ln>
        </p:spPr>
      </p:sp>
      <p:sp>
        <p:nvSpPr>
          <p:cNvPr id="107" name="lb"/>
          <p:cNvSpPr/>
          <p:nvPr/>
        </p:nvSpPr>
        <p:spPr>
          <a:xfrm>
            <a:off x="372073" y="2983775"/>
            <a:ext cx="2519647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SURA Canales Masivos: 17.92h</a:t>
            </a:r>
          </a:p>
        </p:txBody>
      </p:sp>
      <p:sp>
        <p:nvSpPr>
          <p:cNvPr id="110" name="tr"/>
          <p:cNvSpPr/>
          <p:nvPr/>
        </p:nvSpPr>
        <p:spPr>
          <a:xfrm>
            <a:off x="317209" y="3312959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</p:sp>
      <p:sp>
        <p:nvSpPr>
          <p:cNvPr id="111" name="fl"/>
          <p:cNvSpPr/>
          <p:nvPr/>
        </p:nvSpPr>
        <p:spPr>
          <a:xfrm>
            <a:off x="317209" y="3312959"/>
            <a:ext cx="3506248" cy="256032"/>
          </a:xfrm>
          <a:prstGeom prst="rect">
            <a:avLst/>
          </a:prstGeom>
          <a:solidFill>
            <a:srgbClr val="B3261E"/>
          </a:solidFill>
          <a:ln>
            <a:noFill/>
          </a:ln>
        </p:spPr>
      </p:sp>
      <p:sp>
        <p:nvSpPr>
          <p:cNvPr id="112" name="lb"/>
          <p:cNvSpPr/>
          <p:nvPr/>
        </p:nvSpPr>
        <p:spPr>
          <a:xfrm>
            <a:off x="372073" y="3312959"/>
            <a:ext cx="346967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SURA Cotizadores: 24.58h 🔴</a:t>
            </a:r>
          </a:p>
        </p:txBody>
      </p:sp>
      <p:sp>
        <p:nvSpPr>
          <p:cNvPr id="71" name="gih"/>
          <p:cNvSpPr/>
          <p:nvPr/>
        </p:nvSpPr>
        <p:spPr>
          <a:xfrm>
            <a:off x="524038" y="3699837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132346"/>
                </a:solidFill>
                <a:latin typeface="Reddit Sans"/>
              </a:rPr>
              <a:t>Impacto GenAI en Métricas</a:t>
            </a:r>
          </a:p>
        </p:txBody>
      </p:sp>
      <p:sp>
        <p:nvSpPr>
          <p:cNvPr id="23" name="gr"/>
          <p:cNvSpPr/>
          <p:nvPr/>
        </p:nvSpPr>
        <p:spPr>
          <a:xfrm>
            <a:off x="524038" y="3974157"/>
            <a:ext cx="3566160" cy="256032"/>
          </a:xfrm>
          <a:prstGeom prst="rect">
            <a:avLst/>
          </a:prstGeom>
          <a:solidFill>
            <a:srgbClr val="F7F6F2"/>
          </a:solidFill>
          <a:ln w="6350">
            <a:solidFill>
              <a:srgbClr val="DCE3EC"/>
            </a:solidFill>
          </a:ln>
        </p:spPr>
      </p:sp>
      <p:sp>
        <p:nvSpPr>
          <p:cNvPr id="24" name="gm"/>
          <p:cNvSpPr/>
          <p:nvPr/>
        </p:nvSpPr>
        <p:spPr>
          <a:xfrm>
            <a:off x="578902" y="3974157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>
                <a:solidFill>
                  <a:srgbClr val="132346"/>
                </a:solidFill>
                <a:latin typeface="Reddit Sans"/>
              </a:rPr>
              <a:t>↓ MTTR</a:t>
            </a:r>
          </a:p>
        </p:txBody>
      </p:sp>
      <p:sp>
        <p:nvSpPr>
          <p:cNvPr id="25" name="gv"/>
          <p:cNvSpPr/>
          <p:nvPr/>
        </p:nvSpPr>
        <p:spPr>
          <a:xfrm>
            <a:off x="2078518" y="3974157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>
                <a:solidFill>
                  <a:srgbClr val="B3261E"/>
                </a:solidFill>
                <a:latin typeface="Reddit Sans"/>
              </a:rPr>
              <a:t>-26.6%</a:t>
            </a:r>
          </a:p>
        </p:txBody>
      </p:sp>
      <p:sp>
        <p:nvSpPr>
          <p:cNvPr id="26" name="gr"/>
          <p:cNvSpPr/>
          <p:nvPr/>
        </p:nvSpPr>
        <p:spPr>
          <a:xfrm>
            <a:off x="524038" y="4248477"/>
            <a:ext cx="3566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</a:ln>
        </p:spPr>
      </p:sp>
      <p:sp>
        <p:nvSpPr>
          <p:cNvPr id="27" name="gm"/>
          <p:cNvSpPr/>
          <p:nvPr/>
        </p:nvSpPr>
        <p:spPr>
          <a:xfrm>
            <a:off x="578902" y="4248477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>
                <a:solidFill>
                  <a:srgbClr val="132346"/>
                </a:solidFill>
                <a:latin typeface="Reddit Sans"/>
              </a:rPr>
              <a:t>↑ Resolución</a:t>
            </a:r>
          </a:p>
        </p:txBody>
      </p:sp>
      <p:sp>
        <p:nvSpPr>
          <p:cNvPr id="28" name="gv"/>
          <p:cNvSpPr/>
          <p:nvPr/>
        </p:nvSpPr>
        <p:spPr>
          <a:xfrm>
            <a:off x="2078518" y="4248477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>
                <a:solidFill>
                  <a:srgbClr val="1F7A4D"/>
                </a:solidFill>
                <a:latin typeface="Reddit Sans"/>
              </a:rPr>
              <a:t>+34.6%</a:t>
            </a:r>
          </a:p>
        </p:txBody>
      </p:sp>
      <p:sp>
        <p:nvSpPr>
          <p:cNvPr id="29" name="gr"/>
          <p:cNvSpPr/>
          <p:nvPr/>
        </p:nvSpPr>
        <p:spPr>
          <a:xfrm>
            <a:off x="524038" y="4522797"/>
            <a:ext cx="3566160" cy="256032"/>
          </a:xfrm>
          <a:prstGeom prst="rect">
            <a:avLst/>
          </a:prstGeom>
          <a:solidFill>
            <a:srgbClr val="F7F6F2"/>
          </a:solidFill>
          <a:ln w="6350">
            <a:solidFill>
              <a:srgbClr val="DCE3EC"/>
            </a:solidFill>
          </a:ln>
        </p:spPr>
      </p:sp>
      <p:sp>
        <p:nvSpPr>
          <p:cNvPr id="30" name="gm"/>
          <p:cNvSpPr/>
          <p:nvPr/>
        </p:nvSpPr>
        <p:spPr>
          <a:xfrm>
            <a:off x="578902" y="4522797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>
                <a:solidFill>
                  <a:srgbClr val="132346"/>
                </a:solidFill>
                <a:latin typeface="Reddit Sans"/>
              </a:rPr>
              <a:t>↑ CSAT c/espera</a:t>
            </a:r>
          </a:p>
        </p:txBody>
      </p:sp>
      <p:sp>
        <p:nvSpPr>
          <p:cNvPr id="31" name="gv"/>
          <p:cNvSpPr/>
          <p:nvPr/>
        </p:nvSpPr>
        <p:spPr>
          <a:xfrm>
            <a:off x="2078518" y="4522797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>
                <a:solidFill>
                  <a:srgbClr val="1F7A4D"/>
                </a:solidFill>
                <a:latin typeface="Reddit Sans"/>
              </a:rPr>
              <a:t>+15-22 pts</a:t>
            </a:r>
          </a:p>
        </p:txBody>
      </p:sp>
      <p:sp>
        <p:nvSpPr>
          <p:cNvPr id="32" name="gr"/>
          <p:cNvSpPr/>
          <p:nvPr/>
        </p:nvSpPr>
        <p:spPr>
          <a:xfrm>
            <a:off x="524038" y="4797117"/>
            <a:ext cx="3566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</a:ln>
        </p:spPr>
      </p:sp>
      <p:sp>
        <p:nvSpPr>
          <p:cNvPr id="33" name="gm"/>
          <p:cNvSpPr/>
          <p:nvPr/>
        </p:nvSpPr>
        <p:spPr>
          <a:xfrm>
            <a:off x="578902" y="4797117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>
                <a:solidFill>
                  <a:srgbClr val="132346"/>
                </a:solidFill>
                <a:latin typeface="Reddit Sans"/>
              </a:rPr>
              <a:t>↑ FCR con KCS+IA</a:t>
            </a:r>
          </a:p>
        </p:txBody>
      </p:sp>
      <p:sp>
        <p:nvSpPr>
          <p:cNvPr id="34" name="gv"/>
          <p:cNvSpPr/>
          <p:nvPr/>
        </p:nvSpPr>
        <p:spPr>
          <a:xfrm>
            <a:off x="2078518" y="4797117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>
                <a:solidFill>
                  <a:srgbClr val="1F7A4D"/>
                </a:solidFill>
                <a:latin typeface="Reddit Sans"/>
              </a:rPr>
              <a:t>5-7 pts</a:t>
            </a:r>
          </a:p>
        </p:txBody>
      </p:sp>
      <p:sp>
        <p:nvSpPr>
          <p:cNvPr id="35" name="c3h"/>
          <p:cNvSpPr/>
          <p:nvPr/>
        </p:nvSpPr>
        <p:spPr>
          <a:xfrm>
            <a:off x="5279353" y="1063535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132346"/>
                </a:solidFill>
                <a:latin typeface="Reddit Sans"/>
              </a:rPr>
              <a:t>Costo por Ticket (USD)</a:t>
            </a:r>
          </a:p>
        </p:txBody>
      </p:sp>
      <p:sp>
        <p:nvSpPr>
          <p:cNvPr id="36" name="fl"/>
          <p:cNvSpPr/>
          <p:nvPr/>
        </p:nvSpPr>
        <p:spPr>
          <a:xfrm>
            <a:off x="5279353" y="1337855"/>
            <a:ext cx="45720" cy="256032"/>
          </a:xfrm>
          <a:prstGeom prst="rect">
            <a:avLst/>
          </a:prstGeom>
          <a:solidFill>
            <a:srgbClr val="1F7A4D"/>
          </a:solidFill>
          <a:ln>
            <a:noFill/>
          </a:ln>
        </p:spPr>
      </p:sp>
      <p:sp>
        <p:nvSpPr>
          <p:cNvPr id="37" name="cl"/>
          <p:cNvSpPr/>
          <p:nvPr/>
        </p:nvSpPr>
        <p:spPr>
          <a:xfrm>
            <a:off x="5334217" y="1337855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N0: $2</a:t>
            </a:r>
          </a:p>
        </p:txBody>
      </p:sp>
      <p:sp>
        <p:nvSpPr>
          <p:cNvPr id="38" name="cd"/>
          <p:cNvSpPr/>
          <p:nvPr/>
        </p:nvSpPr>
        <p:spPr>
          <a:xfrm>
            <a:off x="5398225" y="1337855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>
                <a:solidFill>
                  <a:srgbClr val="5A6472"/>
                </a:solidFill>
                <a:latin typeface="Reddit Sans"/>
              </a:rPr>
              <a:t>Autoservicio</a:t>
            </a:r>
          </a:p>
        </p:txBody>
      </p:sp>
      <p:sp>
        <p:nvSpPr>
          <p:cNvPr id="39" name="fl"/>
          <p:cNvSpPr/>
          <p:nvPr/>
        </p:nvSpPr>
        <p:spPr>
          <a:xfrm>
            <a:off x="5279353" y="1703615"/>
            <a:ext cx="64008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40" name="cl"/>
          <p:cNvSpPr/>
          <p:nvPr/>
        </p:nvSpPr>
        <p:spPr>
          <a:xfrm>
            <a:off x="5334217" y="1703615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N1: $22-35</a:t>
            </a:r>
          </a:p>
        </p:txBody>
      </p:sp>
      <p:sp>
        <p:nvSpPr>
          <p:cNvPr id="41" name="cd"/>
          <p:cNvSpPr/>
          <p:nvPr/>
        </p:nvSpPr>
        <p:spPr>
          <a:xfrm>
            <a:off x="5992585" y="1703615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>
                <a:solidFill>
                  <a:srgbClr val="5A6472"/>
                </a:solidFill>
                <a:latin typeface="Reddit Sans"/>
              </a:rPr>
              <a:t>1er contacto</a:t>
            </a:r>
          </a:p>
        </p:txBody>
      </p:sp>
      <p:sp>
        <p:nvSpPr>
          <p:cNvPr id="42" name="fl"/>
          <p:cNvSpPr/>
          <p:nvPr/>
        </p:nvSpPr>
        <p:spPr>
          <a:xfrm>
            <a:off x="5279353" y="2069375"/>
            <a:ext cx="1577340" cy="256032"/>
          </a:xfrm>
          <a:prstGeom prst="rect">
            <a:avLst/>
          </a:prstGeom>
          <a:solidFill>
            <a:srgbClr val="D4A017"/>
          </a:solidFill>
          <a:ln>
            <a:noFill/>
          </a:ln>
        </p:spPr>
      </p:sp>
      <p:sp>
        <p:nvSpPr>
          <p:cNvPr id="43" name="cl"/>
          <p:cNvSpPr/>
          <p:nvPr/>
        </p:nvSpPr>
        <p:spPr>
          <a:xfrm>
            <a:off x="5334217" y="2069375"/>
            <a:ext cx="150418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N2: $69</a:t>
            </a:r>
          </a:p>
        </p:txBody>
      </p:sp>
      <p:sp>
        <p:nvSpPr>
          <p:cNvPr id="44" name="cd"/>
          <p:cNvSpPr/>
          <p:nvPr/>
        </p:nvSpPr>
        <p:spPr>
          <a:xfrm>
            <a:off x="6929845" y="2069375"/>
            <a:ext cx="20345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>
                <a:solidFill>
                  <a:srgbClr val="5A6472"/>
                </a:solidFill>
                <a:latin typeface="Reddit Sans"/>
              </a:rPr>
              <a:t>Técnico</a:t>
            </a:r>
          </a:p>
        </p:txBody>
      </p:sp>
      <p:sp>
        <p:nvSpPr>
          <p:cNvPr id="45" name="fl"/>
          <p:cNvSpPr/>
          <p:nvPr/>
        </p:nvSpPr>
        <p:spPr>
          <a:xfrm>
            <a:off x="5279353" y="2435135"/>
            <a:ext cx="2377440" cy="256032"/>
          </a:xfrm>
          <a:prstGeom prst="rect">
            <a:avLst/>
          </a:prstGeom>
          <a:solidFill>
            <a:srgbClr val="7A3D2B"/>
          </a:solidFill>
          <a:ln>
            <a:noFill/>
          </a:ln>
        </p:spPr>
      </p:sp>
      <p:sp>
        <p:nvSpPr>
          <p:cNvPr id="46" name="cl"/>
          <p:cNvSpPr/>
          <p:nvPr/>
        </p:nvSpPr>
        <p:spPr>
          <a:xfrm>
            <a:off x="5334217" y="2435135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>
                <a:solidFill>
                  <a:srgbClr val="FFFFFF"/>
                </a:solidFill>
                <a:latin typeface="Reddit Sans"/>
              </a:rPr>
              <a:t>N3: $104</a:t>
            </a:r>
          </a:p>
        </p:txBody>
      </p:sp>
      <p:sp>
        <p:nvSpPr>
          <p:cNvPr id="47" name="cd"/>
          <p:cNvSpPr/>
          <p:nvPr/>
        </p:nvSpPr>
        <p:spPr>
          <a:xfrm>
            <a:off x="7729945" y="2435135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>
                <a:solidFill>
                  <a:srgbClr val="5A6472"/>
                </a:solidFill>
                <a:latin typeface="Reddit Sans"/>
              </a:rPr>
              <a:t>Arquitecto</a:t>
            </a:r>
          </a:p>
        </p:txBody>
      </p:sp>
      <p:sp>
        <p:nvSpPr>
          <p:cNvPr id="48" name="slbg"/>
          <p:cNvSpPr/>
          <p:nvPr/>
        </p:nvSpPr>
        <p:spPr>
          <a:xfrm>
            <a:off x="5279353" y="2800895"/>
            <a:ext cx="3657600" cy="329184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9525">
            <a:solidFill>
              <a:srgbClr val="1F7A4D"/>
            </a:solidFill>
          </a:ln>
        </p:spPr>
      </p:sp>
      <p:sp>
        <p:nvSpPr>
          <p:cNvPr id="49" name="slt"/>
          <p:cNvSpPr/>
          <p:nvPr/>
        </p:nvSpPr>
        <p:spPr>
          <a:xfrm>
            <a:off x="5352505" y="2800895"/>
            <a:ext cx="3511296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80" b="1">
                <a:solidFill>
                  <a:srgbClr val="1F7A4D"/>
                </a:solidFill>
                <a:latin typeface="Reddit Sans"/>
              </a:rPr>
              <a:t>↓ Shift-Left: cada punto de deflexión = ahorro $22-102</a:t>
            </a:r>
          </a:p>
        </p:txBody>
      </p:sp>
      <p:sp>
        <p:nvSpPr>
          <p:cNvPr id="72" name="psbg"/>
          <p:cNvSpPr/>
          <p:nvPr/>
        </p:nvSpPr>
        <p:spPr>
          <a:xfrm>
            <a:off x="5263026" y="3184943"/>
            <a:ext cx="3701141" cy="691242"/>
          </a:xfrm>
          <a:prstGeom prst="roundRect">
            <a:avLst>
              <a:gd name="adj" fmla="val 6000"/>
            </a:avLst>
          </a:prstGeom>
          <a:solidFill>
            <a:srgbClr val="FEF9C3"/>
          </a:solidFill>
          <a:ln w="9525">
            <a:solidFill>
              <a:srgbClr val="D4A017"/>
            </a:solidFill>
          </a:ln>
        </p:spPr>
      </p:sp>
      <p:sp>
        <p:nvSpPr>
          <p:cNvPr id="73" name="psh"/>
          <p:cNvSpPr/>
          <p:nvPr/>
        </p:nvSpPr>
        <p:spPr>
          <a:xfrm>
            <a:off x="5352505" y="3184943"/>
            <a:ext cx="351129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80" b="1">
                <a:solidFill>
                  <a:srgbClr val="D4A017"/>
                </a:solidFill>
                <a:latin typeface="Reddit Sans"/>
              </a:rPr>
              <a:t>PS Mesas Actuales — Costo/ticket calculado</a:t>
            </a:r>
          </a:p>
        </p:txBody>
      </p:sp>
      <p:sp>
        <p:nvSpPr>
          <p:cNvPr id="74" name="pc0"/>
          <p:cNvSpPr/>
          <p:nvPr/>
        </p:nvSpPr>
        <p:spPr>
          <a:xfrm>
            <a:off x="5336177" y="3388071"/>
            <a:ext cx="3527624" cy="4323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b="1">
                <a:solidFill>
                  <a:srgbClr val="D4A017"/>
                </a:solidFill>
                <a:latin typeface="Reddit Sans"/>
              </a:rPr>
              <a:t>SURA Cotizadores: </a:t>
            </a:r>
            <a:r>
              <a:rPr lang="es-ES" sz="800">
                <a:solidFill>
                  <a:srgbClr val="D4A017"/>
                </a:solidFill>
                <a:latin typeface="Reddit Sans"/>
              </a:rPr>
              <a:t>USD $40  (+$5 vs ind.)</a:t>
            </a:r>
          </a:p>
        </p:txBody>
      </p:sp>
      <p:sp>
        <p:nvSpPr>
          <p:cNvPr id="53" name="pc1"/>
          <p:cNvSpPr/>
          <p:nvPr/>
        </p:nvSpPr>
        <p:spPr>
          <a:xfrm>
            <a:off x="5325291" y="3499322"/>
            <a:ext cx="3511296" cy="731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b="1">
                <a:solidFill>
                  <a:srgbClr val="D4A017"/>
                </a:solidFill>
                <a:latin typeface="Reddit Sans"/>
              </a:rPr>
              <a:t>SURA Automatización: </a:t>
            </a:r>
            <a:r>
              <a:rPr lang="es-ES" sz="800">
                <a:solidFill>
                  <a:srgbClr val="D4A017"/>
                </a:solidFill>
                <a:latin typeface="Reddit Sans"/>
              </a:rPr>
              <a:t>USD $39  (+$4 vs ind.)</a:t>
            </a:r>
          </a:p>
        </p:txBody>
      </p:sp>
      <p:sp>
        <p:nvSpPr>
          <p:cNvPr id="54" name="pc2"/>
          <p:cNvSpPr/>
          <p:nvPr/>
        </p:nvSpPr>
        <p:spPr>
          <a:xfrm>
            <a:off x="5347062" y="3605132"/>
            <a:ext cx="3511296" cy="731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b="1">
                <a:solidFill>
                  <a:srgbClr val="D4A017"/>
                </a:solidFill>
                <a:latin typeface="Reddit Sans"/>
              </a:rPr>
              <a:t>XM Apps Críticas: </a:t>
            </a:r>
            <a:r>
              <a:rPr lang="es-ES" sz="800">
                <a:solidFill>
                  <a:srgbClr val="D4A017"/>
                </a:solidFill>
                <a:latin typeface="Reddit Sans"/>
              </a:rPr>
              <a:t>USD $149  (24x7 / 4 FTE ⚠)</a:t>
            </a:r>
          </a:p>
        </p:txBody>
      </p:sp>
      <p:sp>
        <p:nvSpPr>
          <p:cNvPr id="75" name="csath"/>
          <p:cNvSpPr/>
          <p:nvPr/>
        </p:nvSpPr>
        <p:spPr>
          <a:xfrm>
            <a:off x="5268467" y="3874663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1100" b="1">
                <a:solidFill>
                  <a:srgbClr val="132346"/>
                </a:solidFill>
                <a:latin typeface="Reddit Sans"/>
              </a:rPr>
              <a:t>CSAT Objetivo</a:t>
            </a:r>
          </a:p>
        </p:txBody>
      </p:sp>
      <p:sp>
        <p:nvSpPr>
          <p:cNvPr id="76" name="dout"/>
          <p:cNvSpPr/>
          <p:nvPr/>
        </p:nvSpPr>
        <p:spPr>
          <a:xfrm>
            <a:off x="5269556" y="3912980"/>
            <a:ext cx="1097280" cy="1097280"/>
          </a:xfrm>
          <a:prstGeom prst="roundRect">
            <a:avLst>
              <a:gd name="adj" fmla="val 999999"/>
            </a:avLst>
          </a:prstGeom>
          <a:solidFill>
            <a:srgbClr val="D4F0F0"/>
          </a:solidFill>
          <a:ln w="38100">
            <a:solidFill>
              <a:srgbClr val="1B7B85"/>
            </a:solidFill>
          </a:ln>
        </p:spPr>
      </p:sp>
      <p:sp>
        <p:nvSpPr>
          <p:cNvPr id="77" name="din"/>
          <p:cNvSpPr/>
          <p:nvPr/>
        </p:nvSpPr>
        <p:spPr>
          <a:xfrm>
            <a:off x="5470724" y="4114148"/>
            <a:ext cx="694944" cy="694944"/>
          </a:xfrm>
          <a:prstGeom prst="roundRect">
            <a:avLst>
              <a:gd name="adj" fmla="val 999999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58" name="dn"/>
          <p:cNvSpPr/>
          <p:nvPr/>
        </p:nvSpPr>
        <p:spPr>
          <a:xfrm>
            <a:off x="5269556" y="4059284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1500" b="1">
                <a:solidFill>
                  <a:srgbClr val="132346"/>
                </a:solidFill>
                <a:latin typeface="Reddit Sans"/>
              </a:rPr>
              <a:t>73-86%</a:t>
            </a:r>
          </a:p>
        </p:txBody>
      </p:sp>
      <p:sp>
        <p:nvSpPr>
          <p:cNvPr id="59" name="dl"/>
          <p:cNvSpPr/>
          <p:nvPr/>
        </p:nvSpPr>
        <p:spPr>
          <a:xfrm>
            <a:off x="5269556" y="4479908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800">
                <a:solidFill>
                  <a:srgbClr val="5A6472"/>
                </a:solidFill>
                <a:latin typeface="Reddit Sans"/>
              </a:rPr>
              <a:t>industria</a:t>
            </a:r>
          </a:p>
        </p:txBody>
      </p:sp>
      <p:sp>
        <p:nvSpPr>
          <p:cNvPr id="78" name="dn5"/>
          <p:cNvSpPr/>
          <p:nvPr/>
        </p:nvSpPr>
        <p:spPr>
          <a:xfrm>
            <a:off x="5269556" y="464450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880" b="1">
                <a:solidFill>
                  <a:srgbClr val="D4A017"/>
                </a:solidFill>
                <a:latin typeface="Reddit Sans"/>
              </a:rPr>
              <a:t>≥92% N5</a:t>
            </a:r>
          </a:p>
        </p:txBody>
      </p:sp>
      <p:sp>
        <p:nvSpPr>
          <p:cNvPr id="79" name="ps_cs"/>
          <p:cNvSpPr/>
          <p:nvPr/>
        </p:nvSpPr>
        <p:spPr>
          <a:xfrm>
            <a:off x="6487668" y="4223222"/>
            <a:ext cx="1954856" cy="604158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B3261E"/>
            </a:solidFill>
          </a:ln>
        </p:spPr>
      </p:sp>
      <p:sp>
        <p:nvSpPr>
          <p:cNvPr id="83" name="pscst"/>
          <p:cNvSpPr/>
          <p:nvPr/>
        </p:nvSpPr>
        <p:spPr>
          <a:xfrm>
            <a:off x="6549716" y="4352109"/>
            <a:ext cx="1847088" cy="27758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870" b="1">
                <a:solidFill>
                  <a:srgbClr val="B3261E"/>
                </a:solidFill>
                <a:latin typeface="Reddit Sans"/>
              </a:rPr>
              <a:t>PS: sin CSAT</a:t>
            </a:r>
          </a:p>
          <a:p>
            <a:pPr marL="0" indent="0" algn="ctr">
              <a:buNone/>
            </a:pPr>
            <a:r>
              <a:rPr lang="es-ES" sz="800">
                <a:solidFill>
                  <a:srgbClr val="B3261E"/>
                </a:solidFill>
                <a:latin typeface="Reddit Sans"/>
              </a:rPr>
              <a:t>formal en ninguna mesa</a:t>
            </a:r>
          </a:p>
        </p:txBody>
      </p:sp>
      <p:sp>
        <p:nvSpPr>
          <p:cNvPr id="63" name="src"/>
          <p:cNvSpPr/>
          <p:nvPr/>
        </p:nvSpPr>
        <p:spPr>
          <a:xfrm>
            <a:off x="411480" y="6510528"/>
            <a:ext cx="11365992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750" i="1">
                <a:solidFill>
                  <a:srgbClr val="5A6472"/>
                </a:solidFill>
                <a:latin typeface="Reddit Sans"/>
              </a:rPr>
              <a:t>Fuente: SQM Group FCR · HDI Standard · MetricNet/HDI MTTR · HelpDeskFocus · Freshservice Benchmark 2024 · Giva · Kwestra · PS Levantamiento Julio 2026</a:t>
            </a:r>
          </a:p>
        </p:txBody>
      </p:sp>
    </p:spTree>
    <p:extLst>
      <p:ext uri="{BB962C8B-B14F-4D97-AF65-F5344CB8AC3E}">
        <p14:creationId xmlns:p14="http://schemas.microsoft.com/office/powerpoint/2010/main" val="2080670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2000" b="1" err="1">
                <a:solidFill>
                  <a:schemeClr val="accent1">
                    <a:lumMod val="49000"/>
                  </a:schemeClr>
                </a:solidFill>
                <a:latin typeface="Calibri"/>
              </a:rPr>
              <a:t>Metodologia</a:t>
            </a:r>
            <a:r>
              <a:rPr lang="es-ES" sz="2000" b="1">
                <a:solidFill>
                  <a:schemeClr val="accent1">
                    <a:lumMod val="49000"/>
                  </a:schemeClr>
                </a:solidFill>
                <a:latin typeface="Calibri"/>
              </a:rPr>
              <a:t> de Calculo — Capacidad Instalada y Costo por Ticket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1000">
                <a:solidFill>
                  <a:schemeClr val="accent1">
                    <a:lumMod val="49000"/>
                  </a:schemeClr>
                </a:solidFill>
                <a:latin typeface="Calibri"/>
              </a:rPr>
              <a:t>Formula: FTE × 160 horas/mes × $88.000 COP ÷ tickets/mes = Costo/ticket COP  ·  ÷ $4.200 = USD  ·  Fuente: Levantamiento interno PS Julio 2026</a:t>
            </a:r>
          </a:p>
        </p:txBody>
      </p:sp>
      <p:sp>
        <p:nvSpPr>
          <p:cNvPr id="10" name="fb"/>
          <p:cNvSpPr>
            <a:spLocks noGrp="1"/>
          </p:cNvSpPr>
          <p:nvPr/>
        </p:nvSpPr>
        <p:spPr>
          <a:xfrm>
            <a:off x="320040" y="804672"/>
            <a:ext cx="7717536" cy="402336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5875">
            <a:solidFill>
              <a:srgbClr val="1A3A8F"/>
            </a:solidFill>
          </a:ln>
        </p:spPr>
      </p:sp>
      <p:sp>
        <p:nvSpPr>
          <p:cNvPr id="11" name="ft"/>
          <p:cNvSpPr txBox="1">
            <a:spLocks noGrp="1"/>
          </p:cNvSpPr>
          <p:nvPr/>
        </p:nvSpPr>
        <p:spPr>
          <a:xfrm>
            <a:off x="457200" y="822960"/>
            <a:ext cx="7498079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>
                <a:solidFill>
                  <a:srgbClr val="1A3A8F"/>
                </a:solidFill>
                <a:latin typeface="Calibri"/>
              </a:rPr>
              <a:t>Capacidad instalada (h/mes) = FTE × 160h  ·  Costo mensual COP = FTE × 160h × $88.000  ·  Costo/ticket COP = Costo mensual ÷ tickets/mes  ·  Costo/ticket USD = COP ÷ $4.200</a:t>
            </a:r>
          </a:p>
        </p:txBody>
      </p:sp>
      <p:sp>
        <p:nvSpPr>
          <p:cNvPr id="20" name="thdr"/>
          <p:cNvSpPr>
            <a:spLocks noGrp="1"/>
          </p:cNvSpPr>
          <p:nvPr/>
        </p:nvSpPr>
        <p:spPr>
          <a:xfrm>
            <a:off x="320040" y="1280160"/>
            <a:ext cx="7955279" cy="38404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21" name="th"/>
          <p:cNvSpPr txBox="1">
            <a:spLocks noGrp="1"/>
          </p:cNvSpPr>
          <p:nvPr/>
        </p:nvSpPr>
        <p:spPr>
          <a:xfrm>
            <a:off x="320040" y="1280160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Mesa</a:t>
            </a:r>
          </a:p>
        </p:txBody>
      </p:sp>
      <p:sp>
        <p:nvSpPr>
          <p:cNvPr id="22" name="th"/>
          <p:cNvSpPr txBox="1">
            <a:spLocks noGrp="1"/>
          </p:cNvSpPr>
          <p:nvPr/>
        </p:nvSpPr>
        <p:spPr>
          <a:xfrm>
            <a:off x="1508760" y="128016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23" name="th"/>
          <p:cNvSpPr txBox="1">
            <a:spLocks noGrp="1"/>
          </p:cNvSpPr>
          <p:nvPr/>
        </p:nvSpPr>
        <p:spPr>
          <a:xfrm>
            <a:off x="2075688" y="1280160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Nivel</a:t>
            </a:r>
          </a:p>
        </p:txBody>
      </p:sp>
      <p:sp>
        <p:nvSpPr>
          <p:cNvPr id="24" name="th"/>
          <p:cNvSpPr txBox="1">
            <a:spLocks noGrp="1"/>
          </p:cNvSpPr>
          <p:nvPr/>
        </p:nvSpPr>
        <p:spPr>
          <a:xfrm>
            <a:off x="2423160" y="1280160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FTE</a:t>
            </a:r>
          </a:p>
        </p:txBody>
      </p:sp>
      <p:sp>
        <p:nvSpPr>
          <p:cNvPr id="25" name="th"/>
          <p:cNvSpPr txBox="1">
            <a:spLocks noGrp="1"/>
          </p:cNvSpPr>
          <p:nvPr/>
        </p:nvSpPr>
        <p:spPr>
          <a:xfrm>
            <a:off x="2734056" y="1280160"/>
            <a:ext cx="49377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Tickets
/mes</a:t>
            </a:r>
          </a:p>
        </p:txBody>
      </p:sp>
      <p:sp>
        <p:nvSpPr>
          <p:cNvPr id="26" name="th"/>
          <p:cNvSpPr txBox="1">
            <a:spLocks noGrp="1"/>
          </p:cNvSpPr>
          <p:nvPr/>
        </p:nvSpPr>
        <p:spPr>
          <a:xfrm>
            <a:off x="3227832" y="1280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Tix/
FTE</a:t>
            </a:r>
          </a:p>
        </p:txBody>
      </p:sp>
      <p:sp>
        <p:nvSpPr>
          <p:cNvPr id="27" name="th"/>
          <p:cNvSpPr txBox="1">
            <a:spLocks noGrp="1"/>
          </p:cNvSpPr>
          <p:nvPr/>
        </p:nvSpPr>
        <p:spPr>
          <a:xfrm>
            <a:off x="3611880" y="1280160"/>
            <a:ext cx="49377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Cap.
h/mes</a:t>
            </a:r>
          </a:p>
        </p:txBody>
      </p:sp>
      <p:sp>
        <p:nvSpPr>
          <p:cNvPr id="28" name="th"/>
          <p:cNvSpPr txBox="1">
            <a:spLocks noGrp="1"/>
          </p:cNvSpPr>
          <p:nvPr/>
        </p:nvSpPr>
        <p:spPr>
          <a:xfrm>
            <a:off x="4105656" y="128016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MTTR
(h)</a:t>
            </a:r>
          </a:p>
        </p:txBody>
      </p:sp>
      <p:sp>
        <p:nvSpPr>
          <p:cNvPr id="29" name="th"/>
          <p:cNvSpPr txBox="1">
            <a:spLocks noGrp="1"/>
          </p:cNvSpPr>
          <p:nvPr/>
        </p:nvSpPr>
        <p:spPr>
          <a:xfrm>
            <a:off x="4562856" y="1280160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SLA %</a:t>
            </a:r>
          </a:p>
        </p:txBody>
      </p:sp>
      <p:sp>
        <p:nvSpPr>
          <p:cNvPr id="30" name="th"/>
          <p:cNvSpPr txBox="1">
            <a:spLocks noGrp="1"/>
          </p:cNvSpPr>
          <p:nvPr/>
        </p:nvSpPr>
        <p:spPr>
          <a:xfrm>
            <a:off x="4965192" y="128016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Costo mes
COP</a:t>
            </a:r>
          </a:p>
        </p:txBody>
      </p:sp>
      <p:sp>
        <p:nvSpPr>
          <p:cNvPr id="31" name="th"/>
          <p:cNvSpPr txBox="1">
            <a:spLocks noGrp="1"/>
          </p:cNvSpPr>
          <p:nvPr/>
        </p:nvSpPr>
        <p:spPr>
          <a:xfrm>
            <a:off x="5788152" y="1280160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Costo/tix
COP</a:t>
            </a:r>
          </a:p>
        </p:txBody>
      </p:sp>
      <p:sp>
        <p:nvSpPr>
          <p:cNvPr id="32" name="th"/>
          <p:cNvSpPr txBox="1">
            <a:spLocks noGrp="1"/>
          </p:cNvSpPr>
          <p:nvPr/>
        </p:nvSpPr>
        <p:spPr>
          <a:xfrm>
            <a:off x="6537960" y="1280160"/>
            <a:ext cx="67665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Costo/tix
USD</a:t>
            </a:r>
          </a:p>
        </p:txBody>
      </p:sp>
      <p:sp>
        <p:nvSpPr>
          <p:cNvPr id="33" name="th"/>
          <p:cNvSpPr txBox="1">
            <a:spLocks noGrp="1"/>
          </p:cNvSpPr>
          <p:nvPr/>
        </p:nvSpPr>
        <p:spPr>
          <a:xfrm>
            <a:off x="7214616" y="1280160"/>
            <a:ext cx="58521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FFFFFF"/>
                </a:solidFill>
                <a:latin typeface="Calibri"/>
              </a:rPr>
              <a:t>vs Ind.
$35 USD</a:t>
            </a:r>
          </a:p>
        </p:txBody>
      </p:sp>
      <p:sp>
        <p:nvSpPr>
          <p:cNvPr id="6" name="rb"/>
          <p:cNvSpPr>
            <a:spLocks noGrp="1"/>
          </p:cNvSpPr>
          <p:nvPr/>
        </p:nvSpPr>
        <p:spPr>
          <a:xfrm>
            <a:off x="320040" y="166420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7" name="c"/>
          <p:cNvSpPr txBox="1">
            <a:spLocks noGrp="1"/>
          </p:cNvSpPr>
          <p:nvPr/>
        </p:nvSpPr>
        <p:spPr>
          <a:xfrm>
            <a:off x="320040" y="16642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SURA Cotizadores</a:t>
            </a:r>
          </a:p>
        </p:txBody>
      </p:sp>
      <p:sp>
        <p:nvSpPr>
          <p:cNvPr id="8" name="c"/>
          <p:cNvSpPr txBox="1">
            <a:spLocks noGrp="1"/>
          </p:cNvSpPr>
          <p:nvPr/>
        </p:nvSpPr>
        <p:spPr>
          <a:xfrm>
            <a:off x="1508760" y="16642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9" name="c"/>
          <p:cNvSpPr txBox="1">
            <a:spLocks noGrp="1"/>
          </p:cNvSpPr>
          <p:nvPr/>
        </p:nvSpPr>
        <p:spPr>
          <a:xfrm>
            <a:off x="2075688" y="16642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34" name="c"/>
          <p:cNvSpPr txBox="1">
            <a:spLocks noGrp="1"/>
          </p:cNvSpPr>
          <p:nvPr/>
        </p:nvSpPr>
        <p:spPr>
          <a:xfrm>
            <a:off x="2423160" y="16642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8</a:t>
            </a:r>
          </a:p>
        </p:txBody>
      </p:sp>
      <p:sp>
        <p:nvSpPr>
          <p:cNvPr id="35" name="c"/>
          <p:cNvSpPr txBox="1">
            <a:spLocks noGrp="1"/>
          </p:cNvSpPr>
          <p:nvPr/>
        </p:nvSpPr>
        <p:spPr>
          <a:xfrm>
            <a:off x="2734056" y="16642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668</a:t>
            </a:r>
          </a:p>
        </p:txBody>
      </p:sp>
      <p:sp>
        <p:nvSpPr>
          <p:cNvPr id="36" name="c"/>
          <p:cNvSpPr txBox="1">
            <a:spLocks noGrp="1"/>
          </p:cNvSpPr>
          <p:nvPr/>
        </p:nvSpPr>
        <p:spPr>
          <a:xfrm>
            <a:off x="3227832" y="16642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84</a:t>
            </a:r>
          </a:p>
        </p:txBody>
      </p:sp>
      <p:sp>
        <p:nvSpPr>
          <p:cNvPr id="37" name="c"/>
          <p:cNvSpPr txBox="1">
            <a:spLocks noGrp="1"/>
          </p:cNvSpPr>
          <p:nvPr/>
        </p:nvSpPr>
        <p:spPr>
          <a:xfrm>
            <a:off x="3611880" y="16642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1,280h</a:t>
            </a:r>
          </a:p>
        </p:txBody>
      </p:sp>
      <p:sp>
        <p:nvSpPr>
          <p:cNvPr id="38" name="c"/>
          <p:cNvSpPr txBox="1">
            <a:spLocks noGrp="1"/>
          </p:cNvSpPr>
          <p:nvPr/>
        </p:nvSpPr>
        <p:spPr>
          <a:xfrm>
            <a:off x="4105656" y="16642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24.58h</a:t>
            </a:r>
          </a:p>
        </p:txBody>
      </p:sp>
      <p:sp>
        <p:nvSpPr>
          <p:cNvPr id="39" name="c"/>
          <p:cNvSpPr txBox="1">
            <a:spLocks noGrp="1"/>
          </p:cNvSpPr>
          <p:nvPr/>
        </p:nvSpPr>
        <p:spPr>
          <a:xfrm>
            <a:off x="4562856" y="16642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70%</a:t>
            </a:r>
          </a:p>
        </p:txBody>
      </p:sp>
      <p:sp>
        <p:nvSpPr>
          <p:cNvPr id="40" name="c"/>
          <p:cNvSpPr txBox="1">
            <a:spLocks noGrp="1"/>
          </p:cNvSpPr>
          <p:nvPr/>
        </p:nvSpPr>
        <p:spPr>
          <a:xfrm>
            <a:off x="4965192" y="16642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$112.6M</a:t>
            </a:r>
          </a:p>
        </p:txBody>
      </p:sp>
      <p:sp>
        <p:nvSpPr>
          <p:cNvPr id="41" name="c"/>
          <p:cNvSpPr txBox="1">
            <a:spLocks noGrp="1"/>
          </p:cNvSpPr>
          <p:nvPr/>
        </p:nvSpPr>
        <p:spPr>
          <a:xfrm>
            <a:off x="5788152" y="16642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$168,623</a:t>
            </a:r>
          </a:p>
        </p:txBody>
      </p:sp>
      <p:sp>
        <p:nvSpPr>
          <p:cNvPr id="42" name="c"/>
          <p:cNvSpPr txBox="1">
            <a:spLocks noGrp="1"/>
          </p:cNvSpPr>
          <p:nvPr/>
        </p:nvSpPr>
        <p:spPr>
          <a:xfrm>
            <a:off x="6537960" y="16642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$40</a:t>
            </a:r>
          </a:p>
        </p:txBody>
      </p:sp>
      <p:sp>
        <p:nvSpPr>
          <p:cNvPr id="43" name="c"/>
          <p:cNvSpPr txBox="1">
            <a:spLocks noGrp="1"/>
          </p:cNvSpPr>
          <p:nvPr/>
        </p:nvSpPr>
        <p:spPr>
          <a:xfrm>
            <a:off x="7214616" y="16642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+$5</a:t>
            </a:r>
          </a:p>
        </p:txBody>
      </p:sp>
      <p:sp>
        <p:nvSpPr>
          <p:cNvPr id="45" name="rb"/>
          <p:cNvSpPr>
            <a:spLocks noGrp="1"/>
          </p:cNvSpPr>
          <p:nvPr/>
        </p:nvSpPr>
        <p:spPr>
          <a:xfrm>
            <a:off x="320040" y="193852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46" name="c"/>
          <p:cNvSpPr txBox="1">
            <a:spLocks noGrp="1"/>
          </p:cNvSpPr>
          <p:nvPr/>
        </p:nvSpPr>
        <p:spPr>
          <a:xfrm>
            <a:off x="320040" y="19385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SURA Venta Digital</a:t>
            </a:r>
          </a:p>
        </p:txBody>
      </p:sp>
      <p:sp>
        <p:nvSpPr>
          <p:cNvPr id="47" name="c"/>
          <p:cNvSpPr txBox="1">
            <a:spLocks noGrp="1"/>
          </p:cNvSpPr>
          <p:nvPr/>
        </p:nvSpPr>
        <p:spPr>
          <a:xfrm>
            <a:off x="1508760" y="19385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48" name="c"/>
          <p:cNvSpPr txBox="1">
            <a:spLocks noGrp="1"/>
          </p:cNvSpPr>
          <p:nvPr/>
        </p:nvSpPr>
        <p:spPr>
          <a:xfrm>
            <a:off x="2075688" y="19385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49" name="c"/>
          <p:cNvSpPr txBox="1">
            <a:spLocks noGrp="1"/>
          </p:cNvSpPr>
          <p:nvPr/>
        </p:nvSpPr>
        <p:spPr>
          <a:xfrm>
            <a:off x="2423160" y="19385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2</a:t>
            </a:r>
          </a:p>
        </p:txBody>
      </p:sp>
      <p:sp>
        <p:nvSpPr>
          <p:cNvPr id="50" name="c"/>
          <p:cNvSpPr txBox="1">
            <a:spLocks noGrp="1"/>
          </p:cNvSpPr>
          <p:nvPr/>
        </p:nvSpPr>
        <p:spPr>
          <a:xfrm>
            <a:off x="2734056" y="19385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174</a:t>
            </a:r>
          </a:p>
        </p:txBody>
      </p:sp>
      <p:sp>
        <p:nvSpPr>
          <p:cNvPr id="51" name="c"/>
          <p:cNvSpPr txBox="1">
            <a:spLocks noGrp="1"/>
          </p:cNvSpPr>
          <p:nvPr/>
        </p:nvSpPr>
        <p:spPr>
          <a:xfrm>
            <a:off x="3227832" y="19385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87</a:t>
            </a:r>
          </a:p>
        </p:txBody>
      </p:sp>
      <p:sp>
        <p:nvSpPr>
          <p:cNvPr id="52" name="c"/>
          <p:cNvSpPr txBox="1">
            <a:spLocks noGrp="1"/>
          </p:cNvSpPr>
          <p:nvPr/>
        </p:nvSpPr>
        <p:spPr>
          <a:xfrm>
            <a:off x="3611880" y="19385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320h</a:t>
            </a:r>
          </a:p>
        </p:txBody>
      </p:sp>
      <p:sp>
        <p:nvSpPr>
          <p:cNvPr id="53" name="c"/>
          <p:cNvSpPr txBox="1">
            <a:spLocks noGrp="1"/>
          </p:cNvSpPr>
          <p:nvPr/>
        </p:nvSpPr>
        <p:spPr>
          <a:xfrm>
            <a:off x="4105656" y="1938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12.38h</a:t>
            </a:r>
          </a:p>
        </p:txBody>
      </p:sp>
      <p:sp>
        <p:nvSpPr>
          <p:cNvPr id="54" name="c"/>
          <p:cNvSpPr txBox="1">
            <a:spLocks noGrp="1"/>
          </p:cNvSpPr>
          <p:nvPr/>
        </p:nvSpPr>
        <p:spPr>
          <a:xfrm>
            <a:off x="4562856" y="19385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74%</a:t>
            </a:r>
          </a:p>
        </p:txBody>
      </p:sp>
      <p:sp>
        <p:nvSpPr>
          <p:cNvPr id="55" name="c"/>
          <p:cNvSpPr txBox="1">
            <a:spLocks noGrp="1"/>
          </p:cNvSpPr>
          <p:nvPr/>
        </p:nvSpPr>
        <p:spPr>
          <a:xfrm>
            <a:off x="4965192" y="1938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$28.2M</a:t>
            </a:r>
          </a:p>
        </p:txBody>
      </p:sp>
      <p:sp>
        <p:nvSpPr>
          <p:cNvPr id="56" name="c"/>
          <p:cNvSpPr txBox="1">
            <a:spLocks noGrp="1"/>
          </p:cNvSpPr>
          <p:nvPr/>
        </p:nvSpPr>
        <p:spPr>
          <a:xfrm>
            <a:off x="5788152" y="19385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$161,839</a:t>
            </a:r>
          </a:p>
        </p:txBody>
      </p:sp>
      <p:sp>
        <p:nvSpPr>
          <p:cNvPr id="57" name="c"/>
          <p:cNvSpPr txBox="1">
            <a:spLocks noGrp="1"/>
          </p:cNvSpPr>
          <p:nvPr/>
        </p:nvSpPr>
        <p:spPr>
          <a:xfrm>
            <a:off x="6537960" y="19385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58" name="c"/>
          <p:cNvSpPr txBox="1">
            <a:spLocks noGrp="1"/>
          </p:cNvSpPr>
          <p:nvPr/>
        </p:nvSpPr>
        <p:spPr>
          <a:xfrm>
            <a:off x="7214616" y="19385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+$4</a:t>
            </a:r>
          </a:p>
        </p:txBody>
      </p:sp>
      <p:sp>
        <p:nvSpPr>
          <p:cNvPr id="60" name="rb"/>
          <p:cNvSpPr>
            <a:spLocks noGrp="1"/>
          </p:cNvSpPr>
          <p:nvPr/>
        </p:nvSpPr>
        <p:spPr>
          <a:xfrm>
            <a:off x="320040" y="221284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61" name="c"/>
          <p:cNvSpPr txBox="1">
            <a:spLocks noGrp="1"/>
          </p:cNvSpPr>
          <p:nvPr/>
        </p:nvSpPr>
        <p:spPr>
          <a:xfrm>
            <a:off x="320040" y="22128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SURA Automatizacion</a:t>
            </a:r>
          </a:p>
        </p:txBody>
      </p:sp>
      <p:sp>
        <p:nvSpPr>
          <p:cNvPr id="62" name="c"/>
          <p:cNvSpPr txBox="1">
            <a:spLocks noGrp="1"/>
          </p:cNvSpPr>
          <p:nvPr/>
        </p:nvSpPr>
        <p:spPr>
          <a:xfrm>
            <a:off x="1508760" y="22128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63" name="c"/>
          <p:cNvSpPr txBox="1">
            <a:spLocks noGrp="1"/>
          </p:cNvSpPr>
          <p:nvPr/>
        </p:nvSpPr>
        <p:spPr>
          <a:xfrm>
            <a:off x="2075688" y="22128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64" name="c"/>
          <p:cNvSpPr txBox="1">
            <a:spLocks noGrp="1"/>
          </p:cNvSpPr>
          <p:nvPr/>
        </p:nvSpPr>
        <p:spPr>
          <a:xfrm>
            <a:off x="2423160" y="22128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6</a:t>
            </a:r>
          </a:p>
        </p:txBody>
      </p:sp>
      <p:sp>
        <p:nvSpPr>
          <p:cNvPr id="65" name="c"/>
          <p:cNvSpPr txBox="1">
            <a:spLocks noGrp="1"/>
          </p:cNvSpPr>
          <p:nvPr/>
        </p:nvSpPr>
        <p:spPr>
          <a:xfrm>
            <a:off x="2734056" y="22128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512</a:t>
            </a:r>
          </a:p>
        </p:txBody>
      </p:sp>
      <p:sp>
        <p:nvSpPr>
          <p:cNvPr id="66" name="c"/>
          <p:cNvSpPr txBox="1">
            <a:spLocks noGrp="1"/>
          </p:cNvSpPr>
          <p:nvPr/>
        </p:nvSpPr>
        <p:spPr>
          <a:xfrm>
            <a:off x="3227832" y="22128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85</a:t>
            </a:r>
          </a:p>
        </p:txBody>
      </p:sp>
      <p:sp>
        <p:nvSpPr>
          <p:cNvPr id="67" name="c"/>
          <p:cNvSpPr txBox="1">
            <a:spLocks noGrp="1"/>
          </p:cNvSpPr>
          <p:nvPr/>
        </p:nvSpPr>
        <p:spPr>
          <a:xfrm>
            <a:off x="3611880" y="22128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960h</a:t>
            </a:r>
          </a:p>
        </p:txBody>
      </p:sp>
      <p:sp>
        <p:nvSpPr>
          <p:cNvPr id="68" name="c"/>
          <p:cNvSpPr txBox="1">
            <a:spLocks noGrp="1"/>
          </p:cNvSpPr>
          <p:nvPr/>
        </p:nvSpPr>
        <p:spPr>
          <a:xfrm>
            <a:off x="4105656" y="22128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A6B3C"/>
                </a:solidFill>
                <a:latin typeface="Calibri"/>
              </a:rPr>
              <a:t>2.98h</a:t>
            </a:r>
          </a:p>
        </p:txBody>
      </p:sp>
      <p:sp>
        <p:nvSpPr>
          <p:cNvPr id="69" name="c"/>
          <p:cNvSpPr txBox="1">
            <a:spLocks noGrp="1"/>
          </p:cNvSpPr>
          <p:nvPr/>
        </p:nvSpPr>
        <p:spPr>
          <a:xfrm>
            <a:off x="4562856" y="22128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A6B3C"/>
                </a:solidFill>
                <a:latin typeface="Calibri"/>
              </a:rPr>
              <a:t>98%</a:t>
            </a:r>
          </a:p>
        </p:txBody>
      </p:sp>
      <p:sp>
        <p:nvSpPr>
          <p:cNvPr id="70" name="c"/>
          <p:cNvSpPr txBox="1">
            <a:spLocks noGrp="1"/>
          </p:cNvSpPr>
          <p:nvPr/>
        </p:nvSpPr>
        <p:spPr>
          <a:xfrm>
            <a:off x="4965192" y="22128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$84.5M</a:t>
            </a:r>
          </a:p>
        </p:txBody>
      </p:sp>
      <p:sp>
        <p:nvSpPr>
          <p:cNvPr id="71" name="c"/>
          <p:cNvSpPr txBox="1">
            <a:spLocks noGrp="1"/>
          </p:cNvSpPr>
          <p:nvPr/>
        </p:nvSpPr>
        <p:spPr>
          <a:xfrm>
            <a:off x="5788152" y="22128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$165,000</a:t>
            </a:r>
          </a:p>
        </p:txBody>
      </p:sp>
      <p:sp>
        <p:nvSpPr>
          <p:cNvPr id="72" name="c"/>
          <p:cNvSpPr txBox="1">
            <a:spLocks noGrp="1"/>
          </p:cNvSpPr>
          <p:nvPr/>
        </p:nvSpPr>
        <p:spPr>
          <a:xfrm>
            <a:off x="6537960" y="22128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73" name="c"/>
          <p:cNvSpPr txBox="1">
            <a:spLocks noGrp="1"/>
          </p:cNvSpPr>
          <p:nvPr/>
        </p:nvSpPr>
        <p:spPr>
          <a:xfrm>
            <a:off x="7214616" y="22128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+$4</a:t>
            </a:r>
          </a:p>
        </p:txBody>
      </p:sp>
      <p:sp>
        <p:nvSpPr>
          <p:cNvPr id="75" name="rb"/>
          <p:cNvSpPr>
            <a:spLocks noGrp="1"/>
          </p:cNvSpPr>
          <p:nvPr/>
        </p:nvSpPr>
        <p:spPr>
          <a:xfrm>
            <a:off x="320040" y="248716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76" name="c"/>
          <p:cNvSpPr txBox="1">
            <a:spLocks noGrp="1"/>
          </p:cNvSpPr>
          <p:nvPr/>
        </p:nvSpPr>
        <p:spPr>
          <a:xfrm>
            <a:off x="320040" y="2487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SURA Canales Masivos</a:t>
            </a:r>
          </a:p>
        </p:txBody>
      </p:sp>
      <p:sp>
        <p:nvSpPr>
          <p:cNvPr id="77" name="c"/>
          <p:cNvSpPr txBox="1">
            <a:spLocks noGrp="1"/>
          </p:cNvSpPr>
          <p:nvPr/>
        </p:nvSpPr>
        <p:spPr>
          <a:xfrm>
            <a:off x="1508760" y="24871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78" name="c"/>
          <p:cNvSpPr txBox="1">
            <a:spLocks noGrp="1"/>
          </p:cNvSpPr>
          <p:nvPr/>
        </p:nvSpPr>
        <p:spPr>
          <a:xfrm>
            <a:off x="2075688" y="248716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79" name="c"/>
          <p:cNvSpPr txBox="1">
            <a:spLocks noGrp="1"/>
          </p:cNvSpPr>
          <p:nvPr/>
        </p:nvSpPr>
        <p:spPr>
          <a:xfrm>
            <a:off x="2423160" y="248716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80" name="c"/>
          <p:cNvSpPr txBox="1">
            <a:spLocks noGrp="1"/>
          </p:cNvSpPr>
          <p:nvPr/>
        </p:nvSpPr>
        <p:spPr>
          <a:xfrm>
            <a:off x="2734056" y="24871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171</a:t>
            </a:r>
          </a:p>
        </p:txBody>
      </p:sp>
      <p:sp>
        <p:nvSpPr>
          <p:cNvPr id="81" name="c"/>
          <p:cNvSpPr txBox="1">
            <a:spLocks noGrp="1"/>
          </p:cNvSpPr>
          <p:nvPr/>
        </p:nvSpPr>
        <p:spPr>
          <a:xfrm>
            <a:off x="3227832" y="24871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171</a:t>
            </a:r>
          </a:p>
        </p:txBody>
      </p:sp>
      <p:sp>
        <p:nvSpPr>
          <p:cNvPr id="82" name="c"/>
          <p:cNvSpPr txBox="1">
            <a:spLocks noGrp="1"/>
          </p:cNvSpPr>
          <p:nvPr/>
        </p:nvSpPr>
        <p:spPr>
          <a:xfrm>
            <a:off x="3611880" y="24871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160h</a:t>
            </a:r>
          </a:p>
        </p:txBody>
      </p:sp>
      <p:sp>
        <p:nvSpPr>
          <p:cNvPr id="83" name="c"/>
          <p:cNvSpPr txBox="1">
            <a:spLocks noGrp="1"/>
          </p:cNvSpPr>
          <p:nvPr/>
        </p:nvSpPr>
        <p:spPr>
          <a:xfrm>
            <a:off x="4105656" y="24871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17.92h</a:t>
            </a:r>
          </a:p>
        </p:txBody>
      </p:sp>
      <p:sp>
        <p:nvSpPr>
          <p:cNvPr id="84" name="c"/>
          <p:cNvSpPr txBox="1">
            <a:spLocks noGrp="1"/>
          </p:cNvSpPr>
          <p:nvPr/>
        </p:nvSpPr>
        <p:spPr>
          <a:xfrm>
            <a:off x="4562856" y="248716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C00000"/>
                </a:solidFill>
                <a:latin typeface="Calibri"/>
              </a:rPr>
              <a:t>72%</a:t>
            </a:r>
          </a:p>
        </p:txBody>
      </p:sp>
      <p:sp>
        <p:nvSpPr>
          <p:cNvPr id="85" name="c"/>
          <p:cNvSpPr txBox="1">
            <a:spLocks noGrp="1"/>
          </p:cNvSpPr>
          <p:nvPr/>
        </p:nvSpPr>
        <p:spPr>
          <a:xfrm>
            <a:off x="4965192" y="24871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86" name="c"/>
          <p:cNvSpPr txBox="1">
            <a:spLocks noGrp="1"/>
          </p:cNvSpPr>
          <p:nvPr/>
        </p:nvSpPr>
        <p:spPr>
          <a:xfrm>
            <a:off x="5788152" y="24871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$82,339</a:t>
            </a:r>
          </a:p>
        </p:txBody>
      </p:sp>
      <p:sp>
        <p:nvSpPr>
          <p:cNvPr id="87" name="c"/>
          <p:cNvSpPr txBox="1">
            <a:spLocks noGrp="1"/>
          </p:cNvSpPr>
          <p:nvPr/>
        </p:nvSpPr>
        <p:spPr>
          <a:xfrm>
            <a:off x="6537960" y="248716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$20</a:t>
            </a:r>
          </a:p>
        </p:txBody>
      </p:sp>
      <p:sp>
        <p:nvSpPr>
          <p:cNvPr id="88" name="c"/>
          <p:cNvSpPr txBox="1">
            <a:spLocks noGrp="1"/>
          </p:cNvSpPr>
          <p:nvPr/>
        </p:nvSpPr>
        <p:spPr>
          <a:xfrm>
            <a:off x="7214616" y="248716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1A6B3C"/>
                </a:solidFill>
                <a:latin typeface="Calibri"/>
              </a:rPr>
              <a:t>-$15</a:t>
            </a:r>
          </a:p>
        </p:txBody>
      </p:sp>
      <p:sp>
        <p:nvSpPr>
          <p:cNvPr id="90" name="rb"/>
          <p:cNvSpPr>
            <a:spLocks noGrp="1"/>
          </p:cNvSpPr>
          <p:nvPr/>
        </p:nvSpPr>
        <p:spPr>
          <a:xfrm>
            <a:off x="320040" y="276148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91" name="c"/>
          <p:cNvSpPr txBox="1">
            <a:spLocks noGrp="1"/>
          </p:cNvSpPr>
          <p:nvPr/>
        </p:nvSpPr>
        <p:spPr>
          <a:xfrm>
            <a:off x="320040" y="2761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XM — Apps Criticas</a:t>
            </a:r>
          </a:p>
        </p:txBody>
      </p:sp>
      <p:sp>
        <p:nvSpPr>
          <p:cNvPr id="92" name="c"/>
          <p:cNvSpPr txBox="1">
            <a:spLocks noGrp="1"/>
          </p:cNvSpPr>
          <p:nvPr/>
        </p:nvSpPr>
        <p:spPr>
          <a:xfrm>
            <a:off x="1508760" y="27614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XM</a:t>
            </a:r>
          </a:p>
        </p:txBody>
      </p:sp>
      <p:sp>
        <p:nvSpPr>
          <p:cNvPr id="93" name="c"/>
          <p:cNvSpPr txBox="1">
            <a:spLocks noGrp="1"/>
          </p:cNvSpPr>
          <p:nvPr/>
        </p:nvSpPr>
        <p:spPr>
          <a:xfrm>
            <a:off x="2075688" y="27614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94" name="c"/>
          <p:cNvSpPr txBox="1">
            <a:spLocks noGrp="1"/>
          </p:cNvSpPr>
          <p:nvPr/>
        </p:nvSpPr>
        <p:spPr>
          <a:xfrm>
            <a:off x="2423160" y="276148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95" name="c"/>
          <p:cNvSpPr txBox="1">
            <a:spLocks noGrp="1"/>
          </p:cNvSpPr>
          <p:nvPr/>
        </p:nvSpPr>
        <p:spPr>
          <a:xfrm>
            <a:off x="2734056" y="27614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90</a:t>
            </a:r>
          </a:p>
        </p:txBody>
      </p:sp>
      <p:sp>
        <p:nvSpPr>
          <p:cNvPr id="96" name="c"/>
          <p:cNvSpPr txBox="1">
            <a:spLocks noGrp="1"/>
          </p:cNvSpPr>
          <p:nvPr/>
        </p:nvSpPr>
        <p:spPr>
          <a:xfrm>
            <a:off x="3227832" y="27614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22</a:t>
            </a:r>
          </a:p>
        </p:txBody>
      </p:sp>
      <p:sp>
        <p:nvSpPr>
          <p:cNvPr id="97" name="c"/>
          <p:cNvSpPr txBox="1">
            <a:spLocks noGrp="1"/>
          </p:cNvSpPr>
          <p:nvPr/>
        </p:nvSpPr>
        <p:spPr>
          <a:xfrm>
            <a:off x="3611880" y="27614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98" name="c"/>
          <p:cNvSpPr txBox="1">
            <a:spLocks noGrp="1"/>
          </p:cNvSpPr>
          <p:nvPr/>
        </p:nvSpPr>
        <p:spPr>
          <a:xfrm>
            <a:off x="4105656" y="27614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99" name="c"/>
          <p:cNvSpPr txBox="1">
            <a:spLocks noGrp="1"/>
          </p:cNvSpPr>
          <p:nvPr/>
        </p:nvSpPr>
        <p:spPr>
          <a:xfrm>
            <a:off x="4562856" y="276148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00" name="c"/>
          <p:cNvSpPr txBox="1">
            <a:spLocks noGrp="1"/>
          </p:cNvSpPr>
          <p:nvPr/>
        </p:nvSpPr>
        <p:spPr>
          <a:xfrm>
            <a:off x="4965192" y="27614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01" name="c"/>
          <p:cNvSpPr txBox="1">
            <a:spLocks noGrp="1"/>
          </p:cNvSpPr>
          <p:nvPr/>
        </p:nvSpPr>
        <p:spPr>
          <a:xfrm>
            <a:off x="5788152" y="27614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$625,778</a:t>
            </a:r>
          </a:p>
        </p:txBody>
      </p:sp>
      <p:sp>
        <p:nvSpPr>
          <p:cNvPr id="102" name="c"/>
          <p:cNvSpPr txBox="1">
            <a:spLocks noGrp="1"/>
          </p:cNvSpPr>
          <p:nvPr/>
        </p:nvSpPr>
        <p:spPr>
          <a:xfrm>
            <a:off x="6537960" y="276148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$149</a:t>
            </a:r>
          </a:p>
        </p:txBody>
      </p:sp>
      <p:sp>
        <p:nvSpPr>
          <p:cNvPr id="103" name="c"/>
          <p:cNvSpPr txBox="1">
            <a:spLocks noGrp="1"/>
          </p:cNvSpPr>
          <p:nvPr/>
        </p:nvSpPr>
        <p:spPr>
          <a:xfrm>
            <a:off x="7214616" y="276148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+$114</a:t>
            </a:r>
          </a:p>
        </p:txBody>
      </p:sp>
      <p:sp>
        <p:nvSpPr>
          <p:cNvPr id="105" name="rb"/>
          <p:cNvSpPr>
            <a:spLocks noGrp="1"/>
          </p:cNvSpPr>
          <p:nvPr/>
        </p:nvSpPr>
        <p:spPr>
          <a:xfrm>
            <a:off x="320040" y="303580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06" name="c"/>
          <p:cNvSpPr txBox="1">
            <a:spLocks noGrp="1"/>
          </p:cNvSpPr>
          <p:nvPr/>
        </p:nvSpPr>
        <p:spPr>
          <a:xfrm>
            <a:off x="320040" y="30358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AES — Soporte IT/OT</a:t>
            </a:r>
          </a:p>
        </p:txBody>
      </p:sp>
      <p:sp>
        <p:nvSpPr>
          <p:cNvPr id="107" name="c"/>
          <p:cNvSpPr txBox="1">
            <a:spLocks noGrp="1"/>
          </p:cNvSpPr>
          <p:nvPr/>
        </p:nvSpPr>
        <p:spPr>
          <a:xfrm>
            <a:off x="1508760" y="30358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AES</a:t>
            </a:r>
          </a:p>
        </p:txBody>
      </p:sp>
      <p:sp>
        <p:nvSpPr>
          <p:cNvPr id="108" name="c"/>
          <p:cNvSpPr txBox="1">
            <a:spLocks noGrp="1"/>
          </p:cNvSpPr>
          <p:nvPr/>
        </p:nvSpPr>
        <p:spPr>
          <a:xfrm>
            <a:off x="2075688" y="30358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09" name="c"/>
          <p:cNvSpPr txBox="1">
            <a:spLocks noGrp="1"/>
          </p:cNvSpPr>
          <p:nvPr/>
        </p:nvSpPr>
        <p:spPr>
          <a:xfrm>
            <a:off x="2423160" y="30358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10" name="c"/>
          <p:cNvSpPr txBox="1">
            <a:spLocks noGrp="1"/>
          </p:cNvSpPr>
          <p:nvPr/>
        </p:nvSpPr>
        <p:spPr>
          <a:xfrm>
            <a:off x="2734056" y="30358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11" name="c"/>
          <p:cNvSpPr txBox="1">
            <a:spLocks noGrp="1"/>
          </p:cNvSpPr>
          <p:nvPr/>
        </p:nvSpPr>
        <p:spPr>
          <a:xfrm>
            <a:off x="3227832" y="30358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12" name="c"/>
          <p:cNvSpPr txBox="1">
            <a:spLocks noGrp="1"/>
          </p:cNvSpPr>
          <p:nvPr/>
        </p:nvSpPr>
        <p:spPr>
          <a:xfrm>
            <a:off x="3611880" y="30358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113" name="c"/>
          <p:cNvSpPr txBox="1">
            <a:spLocks noGrp="1"/>
          </p:cNvSpPr>
          <p:nvPr/>
        </p:nvSpPr>
        <p:spPr>
          <a:xfrm>
            <a:off x="4105656" y="30358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4" name="c"/>
          <p:cNvSpPr txBox="1">
            <a:spLocks noGrp="1"/>
          </p:cNvSpPr>
          <p:nvPr/>
        </p:nvSpPr>
        <p:spPr>
          <a:xfrm>
            <a:off x="4562856" y="30358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5" name="c"/>
          <p:cNvSpPr txBox="1">
            <a:spLocks noGrp="1"/>
          </p:cNvSpPr>
          <p:nvPr/>
        </p:nvSpPr>
        <p:spPr>
          <a:xfrm>
            <a:off x="4965192" y="30358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16" name="c"/>
          <p:cNvSpPr txBox="1">
            <a:spLocks noGrp="1"/>
          </p:cNvSpPr>
          <p:nvPr/>
        </p:nvSpPr>
        <p:spPr>
          <a:xfrm>
            <a:off x="5788152" y="30358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17" name="c"/>
          <p:cNvSpPr txBox="1">
            <a:spLocks noGrp="1"/>
          </p:cNvSpPr>
          <p:nvPr/>
        </p:nvSpPr>
        <p:spPr>
          <a:xfrm>
            <a:off x="6537960" y="30358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18" name="c"/>
          <p:cNvSpPr txBox="1">
            <a:spLocks noGrp="1"/>
          </p:cNvSpPr>
          <p:nvPr/>
        </p:nvSpPr>
        <p:spPr>
          <a:xfrm>
            <a:off x="7214616" y="30358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0" name="rb"/>
          <p:cNvSpPr>
            <a:spLocks noGrp="1"/>
          </p:cNvSpPr>
          <p:nvPr/>
        </p:nvSpPr>
        <p:spPr>
          <a:xfrm>
            <a:off x="320040" y="331012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21" name="c"/>
          <p:cNvSpPr txBox="1">
            <a:spLocks noGrp="1"/>
          </p:cNvSpPr>
          <p:nvPr/>
        </p:nvSpPr>
        <p:spPr>
          <a:xfrm>
            <a:off x="320040" y="33101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BCO COES Integracion</a:t>
            </a:r>
          </a:p>
        </p:txBody>
      </p:sp>
      <p:sp>
        <p:nvSpPr>
          <p:cNvPr id="122" name="c"/>
          <p:cNvSpPr txBox="1">
            <a:spLocks noGrp="1"/>
          </p:cNvSpPr>
          <p:nvPr/>
        </p:nvSpPr>
        <p:spPr>
          <a:xfrm>
            <a:off x="1508760" y="33101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23" name="c"/>
          <p:cNvSpPr txBox="1">
            <a:spLocks noGrp="1"/>
          </p:cNvSpPr>
          <p:nvPr/>
        </p:nvSpPr>
        <p:spPr>
          <a:xfrm>
            <a:off x="2075688" y="33101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24" name="c"/>
          <p:cNvSpPr txBox="1">
            <a:spLocks noGrp="1"/>
          </p:cNvSpPr>
          <p:nvPr/>
        </p:nvSpPr>
        <p:spPr>
          <a:xfrm>
            <a:off x="2423160" y="33101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7</a:t>
            </a:r>
          </a:p>
        </p:txBody>
      </p:sp>
      <p:sp>
        <p:nvSpPr>
          <p:cNvPr id="125" name="c"/>
          <p:cNvSpPr txBox="1">
            <a:spLocks noGrp="1"/>
          </p:cNvSpPr>
          <p:nvPr/>
        </p:nvSpPr>
        <p:spPr>
          <a:xfrm>
            <a:off x="2734056" y="33101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26" name="c"/>
          <p:cNvSpPr txBox="1">
            <a:spLocks noGrp="1"/>
          </p:cNvSpPr>
          <p:nvPr/>
        </p:nvSpPr>
        <p:spPr>
          <a:xfrm>
            <a:off x="3227832" y="33101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27" name="c"/>
          <p:cNvSpPr txBox="1">
            <a:spLocks noGrp="1"/>
          </p:cNvSpPr>
          <p:nvPr/>
        </p:nvSpPr>
        <p:spPr>
          <a:xfrm>
            <a:off x="3611880" y="33101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1,120h</a:t>
            </a:r>
          </a:p>
        </p:txBody>
      </p:sp>
      <p:sp>
        <p:nvSpPr>
          <p:cNvPr id="128" name="c"/>
          <p:cNvSpPr txBox="1">
            <a:spLocks noGrp="1"/>
          </p:cNvSpPr>
          <p:nvPr/>
        </p:nvSpPr>
        <p:spPr>
          <a:xfrm>
            <a:off x="4105656" y="33101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9" name="c"/>
          <p:cNvSpPr txBox="1">
            <a:spLocks noGrp="1"/>
          </p:cNvSpPr>
          <p:nvPr/>
        </p:nvSpPr>
        <p:spPr>
          <a:xfrm>
            <a:off x="4562856" y="33101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30" name="c"/>
          <p:cNvSpPr txBox="1">
            <a:spLocks noGrp="1"/>
          </p:cNvSpPr>
          <p:nvPr/>
        </p:nvSpPr>
        <p:spPr>
          <a:xfrm>
            <a:off x="4965192" y="33101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$98.6M</a:t>
            </a:r>
          </a:p>
        </p:txBody>
      </p:sp>
      <p:sp>
        <p:nvSpPr>
          <p:cNvPr id="131" name="c"/>
          <p:cNvSpPr txBox="1">
            <a:spLocks noGrp="1"/>
          </p:cNvSpPr>
          <p:nvPr/>
        </p:nvSpPr>
        <p:spPr>
          <a:xfrm>
            <a:off x="5788152" y="33101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32" name="c"/>
          <p:cNvSpPr txBox="1">
            <a:spLocks noGrp="1"/>
          </p:cNvSpPr>
          <p:nvPr/>
        </p:nvSpPr>
        <p:spPr>
          <a:xfrm>
            <a:off x="6537960" y="33101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33" name="c"/>
          <p:cNvSpPr txBox="1">
            <a:spLocks noGrp="1"/>
          </p:cNvSpPr>
          <p:nvPr/>
        </p:nvSpPr>
        <p:spPr>
          <a:xfrm>
            <a:off x="7214616" y="33101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35" name="rb"/>
          <p:cNvSpPr>
            <a:spLocks noGrp="1"/>
          </p:cNvSpPr>
          <p:nvPr/>
        </p:nvSpPr>
        <p:spPr>
          <a:xfrm>
            <a:off x="320040" y="358444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36" name="c"/>
          <p:cNvSpPr txBox="1">
            <a:spLocks noGrp="1"/>
          </p:cNvSpPr>
          <p:nvPr/>
        </p:nvSpPr>
        <p:spPr>
          <a:xfrm>
            <a:off x="320040" y="35844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BCO COES Datos</a:t>
            </a:r>
          </a:p>
        </p:txBody>
      </p:sp>
      <p:sp>
        <p:nvSpPr>
          <p:cNvPr id="137" name="c"/>
          <p:cNvSpPr txBox="1">
            <a:spLocks noGrp="1"/>
          </p:cNvSpPr>
          <p:nvPr/>
        </p:nvSpPr>
        <p:spPr>
          <a:xfrm>
            <a:off x="1508760" y="35844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38" name="c"/>
          <p:cNvSpPr txBox="1">
            <a:spLocks noGrp="1"/>
          </p:cNvSpPr>
          <p:nvPr/>
        </p:nvSpPr>
        <p:spPr>
          <a:xfrm>
            <a:off x="2075688" y="35844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39" name="c"/>
          <p:cNvSpPr txBox="1">
            <a:spLocks noGrp="1"/>
          </p:cNvSpPr>
          <p:nvPr/>
        </p:nvSpPr>
        <p:spPr>
          <a:xfrm>
            <a:off x="2423160" y="35844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7</a:t>
            </a:r>
          </a:p>
        </p:txBody>
      </p:sp>
      <p:sp>
        <p:nvSpPr>
          <p:cNvPr id="140" name="c"/>
          <p:cNvSpPr txBox="1">
            <a:spLocks noGrp="1"/>
          </p:cNvSpPr>
          <p:nvPr/>
        </p:nvSpPr>
        <p:spPr>
          <a:xfrm>
            <a:off x="2734056" y="35844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41" name="c"/>
          <p:cNvSpPr txBox="1">
            <a:spLocks noGrp="1"/>
          </p:cNvSpPr>
          <p:nvPr/>
        </p:nvSpPr>
        <p:spPr>
          <a:xfrm>
            <a:off x="3227832" y="35844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42" name="c"/>
          <p:cNvSpPr txBox="1">
            <a:spLocks noGrp="1"/>
          </p:cNvSpPr>
          <p:nvPr/>
        </p:nvSpPr>
        <p:spPr>
          <a:xfrm>
            <a:off x="3611880" y="35844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1,120h</a:t>
            </a:r>
          </a:p>
        </p:txBody>
      </p:sp>
      <p:sp>
        <p:nvSpPr>
          <p:cNvPr id="143" name="c"/>
          <p:cNvSpPr txBox="1">
            <a:spLocks noGrp="1"/>
          </p:cNvSpPr>
          <p:nvPr/>
        </p:nvSpPr>
        <p:spPr>
          <a:xfrm>
            <a:off x="4105656" y="35844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44" name="c"/>
          <p:cNvSpPr txBox="1">
            <a:spLocks noGrp="1"/>
          </p:cNvSpPr>
          <p:nvPr/>
        </p:nvSpPr>
        <p:spPr>
          <a:xfrm>
            <a:off x="4562856" y="35844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45" name="c"/>
          <p:cNvSpPr txBox="1">
            <a:spLocks noGrp="1"/>
          </p:cNvSpPr>
          <p:nvPr/>
        </p:nvSpPr>
        <p:spPr>
          <a:xfrm>
            <a:off x="4965192" y="35844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$98.6M</a:t>
            </a:r>
          </a:p>
        </p:txBody>
      </p:sp>
      <p:sp>
        <p:nvSpPr>
          <p:cNvPr id="146" name="c"/>
          <p:cNvSpPr txBox="1">
            <a:spLocks noGrp="1"/>
          </p:cNvSpPr>
          <p:nvPr/>
        </p:nvSpPr>
        <p:spPr>
          <a:xfrm>
            <a:off x="5788152" y="35844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7" name="c"/>
          <p:cNvSpPr txBox="1">
            <a:spLocks noGrp="1"/>
          </p:cNvSpPr>
          <p:nvPr/>
        </p:nvSpPr>
        <p:spPr>
          <a:xfrm>
            <a:off x="6537960" y="35844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8" name="c"/>
          <p:cNvSpPr txBox="1">
            <a:spLocks noGrp="1"/>
          </p:cNvSpPr>
          <p:nvPr/>
        </p:nvSpPr>
        <p:spPr>
          <a:xfrm>
            <a:off x="7214616" y="35844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50" name="rb"/>
          <p:cNvSpPr>
            <a:spLocks noGrp="1"/>
          </p:cNvSpPr>
          <p:nvPr/>
        </p:nvSpPr>
        <p:spPr>
          <a:xfrm>
            <a:off x="320040" y="385876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51" name="c"/>
          <p:cNvSpPr txBox="1">
            <a:spLocks noGrp="1"/>
          </p:cNvSpPr>
          <p:nvPr/>
        </p:nvSpPr>
        <p:spPr>
          <a:xfrm>
            <a:off x="320040" y="38587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BCO Soporte</a:t>
            </a:r>
          </a:p>
        </p:txBody>
      </p:sp>
      <p:sp>
        <p:nvSpPr>
          <p:cNvPr id="152" name="c"/>
          <p:cNvSpPr txBox="1">
            <a:spLocks noGrp="1"/>
          </p:cNvSpPr>
          <p:nvPr/>
        </p:nvSpPr>
        <p:spPr>
          <a:xfrm>
            <a:off x="1508760" y="38587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53" name="c"/>
          <p:cNvSpPr txBox="1">
            <a:spLocks noGrp="1"/>
          </p:cNvSpPr>
          <p:nvPr/>
        </p:nvSpPr>
        <p:spPr>
          <a:xfrm>
            <a:off x="2075688" y="385876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54" name="c"/>
          <p:cNvSpPr txBox="1">
            <a:spLocks noGrp="1"/>
          </p:cNvSpPr>
          <p:nvPr/>
        </p:nvSpPr>
        <p:spPr>
          <a:xfrm>
            <a:off x="2423160" y="385876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13</a:t>
            </a:r>
          </a:p>
        </p:txBody>
      </p:sp>
      <p:sp>
        <p:nvSpPr>
          <p:cNvPr id="155" name="c"/>
          <p:cNvSpPr txBox="1">
            <a:spLocks noGrp="1"/>
          </p:cNvSpPr>
          <p:nvPr/>
        </p:nvSpPr>
        <p:spPr>
          <a:xfrm>
            <a:off x="2734056" y="38587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56" name="c"/>
          <p:cNvSpPr txBox="1">
            <a:spLocks noGrp="1"/>
          </p:cNvSpPr>
          <p:nvPr/>
        </p:nvSpPr>
        <p:spPr>
          <a:xfrm>
            <a:off x="3227832" y="38587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57" name="c"/>
          <p:cNvSpPr txBox="1">
            <a:spLocks noGrp="1"/>
          </p:cNvSpPr>
          <p:nvPr/>
        </p:nvSpPr>
        <p:spPr>
          <a:xfrm>
            <a:off x="3611880" y="38587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2,080h</a:t>
            </a:r>
          </a:p>
        </p:txBody>
      </p:sp>
      <p:sp>
        <p:nvSpPr>
          <p:cNvPr id="158" name="c"/>
          <p:cNvSpPr txBox="1">
            <a:spLocks noGrp="1"/>
          </p:cNvSpPr>
          <p:nvPr/>
        </p:nvSpPr>
        <p:spPr>
          <a:xfrm>
            <a:off x="4105656" y="3858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59" name="c"/>
          <p:cNvSpPr txBox="1">
            <a:spLocks noGrp="1"/>
          </p:cNvSpPr>
          <p:nvPr/>
        </p:nvSpPr>
        <p:spPr>
          <a:xfrm>
            <a:off x="4562856" y="385876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60" name="c"/>
          <p:cNvSpPr txBox="1">
            <a:spLocks noGrp="1"/>
          </p:cNvSpPr>
          <p:nvPr/>
        </p:nvSpPr>
        <p:spPr>
          <a:xfrm>
            <a:off x="4965192" y="3858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$183.0M</a:t>
            </a:r>
          </a:p>
        </p:txBody>
      </p:sp>
      <p:sp>
        <p:nvSpPr>
          <p:cNvPr id="161" name="c"/>
          <p:cNvSpPr txBox="1">
            <a:spLocks noGrp="1"/>
          </p:cNvSpPr>
          <p:nvPr/>
        </p:nvSpPr>
        <p:spPr>
          <a:xfrm>
            <a:off x="5788152" y="38587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62" name="c"/>
          <p:cNvSpPr txBox="1">
            <a:spLocks noGrp="1"/>
          </p:cNvSpPr>
          <p:nvPr/>
        </p:nvSpPr>
        <p:spPr>
          <a:xfrm>
            <a:off x="6537960" y="385876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63" name="c"/>
          <p:cNvSpPr txBox="1">
            <a:spLocks noGrp="1"/>
          </p:cNvSpPr>
          <p:nvPr/>
        </p:nvSpPr>
        <p:spPr>
          <a:xfrm>
            <a:off x="7214616" y="385876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65" name="rb"/>
          <p:cNvSpPr>
            <a:spLocks noGrp="1"/>
          </p:cNvSpPr>
          <p:nvPr/>
        </p:nvSpPr>
        <p:spPr>
          <a:xfrm>
            <a:off x="320040" y="413308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66" name="c"/>
          <p:cNvSpPr txBox="1">
            <a:spLocks noGrp="1"/>
          </p:cNvSpPr>
          <p:nvPr/>
        </p:nvSpPr>
        <p:spPr>
          <a:xfrm>
            <a:off x="320040" y="41330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BCO COES Emma</a:t>
            </a:r>
          </a:p>
        </p:txBody>
      </p:sp>
      <p:sp>
        <p:nvSpPr>
          <p:cNvPr id="167" name="c"/>
          <p:cNvSpPr txBox="1">
            <a:spLocks noGrp="1"/>
          </p:cNvSpPr>
          <p:nvPr/>
        </p:nvSpPr>
        <p:spPr>
          <a:xfrm>
            <a:off x="1508760" y="41330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68" name="c"/>
          <p:cNvSpPr txBox="1">
            <a:spLocks noGrp="1"/>
          </p:cNvSpPr>
          <p:nvPr/>
        </p:nvSpPr>
        <p:spPr>
          <a:xfrm>
            <a:off x="2075688" y="41330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69" name="c"/>
          <p:cNvSpPr txBox="1">
            <a:spLocks noGrp="1"/>
          </p:cNvSpPr>
          <p:nvPr/>
        </p:nvSpPr>
        <p:spPr>
          <a:xfrm>
            <a:off x="2423160" y="413308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70" name="c"/>
          <p:cNvSpPr txBox="1">
            <a:spLocks noGrp="1"/>
          </p:cNvSpPr>
          <p:nvPr/>
        </p:nvSpPr>
        <p:spPr>
          <a:xfrm>
            <a:off x="2734056" y="41330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71" name="c"/>
          <p:cNvSpPr txBox="1">
            <a:spLocks noGrp="1"/>
          </p:cNvSpPr>
          <p:nvPr/>
        </p:nvSpPr>
        <p:spPr>
          <a:xfrm>
            <a:off x="3227832" y="41330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72" name="c"/>
          <p:cNvSpPr txBox="1">
            <a:spLocks noGrp="1"/>
          </p:cNvSpPr>
          <p:nvPr/>
        </p:nvSpPr>
        <p:spPr>
          <a:xfrm>
            <a:off x="3611880" y="41330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173" name="c"/>
          <p:cNvSpPr txBox="1">
            <a:spLocks noGrp="1"/>
          </p:cNvSpPr>
          <p:nvPr/>
        </p:nvSpPr>
        <p:spPr>
          <a:xfrm>
            <a:off x="4105656" y="4133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74" name="c"/>
          <p:cNvSpPr txBox="1">
            <a:spLocks noGrp="1"/>
          </p:cNvSpPr>
          <p:nvPr/>
        </p:nvSpPr>
        <p:spPr>
          <a:xfrm>
            <a:off x="4562856" y="413308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75" name="c"/>
          <p:cNvSpPr txBox="1">
            <a:spLocks noGrp="1"/>
          </p:cNvSpPr>
          <p:nvPr/>
        </p:nvSpPr>
        <p:spPr>
          <a:xfrm>
            <a:off x="4965192" y="41330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76" name="c"/>
          <p:cNvSpPr txBox="1">
            <a:spLocks noGrp="1"/>
          </p:cNvSpPr>
          <p:nvPr/>
        </p:nvSpPr>
        <p:spPr>
          <a:xfrm>
            <a:off x="5788152" y="41330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77" name="c"/>
          <p:cNvSpPr txBox="1">
            <a:spLocks noGrp="1"/>
          </p:cNvSpPr>
          <p:nvPr/>
        </p:nvSpPr>
        <p:spPr>
          <a:xfrm>
            <a:off x="6537960" y="413308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78" name="c"/>
          <p:cNvSpPr txBox="1">
            <a:spLocks noGrp="1"/>
          </p:cNvSpPr>
          <p:nvPr/>
        </p:nvSpPr>
        <p:spPr>
          <a:xfrm>
            <a:off x="7214616" y="413308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80" name="rb"/>
          <p:cNvSpPr>
            <a:spLocks noGrp="1"/>
          </p:cNvSpPr>
          <p:nvPr/>
        </p:nvSpPr>
        <p:spPr>
          <a:xfrm>
            <a:off x="320040" y="440740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81" name="c"/>
          <p:cNvSpPr txBox="1">
            <a:spLocks noGrp="1"/>
          </p:cNvSpPr>
          <p:nvPr/>
        </p:nvSpPr>
        <p:spPr>
          <a:xfrm>
            <a:off x="320040" y="44074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BCO Emma Iseries</a:t>
            </a:r>
          </a:p>
        </p:txBody>
      </p:sp>
      <p:sp>
        <p:nvSpPr>
          <p:cNvPr id="182" name="c"/>
          <p:cNvSpPr txBox="1">
            <a:spLocks noGrp="1"/>
          </p:cNvSpPr>
          <p:nvPr/>
        </p:nvSpPr>
        <p:spPr>
          <a:xfrm>
            <a:off x="1508760" y="44074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83" name="c"/>
          <p:cNvSpPr txBox="1">
            <a:spLocks noGrp="1"/>
          </p:cNvSpPr>
          <p:nvPr/>
        </p:nvSpPr>
        <p:spPr>
          <a:xfrm>
            <a:off x="2075688" y="44074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84" name="c"/>
          <p:cNvSpPr txBox="1">
            <a:spLocks noGrp="1"/>
          </p:cNvSpPr>
          <p:nvPr/>
        </p:nvSpPr>
        <p:spPr>
          <a:xfrm>
            <a:off x="2423160" y="44074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185" name="c"/>
          <p:cNvSpPr txBox="1">
            <a:spLocks noGrp="1"/>
          </p:cNvSpPr>
          <p:nvPr/>
        </p:nvSpPr>
        <p:spPr>
          <a:xfrm>
            <a:off x="2734056" y="44074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86" name="c"/>
          <p:cNvSpPr txBox="1">
            <a:spLocks noGrp="1"/>
          </p:cNvSpPr>
          <p:nvPr/>
        </p:nvSpPr>
        <p:spPr>
          <a:xfrm>
            <a:off x="3227832" y="44074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87" name="c"/>
          <p:cNvSpPr txBox="1">
            <a:spLocks noGrp="1"/>
          </p:cNvSpPr>
          <p:nvPr/>
        </p:nvSpPr>
        <p:spPr>
          <a:xfrm>
            <a:off x="3611880" y="44074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160h</a:t>
            </a:r>
          </a:p>
        </p:txBody>
      </p:sp>
      <p:sp>
        <p:nvSpPr>
          <p:cNvPr id="188" name="c"/>
          <p:cNvSpPr txBox="1">
            <a:spLocks noGrp="1"/>
          </p:cNvSpPr>
          <p:nvPr/>
        </p:nvSpPr>
        <p:spPr>
          <a:xfrm>
            <a:off x="4105656" y="44074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89" name="c"/>
          <p:cNvSpPr txBox="1">
            <a:spLocks noGrp="1"/>
          </p:cNvSpPr>
          <p:nvPr/>
        </p:nvSpPr>
        <p:spPr>
          <a:xfrm>
            <a:off x="4562856" y="44074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90" name="c"/>
          <p:cNvSpPr txBox="1">
            <a:spLocks noGrp="1"/>
          </p:cNvSpPr>
          <p:nvPr/>
        </p:nvSpPr>
        <p:spPr>
          <a:xfrm>
            <a:off x="4965192" y="44074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191" name="c"/>
          <p:cNvSpPr txBox="1">
            <a:spLocks noGrp="1"/>
          </p:cNvSpPr>
          <p:nvPr/>
        </p:nvSpPr>
        <p:spPr>
          <a:xfrm>
            <a:off x="5788152" y="44074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92" name="c"/>
          <p:cNvSpPr txBox="1">
            <a:spLocks noGrp="1"/>
          </p:cNvSpPr>
          <p:nvPr/>
        </p:nvSpPr>
        <p:spPr>
          <a:xfrm>
            <a:off x="6537960" y="44074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93" name="c"/>
          <p:cNvSpPr txBox="1">
            <a:spLocks noGrp="1"/>
          </p:cNvSpPr>
          <p:nvPr/>
        </p:nvSpPr>
        <p:spPr>
          <a:xfrm>
            <a:off x="7214616" y="44074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95" name="rb"/>
          <p:cNvSpPr>
            <a:spLocks noGrp="1"/>
          </p:cNvSpPr>
          <p:nvPr/>
        </p:nvSpPr>
        <p:spPr>
          <a:xfrm>
            <a:off x="320040" y="468172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</p:sp>
      <p:sp>
        <p:nvSpPr>
          <p:cNvPr id="196" name="c"/>
          <p:cNvSpPr txBox="1">
            <a:spLocks noGrp="1"/>
          </p:cNvSpPr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>
                <a:solidFill>
                  <a:srgbClr val="0D1B5E"/>
                </a:solidFill>
                <a:latin typeface="Calibri"/>
              </a:rPr>
              <a:t>MEDICARTE*</a:t>
            </a:r>
          </a:p>
        </p:txBody>
      </p:sp>
      <p:sp>
        <p:nvSpPr>
          <p:cNvPr id="197" name="c"/>
          <p:cNvSpPr txBox="1">
            <a:spLocks noGrp="1"/>
          </p:cNvSpPr>
          <p:nvPr/>
        </p:nvSpPr>
        <p:spPr>
          <a:xfrm>
            <a:off x="1508760" y="46817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7280"/>
                </a:solidFill>
                <a:latin typeface="Calibri"/>
              </a:rPr>
              <a:t>(no evaluada)</a:t>
            </a:r>
          </a:p>
        </p:txBody>
      </p:sp>
      <p:sp>
        <p:nvSpPr>
          <p:cNvPr id="198" name="c"/>
          <p:cNvSpPr txBox="1">
            <a:spLocks noGrp="1"/>
          </p:cNvSpPr>
          <p:nvPr/>
        </p:nvSpPr>
        <p:spPr>
          <a:xfrm>
            <a:off x="2075688" y="46817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99" name="c"/>
          <p:cNvSpPr txBox="1">
            <a:spLocks noGrp="1"/>
          </p:cNvSpPr>
          <p:nvPr/>
        </p:nvSpPr>
        <p:spPr>
          <a:xfrm>
            <a:off x="2423160" y="46817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12</a:t>
            </a:r>
          </a:p>
        </p:txBody>
      </p:sp>
      <p:sp>
        <p:nvSpPr>
          <p:cNvPr id="200" name="c"/>
          <p:cNvSpPr txBox="1">
            <a:spLocks noGrp="1"/>
          </p:cNvSpPr>
          <p:nvPr/>
        </p:nvSpPr>
        <p:spPr>
          <a:xfrm>
            <a:off x="2734056" y="46817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201" name="c"/>
          <p:cNvSpPr txBox="1">
            <a:spLocks noGrp="1"/>
          </p:cNvSpPr>
          <p:nvPr/>
        </p:nvSpPr>
        <p:spPr>
          <a:xfrm>
            <a:off x="3227832" y="46817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202" name="c"/>
          <p:cNvSpPr txBox="1">
            <a:spLocks noGrp="1"/>
          </p:cNvSpPr>
          <p:nvPr/>
        </p:nvSpPr>
        <p:spPr>
          <a:xfrm>
            <a:off x="3611880" y="46817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B7B85"/>
                </a:solidFill>
                <a:latin typeface="Calibri"/>
              </a:rPr>
              <a:t>1,920h</a:t>
            </a:r>
          </a:p>
        </p:txBody>
      </p:sp>
      <p:sp>
        <p:nvSpPr>
          <p:cNvPr id="203" name="c"/>
          <p:cNvSpPr txBox="1">
            <a:spLocks noGrp="1"/>
          </p:cNvSpPr>
          <p:nvPr/>
        </p:nvSpPr>
        <p:spPr>
          <a:xfrm>
            <a:off x="4105656" y="4681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1A6B3C"/>
                </a:solidFill>
                <a:latin typeface="Calibri"/>
              </a:rPr>
              <a:t>0.55h</a:t>
            </a:r>
          </a:p>
        </p:txBody>
      </p:sp>
      <p:sp>
        <p:nvSpPr>
          <p:cNvPr id="204" name="c"/>
          <p:cNvSpPr txBox="1">
            <a:spLocks noGrp="1"/>
          </p:cNvSpPr>
          <p:nvPr/>
        </p:nvSpPr>
        <p:spPr>
          <a:xfrm>
            <a:off x="4562856" y="46817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92400E"/>
                </a:solidFill>
                <a:latin typeface="Calibri"/>
              </a:rPr>
              <a:t>89%</a:t>
            </a:r>
          </a:p>
        </p:txBody>
      </p:sp>
      <p:sp>
        <p:nvSpPr>
          <p:cNvPr id="205" name="c"/>
          <p:cNvSpPr txBox="1">
            <a:spLocks noGrp="1"/>
          </p:cNvSpPr>
          <p:nvPr/>
        </p:nvSpPr>
        <p:spPr>
          <a:xfrm>
            <a:off x="4965192" y="46817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0D1B5E"/>
                </a:solidFill>
                <a:latin typeface="Calibri"/>
              </a:rPr>
              <a:t>$169.0M</a:t>
            </a:r>
          </a:p>
        </p:txBody>
      </p:sp>
      <p:sp>
        <p:nvSpPr>
          <p:cNvPr id="206" name="c"/>
          <p:cNvSpPr txBox="1">
            <a:spLocks noGrp="1"/>
          </p:cNvSpPr>
          <p:nvPr/>
        </p:nvSpPr>
        <p:spPr>
          <a:xfrm>
            <a:off x="5788152" y="46817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207" name="c"/>
          <p:cNvSpPr txBox="1">
            <a:spLocks noGrp="1"/>
          </p:cNvSpPr>
          <p:nvPr/>
        </p:nvSpPr>
        <p:spPr>
          <a:xfrm>
            <a:off x="6537960" y="46817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208" name="c"/>
          <p:cNvSpPr txBox="1">
            <a:spLocks noGrp="1"/>
          </p:cNvSpPr>
          <p:nvPr/>
        </p:nvSpPr>
        <p:spPr>
          <a:xfrm>
            <a:off x="7214616" y="46817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" name="tot"/>
          <p:cNvSpPr>
            <a:spLocks noGrp="1"/>
          </p:cNvSpPr>
          <p:nvPr/>
        </p:nvSpPr>
        <p:spPr>
          <a:xfrm>
            <a:off x="320040" y="4956048"/>
            <a:ext cx="7955279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6B2D5E"/>
            </a:solidFill>
          </a:ln>
        </p:spPr>
      </p:sp>
      <p:sp>
        <p:nvSpPr>
          <p:cNvPr id="13" name="tc"/>
          <p:cNvSpPr txBox="1">
            <a:spLocks noGrp="1"/>
          </p:cNvSpPr>
          <p:nvPr/>
        </p:nvSpPr>
        <p:spPr>
          <a:xfrm>
            <a:off x="320040" y="49560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680" b="1">
                <a:solidFill>
                  <a:srgbClr val="6B2D5E"/>
                </a:solidFill>
                <a:latin typeface="Calibri"/>
              </a:rPr>
              <a:t>TOTAL SURA (4 mesas)</a:t>
            </a:r>
          </a:p>
        </p:txBody>
      </p:sp>
      <p:sp>
        <p:nvSpPr>
          <p:cNvPr id="14" name="tc"/>
          <p:cNvSpPr txBox="1">
            <a:spLocks noGrp="1"/>
          </p:cNvSpPr>
          <p:nvPr/>
        </p:nvSpPr>
        <p:spPr>
          <a:xfrm>
            <a:off x="1508760" y="49560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SURA</a:t>
            </a:r>
          </a:p>
        </p:txBody>
      </p:sp>
      <p:sp>
        <p:nvSpPr>
          <p:cNvPr id="15" name="tc"/>
          <p:cNvSpPr txBox="1">
            <a:spLocks noGrp="1"/>
          </p:cNvSpPr>
          <p:nvPr/>
        </p:nvSpPr>
        <p:spPr>
          <a:xfrm>
            <a:off x="2075688" y="49560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N2</a:t>
            </a:r>
          </a:p>
        </p:txBody>
      </p:sp>
      <p:sp>
        <p:nvSpPr>
          <p:cNvPr id="16" name="tc"/>
          <p:cNvSpPr txBox="1">
            <a:spLocks noGrp="1"/>
          </p:cNvSpPr>
          <p:nvPr/>
        </p:nvSpPr>
        <p:spPr>
          <a:xfrm>
            <a:off x="2423160" y="49560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17</a:t>
            </a:r>
          </a:p>
        </p:txBody>
      </p:sp>
      <p:sp>
        <p:nvSpPr>
          <p:cNvPr id="17" name="tc"/>
          <p:cNvSpPr txBox="1">
            <a:spLocks noGrp="1"/>
          </p:cNvSpPr>
          <p:nvPr/>
        </p:nvSpPr>
        <p:spPr>
          <a:xfrm>
            <a:off x="2734056" y="49560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1,525</a:t>
            </a:r>
          </a:p>
        </p:txBody>
      </p:sp>
      <p:sp>
        <p:nvSpPr>
          <p:cNvPr id="18" name="tc"/>
          <p:cNvSpPr txBox="1">
            <a:spLocks noGrp="1"/>
          </p:cNvSpPr>
          <p:nvPr/>
        </p:nvSpPr>
        <p:spPr>
          <a:xfrm>
            <a:off x="3227832" y="49560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89</a:t>
            </a:r>
          </a:p>
        </p:txBody>
      </p:sp>
      <p:sp>
        <p:nvSpPr>
          <p:cNvPr id="19" name="tc"/>
          <p:cNvSpPr txBox="1">
            <a:spLocks noGrp="1"/>
          </p:cNvSpPr>
          <p:nvPr/>
        </p:nvSpPr>
        <p:spPr>
          <a:xfrm>
            <a:off x="3611880" y="49560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2,720h</a:t>
            </a:r>
          </a:p>
        </p:txBody>
      </p:sp>
      <p:sp>
        <p:nvSpPr>
          <p:cNvPr id="44" name="tc"/>
          <p:cNvSpPr txBox="1">
            <a:spLocks noGrp="1"/>
          </p:cNvSpPr>
          <p:nvPr/>
        </p:nvSpPr>
        <p:spPr>
          <a:xfrm>
            <a:off x="4105656" y="49560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14.5h prom</a:t>
            </a:r>
          </a:p>
        </p:txBody>
      </p:sp>
      <p:sp>
        <p:nvSpPr>
          <p:cNvPr id="209" name="tc"/>
          <p:cNvSpPr txBox="1">
            <a:spLocks noGrp="1"/>
          </p:cNvSpPr>
          <p:nvPr/>
        </p:nvSpPr>
        <p:spPr>
          <a:xfrm>
            <a:off x="4562856" y="49560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78.5%</a:t>
            </a:r>
          </a:p>
        </p:txBody>
      </p:sp>
      <p:sp>
        <p:nvSpPr>
          <p:cNvPr id="210" name="tc"/>
          <p:cNvSpPr txBox="1">
            <a:spLocks noGrp="1"/>
          </p:cNvSpPr>
          <p:nvPr/>
        </p:nvSpPr>
        <p:spPr>
          <a:xfrm>
            <a:off x="4965192" y="49560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$239M</a:t>
            </a:r>
          </a:p>
        </p:txBody>
      </p:sp>
      <p:sp>
        <p:nvSpPr>
          <p:cNvPr id="211" name="tc"/>
          <p:cNvSpPr txBox="1">
            <a:spLocks noGrp="1"/>
          </p:cNvSpPr>
          <p:nvPr/>
        </p:nvSpPr>
        <p:spPr>
          <a:xfrm>
            <a:off x="5788152" y="49560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$156,957</a:t>
            </a:r>
          </a:p>
        </p:txBody>
      </p:sp>
      <p:sp>
        <p:nvSpPr>
          <p:cNvPr id="212" name="tc"/>
          <p:cNvSpPr txBox="1">
            <a:spLocks noGrp="1"/>
          </p:cNvSpPr>
          <p:nvPr/>
        </p:nvSpPr>
        <p:spPr>
          <a:xfrm>
            <a:off x="6537960" y="49560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6B2D5E"/>
                </a:solidFill>
                <a:latin typeface="Calibri"/>
              </a:rPr>
              <a:t>$37</a:t>
            </a:r>
          </a:p>
        </p:txBody>
      </p:sp>
      <p:sp>
        <p:nvSpPr>
          <p:cNvPr id="213" name="tc"/>
          <p:cNvSpPr txBox="1">
            <a:spLocks noGrp="1"/>
          </p:cNvSpPr>
          <p:nvPr/>
        </p:nvSpPr>
        <p:spPr>
          <a:xfrm>
            <a:off x="7214616" y="49560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>
                <a:solidFill>
                  <a:srgbClr val="C00000"/>
                </a:solidFill>
                <a:latin typeface="Calibri"/>
              </a:rPr>
              <a:t>+$2</a:t>
            </a:r>
          </a:p>
        </p:txBody>
      </p:sp>
      <p:sp>
        <p:nvSpPr>
          <p:cNvPr id="215" name="bco_tot"/>
          <p:cNvSpPr>
            <a:spLocks noGrp="1"/>
          </p:cNvSpPr>
          <p:nvPr/>
        </p:nvSpPr>
        <p:spPr>
          <a:xfrm>
            <a:off x="320040" y="5266944"/>
            <a:ext cx="7955279" cy="274320"/>
          </a:xfrm>
          <a:prstGeom prst="rect">
            <a:avLst/>
          </a:prstGeom>
          <a:solidFill>
            <a:srgbClr val="EBF5FF"/>
          </a:solidFill>
          <a:ln w="12700">
            <a:solidFill>
              <a:srgbClr val="1A3A8F"/>
            </a:solidFill>
          </a:ln>
        </p:spPr>
      </p:sp>
      <p:sp>
        <p:nvSpPr>
          <p:cNvPr id="216" name="bc"/>
          <p:cNvSpPr txBox="1">
            <a:spLocks noGrp="1"/>
          </p:cNvSpPr>
          <p:nvPr/>
        </p:nvSpPr>
        <p:spPr>
          <a:xfrm>
            <a:off x="320040" y="52669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660" b="1">
                <a:solidFill>
                  <a:srgbClr val="1A3A8F"/>
                </a:solidFill>
                <a:latin typeface="Calibri"/>
              </a:rPr>
              <a:t>TOTAL BCO (5 mesas)</a:t>
            </a:r>
          </a:p>
        </p:txBody>
      </p:sp>
      <p:sp>
        <p:nvSpPr>
          <p:cNvPr id="217" name="bc"/>
          <p:cNvSpPr txBox="1">
            <a:spLocks noGrp="1"/>
          </p:cNvSpPr>
          <p:nvPr/>
        </p:nvSpPr>
        <p:spPr>
          <a:xfrm>
            <a:off x="1508760" y="526694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BCO</a:t>
            </a:r>
          </a:p>
        </p:txBody>
      </p:sp>
      <p:sp>
        <p:nvSpPr>
          <p:cNvPr id="218" name="bc"/>
          <p:cNvSpPr txBox="1">
            <a:spLocks noGrp="1"/>
          </p:cNvSpPr>
          <p:nvPr/>
        </p:nvSpPr>
        <p:spPr>
          <a:xfrm>
            <a:off x="2075688" y="5266944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N1</a:t>
            </a:r>
          </a:p>
        </p:txBody>
      </p:sp>
      <p:sp>
        <p:nvSpPr>
          <p:cNvPr id="219" name="bc"/>
          <p:cNvSpPr txBox="1">
            <a:spLocks noGrp="1"/>
          </p:cNvSpPr>
          <p:nvPr/>
        </p:nvSpPr>
        <p:spPr>
          <a:xfrm>
            <a:off x="2423160" y="5266944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32</a:t>
            </a:r>
          </a:p>
        </p:txBody>
      </p:sp>
      <p:sp>
        <p:nvSpPr>
          <p:cNvPr id="220" name="bc"/>
          <p:cNvSpPr txBox="1">
            <a:spLocks noGrp="1"/>
          </p:cNvSpPr>
          <p:nvPr/>
        </p:nvSpPr>
        <p:spPr>
          <a:xfrm>
            <a:off x="2734056" y="5266944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N/D (700-3000/mesa)</a:t>
            </a:r>
          </a:p>
        </p:txBody>
      </p:sp>
      <p:sp>
        <p:nvSpPr>
          <p:cNvPr id="221" name="bc"/>
          <p:cNvSpPr txBox="1">
            <a:spLocks noGrp="1"/>
          </p:cNvSpPr>
          <p:nvPr/>
        </p:nvSpPr>
        <p:spPr>
          <a:xfrm>
            <a:off x="3227832" y="526694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80-250</a:t>
            </a:r>
          </a:p>
        </p:txBody>
      </p:sp>
      <p:sp>
        <p:nvSpPr>
          <p:cNvPr id="222" name="bc"/>
          <p:cNvSpPr txBox="1">
            <a:spLocks noGrp="1"/>
          </p:cNvSpPr>
          <p:nvPr/>
        </p:nvSpPr>
        <p:spPr>
          <a:xfrm>
            <a:off x="3611880" y="5266944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5,120h</a:t>
            </a:r>
          </a:p>
        </p:txBody>
      </p:sp>
      <p:sp>
        <p:nvSpPr>
          <p:cNvPr id="223" name="bc"/>
          <p:cNvSpPr txBox="1">
            <a:spLocks noGrp="1"/>
          </p:cNvSpPr>
          <p:nvPr/>
        </p:nvSpPr>
        <p:spPr>
          <a:xfrm>
            <a:off x="4105656" y="526694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0.5-3h</a:t>
            </a:r>
          </a:p>
        </p:txBody>
      </p:sp>
      <p:sp>
        <p:nvSpPr>
          <p:cNvPr id="224" name="bc"/>
          <p:cNvSpPr txBox="1">
            <a:spLocks noGrp="1"/>
          </p:cNvSpPr>
          <p:nvPr/>
        </p:nvSpPr>
        <p:spPr>
          <a:xfrm>
            <a:off x="4562856" y="5266944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Sin ANS formal</a:t>
            </a:r>
          </a:p>
        </p:txBody>
      </p:sp>
      <p:sp>
        <p:nvSpPr>
          <p:cNvPr id="225" name="bc"/>
          <p:cNvSpPr txBox="1">
            <a:spLocks noGrp="1"/>
          </p:cNvSpPr>
          <p:nvPr/>
        </p:nvSpPr>
        <p:spPr>
          <a:xfrm>
            <a:off x="4965192" y="526694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$451M</a:t>
            </a:r>
          </a:p>
        </p:txBody>
      </p:sp>
      <p:sp>
        <p:nvSpPr>
          <p:cNvPr id="226" name="bc"/>
          <p:cNvSpPr txBox="1">
            <a:spLocks noGrp="1"/>
          </p:cNvSpPr>
          <p:nvPr/>
        </p:nvSpPr>
        <p:spPr>
          <a:xfrm>
            <a:off x="5788152" y="5266944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27" name="bc"/>
          <p:cNvSpPr txBox="1">
            <a:spLocks noGrp="1"/>
          </p:cNvSpPr>
          <p:nvPr/>
        </p:nvSpPr>
        <p:spPr>
          <a:xfrm>
            <a:off x="6537960" y="5266944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28" name="bc"/>
          <p:cNvSpPr txBox="1">
            <a:spLocks noGrp="1"/>
          </p:cNvSpPr>
          <p:nvPr/>
        </p:nvSpPr>
        <p:spPr>
          <a:xfrm>
            <a:off x="7214616" y="526694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30" name="nb1"/>
          <p:cNvSpPr>
            <a:spLocks noGrp="1"/>
          </p:cNvSpPr>
          <p:nvPr/>
        </p:nvSpPr>
        <p:spPr>
          <a:xfrm>
            <a:off x="320040" y="5596128"/>
            <a:ext cx="3794760" cy="493776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</p:spPr>
      </p:sp>
      <p:sp>
        <p:nvSpPr>
          <p:cNvPr id="231" name="nt1"/>
          <p:cNvSpPr txBox="1">
            <a:spLocks noGrp="1"/>
          </p:cNvSpPr>
          <p:nvPr/>
        </p:nvSpPr>
        <p:spPr>
          <a:xfrm>
            <a:off x="411480" y="563270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b="1">
                <a:solidFill>
                  <a:srgbClr val="92400E"/>
                </a:solidFill>
                <a:latin typeface="Calibri"/>
              </a:rPr>
              <a:t>⚠  XM — Anomalia: </a:t>
            </a:r>
            <a:r>
              <a:rPr lang="es-ES" sz="840">
                <a:solidFill>
                  <a:srgbClr val="92400E"/>
                </a:solidFill>
                <a:latin typeface="Calibri"/>
              </a:rPr>
              <a:t>USD $149/ticket porque 4 FTE resuelven solo 90 tix/mes (22 tix/FTE vs 80+ industria). Mucho trabajo no-ticketado — soporte 24x7 a 14 componentes criticos.</a:t>
            </a:r>
          </a:p>
        </p:txBody>
      </p:sp>
      <p:sp>
        <p:nvSpPr>
          <p:cNvPr id="232" name="nb2"/>
          <p:cNvSpPr>
            <a:spLocks noGrp="1"/>
          </p:cNvSpPr>
          <p:nvPr/>
        </p:nvSpPr>
        <p:spPr>
          <a:xfrm>
            <a:off x="4041648" y="5596128"/>
            <a:ext cx="3904487" cy="493776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1A6B3C"/>
            </a:solidFill>
          </a:ln>
        </p:spPr>
      </p:sp>
      <p:sp>
        <p:nvSpPr>
          <p:cNvPr id="233" name="nt2"/>
          <p:cNvSpPr txBox="1">
            <a:spLocks noGrp="1"/>
          </p:cNvSpPr>
          <p:nvPr/>
        </p:nvSpPr>
        <p:spPr>
          <a:xfrm>
            <a:off x="4133087" y="5632704"/>
            <a:ext cx="376732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b="1">
                <a:solidFill>
                  <a:srgbClr val="1A6B3C"/>
                </a:solidFill>
                <a:latin typeface="Calibri"/>
              </a:rPr>
              <a:t>✓  SURA Automatización — Mejor desempeño: </a:t>
            </a:r>
            <a:r>
              <a:rPr lang="es-ES" sz="840">
                <a:solidFill>
                  <a:srgbClr val="1A6B3C"/>
                </a:solidFill>
                <a:latin typeface="Calibri"/>
              </a:rPr>
              <a:t>MTTR 2.98h · SLA 98% — mejor desempeño en mesas N2. Referencia interna de eficiencia operacional.</a:t>
            </a:r>
          </a:p>
        </p:txBody>
      </p:sp>
      <p:sp>
        <p:nvSpPr>
          <p:cNvPr id="24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i="1">
                <a:solidFill>
                  <a:srgbClr val="6B7280"/>
                </a:solidFill>
                <a:latin typeface="Calibri"/>
              </a:rPr>
              <a:t>Fuente: Levantamiento interno PersonalSoft · Excel Levantamiento_Mesas_Julio_2026 · Transcripts: Elsy Marin (SURA), Michael Arevalo (AES), Diego Serna (XM), Virginia &amp; Lina (BCO) · *MEDICARTE: datos preliminares, no evaluada formalmente en Julio 2026 · Benchmarks: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2"/>
              </a:rPr>
              <a:t>HDI Standard</a:t>
            </a:r>
            <a:r>
              <a:rPr lang="es-ES" sz="78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3"/>
              </a:rPr>
              <a:t>MetricNet MTTR</a:t>
            </a:r>
            <a:r>
              <a:rPr lang="es-ES" sz="78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Calibri"/>
                <a:hlinkClick r:id="rId4"/>
              </a:rPr>
              <a:t>Gartner Cost per Ticket</a:t>
            </a:r>
          </a:p>
        </p:txBody>
      </p:sp>
    </p:spTree>
    <p:extLst>
      <p:ext uri="{BB962C8B-B14F-4D97-AF65-F5344CB8AC3E}">
        <p14:creationId xmlns:p14="http://schemas.microsoft.com/office/powerpoint/2010/main" val="11534261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8D7DB-024A-6729-601E-EFEFEC7A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>
                <a:solidFill>
                  <a:srgbClr val="000000"/>
                </a:solidFill>
              </a:rPr>
              <a:t>Tickets por Mesa al Mes — Registro Julio 2026</a:t>
            </a:r>
            <a:endParaRPr lang="es-ES" sz="1400"/>
          </a:p>
          <a:p>
            <a:endParaRPr lang="es-ES" dirty="0"/>
          </a:p>
        </p:txBody>
      </p:sp>
      <p:sp>
        <p:nvSpPr>
          <p:cNvPr id="6" name="Google Shape;349;p22">
            <a:extLst>
              <a:ext uri="{FF2B5EF4-FFF2-40B4-BE49-F238E27FC236}">
                <a16:creationId xmlns:a16="http://schemas.microsoft.com/office/drawing/2014/main" id="{DCA64EE5-A371-A1C4-4BE8-E19C8C57DAD6}"/>
              </a:ext>
            </a:extLst>
          </p:cNvPr>
          <p:cNvSpPr txBox="1"/>
          <p:nvPr/>
        </p:nvSpPr>
        <p:spPr>
          <a:xfrm>
            <a:off x="428625" y="4557043"/>
            <a:ext cx="828675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Bancolombia (5 COES): 700–3.000 tickets/mesa/mes — rango reportado, sin registro exacto por mesa · AES: sin registro (N/D) · Fuente: Levantamiento Julio 2026, hojas "Metricas Sura" y "Metricas bancolombia".</a:t>
            </a:r>
            <a:endParaRPr sz="788">
              <a:latin typeface="Reddit Sans"/>
              <a:ea typeface="Reddit Sans"/>
            </a:endParaRPr>
          </a:p>
        </p:txBody>
      </p:sp>
      <p:sp>
        <p:nvSpPr>
          <p:cNvPr id="8" name="Formula Costo USD"/>
          <p:cNvSpPr txBox="1"/>
          <p:nvPr/>
        </p:nvSpPr>
        <p:spPr>
          <a:xfrm>
            <a:off x="2606869" y="3820000"/>
            <a:ext cx="3930262" cy="5200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s-ES" sz="1100" b="1">
                <a:solidFill>
                  <a:srgbClr val="000000"/>
                </a:solidFill>
                <a:latin typeface="Reddit Sans"/>
                <a:ea typeface="Reddit Sans"/>
              </a:rPr>
              <a:t>Total SURA: 1.525 tickets/mes  ·  XM: 90 tickets/mes</a:t>
            </a:r>
          </a:p>
        </p:txBody>
      </p:sp>
      <p:sp>
        <p:nvSpPr>
          <p:cNvPr id="300" name="ncat0"/>
          <p:cNvSpPr txBox="1"/>
          <p:nvPr/>
        </p:nvSpPr>
        <p:spPr>
          <a:xfrm>
            <a:off x="428625" y="1120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SURA Cotizadores</a:t>
            </a:r>
          </a:p>
        </p:txBody>
      </p:sp>
      <p:sp>
        <p:nvSpPr>
          <p:cNvPr id="301" name="nbar0"/>
          <p:cNvSpPr/>
          <p:nvPr/>
        </p:nvSpPr>
        <p:spPr>
          <a:xfrm>
            <a:off x="3028625" y="1222000"/>
            <a:ext cx="4900000" cy="32000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2" name="nval0"/>
          <p:cNvSpPr txBox="1"/>
          <p:nvPr/>
        </p:nvSpPr>
        <p:spPr>
          <a:xfrm>
            <a:off x="7953625" y="1120000"/>
            <a:ext cx="98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668</a:t>
            </a:r>
          </a:p>
        </p:txBody>
      </p:sp>
      <p:sp>
        <p:nvSpPr>
          <p:cNvPr id="303" name="ncat1"/>
          <p:cNvSpPr txBox="1"/>
          <p:nvPr/>
        </p:nvSpPr>
        <p:spPr>
          <a:xfrm>
            <a:off x="428625" y="1644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SURA Automatización</a:t>
            </a:r>
          </a:p>
        </p:txBody>
      </p:sp>
      <p:sp>
        <p:nvSpPr>
          <p:cNvPr id="304" name="nbar1"/>
          <p:cNvSpPr/>
          <p:nvPr/>
        </p:nvSpPr>
        <p:spPr>
          <a:xfrm>
            <a:off x="3028625" y="1746000"/>
            <a:ext cx="3755689" cy="32000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5" name="nval1"/>
          <p:cNvSpPr txBox="1"/>
          <p:nvPr/>
        </p:nvSpPr>
        <p:spPr>
          <a:xfrm>
            <a:off x="6809314" y="1644000"/>
            <a:ext cx="98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512</a:t>
            </a:r>
          </a:p>
        </p:txBody>
      </p:sp>
      <p:sp>
        <p:nvSpPr>
          <p:cNvPr id="306" name="ncat2"/>
          <p:cNvSpPr txBox="1"/>
          <p:nvPr/>
        </p:nvSpPr>
        <p:spPr>
          <a:xfrm>
            <a:off x="428625" y="2168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SURA Venta Digital</a:t>
            </a:r>
          </a:p>
        </p:txBody>
      </p:sp>
      <p:sp>
        <p:nvSpPr>
          <p:cNvPr id="307" name="nbar2"/>
          <p:cNvSpPr/>
          <p:nvPr/>
        </p:nvSpPr>
        <p:spPr>
          <a:xfrm>
            <a:off x="3028625" y="2270000"/>
            <a:ext cx="1276347" cy="32000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8" name="nval2"/>
          <p:cNvSpPr txBox="1"/>
          <p:nvPr/>
        </p:nvSpPr>
        <p:spPr>
          <a:xfrm>
            <a:off x="4329972" y="2168000"/>
            <a:ext cx="98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174</a:t>
            </a:r>
          </a:p>
        </p:txBody>
      </p:sp>
      <p:sp>
        <p:nvSpPr>
          <p:cNvPr id="309" name="ncat3"/>
          <p:cNvSpPr txBox="1"/>
          <p:nvPr/>
        </p:nvSpPr>
        <p:spPr>
          <a:xfrm>
            <a:off x="428625" y="2692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SURA Canales Masivos</a:t>
            </a:r>
          </a:p>
        </p:txBody>
      </p:sp>
      <p:sp>
        <p:nvSpPr>
          <p:cNvPr id="310" name="nbar3"/>
          <p:cNvSpPr/>
          <p:nvPr/>
        </p:nvSpPr>
        <p:spPr>
          <a:xfrm>
            <a:off x="3028625" y="2794000"/>
            <a:ext cx="1254341" cy="32000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1" name="nval3"/>
          <p:cNvSpPr txBox="1"/>
          <p:nvPr/>
        </p:nvSpPr>
        <p:spPr>
          <a:xfrm>
            <a:off x="4307966" y="2692000"/>
            <a:ext cx="98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171</a:t>
            </a:r>
          </a:p>
        </p:txBody>
      </p:sp>
      <p:sp>
        <p:nvSpPr>
          <p:cNvPr id="312" name="ncat4"/>
          <p:cNvSpPr txBox="1"/>
          <p:nvPr/>
        </p:nvSpPr>
        <p:spPr>
          <a:xfrm>
            <a:off x="428625" y="3216000"/>
            <a:ext cx="250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200" b="0" i="0" dirty="0">
                <a:solidFill>
                  <a:srgbClr val="000000"/>
                </a:solidFill>
                <a:latin typeface="Arial"/>
                <a:cs typeface="Arial"/>
              </a:rPr>
              <a:t>XM Apps Críticas</a:t>
            </a:r>
          </a:p>
        </p:txBody>
      </p:sp>
      <p:sp>
        <p:nvSpPr>
          <p:cNvPr id="313" name="nbar4"/>
          <p:cNvSpPr/>
          <p:nvPr/>
        </p:nvSpPr>
        <p:spPr>
          <a:xfrm>
            <a:off x="3028625" y="3318000"/>
            <a:ext cx="660180" cy="320000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4" name="nval4"/>
          <p:cNvSpPr txBox="1"/>
          <p:nvPr/>
        </p:nvSpPr>
        <p:spPr>
          <a:xfrm>
            <a:off x="3713805" y="3216000"/>
            <a:ext cx="980000" cy="524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000000"/>
                </a:solidFill>
                <a:latin typeface="Arial"/>
                <a:cs typeface="Arial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660894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8D7DB-024A-6729-601E-EFEFEC7A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>
                <a:solidFill>
                  <a:srgbClr val="000000"/>
                </a:solidFill>
              </a:rPr>
              <a:t>FTE por Mesa — Capacidad Instalada (57 FTE totales)</a:t>
            </a:r>
            <a:endParaRPr lang="es-ES" sz="1400"/>
          </a:p>
          <a:p>
            <a:endParaRPr lang="es-ES" dirty="0"/>
          </a:p>
        </p:txBody>
      </p:sp>
      <p:sp>
        <p:nvSpPr>
          <p:cNvPr id="6" name="Google Shape;349;p22">
            <a:extLst>
              <a:ext uri="{FF2B5EF4-FFF2-40B4-BE49-F238E27FC236}">
                <a16:creationId xmlns:a16="http://schemas.microsoft.com/office/drawing/2014/main" id="{DCA64EE5-A371-A1C4-4BE8-E19C8C57DAD6}"/>
              </a:ext>
            </a:extLst>
          </p:cNvPr>
          <p:cNvSpPr txBox="1"/>
          <p:nvPr/>
        </p:nvSpPr>
        <p:spPr>
          <a:xfrm>
            <a:off x="428625" y="4557043"/>
            <a:ext cx="828675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57 FTE totales: Bancolombia 32 (56%) · SURA 17 (30%) · XM 4 (7%) · AES 4 (7%) · MEDICARTE (12 FTE) en empalme — no incluida en el levantamiento · Fuente: Levantamiento Julio 2026.</a:t>
            </a:r>
            <a:endParaRPr sz="788">
              <a:latin typeface="Reddit Sans"/>
              <a:ea typeface="Reddit Sans"/>
            </a:endParaRPr>
          </a:p>
        </p:txBody>
      </p:sp>
      <p:sp>
        <p:nvSpPr>
          <p:cNvPr id="300" name="ncat0"/>
          <p:cNvSpPr txBox="1"/>
          <p:nvPr/>
        </p:nvSpPr>
        <p:spPr>
          <a:xfrm>
            <a:off x="428625" y="1020000"/>
            <a:ext cx="2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000" b="0" i="0" dirty="0">
                <a:solidFill>
                  <a:srgbClr val="000000"/>
                </a:solidFill>
                <a:latin typeface="Arial"/>
                <a:cs typeface="Arial"/>
              </a:rPr>
              <a:t>BCO COES Soporte</a:t>
            </a:r>
          </a:p>
        </p:txBody>
      </p:sp>
      <p:sp>
        <p:nvSpPr>
          <p:cNvPr id="301" name="nbar0"/>
          <p:cNvSpPr/>
          <p:nvPr/>
        </p:nvSpPr>
        <p:spPr>
          <a:xfrm>
            <a:off x="3028625" y="1070000"/>
            <a:ext cx="4900000" cy="20000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2" name="nval0"/>
          <p:cNvSpPr txBox="1"/>
          <p:nvPr/>
        </p:nvSpPr>
        <p:spPr>
          <a:xfrm>
            <a:off x="7953625" y="1020000"/>
            <a:ext cx="9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000" b="1" i="0" dirty="0">
                <a:solidFill>
                  <a:srgbClr val="000000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303" name="ncat1"/>
          <p:cNvSpPr txBox="1"/>
          <p:nvPr/>
        </p:nvSpPr>
        <p:spPr>
          <a:xfrm>
            <a:off x="428625" y="1320000"/>
            <a:ext cx="2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000" b="0" i="0" dirty="0">
                <a:solidFill>
                  <a:srgbClr val="000000"/>
                </a:solidFill>
                <a:latin typeface="Arial"/>
                <a:cs typeface="Arial"/>
              </a:rPr>
              <a:t>SURA Cotizadores</a:t>
            </a:r>
          </a:p>
        </p:txBody>
      </p:sp>
      <p:sp>
        <p:nvSpPr>
          <p:cNvPr id="304" name="nbar1"/>
          <p:cNvSpPr/>
          <p:nvPr/>
        </p:nvSpPr>
        <p:spPr>
          <a:xfrm>
            <a:off x="3028625" y="1370000"/>
            <a:ext cx="3015385" cy="20000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5" name="nval1"/>
          <p:cNvSpPr txBox="1"/>
          <p:nvPr/>
        </p:nvSpPr>
        <p:spPr>
          <a:xfrm>
            <a:off x="6069010" y="1320000"/>
            <a:ext cx="9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000" b="1" i="0" dirty="0">
                <a:solidFill>
                  <a:srgbClr val="000000"/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306" name="ncat2"/>
          <p:cNvSpPr txBox="1"/>
          <p:nvPr/>
        </p:nvSpPr>
        <p:spPr>
          <a:xfrm>
            <a:off x="428625" y="1620000"/>
            <a:ext cx="2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000" b="0" i="0" dirty="0">
                <a:solidFill>
                  <a:srgbClr val="000000"/>
                </a:solidFill>
                <a:latin typeface="Arial"/>
                <a:cs typeface="Arial"/>
              </a:rPr>
              <a:t>BCO COES Integración</a:t>
            </a:r>
          </a:p>
        </p:txBody>
      </p:sp>
      <p:sp>
        <p:nvSpPr>
          <p:cNvPr id="307" name="nbar2"/>
          <p:cNvSpPr/>
          <p:nvPr/>
        </p:nvSpPr>
        <p:spPr>
          <a:xfrm>
            <a:off x="3028625" y="1670000"/>
            <a:ext cx="2638462" cy="20000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8" name="nval2"/>
          <p:cNvSpPr txBox="1"/>
          <p:nvPr/>
        </p:nvSpPr>
        <p:spPr>
          <a:xfrm>
            <a:off x="5692087" y="1620000"/>
            <a:ext cx="9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000" b="1" i="0" dirty="0">
                <a:solidFill>
                  <a:srgbClr val="000000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309" name="ncat3"/>
          <p:cNvSpPr txBox="1"/>
          <p:nvPr/>
        </p:nvSpPr>
        <p:spPr>
          <a:xfrm>
            <a:off x="428625" y="1920000"/>
            <a:ext cx="2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000" b="0" i="0" dirty="0">
                <a:solidFill>
                  <a:srgbClr val="000000"/>
                </a:solidFill>
                <a:latin typeface="Arial"/>
                <a:cs typeface="Arial"/>
              </a:rPr>
              <a:t>BCO COES Datos</a:t>
            </a:r>
          </a:p>
        </p:txBody>
      </p:sp>
      <p:sp>
        <p:nvSpPr>
          <p:cNvPr id="310" name="nbar3"/>
          <p:cNvSpPr/>
          <p:nvPr/>
        </p:nvSpPr>
        <p:spPr>
          <a:xfrm>
            <a:off x="3028625" y="1970000"/>
            <a:ext cx="2638462" cy="20000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1" name="nval3"/>
          <p:cNvSpPr txBox="1"/>
          <p:nvPr/>
        </p:nvSpPr>
        <p:spPr>
          <a:xfrm>
            <a:off x="5692087" y="1920000"/>
            <a:ext cx="9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000" b="1" i="0" dirty="0">
                <a:solidFill>
                  <a:srgbClr val="000000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312" name="ncat4"/>
          <p:cNvSpPr txBox="1"/>
          <p:nvPr/>
        </p:nvSpPr>
        <p:spPr>
          <a:xfrm>
            <a:off x="428625" y="2220000"/>
            <a:ext cx="2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000" b="0" i="0" dirty="0">
                <a:solidFill>
                  <a:srgbClr val="000000"/>
                </a:solidFill>
                <a:latin typeface="Arial"/>
                <a:cs typeface="Arial"/>
              </a:rPr>
              <a:t>SURA Automatización</a:t>
            </a:r>
          </a:p>
        </p:txBody>
      </p:sp>
      <p:sp>
        <p:nvSpPr>
          <p:cNvPr id="313" name="nbar4"/>
          <p:cNvSpPr/>
          <p:nvPr/>
        </p:nvSpPr>
        <p:spPr>
          <a:xfrm>
            <a:off x="3028625" y="2270000"/>
            <a:ext cx="2261538" cy="20000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4" name="nval4"/>
          <p:cNvSpPr txBox="1"/>
          <p:nvPr/>
        </p:nvSpPr>
        <p:spPr>
          <a:xfrm>
            <a:off x="5315163" y="2220000"/>
            <a:ext cx="9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000" b="1" i="0" dirty="0">
                <a:solidFill>
                  <a:srgbClr val="000000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315" name="ncat5"/>
          <p:cNvSpPr txBox="1"/>
          <p:nvPr/>
        </p:nvSpPr>
        <p:spPr>
          <a:xfrm>
            <a:off x="428625" y="2520000"/>
            <a:ext cx="2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000" b="0" i="0" dirty="0">
                <a:solidFill>
                  <a:srgbClr val="000000"/>
                </a:solidFill>
                <a:latin typeface="Arial"/>
                <a:cs typeface="Arial"/>
              </a:rPr>
              <a:t>BCO COES Emma</a:t>
            </a:r>
          </a:p>
        </p:txBody>
      </p:sp>
      <p:sp>
        <p:nvSpPr>
          <p:cNvPr id="316" name="nbar5"/>
          <p:cNvSpPr/>
          <p:nvPr/>
        </p:nvSpPr>
        <p:spPr>
          <a:xfrm>
            <a:off x="3028625" y="2570000"/>
            <a:ext cx="1507692" cy="20000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7" name="nval5"/>
          <p:cNvSpPr txBox="1"/>
          <p:nvPr/>
        </p:nvSpPr>
        <p:spPr>
          <a:xfrm>
            <a:off x="4561317" y="2520000"/>
            <a:ext cx="9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000" b="1" i="0" dirty="0">
                <a:solidFill>
                  <a:srgbClr val="000000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18" name="ncat6"/>
          <p:cNvSpPr txBox="1"/>
          <p:nvPr/>
        </p:nvSpPr>
        <p:spPr>
          <a:xfrm>
            <a:off x="428625" y="2820000"/>
            <a:ext cx="2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000" b="0" i="0" dirty="0">
                <a:solidFill>
                  <a:srgbClr val="000000"/>
                </a:solidFill>
                <a:latin typeface="Arial"/>
                <a:cs typeface="Arial"/>
              </a:rPr>
              <a:t>XM Apps Críticas</a:t>
            </a:r>
          </a:p>
        </p:txBody>
      </p:sp>
      <p:sp>
        <p:nvSpPr>
          <p:cNvPr id="319" name="nbar6"/>
          <p:cNvSpPr/>
          <p:nvPr/>
        </p:nvSpPr>
        <p:spPr>
          <a:xfrm>
            <a:off x="3028625" y="2870000"/>
            <a:ext cx="1507692" cy="200000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0" name="nval6"/>
          <p:cNvSpPr txBox="1"/>
          <p:nvPr/>
        </p:nvSpPr>
        <p:spPr>
          <a:xfrm>
            <a:off x="4561317" y="2820000"/>
            <a:ext cx="9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000" b="1" i="0" dirty="0">
                <a:solidFill>
                  <a:srgbClr val="000000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21" name="ncat7"/>
          <p:cNvSpPr txBox="1"/>
          <p:nvPr/>
        </p:nvSpPr>
        <p:spPr>
          <a:xfrm>
            <a:off x="428625" y="3120000"/>
            <a:ext cx="2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000" b="0" i="0" dirty="0">
                <a:solidFill>
                  <a:srgbClr val="000000"/>
                </a:solidFill>
                <a:latin typeface="Arial"/>
                <a:cs typeface="Arial"/>
              </a:rPr>
              <a:t>AES Soporte IT/OT</a:t>
            </a:r>
          </a:p>
        </p:txBody>
      </p:sp>
      <p:sp>
        <p:nvSpPr>
          <p:cNvPr id="322" name="nbar7"/>
          <p:cNvSpPr/>
          <p:nvPr/>
        </p:nvSpPr>
        <p:spPr>
          <a:xfrm>
            <a:off x="3028625" y="3170000"/>
            <a:ext cx="1507692" cy="20000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3" name="nval7"/>
          <p:cNvSpPr txBox="1"/>
          <p:nvPr/>
        </p:nvSpPr>
        <p:spPr>
          <a:xfrm>
            <a:off x="4561317" y="3120000"/>
            <a:ext cx="9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000" b="1" i="0" dirty="0">
                <a:solidFill>
                  <a:srgbClr val="000000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24" name="ncat8"/>
          <p:cNvSpPr txBox="1"/>
          <p:nvPr/>
        </p:nvSpPr>
        <p:spPr>
          <a:xfrm>
            <a:off x="428625" y="3420000"/>
            <a:ext cx="2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000" b="0" i="0" dirty="0">
                <a:solidFill>
                  <a:srgbClr val="000000"/>
                </a:solidFill>
                <a:latin typeface="Arial"/>
                <a:cs typeface="Arial"/>
              </a:rPr>
              <a:t>SURA Venta Digital</a:t>
            </a:r>
          </a:p>
        </p:txBody>
      </p:sp>
      <p:sp>
        <p:nvSpPr>
          <p:cNvPr id="325" name="nbar8"/>
          <p:cNvSpPr/>
          <p:nvPr/>
        </p:nvSpPr>
        <p:spPr>
          <a:xfrm>
            <a:off x="3028625" y="3470000"/>
            <a:ext cx="753846" cy="20000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6" name="nval8"/>
          <p:cNvSpPr txBox="1"/>
          <p:nvPr/>
        </p:nvSpPr>
        <p:spPr>
          <a:xfrm>
            <a:off x="3807471" y="3420000"/>
            <a:ext cx="9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000" b="1" i="0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327" name="ncat9"/>
          <p:cNvSpPr txBox="1"/>
          <p:nvPr/>
        </p:nvSpPr>
        <p:spPr>
          <a:xfrm>
            <a:off x="428625" y="3720000"/>
            <a:ext cx="2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000" b="0" i="0" dirty="0">
                <a:solidFill>
                  <a:srgbClr val="000000"/>
                </a:solidFill>
                <a:latin typeface="Arial"/>
                <a:cs typeface="Arial"/>
              </a:rPr>
              <a:t>BCO Emma iSeries</a:t>
            </a:r>
          </a:p>
        </p:txBody>
      </p:sp>
      <p:sp>
        <p:nvSpPr>
          <p:cNvPr id="328" name="nbar9"/>
          <p:cNvSpPr/>
          <p:nvPr/>
        </p:nvSpPr>
        <p:spPr>
          <a:xfrm>
            <a:off x="3028625" y="3770000"/>
            <a:ext cx="376923" cy="20000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9" name="nval9"/>
          <p:cNvSpPr txBox="1"/>
          <p:nvPr/>
        </p:nvSpPr>
        <p:spPr>
          <a:xfrm>
            <a:off x="3430548" y="3720000"/>
            <a:ext cx="9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000" b="1" i="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30" name="ncat10"/>
          <p:cNvSpPr txBox="1"/>
          <p:nvPr/>
        </p:nvSpPr>
        <p:spPr>
          <a:xfrm>
            <a:off x="428625" y="4020000"/>
            <a:ext cx="2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000" b="0" i="0" dirty="0">
                <a:solidFill>
                  <a:srgbClr val="000000"/>
                </a:solidFill>
                <a:latin typeface="Arial"/>
                <a:cs typeface="Arial"/>
              </a:rPr>
              <a:t>SURA Canales Masivos</a:t>
            </a:r>
          </a:p>
        </p:txBody>
      </p:sp>
      <p:sp>
        <p:nvSpPr>
          <p:cNvPr id="331" name="nbar10"/>
          <p:cNvSpPr/>
          <p:nvPr/>
        </p:nvSpPr>
        <p:spPr>
          <a:xfrm>
            <a:off x="3028625" y="4070000"/>
            <a:ext cx="376923" cy="20000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32" name="nval10"/>
          <p:cNvSpPr txBox="1"/>
          <p:nvPr/>
        </p:nvSpPr>
        <p:spPr>
          <a:xfrm>
            <a:off x="3430548" y="4020000"/>
            <a:ext cx="9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000" b="1" i="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60894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8D7DB-024A-6729-601E-EFEFEC7A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>
                <a:solidFill>
                  <a:srgbClr val="000000"/>
                </a:solidFill>
              </a:rPr>
              <a:t>MTTR por Mesa (horas) — Registro Julio 2026 vs Benchmarks</a:t>
            </a:r>
            <a:endParaRPr lang="es-ES" sz="1400"/>
          </a:p>
          <a:p>
            <a:endParaRPr lang="es-ES" dirty="0"/>
          </a:p>
        </p:txBody>
      </p:sp>
      <p:sp>
        <p:nvSpPr>
          <p:cNvPr id="6" name="Google Shape;349;p22">
            <a:extLst>
              <a:ext uri="{FF2B5EF4-FFF2-40B4-BE49-F238E27FC236}">
                <a16:creationId xmlns:a16="http://schemas.microsoft.com/office/drawing/2014/main" id="{DCA64EE5-A371-A1C4-4BE8-E19C8C57DAD6}"/>
              </a:ext>
            </a:extLst>
          </p:cNvPr>
          <p:cNvSpPr txBox="1"/>
          <p:nvPr/>
        </p:nvSpPr>
        <p:spPr>
          <a:xfrm>
            <a:off x="428625" y="4557043"/>
            <a:ext cx="8286750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00000"/>
                </a:solidFill>
                <a:latin typeface="Reddit Sans"/>
                <a:ea typeface="Reddit Sans"/>
                <a:cs typeface="Urbanist"/>
                <a:sym typeface="Urbanist"/>
              </a:rPr>
              <a:t>MTTR con registro mensual formal solo en SURA (hoja "Metricas Sura") · Bancolombia: rango operativo 30min–3h sin registro mensual · XM y AES: sin medición (N/D) · MEDICARTE: dato preliminar (empalme) · Benchmarks: MetricNet/HDI.</a:t>
            </a:r>
            <a:endParaRPr sz="788">
              <a:latin typeface="Reddit Sans"/>
              <a:ea typeface="Reddit Sans"/>
            </a:endParaRPr>
          </a:p>
        </p:txBody>
      </p:sp>
      <p:sp>
        <p:nvSpPr>
          <p:cNvPr id="300" name="ncat0"/>
          <p:cNvSpPr txBox="1"/>
          <p:nvPr/>
        </p:nvSpPr>
        <p:spPr>
          <a:xfrm>
            <a:off x="428625" y="1060000"/>
            <a:ext cx="25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100" b="0" i="0" dirty="0">
                <a:solidFill>
                  <a:srgbClr val="000000"/>
                </a:solidFill>
                <a:latin typeface="Arial"/>
                <a:cs typeface="Arial"/>
              </a:rPr>
              <a:t>SURA Cotizadores</a:t>
            </a:r>
          </a:p>
        </p:txBody>
      </p:sp>
      <p:sp>
        <p:nvSpPr>
          <p:cNvPr id="301" name="nbar0"/>
          <p:cNvSpPr/>
          <p:nvPr/>
        </p:nvSpPr>
        <p:spPr>
          <a:xfrm>
            <a:off x="3028625" y="1130000"/>
            <a:ext cx="4900000" cy="260000"/>
          </a:xfrm>
          <a:prstGeom prst="roundRect">
            <a:avLst>
              <a:gd name="adj" fmla="val 8000"/>
            </a:avLst>
          </a:prstGeom>
          <a:solidFill>
            <a:srgbClr val="F76B6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2" name="nval0"/>
          <p:cNvSpPr txBox="1"/>
          <p:nvPr/>
        </p:nvSpPr>
        <p:spPr>
          <a:xfrm>
            <a:off x="7953625" y="1060000"/>
            <a:ext cx="9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00" b="1" i="0" dirty="0">
                <a:solidFill>
                  <a:srgbClr val="000000"/>
                </a:solidFill>
                <a:latin typeface="Arial"/>
                <a:cs typeface="Arial"/>
              </a:rPr>
              <a:t>24.58 h</a:t>
            </a:r>
          </a:p>
        </p:txBody>
      </p:sp>
      <p:sp>
        <p:nvSpPr>
          <p:cNvPr id="303" name="ncat1"/>
          <p:cNvSpPr txBox="1"/>
          <p:nvPr/>
        </p:nvSpPr>
        <p:spPr>
          <a:xfrm>
            <a:off x="428625" y="1460000"/>
            <a:ext cx="25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100" b="0" i="0" dirty="0">
                <a:solidFill>
                  <a:srgbClr val="000000"/>
                </a:solidFill>
                <a:latin typeface="Arial"/>
                <a:cs typeface="Arial"/>
              </a:rPr>
              <a:t>SURA Canales Masivos</a:t>
            </a:r>
          </a:p>
        </p:txBody>
      </p:sp>
      <p:sp>
        <p:nvSpPr>
          <p:cNvPr id="304" name="nbar1"/>
          <p:cNvSpPr/>
          <p:nvPr/>
        </p:nvSpPr>
        <p:spPr>
          <a:xfrm>
            <a:off x="3028625" y="1530000"/>
            <a:ext cx="3572335" cy="260000"/>
          </a:xfrm>
          <a:prstGeom prst="roundRect">
            <a:avLst>
              <a:gd name="adj" fmla="val 8000"/>
            </a:avLst>
          </a:prstGeom>
          <a:solidFill>
            <a:srgbClr val="F76B6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5" name="nval1"/>
          <p:cNvSpPr txBox="1"/>
          <p:nvPr/>
        </p:nvSpPr>
        <p:spPr>
          <a:xfrm>
            <a:off x="6625960" y="1460000"/>
            <a:ext cx="9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00" b="1" i="0" dirty="0">
                <a:solidFill>
                  <a:srgbClr val="000000"/>
                </a:solidFill>
                <a:latin typeface="Arial"/>
                <a:cs typeface="Arial"/>
              </a:rPr>
              <a:t>17.92 h</a:t>
            </a:r>
          </a:p>
        </p:txBody>
      </p:sp>
      <p:sp>
        <p:nvSpPr>
          <p:cNvPr id="306" name="ncat2"/>
          <p:cNvSpPr txBox="1"/>
          <p:nvPr/>
        </p:nvSpPr>
        <p:spPr>
          <a:xfrm>
            <a:off x="428625" y="1860000"/>
            <a:ext cx="25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100" b="0" i="0" dirty="0">
                <a:solidFill>
                  <a:srgbClr val="000000"/>
                </a:solidFill>
                <a:latin typeface="Arial"/>
                <a:cs typeface="Arial"/>
              </a:rPr>
              <a:t>SURA Venta Digital</a:t>
            </a:r>
          </a:p>
        </p:txBody>
      </p:sp>
      <p:sp>
        <p:nvSpPr>
          <p:cNvPr id="307" name="nbar2"/>
          <p:cNvSpPr/>
          <p:nvPr/>
        </p:nvSpPr>
        <p:spPr>
          <a:xfrm>
            <a:off x="3028625" y="1930000"/>
            <a:ext cx="2467941" cy="260000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8" name="nval2"/>
          <p:cNvSpPr txBox="1"/>
          <p:nvPr/>
        </p:nvSpPr>
        <p:spPr>
          <a:xfrm>
            <a:off x="5521566" y="1860000"/>
            <a:ext cx="9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00" b="1" i="0" dirty="0">
                <a:solidFill>
                  <a:srgbClr val="000000"/>
                </a:solidFill>
                <a:latin typeface="Arial"/>
                <a:cs typeface="Arial"/>
              </a:rPr>
              <a:t>12.38 h</a:t>
            </a:r>
          </a:p>
        </p:txBody>
      </p:sp>
      <p:sp>
        <p:nvSpPr>
          <p:cNvPr id="309" name="ncat3"/>
          <p:cNvSpPr txBox="1"/>
          <p:nvPr/>
        </p:nvSpPr>
        <p:spPr>
          <a:xfrm>
            <a:off x="428625" y="2260000"/>
            <a:ext cx="25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100" b="0" i="0" dirty="0">
                <a:solidFill>
                  <a:srgbClr val="000000"/>
                </a:solidFill>
                <a:latin typeface="Arial"/>
                <a:cs typeface="Arial"/>
              </a:rPr>
              <a:t>Industria promedio</a:t>
            </a:r>
          </a:p>
        </p:txBody>
      </p:sp>
      <p:sp>
        <p:nvSpPr>
          <p:cNvPr id="310" name="nbar3"/>
          <p:cNvSpPr/>
          <p:nvPr/>
        </p:nvSpPr>
        <p:spPr>
          <a:xfrm>
            <a:off x="3028625" y="2330000"/>
            <a:ext cx="1764239" cy="260000"/>
          </a:xfrm>
          <a:prstGeom prst="roundRect">
            <a:avLst>
              <a:gd name="adj" fmla="val 8000"/>
            </a:avLst>
          </a:prstGeom>
          <a:solidFill>
            <a:srgbClr val="8C9BB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1" name="nval3"/>
          <p:cNvSpPr txBox="1"/>
          <p:nvPr/>
        </p:nvSpPr>
        <p:spPr>
          <a:xfrm>
            <a:off x="4817864" y="2260000"/>
            <a:ext cx="9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00" b="1" i="0" dirty="0">
                <a:solidFill>
                  <a:srgbClr val="000000"/>
                </a:solidFill>
                <a:latin typeface="Arial"/>
                <a:cs typeface="Arial"/>
              </a:rPr>
              <a:t>8.85 h</a:t>
            </a:r>
          </a:p>
        </p:txBody>
      </p:sp>
      <p:sp>
        <p:nvSpPr>
          <p:cNvPr id="312" name="ncat4"/>
          <p:cNvSpPr txBox="1"/>
          <p:nvPr/>
        </p:nvSpPr>
        <p:spPr>
          <a:xfrm>
            <a:off x="428625" y="2660000"/>
            <a:ext cx="25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100" b="0" i="0" dirty="0">
                <a:solidFill>
                  <a:srgbClr val="000000"/>
                </a:solidFill>
                <a:latin typeface="Arial"/>
                <a:cs typeface="Arial"/>
              </a:rPr>
              <a:t>World-Class</a:t>
            </a:r>
          </a:p>
        </p:txBody>
      </p:sp>
      <p:sp>
        <p:nvSpPr>
          <p:cNvPr id="313" name="nbar4"/>
          <p:cNvSpPr/>
          <p:nvPr/>
        </p:nvSpPr>
        <p:spPr>
          <a:xfrm>
            <a:off x="3028625" y="2730000"/>
            <a:ext cx="797396" cy="260000"/>
          </a:xfrm>
          <a:prstGeom prst="roundRect">
            <a:avLst>
              <a:gd name="adj" fmla="val 8000"/>
            </a:avLst>
          </a:prstGeom>
          <a:solidFill>
            <a:srgbClr val="8C9BB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4" name="nval4"/>
          <p:cNvSpPr txBox="1"/>
          <p:nvPr/>
        </p:nvSpPr>
        <p:spPr>
          <a:xfrm>
            <a:off x="3851021" y="2660000"/>
            <a:ext cx="9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00" b="1" i="0" dirty="0">
                <a:solidFill>
                  <a:srgbClr val="000000"/>
                </a:solidFill>
                <a:latin typeface="Arial"/>
                <a:cs typeface="Arial"/>
              </a:rPr>
              <a:t>&lt;4 h</a:t>
            </a:r>
          </a:p>
        </p:txBody>
      </p:sp>
      <p:sp>
        <p:nvSpPr>
          <p:cNvPr id="315" name="ncat5"/>
          <p:cNvSpPr txBox="1"/>
          <p:nvPr/>
        </p:nvSpPr>
        <p:spPr>
          <a:xfrm>
            <a:off x="428625" y="3060000"/>
            <a:ext cx="25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100" b="0" i="0" dirty="0">
                <a:solidFill>
                  <a:srgbClr val="000000"/>
                </a:solidFill>
                <a:latin typeface="Arial"/>
                <a:cs typeface="Arial"/>
              </a:rPr>
              <a:t>SURA Automatización</a:t>
            </a:r>
          </a:p>
        </p:txBody>
      </p:sp>
      <p:sp>
        <p:nvSpPr>
          <p:cNvPr id="316" name="nbar5"/>
          <p:cNvSpPr/>
          <p:nvPr/>
        </p:nvSpPr>
        <p:spPr>
          <a:xfrm>
            <a:off x="3028625" y="3130000"/>
            <a:ext cx="594060" cy="260000"/>
          </a:xfrm>
          <a:prstGeom prst="roundRect">
            <a:avLst>
              <a:gd name="adj" fmla="val 8000"/>
            </a:avLst>
          </a:prstGeom>
          <a:solidFill>
            <a:srgbClr val="25C88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7" name="nval5"/>
          <p:cNvSpPr txBox="1"/>
          <p:nvPr/>
        </p:nvSpPr>
        <p:spPr>
          <a:xfrm>
            <a:off x="3647685" y="3060000"/>
            <a:ext cx="9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00" b="1" i="0" dirty="0">
                <a:solidFill>
                  <a:srgbClr val="000000"/>
                </a:solidFill>
                <a:latin typeface="Arial"/>
                <a:cs typeface="Arial"/>
              </a:rPr>
              <a:t>2.98 h</a:t>
            </a:r>
          </a:p>
        </p:txBody>
      </p:sp>
      <p:sp>
        <p:nvSpPr>
          <p:cNvPr id="318" name="ncat6"/>
          <p:cNvSpPr txBox="1"/>
          <p:nvPr/>
        </p:nvSpPr>
        <p:spPr>
          <a:xfrm>
            <a:off x="428625" y="3460000"/>
            <a:ext cx="25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100" b="0" i="0" dirty="0">
                <a:solidFill>
                  <a:srgbClr val="000000"/>
                </a:solidFill>
                <a:latin typeface="Arial"/>
                <a:cs typeface="Arial"/>
              </a:rPr>
              <a:t>BCO 5 COES (rango)</a:t>
            </a:r>
          </a:p>
        </p:txBody>
      </p:sp>
      <p:sp>
        <p:nvSpPr>
          <p:cNvPr id="319" name="nbar6"/>
          <p:cNvSpPr/>
          <p:nvPr/>
        </p:nvSpPr>
        <p:spPr>
          <a:xfrm>
            <a:off x="3128300" y="3530000"/>
            <a:ext cx="498373" cy="260000"/>
          </a:xfrm>
          <a:prstGeom prst="roundRect">
            <a:avLst>
              <a:gd name="adj" fmla="val 8000"/>
            </a:avLst>
          </a:prstGeom>
          <a:solidFill>
            <a:srgbClr val="21B0F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0" name="nval6"/>
          <p:cNvSpPr txBox="1"/>
          <p:nvPr/>
        </p:nvSpPr>
        <p:spPr>
          <a:xfrm>
            <a:off x="3651673" y="3460000"/>
            <a:ext cx="9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00" b="1" i="0" dirty="0">
                <a:solidFill>
                  <a:srgbClr val="000000"/>
                </a:solidFill>
                <a:latin typeface="Arial"/>
                <a:cs typeface="Arial"/>
              </a:rPr>
              <a:t>0.5–3 h</a:t>
            </a:r>
          </a:p>
        </p:txBody>
      </p:sp>
      <p:sp>
        <p:nvSpPr>
          <p:cNvPr id="321" name="ncat7"/>
          <p:cNvSpPr txBox="1"/>
          <p:nvPr/>
        </p:nvSpPr>
        <p:spPr>
          <a:xfrm>
            <a:off x="428625" y="3860000"/>
            <a:ext cx="25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r">
              <a:buNone/>
            </a:pPr>
            <a:r>
              <a:rPr lang="es-ES" sz="1100" b="0" i="0" dirty="0">
                <a:solidFill>
                  <a:srgbClr val="000000"/>
                </a:solidFill>
                <a:latin typeface="Arial"/>
                <a:cs typeface="Arial"/>
              </a:rPr>
              <a:t>MEDICARTE (preliminar)</a:t>
            </a:r>
          </a:p>
        </p:txBody>
      </p:sp>
      <p:sp>
        <p:nvSpPr>
          <p:cNvPr id="322" name="nbar7"/>
          <p:cNvSpPr/>
          <p:nvPr/>
        </p:nvSpPr>
        <p:spPr>
          <a:xfrm>
            <a:off x="3028625" y="3930000"/>
            <a:ext cx="109642" cy="260000"/>
          </a:xfrm>
          <a:prstGeom prst="roundRect">
            <a:avLst>
              <a:gd name="adj" fmla="val 8000"/>
            </a:avLst>
          </a:prstGeom>
          <a:solidFill>
            <a:srgbClr val="8C9BB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23" name="nval7"/>
          <p:cNvSpPr txBox="1"/>
          <p:nvPr/>
        </p:nvSpPr>
        <p:spPr>
          <a:xfrm>
            <a:off x="3163267" y="3860000"/>
            <a:ext cx="9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>
            <a:normAutofit/>
          </a:bodyPr>
          <a:lstStyle/>
          <a:p>
            <a:pPr algn="l">
              <a:buNone/>
            </a:pPr>
            <a:r>
              <a:rPr lang="es-ES" sz="1100" b="1" i="0" dirty="0">
                <a:solidFill>
                  <a:srgbClr val="000000"/>
                </a:solidFill>
                <a:latin typeface="Arial"/>
                <a:cs typeface="Arial"/>
              </a:rPr>
              <a:t>0.55 h</a:t>
            </a:r>
          </a:p>
        </p:txBody>
      </p:sp>
    </p:spTree>
    <p:extLst>
      <p:ext uri="{BB962C8B-B14F-4D97-AF65-F5344CB8AC3E}">
        <p14:creationId xmlns:p14="http://schemas.microsoft.com/office/powerpoint/2010/main" val="6608945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53F43-04D1-9DE1-63DA-152676867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eddit Sans Light"/>
                <a:cs typeface="Reddit Sans Light"/>
              </a:rPr>
              <a:t>Lo </a:t>
            </a:r>
            <a:r>
              <a:rPr lang="en-US" err="1">
                <a:latin typeface="Reddit Sans Light"/>
                <a:cs typeface="Reddit Sans Light"/>
              </a:rPr>
              <a:t>que</a:t>
            </a:r>
            <a:r>
              <a:rPr lang="en-US">
                <a:latin typeface="Reddit Sans Light"/>
                <a:cs typeface="Reddit Sans Light"/>
              </a:rPr>
              <a:t> </a:t>
            </a:r>
            <a:r>
              <a:rPr lang="en-US" err="1">
                <a:latin typeface="Reddit Sans Light"/>
                <a:cs typeface="Reddit Sans Light"/>
              </a:rPr>
              <a:t>nos</a:t>
            </a:r>
            <a:r>
              <a:rPr lang="en-US">
                <a:latin typeface="Reddit Sans Light"/>
                <a:cs typeface="Reddit Sans Light"/>
              </a:rPr>
              <a:t> </a:t>
            </a:r>
            <a:r>
              <a:rPr lang="en-US" err="1">
                <a:latin typeface="Reddit Sans Light"/>
                <a:cs typeface="Reddit Sans Light"/>
              </a:rPr>
              <a:t>dijeron</a:t>
            </a:r>
            <a:r>
              <a:rPr lang="en-US">
                <a:latin typeface="Reddit Sans Light"/>
                <a:cs typeface="Reddit Sans Light"/>
              </a:rPr>
              <a:t> — Voz </a:t>
            </a:r>
            <a:r>
              <a:rPr lang="en-US" err="1">
                <a:latin typeface="Reddit Sans Light"/>
                <a:cs typeface="Reddit Sans Light"/>
              </a:rPr>
              <a:t>directa</a:t>
            </a:r>
            <a:r>
              <a:rPr lang="en-US">
                <a:latin typeface="Reddit Sans Light"/>
                <a:cs typeface="Reddit Sans Light"/>
              </a:rPr>
              <a:t> de </a:t>
            </a:r>
            <a:r>
              <a:rPr lang="en-US" err="1">
                <a:latin typeface="Reddit Sans Light"/>
                <a:cs typeface="Reddit Sans Light"/>
              </a:rPr>
              <a:t>los</a:t>
            </a:r>
            <a:r>
              <a:rPr lang="en-US">
                <a:latin typeface="Reddit Sans Light"/>
                <a:cs typeface="Reddit Sans Light"/>
              </a:rPr>
              <a:t> </a:t>
            </a:r>
            <a:r>
              <a:rPr lang="en-US" err="1">
                <a:latin typeface="Reddit Sans Light"/>
                <a:cs typeface="Reddit Sans Light"/>
              </a:rPr>
              <a:t>líderes</a:t>
            </a:r>
            <a:r>
              <a:rPr lang="en-US">
                <a:latin typeface="Reddit Sans Light"/>
                <a:cs typeface="Reddit Sans Light"/>
              </a:rPr>
              <a:t> de mesa</a:t>
            </a:r>
            <a:endParaRPr lang="es-ES">
              <a:latin typeface="Reddit Sans Light"/>
              <a:cs typeface="Reddit Sans Light"/>
            </a:endParaRPr>
          </a:p>
          <a:p>
            <a:endParaRPr lang="es-ES">
              <a:latin typeface="Reddit Sans Light"/>
              <a:cs typeface="Reddit Sans Light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180CFB9-3873-7C00-C153-CF971F4BECF1}"/>
              </a:ext>
            </a:extLst>
          </p:cNvPr>
          <p:cNvSpPr/>
          <p:nvPr/>
        </p:nvSpPr>
        <p:spPr>
          <a:xfrm>
            <a:off x="342900" y="89154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021ADA5-5DD0-5C06-1D2C-DB5B28934647}"/>
              </a:ext>
            </a:extLst>
          </p:cNvPr>
          <p:cNvSpPr/>
          <p:nvPr/>
        </p:nvSpPr>
        <p:spPr>
          <a:xfrm>
            <a:off x="480060" y="92583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>
                <a:solidFill>
                  <a:srgbClr val="0072BC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>
              <a:latin typeface="Reddit Sans Light"/>
              <a:cs typeface="Reddit Sans Light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204C9EB-2BA1-0C92-FA80-62712063B242}"/>
              </a:ext>
            </a:extLst>
          </p:cNvPr>
          <p:cNvSpPr/>
          <p:nvPr/>
        </p:nvSpPr>
        <p:spPr>
          <a:xfrm>
            <a:off x="582930" y="126873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>
                <a:solidFill>
                  <a:srgbClr val="E4EAF3"/>
                </a:solidFill>
                <a:latin typeface="Reddit Sans Light"/>
                <a:ea typeface="Calibri Light" pitchFamily="34" charset="-122"/>
                <a:cs typeface="Reddit Sans Light"/>
              </a:rPr>
              <a:t>Mis dolores principales son capacidad, gestión de conocimiento y disponibilidad. Los 4 chicos de soporte son mi personal clave y necesito gente muy experta.</a:t>
            </a:r>
            <a:endParaRPr lang="en-US" sz="900">
              <a:latin typeface="Reddit Sans Light"/>
              <a:cs typeface="Reddit Sans Light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5F5FFC23-6CBF-9AFB-6904-F5889B9A4F24}"/>
              </a:ext>
            </a:extLst>
          </p:cNvPr>
          <p:cNvSpPr/>
          <p:nvPr/>
        </p:nvSpPr>
        <p:spPr>
          <a:xfrm>
            <a:off x="582930" y="216027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0072BC"/>
                </a:solidFill>
                <a:latin typeface="Reddit Sans Light"/>
                <a:ea typeface="Calibri" pitchFamily="34" charset="-122"/>
                <a:cs typeface="Reddit Sans Light"/>
              </a:rPr>
              <a:t>Diego Serna</a:t>
            </a:r>
            <a:r>
              <a:rPr lang="en-US" sz="975">
                <a:solidFill>
                  <a:srgbClr val="A9B4C7"/>
                </a:solidFill>
                <a:latin typeface="Reddit Sans Light"/>
                <a:ea typeface="Calibri" pitchFamily="34" charset="-122"/>
                <a:cs typeface="Reddit Sans Light"/>
              </a:rPr>
              <a:t>  ·  XM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1A6E34B2-23A7-2C24-C0C9-AA4105B9830F}"/>
              </a:ext>
            </a:extLst>
          </p:cNvPr>
          <p:cNvSpPr/>
          <p:nvPr/>
        </p:nvSpPr>
        <p:spPr>
          <a:xfrm>
            <a:off x="4732020" y="89154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0F3B86D1-0F93-31EC-E34E-94A2839EA464}"/>
              </a:ext>
            </a:extLst>
          </p:cNvPr>
          <p:cNvSpPr/>
          <p:nvPr/>
        </p:nvSpPr>
        <p:spPr>
          <a:xfrm>
            <a:off x="4869180" y="92583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>
                <a:solidFill>
                  <a:srgbClr val="017490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>
              <a:latin typeface="Reddit Sans Light"/>
              <a:cs typeface="Reddit Sans Light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80E3B439-A57C-975F-0212-0486F4D7BF1F}"/>
              </a:ext>
            </a:extLst>
          </p:cNvPr>
          <p:cNvSpPr/>
          <p:nvPr/>
        </p:nvSpPr>
        <p:spPr>
          <a:xfrm>
            <a:off x="4972050" y="126873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>
                <a:solidFill>
                  <a:srgbClr val="E4EAF3"/>
                </a:solidFill>
                <a:latin typeface="Reddit Sans Light"/>
                <a:ea typeface="Calibri Light" pitchFamily="34" charset="-122"/>
                <a:cs typeface="Reddit Sans Light"/>
              </a:rPr>
              <a:t>No hay algo claro en PersonalSoft que nos determine los límites de los niveles. El servicio no fue bien vendido según ITIL.</a:t>
            </a:r>
            <a:endParaRPr lang="en-US" sz="900">
              <a:latin typeface="Reddit Sans Light"/>
              <a:cs typeface="Reddit Sans Light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8BCD10BF-6DA4-A9D1-BA95-369A26DBE7D8}"/>
              </a:ext>
            </a:extLst>
          </p:cNvPr>
          <p:cNvSpPr/>
          <p:nvPr/>
        </p:nvSpPr>
        <p:spPr>
          <a:xfrm>
            <a:off x="4972050" y="216027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017490"/>
                </a:solidFill>
                <a:latin typeface="Reddit Sans Light"/>
                <a:ea typeface="Calibri" pitchFamily="34" charset="-122"/>
                <a:cs typeface="Reddit Sans Light"/>
              </a:rPr>
              <a:t>Virginia</a:t>
            </a:r>
            <a:r>
              <a:rPr lang="en-US" sz="975">
                <a:solidFill>
                  <a:srgbClr val="A9B4C7"/>
                </a:solidFill>
                <a:latin typeface="Reddit Sans Light"/>
                <a:ea typeface="Calibri" pitchFamily="34" charset="-122"/>
                <a:cs typeface="Reddit Sans Light"/>
              </a:rPr>
              <a:t>  ·  SURA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1339D07C-C0FD-B114-5F7F-9E440BE84D8B}"/>
              </a:ext>
            </a:extLst>
          </p:cNvPr>
          <p:cNvSpPr/>
          <p:nvPr/>
        </p:nvSpPr>
        <p:spPr>
          <a:xfrm>
            <a:off x="342900" y="274320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5B6E520-FC5B-86C6-23D4-09CFEC89145D}"/>
              </a:ext>
            </a:extLst>
          </p:cNvPr>
          <p:cNvSpPr/>
          <p:nvPr/>
        </p:nvSpPr>
        <p:spPr>
          <a:xfrm>
            <a:off x="480060" y="277749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>
                <a:solidFill>
                  <a:srgbClr val="D4A017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>
              <a:latin typeface="Reddit Sans Light"/>
              <a:cs typeface="Reddit Sans Light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F4F650D9-1B7D-98B4-8547-725A391967B2}"/>
              </a:ext>
            </a:extLst>
          </p:cNvPr>
          <p:cNvSpPr/>
          <p:nvPr/>
        </p:nvSpPr>
        <p:spPr>
          <a:xfrm>
            <a:off x="582930" y="312039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>
                <a:solidFill>
                  <a:srgbClr val="E4EAF3"/>
                </a:solidFill>
                <a:latin typeface="Reddit Sans Light"/>
                <a:ea typeface="Calibri Light" pitchFamily="34" charset="-122"/>
                <a:cs typeface="Reddit Sans Light"/>
              </a:rPr>
              <a:t>El modelo va a cambiar al punto en que nos vamos a cargar de absolutamente toda la operación. Es una oportunidad.</a:t>
            </a:r>
            <a:endParaRPr lang="en-US" sz="900">
              <a:latin typeface="Reddit Sans Light"/>
              <a:cs typeface="Reddit Sans Light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9A14174B-27BA-23D0-3FA1-A716545991F5}"/>
              </a:ext>
            </a:extLst>
          </p:cNvPr>
          <p:cNvSpPr/>
          <p:nvPr/>
        </p:nvSpPr>
        <p:spPr>
          <a:xfrm>
            <a:off x="582930" y="401193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D4A017"/>
                </a:solidFill>
                <a:latin typeface="Reddit Sans Light"/>
                <a:ea typeface="Calibri" pitchFamily="34" charset="-122"/>
                <a:cs typeface="Reddit Sans Light"/>
              </a:rPr>
              <a:t>Michael Arévalo</a:t>
            </a:r>
            <a:r>
              <a:rPr lang="en-US" sz="975">
                <a:solidFill>
                  <a:srgbClr val="A9B4C7"/>
                </a:solidFill>
                <a:latin typeface="Reddit Sans Light"/>
                <a:ea typeface="Calibri" pitchFamily="34" charset="-122"/>
                <a:cs typeface="Reddit Sans Light"/>
              </a:rPr>
              <a:t>  ·  AES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A24DCC76-DB81-57F7-81FC-A398DEBE6965}"/>
              </a:ext>
            </a:extLst>
          </p:cNvPr>
          <p:cNvSpPr/>
          <p:nvPr/>
        </p:nvSpPr>
        <p:spPr>
          <a:xfrm>
            <a:off x="4732020" y="274320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876C14A1-21B4-F701-0421-1B2FAA71BF5F}"/>
              </a:ext>
            </a:extLst>
          </p:cNvPr>
          <p:cNvSpPr/>
          <p:nvPr/>
        </p:nvSpPr>
        <p:spPr>
          <a:xfrm>
            <a:off x="4869180" y="277749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>
                <a:solidFill>
                  <a:srgbClr val="1F7A4D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>
              <a:latin typeface="Reddit Sans Light"/>
              <a:cs typeface="Reddit Sans Light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A9C47E8A-0006-DB56-06DC-AAF78D96F72D}"/>
              </a:ext>
            </a:extLst>
          </p:cNvPr>
          <p:cNvSpPr/>
          <p:nvPr/>
        </p:nvSpPr>
        <p:spPr>
          <a:xfrm>
            <a:off x="4972050" y="312039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Los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regarcos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debo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 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pasarlos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a mano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colaborar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por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colaborar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y se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presta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para el error </a:t>
            </a:r>
            <a:r>
              <a:rPr lang="en-US" sz="900" i="1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humano</a:t>
            </a:r>
            <a:r>
              <a:rPr lang="en-US" sz="900" i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.</a:t>
            </a: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E6EFC550-6557-2751-4FFE-188CA4277146}"/>
              </a:ext>
            </a:extLst>
          </p:cNvPr>
          <p:cNvSpPr/>
          <p:nvPr/>
        </p:nvSpPr>
        <p:spPr>
          <a:xfrm>
            <a:off x="4972050" y="401193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50" b="1">
                <a:solidFill>
                  <a:srgbClr val="1F7A4D"/>
                </a:solidFill>
                <a:latin typeface="Reddit Sans Light"/>
                <a:ea typeface="Calibri"/>
                <a:cs typeface="Reddit Sans Light"/>
              </a:rPr>
              <a:t>Paul Andre Soto</a:t>
            </a:r>
            <a:r>
              <a:rPr lang="en-US" sz="950">
                <a:solidFill>
                  <a:srgbClr val="A9B4C7"/>
                </a:solidFill>
                <a:latin typeface="Reddit Sans Light"/>
                <a:ea typeface="Calibri"/>
                <a:cs typeface="Reddit Sans Light"/>
              </a:rPr>
              <a:t> ·  </a:t>
            </a:r>
            <a:r>
              <a:rPr lang="en-US" sz="950" err="1">
                <a:solidFill>
                  <a:srgbClr val="A9B4C7"/>
                </a:solidFill>
                <a:latin typeface="Reddit Sans Light"/>
                <a:ea typeface="Calibri"/>
                <a:cs typeface="Reddit Sans Light"/>
              </a:rPr>
              <a:t>Bancolombia</a:t>
            </a:r>
            <a:endParaRPr lang="en-US" sz="975" err="1">
              <a:latin typeface="Reddit Sans Light"/>
              <a:cs typeface="Reddit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1460234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AEBFDBAD-7B05-EED9-1EF5-413E891F7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>
            <a:extLst>
              <a:ext uri="{FF2B5EF4-FFF2-40B4-BE49-F238E27FC236}">
                <a16:creationId xmlns:a16="http://schemas.microsoft.com/office/drawing/2014/main" id="{4B2582B4-18D3-4368-CA11-A1D396FEC3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chemeClr val="bg1"/>
                </a:solidFill>
                <a:sym typeface="Reddit Sans Medium"/>
              </a:rPr>
              <a:t>Mesas de Servicio Actuales</a:t>
            </a:r>
            <a:endParaRPr lang="es-ES">
              <a:solidFill>
                <a:schemeClr val="bg1"/>
              </a:solidFill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>
            <a:extLst>
              <a:ext uri="{FF2B5EF4-FFF2-40B4-BE49-F238E27FC236}">
                <a16:creationId xmlns:a16="http://schemas.microsoft.com/office/drawing/2014/main" id="{E43C39F1-AE88-CEAB-FF66-1C0A9CE8A5E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Segmentos de Mercado Priorizados</a:t>
            </a:r>
            <a:endParaRPr lang="es-ES"/>
          </a:p>
        </p:txBody>
      </p:sp>
      <p:cxnSp>
        <p:nvCxnSpPr>
          <p:cNvPr id="147" name="Google Shape;147;p5">
            <a:extLst>
              <a:ext uri="{FF2B5EF4-FFF2-40B4-BE49-F238E27FC236}">
                <a16:creationId xmlns:a16="http://schemas.microsoft.com/office/drawing/2014/main" id="{8BFA854E-B0B5-D66E-A8B9-C86B85A5FA57}"/>
              </a:ext>
            </a:extLst>
          </p:cNvPr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24AE519-5A1F-729A-5BAF-07AFD2B3AFFF}"/>
              </a:ext>
            </a:extLst>
          </p:cNvPr>
          <p:cNvSpPr txBox="1"/>
          <p:nvPr/>
        </p:nvSpPr>
        <p:spPr>
          <a:xfrm>
            <a:off x="4757057" y="693967"/>
            <a:ext cx="3946074" cy="4529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Sector Banca Prioritario </a:t>
            </a:r>
            <a:endParaRPr lang="es-ES"/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Banca destaca por alta regulación, uso avanzado de IA y presión por continuidad operativa, con alta inversión en soluciones.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Oportunidades en </a:t>
            </a:r>
            <a:r>
              <a:rPr lang="es-ES" sz="1100" b="1" err="1">
                <a:solidFill>
                  <a:srgbClr val="0E337C"/>
                </a:solidFill>
                <a:latin typeface="Reddit Sans"/>
                <a:cs typeface="Segoe UI"/>
              </a:rPr>
              <a:t>Utilities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Utilities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operan 24/7, creando oportunidades para </a:t>
            </a: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AIOps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y </a:t>
            </a: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observabilidad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predictiva para mejorar operaciones críticas.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Empresas Medianas y Deuda Técnica </a:t>
            </a:r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Empresas medianas enfrentan alta deuda técnica y baja madurez, lo que abre oportunidades para modernización rápida.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Retos en el Sector Salud </a:t>
            </a:r>
            <a:endParaRPr lang="es-ES" sz="11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Salud requiere cumplimiento normativo, protección de datos y continuidad, exigiendo soluciones estandarizadas y trazables..</a:t>
            </a:r>
          </a:p>
          <a:p>
            <a:pPr>
              <a:lnSpc>
                <a:spcPct val="150000"/>
              </a:lnSpc>
            </a:pPr>
            <a:endParaRPr lang="es-ES" sz="1100">
              <a:solidFill>
                <a:srgbClr val="444444"/>
              </a:solidFill>
              <a:latin typeface="Reddit Sans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54669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 make it happen</a:t>
            </a:r>
            <a:endParaRPr/>
          </a:p>
        </p:txBody>
      </p:sp>
      <p:sp>
        <p:nvSpPr>
          <p:cNvPr id="189" name="Google Shape;189;p6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¡Gracias!</a:t>
            </a:r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Centro Empresarial Ciudad del Río C2, Cra. 48 #20-114, Oficina 1026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+57 324 549 77 70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6163</Words>
  <Application>Microsoft Office PowerPoint</Application>
  <PresentationFormat>Presentación en pantalla (16:9)</PresentationFormat>
  <Paragraphs>1046</Paragraphs>
  <Slides>38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8" baseType="lpstr">
      <vt:lpstr>Reddit Sans Medium</vt:lpstr>
      <vt:lpstr>Reddit Sans Light</vt:lpstr>
      <vt:lpstr>Reddit Sans Black</vt:lpstr>
      <vt:lpstr>Arial</vt:lpstr>
      <vt:lpstr>Reddit Sans SemiBold</vt:lpstr>
      <vt:lpstr>Reddit Sans</vt:lpstr>
      <vt:lpstr>Urbanist</vt:lpstr>
      <vt:lpstr>Calibri</vt:lpstr>
      <vt:lpstr>Aptos</vt:lpstr>
      <vt:lpstr>Simple Light</vt:lpstr>
      <vt:lpstr>Mesa de Servicio de Nueva Generación (Next Gen)</vt:lpstr>
      <vt:lpstr>Mesas de Servicio de Nueva Generación</vt:lpstr>
      <vt:lpstr>Mesas de Servicio Actuales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Mapa de Dolores Críticos</vt:lpstr>
      <vt:lpstr>Presentación de PowerPoint</vt:lpstr>
      <vt:lpstr>Presentación de PowerPoint</vt:lpstr>
      <vt:lpstr>Visualización: Benchmarks de industria </vt:lpstr>
      <vt:lpstr>Análisis Financiero: Costo USD / Ticket </vt:lpstr>
      <vt:lpstr>Análisis Financiero: Costo USD / Ticket — XM y Bancolombia vs Industria </vt:lpstr>
      <vt:lpstr>Distribución de Capacidad (FTE por Cliente) </vt:lpstr>
      <vt:lpstr>Presentación de PowerPoint</vt:lpstr>
      <vt:lpstr>Presentación de PowerPoint</vt:lpstr>
      <vt:lpstr>Tickets por Mesa al Mes — Registro Julio 2026 </vt:lpstr>
      <vt:lpstr>FTE por Mesa — Capacidad Instalada (57 FTE totales) </vt:lpstr>
      <vt:lpstr>MTTR por Mesa (horas) — Registro Julio 2026 vs Benchmarks </vt:lpstr>
      <vt:lpstr>Lo que nos dijeron — Voz directa de los líderes de mesa </vt:lpstr>
      <vt:lpstr>Mesas de Servicio Actuales</vt:lpstr>
      <vt:lpstr>Presentación de PowerPoint</vt:lpstr>
      <vt:lpstr>We make it happen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Natalia Zartha Suarez</cp:lastModifiedBy>
  <cp:revision>189</cp:revision>
  <dcterms:modified xsi:type="dcterms:W3CDTF">2026-07-16T13:07:05Z</dcterms:modified>
</cp:coreProperties>
</file>