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1099e2.png"/><Relationship Id="rId2" Type="http://schemas.openxmlformats.org/officeDocument/2006/relationships/image" Target="../media/image--2b5db79e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0c38cea1.png"/><Relationship Id="rId2" Type="http://schemas.openxmlformats.org/officeDocument/2006/relationships/image" Target="../media/image-0177db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57b1.png"/><Relationship Id="rId2" Type="http://schemas.openxmlformats.org/officeDocument/2006/relationships/image" Target="../media/image-54f11ea1.png"/><Relationship Id="rId3" Type="http://schemas.openxmlformats.org/officeDocument/2006/relationships/image" Target="../media/image--708ef2de1.png"/><Relationship Id="rId4" Type="http://schemas.openxmlformats.org/officeDocument/2006/relationships/image" Target="../media/image-505b5b1.png"/><Relationship Id="rId5" Type="http://schemas.openxmlformats.org/officeDocument/2006/relationships/image" Target="../media/image-02ff4ba1.png"/><Relationship Id="rId6" Type="http://schemas.openxmlformats.org/officeDocument/2006/relationships/image" Target="../media/image--718e2dde1.png"/><Relationship Id="rId7" Type="http://schemas.openxmlformats.org/officeDocument/2006/relationships/image" Target="../media/image--5ab11f1e1.png"/><Relationship Id="rId8" Type="http://schemas.openxmlformats.org/officeDocument/2006/relationships/image" Target="../media/image--50ddb45e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405345a1.png"/><Relationship Id="rId2" Type="http://schemas.openxmlformats.org/officeDocument/2006/relationships/image" Target="../media/image-6e3d1.png"/><Relationship Id="rId3" Type="http://schemas.openxmlformats.org/officeDocument/2006/relationships/image" Target="../media/image-2393c0a1.png"/><Relationship Id="rId4" Type="http://schemas.openxmlformats.org/officeDocument/2006/relationships/image" Target="../media/image--2be2769e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Diagnóstico de Mesas Actuales: Nivel de Madurez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Mapa de Calor de Dolores Críticos Consolidado (18 identificados)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392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581099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33550"/>
            <a:ext cx="11249025" cy="3933825"/>
          </a:xfrm>
          <a:prstGeom prst="rect">
            <a:avLst/>
          </a:prstGeom>
        </p:spPr>
      </p:pic>
      <p:pic>
        <p:nvPicPr>
          <p:cNvPr id="6" name="Image 1" descr="-2b5db7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33550"/>
            <a:ext cx="11239500" cy="3924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33550"/>
            <a:ext cx="3515439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991689" y="1733550"/>
            <a:ext cx="2179923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SURA (4 mesas)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171612" y="1733550"/>
            <a:ext cx="1035716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AES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7207329" y="1733550"/>
            <a:ext cx="947598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XM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8154927" y="1733550"/>
            <a:ext cx="1764014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BCO (GIOTI)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9918941" y="1733550"/>
            <a:ext cx="1796809" cy="46168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MEDICARTE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2195232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Sin RACI ni roles definidos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76250" y="2541494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Sin gobierno (ANS)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76250" y="2887756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Postura 100% reactiva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76250" y="3234018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Escalamiento ineficiente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250" y="3580279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Scope creep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76250" y="3926541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Sin métricas ni KPIs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76250" y="4272803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Sin autoservicio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76250" y="4619065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Asignación sin modelo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76250" y="4965326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Brechas vendido vs ejecutado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6250" y="5311588"/>
            <a:ext cx="351543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Herramientas fragmentadas</a:t>
            </a: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991689" y="2195232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171612" y="2195232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207329" y="2195232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8154927" y="2195232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9918941" y="2195232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991689" y="2541494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171612" y="2541494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7207329" y="2541494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8154927" y="2541494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9918941" y="2541494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3991689" y="2887756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6171612" y="2887756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7207329" y="2887756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8154927" y="2887756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9918941" y="2887756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3991689" y="3234018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6171612" y="3234018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7207329" y="3234018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8154927" y="3234018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9918941" y="3234018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991689" y="3580279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6171612" y="3580279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7207329" y="3580279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8154927" y="3580279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9918941" y="3580279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3991689" y="3926541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6171612" y="3926541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7207329" y="3926541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8154927" y="3926541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9918941" y="3926541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3" name="Text 49"/>
          <p:cNvSpPr/>
          <p:nvPr/>
        </p:nvSpPr>
        <p:spPr>
          <a:xfrm>
            <a:off x="3991689" y="4272803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6171612" y="4272803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7207329" y="4272803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6" name="Text 52"/>
          <p:cNvSpPr/>
          <p:nvPr/>
        </p:nvSpPr>
        <p:spPr>
          <a:xfrm>
            <a:off x="8154927" y="4272803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7" name="Text 53"/>
          <p:cNvSpPr/>
          <p:nvPr/>
        </p:nvSpPr>
        <p:spPr>
          <a:xfrm>
            <a:off x="9918941" y="4272803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8" name="Text 54"/>
          <p:cNvSpPr/>
          <p:nvPr/>
        </p:nvSpPr>
        <p:spPr>
          <a:xfrm>
            <a:off x="3991689" y="4619065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6171612" y="4619065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7207329" y="4619065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8154927" y="4619065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9918941" y="4619065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3991689" y="4965326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6171612" y="4965326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7207329" y="4965326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8154927" y="4965326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9918941" y="4965326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●</a:t>
            </a:r>
            <a:endParaRPr lang="en-US" dirty="0"/>
          </a:p>
        </p:txBody>
      </p:sp>
      <p:sp>
        <p:nvSpPr>
          <p:cNvPr id="68" name="Text 64"/>
          <p:cNvSpPr/>
          <p:nvPr/>
        </p:nvSpPr>
        <p:spPr>
          <a:xfrm>
            <a:off x="3991689" y="5311588"/>
            <a:ext cx="2179923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69" name="Text 65"/>
          <p:cNvSpPr/>
          <p:nvPr/>
        </p:nvSpPr>
        <p:spPr>
          <a:xfrm>
            <a:off x="6171612" y="5311588"/>
            <a:ext cx="1035716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7207329" y="5311588"/>
            <a:ext cx="947598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71" name="Text 67"/>
          <p:cNvSpPr/>
          <p:nvPr/>
        </p:nvSpPr>
        <p:spPr>
          <a:xfrm>
            <a:off x="8154927" y="5311588"/>
            <a:ext cx="1764014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72" name="Text 68"/>
          <p:cNvSpPr/>
          <p:nvPr/>
        </p:nvSpPr>
        <p:spPr>
          <a:xfrm>
            <a:off x="9918941" y="5311588"/>
            <a:ext cx="1796809" cy="3462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◐</a:t>
            </a:r>
            <a:endParaRPr lang="en-US" dirty="0"/>
          </a:p>
        </p:txBody>
      </p:sp>
      <p:sp>
        <p:nvSpPr>
          <p:cNvPr id="73" name="Shape 69"/>
          <p:cNvSpPr/>
          <p:nvPr/>
        </p:nvSpPr>
        <p:spPr>
          <a:xfrm>
            <a:off x="0" y="6134100"/>
            <a:ext cx="12192000" cy="723900"/>
          </a:xfrm>
          <a:prstGeom prst="rect">
            <a:avLst/>
          </a:prstGeom>
          <a:solidFill>
            <a:srgbClr val="F2F2F2"/>
          </a:solidFill>
          <a:ln>
            <a:miter lim="800000"/>
          </a:ln>
        </p:spPr>
      </p:sp>
      <p:sp>
        <p:nvSpPr>
          <p:cNvPr id="74" name="Text 70"/>
          <p:cNvSpPr/>
          <p:nvPr/>
        </p:nvSpPr>
        <p:spPr>
          <a:xfrm>
            <a:off x="257175" y="6378476"/>
            <a:ext cx="11677650" cy="23797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fontAlgn="ctr" algn="ctr">
              <a:lnSpc>
                <a:spcPts val="1874"/>
              </a:lnSpc>
            </a:pPr>
            <a:r>
              <a:rPr lang="en-US" sz="1650" spc="-49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Meta Estratégica: Transformación integral de las 8 mesas actuales hacia el Nivel 3 (Definido) para diciembre de 2026.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Mapa de Dolores Críticos (Consolidado)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Análisis de los 10 puntos críticos detectados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1733550"/>
            <a:ext cx="11239500" cy="464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miter lim="800000"/>
          </a:ln>
        </p:spPr>
      </p:sp>
      <p:pic>
        <p:nvPicPr>
          <p:cNvPr id="5" name="Image 0" descr="0c38ce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1733550"/>
            <a:ext cx="11249025" cy="4657725"/>
          </a:xfrm>
          <a:prstGeom prst="rect">
            <a:avLst/>
          </a:prstGeom>
        </p:spPr>
      </p:pic>
      <p:pic>
        <p:nvPicPr>
          <p:cNvPr id="6" name="Image 1" descr="0177db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33550"/>
            <a:ext cx="11239500" cy="4648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733550"/>
            <a:ext cx="1990626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2466876" y="1733550"/>
            <a:ext cx="3517084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Gravedad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983959" y="1733550"/>
            <a:ext cx="2827119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Impacto en Cliente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811079" y="1733550"/>
            <a:ext cx="2904671" cy="1430215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Riesgo de Negocio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6250" y="3163765"/>
            <a:ext cx="199062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Operativo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76250" y="4236427"/>
            <a:ext cx="199062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Estratégico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76250" y="5309088"/>
            <a:ext cx="1990626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Técnico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2466876" y="3163765"/>
            <a:ext cx="3517084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Roles y Gobierno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983959" y="3163765"/>
            <a:ext cx="2827119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SLAs e Ineficiencia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8811079" y="3163765"/>
            <a:ext cx="2904671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Reactividad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466876" y="4236427"/>
            <a:ext cx="3517084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Brechas Venta-Ejecución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983959" y="4236427"/>
            <a:ext cx="2827119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Falta de KPIs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811079" y="4236427"/>
            <a:ext cx="2904671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333333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Autoservicio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466876" y="5309088"/>
            <a:ext cx="3517084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Deuda Técnica</a:t>
            </a: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983959" y="5309088"/>
            <a:ext cx="2827119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Bus Factor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8811079" y="5309088"/>
            <a:ext cx="2904671" cy="1072662"/>
          </a:xfrm>
          <a:prstGeom prst="rect">
            <a:avLst/>
          </a:prstGeom>
          <a:noFill/>
          <a:ln>
            <a:miter lim="800000"/>
          </a:ln>
        </p:spPr>
        <p:txBody>
          <a:bodyPr wrap="square" rtlCol="0" anchor="ctr">
            <a:normAutofit fontScale="85000" lnSpcReduction="20000"/>
          </a:bodyPr>
          <a:lstStyle/>
          <a:p>
            <a:pPr fontAlgn="ctr" algn="ctr"/>
            <a:r>
              <a:rPr lang="en-US" sz="2000" dirty="0">
                <a:solidFill>
                  <a:srgbClr val="FFFFFF"/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Pases a Producción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415826"/>
            <a:ext cx="11525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SURA: Diagnóstico y Dolores Top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Análisis de Mesas de Trabajo y Dolores Críticos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76250" y="2090738"/>
            <a:ext cx="2667000" cy="1919288"/>
          </a:xfrm>
          <a:prstGeom prst="rect">
            <a:avLst/>
          </a:prstGeom>
          <a:solidFill>
            <a:srgbClr val="38D8E6"/>
          </a:solidFill>
          <a:ln>
            <a:miter lim="800000"/>
          </a:ln>
        </p:spPr>
      </p:sp>
      <p:sp>
        <p:nvSpPr>
          <p:cNvPr id="5" name="Text 3"/>
          <p:cNvSpPr/>
          <p:nvPr/>
        </p:nvSpPr>
        <p:spPr>
          <a:xfrm>
            <a:off x="762000" y="2596753"/>
            <a:ext cx="2381250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Cotizadores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900363"/>
            <a:ext cx="2381250" cy="6549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Fricción en el proceso de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tarificación y alta tasa de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abandono.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452563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AC2D1"/>
            </a:solidFill>
            <a:prstDash val="solid"/>
            <a:miter lim="800000"/>
          </a:ln>
        </p:spPr>
      </p:sp>
      <p:pic>
        <p:nvPicPr>
          <p:cNvPr id="8" name="Image 0" descr="57b628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618" y="1910750"/>
            <a:ext cx="276225" cy="3619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33750" y="2090738"/>
            <a:ext cx="2667000" cy="1919288"/>
          </a:xfrm>
          <a:prstGeom prst="rect">
            <a:avLst/>
          </a:prstGeom>
          <a:solidFill>
            <a:srgbClr val="45CFE8"/>
          </a:solidFill>
          <a:ln>
            <a:miter lim="800000"/>
          </a:ln>
        </p:spPr>
      </p:sp>
      <p:sp>
        <p:nvSpPr>
          <p:cNvPr id="10" name="Text 7"/>
          <p:cNvSpPr/>
          <p:nvPr/>
        </p:nvSpPr>
        <p:spPr>
          <a:xfrm>
            <a:off x="3619500" y="2596753"/>
            <a:ext cx="2381250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Venta Digital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619500" y="2900363"/>
            <a:ext cx="2381250" cy="6549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Brechas en la experiencia de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usuario y tiempos de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conversión.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310063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CC1DE"/>
            </a:solidFill>
            <a:prstDash val="solid"/>
            <a:miter lim="800000"/>
          </a:ln>
        </p:spPr>
      </p:sp>
      <p:pic>
        <p:nvPicPr>
          <p:cNvPr id="13" name="Image 1" descr="54f11ea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33" y="1973535"/>
            <a:ext cx="342900" cy="2381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1250" y="2090738"/>
            <a:ext cx="2667000" cy="1919288"/>
          </a:xfrm>
          <a:prstGeom prst="rect">
            <a:avLst/>
          </a:prstGeom>
          <a:solidFill>
            <a:srgbClr val="52C7E9"/>
          </a:solidFill>
          <a:ln>
            <a:miter lim="800000"/>
          </a:ln>
        </p:spPr>
      </p:sp>
      <p:sp>
        <p:nvSpPr>
          <p:cNvPr id="15" name="Text 11"/>
          <p:cNvSpPr/>
          <p:nvPr/>
        </p:nvSpPr>
        <p:spPr>
          <a:xfrm>
            <a:off x="6477000" y="2596753"/>
            <a:ext cx="2381250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Automatización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77000" y="2900363"/>
            <a:ext cx="2492871" cy="4366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Retrasos en la implementación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 flujos end-to-end.</a:t>
            </a:r>
            <a:endParaRPr lang="en-US" dirty="0"/>
          </a:p>
        </p:txBody>
      </p:sp>
      <p:sp>
        <p:nvSpPr>
          <p:cNvPr id="17" name="Shape 13"/>
          <p:cNvSpPr/>
          <p:nvPr/>
        </p:nvSpPr>
        <p:spPr>
          <a:xfrm>
            <a:off x="7167563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B8E3"/>
            </a:solidFill>
            <a:prstDash val="solid"/>
            <a:miter lim="800000"/>
          </a:ln>
        </p:spPr>
      </p:sp>
      <p:pic>
        <p:nvPicPr>
          <p:cNvPr id="18" name="Image 2" descr="-708ef2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133" y="1960979"/>
            <a:ext cx="352425" cy="25717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48750" y="2090738"/>
            <a:ext cx="2667000" cy="1919288"/>
          </a:xfrm>
          <a:prstGeom prst="rect">
            <a:avLst/>
          </a:prstGeom>
          <a:solidFill>
            <a:srgbClr val="5FBEEB"/>
          </a:solidFill>
          <a:ln>
            <a:miter lim="800000"/>
          </a:ln>
        </p:spPr>
      </p:sp>
      <p:sp>
        <p:nvSpPr>
          <p:cNvPr id="20" name="Text 15"/>
          <p:cNvSpPr/>
          <p:nvPr/>
        </p:nvSpPr>
        <p:spPr>
          <a:xfrm>
            <a:off x="9334500" y="2596753"/>
            <a:ext cx="2381250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Canales Masivos</a:t>
            </a: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9334500" y="2900363"/>
            <a:ext cx="2381250" cy="6549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Alta complejidad operativa y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dependencia de gestión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manual.</a:t>
            </a: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10025063" y="1733550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2ACE5"/>
            </a:solidFill>
            <a:prstDash val="solid"/>
            <a:miter lim="800000"/>
          </a:ln>
        </p:spPr>
      </p:sp>
      <p:pic>
        <p:nvPicPr>
          <p:cNvPr id="23" name="Image 3" descr="505b5b6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8075" y="1977721"/>
            <a:ext cx="381000" cy="22860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76250" y="4462463"/>
            <a:ext cx="2667000" cy="1919288"/>
          </a:xfrm>
          <a:prstGeom prst="rect">
            <a:avLst/>
          </a:prstGeom>
          <a:solidFill>
            <a:srgbClr val="6CB5EC"/>
          </a:solidFill>
          <a:ln>
            <a:miter lim="800000"/>
          </a:ln>
        </p:spPr>
      </p:sp>
      <p:sp>
        <p:nvSpPr>
          <p:cNvPr id="25" name="Text 19"/>
          <p:cNvSpPr/>
          <p:nvPr/>
        </p:nvSpPr>
        <p:spPr>
          <a:xfrm>
            <a:off x="762000" y="4968478"/>
            <a:ext cx="2381250" cy="4780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Incumplimiento de</a:t>
            </a:r>
            <a:b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SLAs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62000" y="5511105"/>
            <a:ext cx="2452539" cy="4366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Impacto negativo en servicio y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penalizaciones financieras.</a:t>
            </a:r>
            <a:endParaRPr lang="en-US" dirty="0"/>
          </a:p>
        </p:txBody>
      </p:sp>
      <p:sp>
        <p:nvSpPr>
          <p:cNvPr id="27" name="Shape 21"/>
          <p:cNvSpPr/>
          <p:nvPr/>
        </p:nvSpPr>
        <p:spPr>
          <a:xfrm>
            <a:off x="1452563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3F9EE6"/>
            </a:solidFill>
            <a:prstDash val="solid"/>
            <a:miter lim="800000"/>
          </a:ln>
        </p:spPr>
      </p:sp>
      <p:pic>
        <p:nvPicPr>
          <p:cNvPr id="28" name="Image 4" descr="02ff4ba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6492" y="4278288"/>
            <a:ext cx="323850" cy="37147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3333750" y="4462463"/>
            <a:ext cx="2667000" cy="1919288"/>
          </a:xfrm>
          <a:prstGeom prst="rect">
            <a:avLst/>
          </a:prstGeom>
          <a:solidFill>
            <a:srgbClr val="79ACEE"/>
          </a:solidFill>
          <a:ln>
            <a:miter lim="800000"/>
          </a:ln>
        </p:spPr>
      </p:sp>
      <p:sp>
        <p:nvSpPr>
          <p:cNvPr id="30" name="Text 23"/>
          <p:cNvSpPr/>
          <p:nvPr/>
        </p:nvSpPr>
        <p:spPr>
          <a:xfrm>
            <a:off x="3619500" y="4968478"/>
            <a:ext cx="2399705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Falta de Autoservicio</a:t>
            </a: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619500" y="5272088"/>
            <a:ext cx="2381250" cy="6549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Necesidad urgente de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herramientas digitales para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autogestión.</a:t>
            </a:r>
            <a:endParaRPr lang="en-US" dirty="0"/>
          </a:p>
        </p:txBody>
      </p:sp>
      <p:sp>
        <p:nvSpPr>
          <p:cNvPr id="32" name="Shape 25"/>
          <p:cNvSpPr/>
          <p:nvPr/>
        </p:nvSpPr>
        <p:spPr>
          <a:xfrm>
            <a:off x="4310063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C90E8"/>
            </a:solidFill>
            <a:prstDash val="solid"/>
            <a:miter lim="800000"/>
          </a:ln>
        </p:spPr>
      </p:sp>
      <p:pic>
        <p:nvPicPr>
          <p:cNvPr id="33" name="Image 5" descr="-718e2d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2375" y="4307588"/>
            <a:ext cx="304800" cy="3048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191250" y="4462463"/>
            <a:ext cx="2667000" cy="1919288"/>
          </a:xfrm>
          <a:prstGeom prst="rect">
            <a:avLst/>
          </a:prstGeom>
          <a:solidFill>
            <a:srgbClr val="86A4EF"/>
          </a:solidFill>
          <a:ln>
            <a:miter lim="800000"/>
          </a:ln>
        </p:spPr>
      </p:sp>
      <p:sp>
        <p:nvSpPr>
          <p:cNvPr id="35" name="Text 27"/>
          <p:cNvSpPr/>
          <p:nvPr/>
        </p:nvSpPr>
        <p:spPr>
          <a:xfrm>
            <a:off x="6477000" y="4968478"/>
            <a:ext cx="2381250" cy="47803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Alta Dependencia de</a:t>
            </a:r>
            <a:b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</a:b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Personas</a:t>
            </a: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6477000" y="5511105"/>
            <a:ext cx="2381250" cy="43666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Riesgo operativo crítico por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alto 'Bus factor'.</a:t>
            </a:r>
            <a:endParaRPr lang="en-US" dirty="0"/>
          </a:p>
        </p:txBody>
      </p:sp>
      <p:sp>
        <p:nvSpPr>
          <p:cNvPr id="37" name="Shape 29"/>
          <p:cNvSpPr/>
          <p:nvPr/>
        </p:nvSpPr>
        <p:spPr>
          <a:xfrm>
            <a:off x="7167563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982E9"/>
            </a:solidFill>
            <a:prstDash val="solid"/>
            <a:miter lim="800000"/>
          </a:ln>
        </p:spPr>
      </p:sp>
      <p:pic>
        <p:nvPicPr>
          <p:cNvPr id="38" name="Image 6" descr="-5ab11f1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433" y="4321178"/>
            <a:ext cx="285750" cy="285750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048750" y="4462463"/>
            <a:ext cx="2667000" cy="1919288"/>
          </a:xfrm>
          <a:prstGeom prst="rect">
            <a:avLst/>
          </a:prstGeom>
          <a:solidFill>
            <a:srgbClr val="939BF1"/>
          </a:solidFill>
          <a:ln>
            <a:miter lim="800000"/>
          </a:ln>
        </p:spPr>
      </p:sp>
      <p:sp>
        <p:nvSpPr>
          <p:cNvPr id="40" name="Text 31"/>
          <p:cNvSpPr/>
          <p:nvPr/>
        </p:nvSpPr>
        <p:spPr>
          <a:xfrm>
            <a:off x="9334500" y="4968478"/>
            <a:ext cx="2462659" cy="23901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883"/>
              </a:lnSpc>
            </a:pPr>
            <a:r>
              <a:rPr lang="en-US" sz="1658" spc="-50" kern="0" dirty="0">
                <a:solidFill>
                  <a:srgbClr val="FFFFFF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Ineficiencia Operativa</a:t>
            </a:r>
            <a:endParaRPr lang="en-US" dirty="0"/>
          </a:p>
        </p:txBody>
      </p:sp>
      <p:sp>
        <p:nvSpPr>
          <p:cNvPr id="41" name="Text 32"/>
          <p:cNvSpPr/>
          <p:nvPr/>
        </p:nvSpPr>
        <p:spPr>
          <a:xfrm>
            <a:off x="9334500" y="5272088"/>
            <a:ext cx="2381250" cy="65499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l">
              <a:lnSpc>
                <a:spcPts val="1720"/>
              </a:lnSpc>
              <a:spcBef>
                <a:spcPts val="499"/>
              </a:spcBef>
            </a:pP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Procesos manuales que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limitan la escalabilidad del</a:t>
            </a:r>
            <a:b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275" spc="-51" kern="0" dirty="0">
                <a:solidFill>
                  <a:srgbClr val="FFFFFF">
                    <a:alpha val="80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negocio.</a:t>
            </a:r>
            <a:endParaRPr lang="en-US" dirty="0"/>
          </a:p>
        </p:txBody>
      </p:sp>
      <p:sp>
        <p:nvSpPr>
          <p:cNvPr id="42" name="Shape 33"/>
          <p:cNvSpPr/>
          <p:nvPr/>
        </p:nvSpPr>
        <p:spPr>
          <a:xfrm>
            <a:off x="10025063" y="4105275"/>
            <a:ext cx="714375" cy="71437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6671EB"/>
            </a:solidFill>
            <a:prstDash val="solid"/>
            <a:miter lim="800000"/>
          </a:ln>
        </p:spPr>
      </p:sp>
      <p:pic>
        <p:nvPicPr>
          <p:cNvPr id="43" name="Image 7" descr="-50ddb45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4167" y="4324333"/>
            <a:ext cx="25717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" y="415826"/>
            <a:ext cx="11906250" cy="473273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3727"/>
              </a:lnSpc>
            </a:pPr>
            <a:r>
              <a:rPr lang="en-US" sz="3750" spc="-225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Análisis Individual: AES, XM, Bancolombia y MEDICARTE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3375" y="1036141"/>
            <a:ext cx="11525250" cy="282625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226"/>
              </a:lnSpc>
              <a:spcBef>
                <a:spcPts val="1136"/>
              </a:spcBef>
            </a:pPr>
            <a:r>
              <a:rPr lang="en-US" sz="1650" spc="-66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Evaluación de servicios específicos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88219" y="2573655"/>
            <a:ext cx="1428750" cy="1428750"/>
          </a:xfrm>
          <a:prstGeom prst="ellipse">
            <a:avLst/>
          </a:prstGeom>
          <a:solidFill>
            <a:srgbClr val="38D8E6"/>
          </a:solidFill>
          <a:ln>
            <a:miter lim="800000"/>
          </a:ln>
        </p:spPr>
      </p:sp>
      <p:pic>
        <p:nvPicPr>
          <p:cNvPr id="5" name="Image 0" descr="405345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106" y="2919561"/>
            <a:ext cx="647700" cy="7334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7669" y="4100036"/>
            <a:ext cx="260985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AES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35042" y="4439960"/>
            <a:ext cx="2735104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Presenta una reactividad alta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 un proceso de RFP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pendiente.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3917156" y="2573655"/>
            <a:ext cx="1428750" cy="1428750"/>
          </a:xfrm>
          <a:prstGeom prst="ellipse">
            <a:avLst/>
          </a:prstGeom>
          <a:solidFill>
            <a:srgbClr val="56C4EA"/>
          </a:solidFill>
          <a:ln>
            <a:miter lim="800000"/>
          </a:ln>
        </p:spPr>
      </p:sp>
      <p:pic>
        <p:nvPicPr>
          <p:cNvPr id="9" name="Image 1" descr="6e3d76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97" y="2994905"/>
            <a:ext cx="581025" cy="581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21844" y="4100036"/>
            <a:ext cx="2619375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XM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261047" y="4439960"/>
            <a:ext cx="2740968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Enfrenta desafíos en la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capacidad 24x7 y requiere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estandarización de procesos.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6846094" y="2573655"/>
            <a:ext cx="1428750" cy="1428750"/>
          </a:xfrm>
          <a:prstGeom prst="ellipse">
            <a:avLst/>
          </a:prstGeom>
          <a:solidFill>
            <a:srgbClr val="75AFED"/>
          </a:solidFill>
          <a:ln>
            <a:miter lim="800000"/>
          </a:ln>
        </p:spPr>
      </p:sp>
      <p:pic>
        <p:nvPicPr>
          <p:cNvPr id="13" name="Image 2" descr="2393c0a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722" y="2994907"/>
            <a:ext cx="628650" cy="581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6019" y="4100036"/>
            <a:ext cx="26289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Bancolombia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184672" y="4439960"/>
            <a:ext cx="2751594" cy="770632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Se identifica confusión en los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niveles de servicio y brechas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operativas existentes.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9775031" y="2573655"/>
            <a:ext cx="1428750" cy="1428750"/>
          </a:xfrm>
          <a:prstGeom prst="ellipse">
            <a:avLst/>
          </a:prstGeom>
          <a:solidFill>
            <a:srgbClr val="939BF1"/>
          </a:solidFill>
          <a:ln>
            <a:miter lim="800000"/>
          </a:ln>
        </p:spPr>
      </p:sp>
      <p:pic>
        <p:nvPicPr>
          <p:cNvPr id="17" name="Image 3" descr="-2be2769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7798" y="2902814"/>
            <a:ext cx="695325" cy="7905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51156" y="4100036"/>
            <a:ext cx="2476500" cy="259556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45"/>
              </a:lnSpc>
            </a:pPr>
            <a:r>
              <a:rPr lang="en-US" sz="1800" spc="-54" kern="0" dirty="0">
                <a:solidFill>
                  <a:srgbClr val="333333"/>
                </a:solidFill>
                <a:latin typeface="Geist Semi Bold" pitchFamily="34" charset="0"/>
                <a:ea typeface="Geist Semi Bold" pitchFamily="34" charset="-122"/>
                <a:cs typeface="Geist Semi Bold" pitchFamily="34" charset="-120"/>
              </a:rPr>
              <a:t>MEDICARTE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9194081" y="4439960"/>
            <a:ext cx="2590651" cy="1027509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t"/>
          <a:lstStyle/>
          <a:p>
            <a:pPr fontAlgn="ctr" algn="ctr">
              <a:lnSpc>
                <a:spcPts val="2023"/>
              </a:lnSpc>
              <a:spcBef>
                <a:spcPts val="620"/>
              </a:spcBef>
            </a:pP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Se encuentra en fase inicial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con alta carga de deuda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técnica y falta de procesos</a:t>
            </a:r>
            <a:b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</a:br>
            <a:r>
              <a:rPr lang="en-US" sz="1500" spc="-60" kern="0" dirty="0">
                <a:solidFill>
                  <a:srgbClr val="000000">
                    <a:alpha val="65000"/>
                  </a:srgbClr>
                </a:solidFill>
                <a:latin typeface="Geist Regular" pitchFamily="34" charset="0"/>
                <a:ea typeface="Geist Regular" pitchFamily="34" charset="-122"/>
                <a:cs typeface="Geist Regular" pitchFamily="34" charset="-120"/>
              </a:rPr>
              <a:t>definidos.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Presentation</dc:subject>
  <dc:creator>Beautiful.ai</dc:creator>
  <cp:lastModifiedBy>Beautiful.ai</cp:lastModifiedBy>
  <cp:revision>1</cp:revision>
  <dcterms:created xsi:type="dcterms:W3CDTF">2026-07-10T14:54:25Z</dcterms:created>
  <dcterms:modified xsi:type="dcterms:W3CDTF">2026-07-10T14:54:25Z</dcterms:modified>
</cp:coreProperties>
</file>