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09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PERSONALSOFT · MESA DE SERVICIOS GEN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Mesas de Servicio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Actual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07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2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Mesas · 4 Clientes · 57 FTE · Julio 2026 · PersonalSoft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estamos? — El diagnóstico en una página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441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75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19272" y="12344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3441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1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319272" y="2075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FTE totales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1344" y="12344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1344" y="13441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81344" y="2075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N3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43416" y="12344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3416" y="13441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9043416" y="2075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3657600" cy="50292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· Operación Reactiva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337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0832" y="2697480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32" y="2697480"/>
            <a:ext cx="365760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· Herramienta Activa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07992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mesas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3337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Cotizadores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Venta Digital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Automatización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Canales Masivos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XM Apps Críticas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BCO COES Int.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BCO COES Datos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BCO Soporte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BCO COES Emma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BCO iSeries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84464" y="2697480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2697480"/>
            <a:ext cx="3657600" cy="50292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7" name="Text 25"/>
          <p:cNvSpPr/>
          <p:nvPr/>
        </p:nvSpPr>
        <p:spPr>
          <a:xfrm>
            <a:off x="8421624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· Meta Dic 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21624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mesas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67344" y="3337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5669280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13234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6692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Ninguna mesa ha llegado al nivel mínimo de madurez (N3). </a:t>
            </a: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Wave 1: todas a N3 antes de Diciembre 2026.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F9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N1 — AES · Único cliente en N1 · URGENTE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174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Contrato vence agosto 2026 · RFP activo con 4-5 competidores · Oportunidad de reconversión a managed service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Soporte IT/OT en Planta · Energía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N1 · OPORTUNIDAD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FTE en planta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057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Tickets/mes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MTTR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35440" y="2057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063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CRÍTICAS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3375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Modelo actual: staffing puro en planta física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Contrato vigente hasta agosto 2026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RFP abierto con 4-5 competidores activos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El cliente quiere pasar a managed service completo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PS debe cargar toda la operación — oportunidad de crecimiento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3375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Sin métricas ni KPIs formales de ningún tipo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Sin SLA contractual documentado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Sin gobierno ni RACI definido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Sin KEDB ni gestión de conocimiento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Infraestructura on-premise sin escalabilidad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Soporte físico en planta — disponibilidad limitada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62356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13234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6235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AES es la única mesa en N1. </a:t>
            </a: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RFP es una ventana de reconversión: pasar de staffing a managed service Gen Next con PS como operador único.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F9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N2 — 10 Mesas · Herramienta Activa, Sin Gobierno Central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174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(4) · XM · BCO (5 mesas COES) — Renovaciones SURA agosto 2026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Tickets/mes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USD/tix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 Cotizadores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668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70%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24.58h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$40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⚠ SLA y MTTR críticos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 Venta Digital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174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74%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12.38h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$39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Renovación ago 2026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 Automatización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512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7A4D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98% ✓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7A4D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2.98h ✓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$39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Mejor N2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 Canales Masivos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171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72%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17.92h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$20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Bus factor crítico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 Apps Críticas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90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N/D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N/D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3261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$149 ⚠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Vigente jul 2027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5882"/>
            </a:avLst>
          </a:prstGeom>
          <a:solidFill>
            <a:srgbClr val="132346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257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Automatización</a:t>
            </a: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es la mejor mesa N2 (SLA 98%, MTTR 2.98h). </a:t>
            </a:r>
            <a:r>
              <a:rPr lang="en-US" sz="1250" b="1" dirty="0">
                <a:solidFill>
                  <a:srgbClr val="D4A0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XM $149/ticket</a:t>
            </a: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es una anomalía: 4 FTE resuelven solo 90 tickets/mes por soporte 24x7 a 14 componentes críticos.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F9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Críticos — Parte 1 de 2 · Los más extendidos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174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Presentes en más de la mitad de las 11 mesas — son del modelo, no de una mesa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777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572768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Ausencia de gobierno formal (SLA, escalamiento, responsabilidades)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0" y="1755648"/>
            <a:ext cx="5212080" cy="3474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0" y="1755648"/>
            <a:ext cx="5212080" cy="34747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0" y="17099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777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350008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Gestión de conocimiento informal — solo en la cabeza de las personas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03520" y="2532888"/>
            <a:ext cx="5212080" cy="3474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2532888"/>
            <a:ext cx="4264429" cy="34747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9659389" y="24871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127248"/>
            <a:ext cx="777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27248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 estandarización de proceso ni RACI definido entre mesas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03520" y="3310128"/>
            <a:ext cx="5212080" cy="3474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3310128"/>
            <a:ext cx="3316778" cy="3474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8711738" y="326440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777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3904488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 métricas formales ni dashboard de KPIs operacionales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03520" y="4087368"/>
            <a:ext cx="5212080" cy="3474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0" y="4087368"/>
            <a:ext cx="3316778" cy="3474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8711738" y="40416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777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4681728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 KB / KEDB documentado — resolución depende del experto disponible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303520" y="4864608"/>
            <a:ext cx="5212080" cy="3474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864608"/>
            <a:ext cx="2842953" cy="3474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28" name="Text 26"/>
          <p:cNvSpPr/>
          <p:nvPr/>
        </p:nvSpPr>
        <p:spPr>
          <a:xfrm>
            <a:off x="8237913" y="48188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62356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13234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6235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de 2 · </a:t>
            </a: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D20 y D16 presentes en la totalidad de mesas — el problema es estructural, no operativo.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F9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Críticos — Parte 2 de 2 · Impacto Operacional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174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Dolores recurrentes que generan sobrecarga, errores y riesgo de continuidad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Capacidad insuficiente — demanda supera el equipo disponible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655064"/>
            <a:ext cx="5212080" cy="31089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0" y="1655064"/>
            <a:ext cx="2369127" cy="310896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8" name="Text 6"/>
          <p:cNvSpPr/>
          <p:nvPr/>
        </p:nvSpPr>
        <p:spPr>
          <a:xfrm>
            <a:off x="7764087" y="16002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 factor crítico — 1-4 personas concentran todo el conocimiento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249424"/>
            <a:ext cx="5212080" cy="31089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2249424"/>
            <a:ext cx="2369127" cy="310896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7764087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 cobertura nocturna / fin de semana en mesas críticas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2843784"/>
            <a:ext cx="5212080" cy="31089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2843784"/>
            <a:ext cx="1895302" cy="310896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90262" y="27889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291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Herramienta de gestión del cliente (no de PS) — sin control de datos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3438144"/>
            <a:ext cx="5212080" cy="31089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0" y="3438144"/>
            <a:ext cx="1895302" cy="310896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7290262" y="33832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886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 causa raíz ni gestión proactiva de incidentes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4032504"/>
            <a:ext cx="5212080" cy="31089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4032504"/>
            <a:ext cx="1895302" cy="310896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28" name="Text 26"/>
          <p:cNvSpPr/>
          <p:nvPr/>
        </p:nvSpPr>
        <p:spPr>
          <a:xfrm>
            <a:off x="7290262" y="39776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480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Tickets sin documentar lección aprendida — reincidencia alta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03520" y="4626864"/>
            <a:ext cx="5212080" cy="31089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303520" y="4626864"/>
            <a:ext cx="1421476" cy="310896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33" name="Text 31"/>
          <p:cNvSpPr/>
          <p:nvPr/>
        </p:nvSpPr>
        <p:spPr>
          <a:xfrm>
            <a:off x="6816436" y="4572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5074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80160" y="5074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Modelo económico mal calibrado — precio/ticket no refleja costo real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03520" y="5221224"/>
            <a:ext cx="5212080" cy="31089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5303520" y="5221224"/>
            <a:ext cx="1421476" cy="310896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38" name="Text 36"/>
          <p:cNvSpPr/>
          <p:nvPr/>
        </p:nvSpPr>
        <p:spPr>
          <a:xfrm>
            <a:off x="6816436" y="5166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562356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13234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56235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de 2 · </a:t>
            </a: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 factor (D1) y capacidad (D7) son riesgo de continuidad inmediato. El modelo económico (D22) debe recalibrarse en la propuesta Gen Next.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F9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ITIL por Dimensión — Promedio 61.5% · Meta 70%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174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BCO tiene mejor ITIL · AES es la más rezagada · Nadie llega al 80%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63840" y="932688"/>
            <a:ext cx="228600" cy="22860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0" y="8961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15400" y="932688"/>
            <a:ext cx="228600" cy="228600"/>
          </a:xfrm>
          <a:prstGeom prst="rect">
            <a:avLst/>
          </a:prstGeom>
          <a:solidFill>
            <a:srgbClr val="0072BC"/>
          </a:solidFill>
          <a:ln/>
        </p:spPr>
      </p:sp>
      <p:sp>
        <p:nvSpPr>
          <p:cNvPr id="7" name="Text 5"/>
          <p:cNvSpPr/>
          <p:nvPr/>
        </p:nvSpPr>
        <p:spPr>
          <a:xfrm>
            <a:off x="9189720" y="8961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966960" y="932688"/>
            <a:ext cx="228600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0" y="8961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018520" y="932688"/>
            <a:ext cx="228600" cy="2286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11292840" y="8961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Org / Personas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08960" y="1847088"/>
            <a:ext cx="2263140" cy="155448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45252" y="1810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37.5%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2029968"/>
            <a:ext cx="3621024" cy="155448"/>
          </a:xfrm>
          <a:prstGeom prst="rect">
            <a:avLst/>
          </a:prstGeom>
          <a:solidFill>
            <a:srgbClr val="0072BC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36" y="1993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0" y="2212848"/>
            <a:ext cx="2414016" cy="1554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5596128" y="2176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2395728"/>
            <a:ext cx="2414016" cy="15544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5596128" y="23591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Info / Tecnología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08960" y="2807208"/>
            <a:ext cx="3771900" cy="155448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6954012" y="2770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62.5%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08960" y="2990088"/>
            <a:ext cx="4743541" cy="155448"/>
          </a:xfrm>
          <a:prstGeom prst="rect">
            <a:avLst/>
          </a:prstGeom>
          <a:solidFill>
            <a:srgbClr val="0072BC"/>
          </a:solidFill>
          <a:ln/>
        </p:spPr>
      </p:sp>
      <p:sp>
        <p:nvSpPr>
          <p:cNvPr id="25" name="Text 23"/>
          <p:cNvSpPr/>
          <p:nvPr/>
        </p:nvSpPr>
        <p:spPr>
          <a:xfrm>
            <a:off x="7925653" y="2953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78.6%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08960" y="3172968"/>
            <a:ext cx="2589032" cy="1554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5771144" y="3136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42.9%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3355848"/>
            <a:ext cx="3017520" cy="15544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9" name="Text 27"/>
          <p:cNvSpPr/>
          <p:nvPr/>
        </p:nvSpPr>
        <p:spPr>
          <a:xfrm>
            <a:off x="6199632" y="3319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Socios / Proveedores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08960" y="3767328"/>
            <a:ext cx="5027188" cy="155448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2" name="Text 30"/>
          <p:cNvSpPr/>
          <p:nvPr/>
        </p:nvSpPr>
        <p:spPr>
          <a:xfrm>
            <a:off x="8209300" y="37307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83.3%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08960" y="3950208"/>
            <a:ext cx="5027188" cy="155448"/>
          </a:xfrm>
          <a:prstGeom prst="rect">
            <a:avLst/>
          </a:prstGeom>
          <a:solidFill>
            <a:srgbClr val="0072BC"/>
          </a:solidFill>
          <a:ln/>
        </p:spPr>
      </p:sp>
      <p:sp>
        <p:nvSpPr>
          <p:cNvPr id="34" name="Text 32"/>
          <p:cNvSpPr/>
          <p:nvPr/>
        </p:nvSpPr>
        <p:spPr>
          <a:xfrm>
            <a:off x="8209300" y="3913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83.3%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08960" y="4133088"/>
            <a:ext cx="1007852" cy="1554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/>
          <p:nvPr/>
        </p:nvSpPr>
        <p:spPr>
          <a:xfrm>
            <a:off x="4189964" y="4096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16.7%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08960" y="4315968"/>
            <a:ext cx="4025372" cy="15544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8" name="Text 36"/>
          <p:cNvSpPr/>
          <p:nvPr/>
        </p:nvSpPr>
        <p:spPr>
          <a:xfrm>
            <a:off x="7207484" y="4279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66.7%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· Valor / Mejora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108960" y="4727448"/>
            <a:ext cx="3017520" cy="155448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1" name="Text 39"/>
          <p:cNvSpPr/>
          <p:nvPr/>
        </p:nvSpPr>
        <p:spPr>
          <a:xfrm>
            <a:off x="6199632" y="4690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08960" y="4910328"/>
            <a:ext cx="4526280" cy="155448"/>
          </a:xfrm>
          <a:prstGeom prst="rect">
            <a:avLst/>
          </a:prstGeom>
          <a:solidFill>
            <a:srgbClr val="0072BC"/>
          </a:solidFill>
          <a:ln/>
        </p:spPr>
      </p:sp>
      <p:sp>
        <p:nvSpPr>
          <p:cNvPr id="43" name="Text 41"/>
          <p:cNvSpPr/>
          <p:nvPr/>
        </p:nvSpPr>
        <p:spPr>
          <a:xfrm>
            <a:off x="7708392" y="48737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75%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08960" y="5093208"/>
            <a:ext cx="1508760" cy="1554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5" name="Text 43"/>
          <p:cNvSpPr/>
          <p:nvPr/>
        </p:nvSpPr>
        <p:spPr>
          <a:xfrm>
            <a:off x="4690872" y="5056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5276088"/>
            <a:ext cx="3017520" cy="15544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47" name="Text 45"/>
          <p:cNvSpPr/>
          <p:nvPr/>
        </p:nvSpPr>
        <p:spPr>
          <a:xfrm>
            <a:off x="6199632" y="5239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333488" y="1810512"/>
            <a:ext cx="0" cy="3447288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144768" y="1536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326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70%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5623560"/>
            <a:ext cx="11274552" cy="640080"/>
          </a:xfrm>
          <a:prstGeom prst="roundRect">
            <a:avLst>
              <a:gd name="adj" fmla="val 7143"/>
            </a:avLst>
          </a:prstGeom>
          <a:solidFill>
            <a:srgbClr val="132346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56235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BCO tiene el mejor ITIL · AES es la más rezagada · ninguna dimensión llega al 80% en todos los clientes.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F9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de Industria vs Mesas Actuales PersonalSoft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174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Promedio industria · World-Class · PS Mesas Actuales · Gen Next Objetivo (N3-N5)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01168" cy="16459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71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Industria promedio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88920" y="1298448"/>
            <a:ext cx="201168" cy="16459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7" name="Text 5"/>
          <p:cNvSpPr/>
          <p:nvPr/>
        </p:nvSpPr>
        <p:spPr>
          <a:xfrm>
            <a:off x="3044952" y="1271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World-Class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20640" y="1298448"/>
            <a:ext cx="201168" cy="164592"/>
          </a:xfrm>
          <a:prstGeom prst="rect">
            <a:avLst/>
          </a:prstGeom>
          <a:solidFill>
            <a:srgbClr val="8B3A0F"/>
          </a:solidFill>
          <a:ln/>
        </p:spPr>
      </p:sp>
      <p:sp>
        <p:nvSpPr>
          <p:cNvPr id="9" name="Text 7"/>
          <p:cNvSpPr/>
          <p:nvPr/>
        </p:nvSpPr>
        <p:spPr>
          <a:xfrm>
            <a:off x="5376672" y="1271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 Next N5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98448"/>
            <a:ext cx="201168" cy="1645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9"/>
          <p:cNvSpPr/>
          <p:nvPr/>
        </p:nvSpPr>
        <p:spPr>
          <a:xfrm>
            <a:off x="7708392" y="1271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 Mesas Actuales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84080" y="1298448"/>
            <a:ext cx="201168" cy="16459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40112" y="1271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 — Buena referencia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(First Contact Resolution)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892808"/>
            <a:ext cx="3200400" cy="27432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892808"/>
            <a:ext cx="2368296" cy="27432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2871216" y="18562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1671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Promedio industria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3200400" cy="27432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350008"/>
            <a:ext cx="2560320" cy="274320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23134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6243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World-Class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807208"/>
            <a:ext cx="3200400" cy="27432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807208"/>
            <a:ext cx="2720340" cy="274320"/>
          </a:xfrm>
          <a:prstGeom prst="rect">
            <a:avLst/>
          </a:prstGeom>
          <a:solidFill>
            <a:srgbClr val="8B3A0F"/>
          </a:solidFill>
          <a:ln/>
        </p:spPr>
      </p:sp>
      <p:sp>
        <p:nvSpPr>
          <p:cNvPr id="25" name="Text 23"/>
          <p:cNvSpPr/>
          <p:nvPr/>
        </p:nvSpPr>
        <p:spPr>
          <a:xfrm>
            <a:off x="3223260" y="27706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081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 Next N5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035808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0540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326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PS: 0 mesas miden FCR formalmente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Rate (N0 Autoservicio)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33672"/>
            <a:ext cx="3200400" cy="27432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233672"/>
            <a:ext cx="736092" cy="27432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079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23%  industria promedio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4690872"/>
            <a:ext cx="3200400" cy="27432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690872"/>
            <a:ext cx="1600200" cy="274320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9651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50%  maduro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5148072"/>
            <a:ext cx="3200400" cy="27432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5148072"/>
            <a:ext cx="2720340" cy="274320"/>
          </a:xfrm>
          <a:prstGeom prst="rect">
            <a:avLst/>
          </a:prstGeom>
          <a:solidFill>
            <a:srgbClr val="8B3A0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422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85%+  Gen Next IA agéntica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3474720" cy="329184"/>
          </a:xfrm>
          <a:prstGeom prst="roundRect">
            <a:avLst>
              <a:gd name="adj" fmla="val 11111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413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326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PS: 0% deflexión — ninguna mesa tiene N0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0624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(Mean Time to Resolution)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06240" y="1874520"/>
            <a:ext cx="3200400" cy="201168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3" name="Shape 41"/>
          <p:cNvSpPr/>
          <p:nvPr/>
        </p:nvSpPr>
        <p:spPr>
          <a:xfrm>
            <a:off x="4206240" y="1874520"/>
            <a:ext cx="3200400" cy="201168"/>
          </a:xfrm>
          <a:prstGeom prst="rect">
            <a:avLst/>
          </a:prstGeom>
          <a:solidFill>
            <a:srgbClr val="C0C8D2"/>
          </a:solidFill>
          <a:ln/>
        </p:spPr>
      </p:sp>
      <p:sp>
        <p:nvSpPr>
          <p:cNvPr id="44" name="Text 42"/>
          <p:cNvSpPr/>
          <p:nvPr/>
        </p:nvSpPr>
        <p:spPr>
          <a:xfrm>
            <a:off x="4206240" y="207568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Promedio · 8.85h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206240" y="2194560"/>
            <a:ext cx="3200400" cy="201168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6" name="Shape 44"/>
          <p:cNvSpPr/>
          <p:nvPr/>
        </p:nvSpPr>
        <p:spPr>
          <a:xfrm>
            <a:off x="4206240" y="2194560"/>
            <a:ext cx="1760220" cy="201168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7" name="Text 45"/>
          <p:cNvSpPr/>
          <p:nvPr/>
        </p:nvSpPr>
        <p:spPr>
          <a:xfrm>
            <a:off x="4206240" y="239572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Bueno · &lt;4h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206240" y="2514600"/>
            <a:ext cx="3200400" cy="201168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4206240" y="2514600"/>
            <a:ext cx="480060" cy="201168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50" name="Text 48"/>
          <p:cNvSpPr/>
          <p:nvPr/>
        </p:nvSpPr>
        <p:spPr>
          <a:xfrm>
            <a:off x="4206240" y="271576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World-Class · &lt;1h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206240" y="2834640"/>
            <a:ext cx="3200400" cy="201168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2" name="Shape 50"/>
          <p:cNvSpPr/>
          <p:nvPr/>
        </p:nvSpPr>
        <p:spPr>
          <a:xfrm>
            <a:off x="4206240" y="2834640"/>
            <a:ext cx="480060" cy="201168"/>
          </a:xfrm>
          <a:prstGeom prst="rect">
            <a:avLst/>
          </a:prstGeom>
          <a:solidFill>
            <a:srgbClr val="8B3A0F"/>
          </a:solidFill>
          <a:ln/>
        </p:spPr>
      </p:sp>
      <p:sp>
        <p:nvSpPr>
          <p:cNvPr id="53" name="Text 51"/>
          <p:cNvSpPr/>
          <p:nvPr/>
        </p:nvSpPr>
        <p:spPr>
          <a:xfrm>
            <a:off x="4206240" y="303580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 Next N5 · &lt;1h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206240" y="3200400"/>
            <a:ext cx="3474720" cy="155448"/>
          </a:xfrm>
          <a:prstGeom prst="roundRect">
            <a:avLst>
              <a:gd name="adj" fmla="val 17647"/>
            </a:avLst>
          </a:prstGeom>
          <a:solidFill>
            <a:srgbClr val="E8F5E9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79392" y="3200400"/>
            <a:ext cx="3364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Automatización: 2.98h ✓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206240" y="3374136"/>
            <a:ext cx="3474720" cy="155448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8B3A0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9392" y="3374136"/>
            <a:ext cx="3364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3A0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Venta Digital: 12.38h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06240" y="3547872"/>
            <a:ext cx="3474720" cy="155448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B3261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9392" y="3547872"/>
            <a:ext cx="3364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26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Canales Masivos: 17.92h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206240" y="3721608"/>
            <a:ext cx="3474720" cy="155448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B3261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79392" y="3721608"/>
            <a:ext cx="3364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26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Cotizadores: 24.58h ⚠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206240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GenAI en Métricas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206240" y="4261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↓ MTTR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126480" y="429768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/>
        </p:spPr>
      </p:sp>
      <p:sp>
        <p:nvSpPr>
          <p:cNvPr id="65" name="Text 63"/>
          <p:cNvSpPr/>
          <p:nvPr/>
        </p:nvSpPr>
        <p:spPr>
          <a:xfrm>
            <a:off x="61264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-26.6%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206240" y="4645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 Resolución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6126480" y="4681728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017490"/>
          </a:solidFill>
          <a:ln/>
        </p:spPr>
      </p:sp>
      <p:sp>
        <p:nvSpPr>
          <p:cNvPr id="68" name="Text 66"/>
          <p:cNvSpPr/>
          <p:nvPr/>
        </p:nvSpPr>
        <p:spPr>
          <a:xfrm>
            <a:off x="612648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+34.6%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206240" y="5029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 FCR con KCS+IA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6126480" y="506577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017490"/>
          </a:solidFill>
          <a:ln/>
        </p:spPr>
      </p:sp>
      <p:sp>
        <p:nvSpPr>
          <p:cNvPr id="71" name="Text 69"/>
          <p:cNvSpPr/>
          <p:nvPr/>
        </p:nvSpPr>
        <p:spPr>
          <a:xfrm>
            <a:off x="6126480" y="5065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+5-7 pts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206240" y="54132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 CSAT con espera &lt;5min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6126480" y="544982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/>
        </p:spPr>
      </p:sp>
      <p:sp>
        <p:nvSpPr>
          <p:cNvPr id="74" name="Text 72"/>
          <p:cNvSpPr/>
          <p:nvPr/>
        </p:nvSpPr>
        <p:spPr>
          <a:xfrm>
            <a:off x="6126480" y="5449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+15-22 pts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863840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Ticket (USD)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863840" y="1901952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E4E9F0"/>
          </a:solidFill>
          <a:ln/>
        </p:spPr>
      </p:sp>
      <p:sp>
        <p:nvSpPr>
          <p:cNvPr id="77" name="Text 75"/>
          <p:cNvSpPr/>
          <p:nvPr/>
        </p:nvSpPr>
        <p:spPr>
          <a:xfrm>
            <a:off x="7955280" y="1901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9144000" y="1901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N0 · Autoservicio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863840" y="2377440"/>
            <a:ext cx="2377440" cy="347472"/>
          </a:xfrm>
          <a:prstGeom prst="roundRect">
            <a:avLst>
              <a:gd name="adj" fmla="val 10526"/>
            </a:avLst>
          </a:prstGeom>
          <a:solidFill>
            <a:srgbClr val="017490"/>
          </a:solidFill>
          <a:ln/>
        </p:spPr>
      </p:sp>
      <p:sp>
        <p:nvSpPr>
          <p:cNvPr id="80" name="Text 78"/>
          <p:cNvSpPr/>
          <p:nvPr/>
        </p:nvSpPr>
        <p:spPr>
          <a:xfrm>
            <a:off x="7955280" y="2377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$22-35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9144000" y="2377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N1 · 1er contacto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863840" y="2852928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132346"/>
          </a:solidFill>
          <a:ln/>
        </p:spPr>
      </p:sp>
      <p:sp>
        <p:nvSpPr>
          <p:cNvPr id="83" name="Text 81"/>
          <p:cNvSpPr/>
          <p:nvPr/>
        </p:nvSpPr>
        <p:spPr>
          <a:xfrm>
            <a:off x="7955280" y="2852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9144000" y="2852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N2 · Técnico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863840" y="3328416"/>
            <a:ext cx="3657600" cy="347472"/>
          </a:xfrm>
          <a:prstGeom prst="roundRect">
            <a:avLst>
              <a:gd name="adj" fmla="val 10526"/>
            </a:avLst>
          </a:prstGeom>
          <a:solidFill>
            <a:srgbClr val="8B3A0F"/>
          </a:solidFill>
          <a:ln/>
        </p:spPr>
      </p:sp>
      <p:sp>
        <p:nvSpPr>
          <p:cNvPr id="86" name="Text 84"/>
          <p:cNvSpPr/>
          <p:nvPr/>
        </p:nvSpPr>
        <p:spPr>
          <a:xfrm>
            <a:off x="7955280" y="33284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9144000" y="33284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N3 · Arquitecto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863840" y="3675888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55280" y="36850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7A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↓ Shift-Left: cada punto de deflexión = ahorro $22-102 por ticket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863840" y="4151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Mesas Actuales — Costo/ticket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955280" y="437083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Cotizadores: $40  vs $35 ind. +$5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955280" y="455371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SURA Automatización: $39  vs $35 ind. +$4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955280" y="473659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326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XM Apps Críticas: $149 · 4 FTE / 90 tix ⚠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863840" y="4974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Objetivo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863840" y="5193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73-86% Industria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863840" y="5413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≥92%  Gen Next N5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863840" y="565099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55280" y="5660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26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PS: sin CSAT formal en ninguna mesa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SQM Group FCR · HDI Standard · MetricNet/HDI MTTR · Freshservice Benchmark 2024 · Giva (costos por nivel) · Kwestra ITSM ROI · SDI · Datos PS: Levantamiento interno PersonalSoft — Transcripts: Elsy Marin (SURA), Michael Arevalo (AES), Diego Serna (XM), Virginia &amp; Lina (BCO)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Económica — Costo por Ticket y Capacidad Instalada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Tix/FTE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mes COP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USD/tix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industria $35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 Cotizadores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668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84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$112.6M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$40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4A01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+$5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 Venta Digital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174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87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$28.2M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$39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4A01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+$4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 Automatización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512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85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$84.5M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$39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4A01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+$4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 Canales Masivos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171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171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$14.1M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$20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-$15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 Apps Críticas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90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22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$56.3M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$149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+$114 ⚠</a:t>
                      </a:r>
                      <a:endParaRPr lang="en-US" sz="12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5882"/>
            </a:avLst>
          </a:prstGeom>
          <a:solidFill>
            <a:srgbClr val="E4E9F0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5257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4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Fórmula:  </a:t>
            </a:r>
            <a:r>
              <a:rPr lang="en-US" sz="13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FTE × 160h × $88.000 COP ÷ tickets/mes ÷ $4.200 = USD/ticket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F9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dijeron — Voz directa de los líderes de mesa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 dolores principales son capacidad, gestión de conocimiento y disponibilidad. Los 4 chicos de soporte son mi personal clave y necesito gente muy experta.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Serna</a:t>
            </a:r>
            <a:r>
              <a:rPr lang="en-US" sz="13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XM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234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1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629400" y="16916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hay algo claro en PersonalSoft que nos determine los límites de los niveles. El servicio no fue bien vendido según ITIL.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29400" y="2880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</a:t>
            </a:r>
            <a:r>
              <a:rPr lang="en-US" sz="13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03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modelo va a cambiar al punto en que nos vamos a cargar de absolutamente toda la operación. Es una oportunidad.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349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Arévalo</a:t>
            </a:r>
            <a:r>
              <a:rPr lang="en-US" sz="13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703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629400" y="41605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Necesitamos asesoría técnica. Joan decía: aquí le sirve un Kanban, allá automatizamos con Power Apps.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29400" y="5349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Elsy Marín</a:t>
            </a:r>
            <a:r>
              <a:rPr lang="en-US" sz="13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SURA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9B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Clave — Lo que el diagnóstico revela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41148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0-30 días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Formalizar RACI y niveles en todas las mesas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Implementar CSAT básico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Documentar KEDB mínimo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 de tickets por mesa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657600" cy="41148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71600"/>
            <a:ext cx="3657600" cy="914400"/>
          </a:xfrm>
          <a:prstGeom prst="rect">
            <a:avLst/>
          </a:prstGeom>
          <a:solidFill>
            <a:srgbClr val="0072BC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9432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31-90 días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251460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Llevar todas las mesas a N3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/ XLA formalizados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Portal N0 mínimo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Piloto de automatización SURA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84464" y="1371600"/>
            <a:ext cx="3657600" cy="41148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371600"/>
            <a:ext cx="3657600" cy="9144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5" name="Text 13"/>
          <p:cNvSpPr/>
          <p:nvPr/>
        </p:nvSpPr>
        <p:spPr>
          <a:xfrm>
            <a:off x="8513064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NEXT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13064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90+ días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04504" y="251460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Autoservicio ≥ 50%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AIOps en producción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 por outcomes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Referente del sector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F9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sigue? — Ruta hacia Gen Next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10543032" cy="0"/>
          </a:xfrm>
          <a:prstGeom prst="line">
            <a:avLst/>
          </a:prstGeom>
          <a:noFill/>
          <a:ln w="25400">
            <a:solidFill>
              <a:srgbClr val="3A4C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3916" y="2139696"/>
            <a:ext cx="292608" cy="29260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C2E5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718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Diagnóstico completo ✓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Levantamiento 11 mesas 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03420" y="2139696"/>
            <a:ext cx="292608" cy="292608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9" name="Text 7"/>
          <p:cNvSpPr/>
          <p:nvPr/>
        </p:nvSpPr>
        <p:spPr>
          <a:xfrm>
            <a:off x="3346704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46704" y="27432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C2E52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29718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Diseño del servicio Gen Next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Catálogo · RACI · SLA/XLA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92924" y="2139696"/>
            <a:ext cx="292608" cy="292608"/>
          </a:xfrm>
          <a:prstGeom prst="ellipse">
            <a:avLst/>
          </a:prstGeom>
          <a:solidFill>
            <a:srgbClr val="01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1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Sep-Oct 2026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6208" y="27432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C2E52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29718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Implementación piloto (1 mesa)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KEDB ·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82428" y="2139696"/>
            <a:ext cx="292608" cy="29260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9125712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2026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25712" y="27432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C2E52"/>
          </a:solidFill>
          <a:ln/>
        </p:spPr>
      </p:sp>
      <p:sp>
        <p:nvSpPr>
          <p:cNvPr id="19" name="Text 17"/>
          <p:cNvSpPr/>
          <p:nvPr/>
        </p:nvSpPr>
        <p:spPr>
          <a:xfrm>
            <a:off x="9354312" y="29718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Wave 1 completo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Todas las mesas en N3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11274552" cy="685800"/>
          </a:xfrm>
          <a:prstGeom prst="roundRect">
            <a:avLst>
              <a:gd name="adj" fmla="val 6667"/>
            </a:avLst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2064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4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Wave 1: las 11 mesas en N3 antes de Diciembre 2026 — base para el servicio Gen Next.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9B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2009</Words>
  <Application>Microsoft Office PowerPoint</Application>
  <PresentationFormat>Panorámica</PresentationFormat>
  <Paragraphs>341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Zartha Suarez</cp:lastModifiedBy>
  <cp:revision>2</cp:revision>
  <dcterms:created xsi:type="dcterms:W3CDTF">2026-07-14T17:04:34Z</dcterms:created>
  <dcterms:modified xsi:type="dcterms:W3CDTF">2026-07-14T17:15:59Z</dcterms:modified>
</cp:coreProperties>
</file>