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Urbanist Medium"/>
      <p:regular r:id="rId22"/>
      <p:bold r:id="rId23"/>
      <p:italic r:id="rId24"/>
      <p:boldItalic r:id="rId25"/>
    </p:embeddedFont>
    <p:embeddedFont>
      <p:font typeface="Urbanis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7DED2D-289C-47F1-AAA4-BD76FF997FBC}">
  <a:tblStyle styleId="{997DED2D-289C-47F1-AAA4-BD76FF997FB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UrbanistMedium-regular.fntdata"/><Relationship Id="rId21" Type="http://schemas.openxmlformats.org/officeDocument/2006/relationships/slide" Target="slides/slide15.xml"/><Relationship Id="rId24" Type="http://schemas.openxmlformats.org/officeDocument/2006/relationships/font" Target="fonts/UrbanistMedium-italic.fntdata"/><Relationship Id="rId23" Type="http://schemas.openxmlformats.org/officeDocument/2006/relationships/font" Target="fonts/Urbanist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regular.fntdata"/><Relationship Id="rId25" Type="http://schemas.openxmlformats.org/officeDocument/2006/relationships/font" Target="fonts/UrbanistMedium-boldItalic.fntdata"/><Relationship Id="rId28" Type="http://schemas.openxmlformats.org/officeDocument/2006/relationships/font" Target="fonts/Urbanist-italic.fntdata"/><Relationship Id="rId27" Type="http://schemas.openxmlformats.org/officeDocument/2006/relationships/font" Target="fonts/Urbanis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7.png"/><Relationship Id="rId13" Type="http://schemas.openxmlformats.org/officeDocument/2006/relationships/image" Target="../media/image8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Relationship Id="rId4" Type="http://schemas.openxmlformats.org/officeDocument/2006/relationships/image" Target="../media/image10.png"/><Relationship Id="rId9" Type="http://schemas.openxmlformats.org/officeDocument/2006/relationships/image" Target="../media/image5.png"/><Relationship Id="rId14" Type="http://schemas.openxmlformats.org/officeDocument/2006/relationships/image" Target="../media/image26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22.png"/><Relationship Id="rId13" Type="http://schemas.openxmlformats.org/officeDocument/2006/relationships/image" Target="../media/image17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Relationship Id="rId4" Type="http://schemas.openxmlformats.org/officeDocument/2006/relationships/image" Target="../media/image4.png"/><Relationship Id="rId9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4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30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21.png"/><Relationship Id="rId9" Type="http://schemas.openxmlformats.org/officeDocument/2006/relationships/image" Target="../media/image18.png"/><Relationship Id="rId5" Type="http://schemas.openxmlformats.org/officeDocument/2006/relationships/image" Target="../media/image25.png"/><Relationship Id="rId6" Type="http://schemas.openxmlformats.org/officeDocument/2006/relationships/image" Target="../media/image12.png"/><Relationship Id="rId7" Type="http://schemas.openxmlformats.org/officeDocument/2006/relationships/image" Target="../media/image6.png"/><Relationship Id="rId8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.png"/><Relationship Id="rId10" Type="http://schemas.openxmlformats.org/officeDocument/2006/relationships/image" Target="../media/image18.png"/><Relationship Id="rId13" Type="http://schemas.openxmlformats.org/officeDocument/2006/relationships/image" Target="../media/image27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21.png"/><Relationship Id="rId9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Relationship Id="rId8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38.png"/><Relationship Id="rId13" Type="http://schemas.openxmlformats.org/officeDocument/2006/relationships/image" Target="../media/image37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44.png"/><Relationship Id="rId9" Type="http://schemas.openxmlformats.org/officeDocument/2006/relationships/image" Target="../media/image33.png"/><Relationship Id="rId14" Type="http://schemas.openxmlformats.org/officeDocument/2006/relationships/image" Target="../media/image32.png"/><Relationship Id="rId5" Type="http://schemas.openxmlformats.org/officeDocument/2006/relationships/image" Target="../media/image31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Relationship Id="rId8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4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Relationship Id="rId4" Type="http://schemas.openxmlformats.org/officeDocument/2006/relationships/image" Target="../media/image4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895475"/>
            <a:ext cx="8839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DOCUMENTO ESTRATÉGICO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428875"/>
            <a:ext cx="928116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Caracterización de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2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Mesas de Servicio</a:t>
            </a:r>
            <a:r>
              <a:rPr b="1" i="0" lang="en-US" sz="5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2026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086225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Diseño e Implementación de Modelo Estandarizado de Nueva Generación.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Levantamiento y completitud de datos operacionales (Versión Completa).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633662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990736" y="2976562"/>
            <a:ext cx="4210526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Cliente </a:t>
            </a:r>
            <a:r>
              <a:rPr b="1" i="0" lang="en-US" sz="52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SURA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928937" y="3976687"/>
            <a:ext cx="6334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Completando la Operación de Venta Digital y Canales Masivos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5286375" cy="601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52575"/>
            <a:ext cx="5286375" cy="601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486150"/>
            <a:ext cx="469582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5257800"/>
            <a:ext cx="4695825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3486150"/>
            <a:ext cx="469582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5257800"/>
            <a:ext cx="4695825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866775" y="1847850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Venta Digital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66775" y="282892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Volumetría: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174 Tickets/mes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Apps: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 portal digital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629400" y="1847850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Canales Masivos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629400" y="282892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Volumetría: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171 Tickets/mes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Apps: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3 canales (Email, SMS, Notificaciones)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75" y="2314575"/>
            <a:ext cx="8858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885950" y="2314575"/>
            <a:ext cx="11620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81350" y="2314575"/>
            <a:ext cx="6667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66775" y="3638550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Contexto Operacional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66775" y="3971925"/>
            <a:ext cx="46958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Soporte a canal digital de venta y análisis de causa raíz. Operado a través de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BMC Helix ITSM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Promedio de 77 tickets resueltos por agente al mes. Backlog promedio: 12 tickets.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66775" y="5410200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Urbanist"/>
                <a:ea typeface="Urbanist"/>
                <a:cs typeface="Urbanist"/>
                <a:sym typeface="Urbanist"/>
              </a:rPr>
              <a:t>Brechas Críticas Identificadas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29400" y="2314575"/>
            <a:ext cx="8953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658100" y="2314575"/>
            <a:ext cx="11715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963025" y="2314575"/>
            <a:ext cx="12382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629400" y="3638550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Contexto Operacional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629400" y="3971925"/>
            <a:ext cx="46958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Operación de renovaciones y cancelaciones masivas de pólizas. Soporte a automatizaciones (Power Automate, PowerApps). Herramienta: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BMC Helix ITSM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Promedio de 142 tickets resueltos por este único agente/mes.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629400" y="5410200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Urbanist"/>
                <a:ea typeface="Urbanist"/>
                <a:cs typeface="Urbanist"/>
                <a:sym typeface="Urbanist"/>
              </a:rPr>
              <a:t>Brechas Críticas Identificadas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19175" y="58483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19175" y="61341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019175" y="64198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019175" y="6705600"/>
            <a:ext cx="38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781800" y="58483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819900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Bus factor crítico (1 único FTE).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781800" y="61341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819900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(extrema volatilidad).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781800" y="64198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819900" y="6419850"/>
            <a:ext cx="45053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D20: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Dimensionamiento sin modelo (sobrecarga total).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SURA: Venta Digital y Canales Masivos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5286375" cy="5162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52575"/>
            <a:ext cx="5286375" cy="5162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486150"/>
            <a:ext cx="469582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4972050"/>
            <a:ext cx="4695825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3486150"/>
            <a:ext cx="469582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4972050"/>
            <a:ext cx="4695825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866775" y="1847850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Cotizadores (Plataformas)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66775" y="282892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Volumetría: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668 Tickets/mes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Apps: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 plataforma core suscripción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629400" y="1847850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Automatización (Estrella)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629400" y="282892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Volumetría: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512 Tickets/mes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Apps: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4 (Automate, PowerApps, etc.)</a:t>
            </a:r>
            <a:endParaRPr/>
          </a:p>
        </p:txBody>
      </p:sp>
      <p:pic>
        <p:nvPicPr>
          <p:cNvPr descr="image.png" id="154" name="Google Shape;15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314575"/>
            <a:ext cx="9048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05000" y="2314575"/>
            <a:ext cx="12096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48025" y="2314575"/>
            <a:ext cx="6667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866775" y="3638550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Contexto Operacional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66775" y="3971925"/>
            <a:ext cx="46958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Operación de plataforma de cotizadores para venta de seguros. Herramienta: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BMC Helix ITSM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Backlog promedio alto: 65 tickets.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66775" y="5124450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Urbanist"/>
                <a:ea typeface="Urbanist"/>
                <a:cs typeface="Urbanist"/>
                <a:sym typeface="Urbanist"/>
              </a:rPr>
              <a:t>Brechas Críticas Identificadas</a:t>
            </a:r>
            <a:endParaRPr/>
          </a:p>
        </p:txBody>
      </p:sp>
      <p:pic>
        <p:nvPicPr>
          <p:cNvPr descr="image.png" id="160" name="Google Shape;160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29400" y="2314575"/>
            <a:ext cx="8953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658100" y="2314575"/>
            <a:ext cx="11239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915400" y="2314575"/>
            <a:ext cx="6667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6629400" y="3638550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Contexto Operacional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629400" y="3971925"/>
            <a:ext cx="46958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Soporte y operación de automatizaciones. Excelente desempeño, sirve como referente interno. 35% del volumen son requerimientos (mejora continua).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629400" y="5124450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Urbanist"/>
                <a:ea typeface="Urbanist"/>
                <a:cs typeface="Urbanist"/>
                <a:sym typeface="Urbanist"/>
              </a:rPr>
              <a:t>Brechas Críticas Identificadas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1019175" y="55626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1057275" y="55626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— el peor desempeño.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1019175" y="58483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D3: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N0 ni autoservicio activo.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1019175" y="61341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D13: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roles definidos N1/N2/N3.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6781800" y="55626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6819900" y="55626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D3: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autoservicio (todo entra por call).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6781800" y="58483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6819900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(modernizaciones como incidentes).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6781800" y="61341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6819900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D20: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Dimensionamiento sin modelo de demanda.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SURA: Cotizadores y Automatización</a:t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/>
          <p:nvPr/>
        </p:nvSpPr>
        <p:spPr>
          <a:xfrm>
            <a:off x="5524500" y="2633662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2865596" y="2976562"/>
            <a:ext cx="646080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Cliente </a:t>
            </a:r>
            <a:r>
              <a:rPr b="1" i="0" lang="en-US" sz="52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Bancolombia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3500437" y="3976687"/>
            <a:ext cx="5191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Completando la Operación de los 5 COES en Nivel 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5286375" cy="573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52575"/>
            <a:ext cx="5286375" cy="573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486150"/>
            <a:ext cx="469582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5257800"/>
            <a:ext cx="4695825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3486150"/>
            <a:ext cx="469582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5257800"/>
            <a:ext cx="4695825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866775" y="1847850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COES Integración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866775" y="282892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Volumetría: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700 - 3,000 Tickets/mes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Apps: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~15 APIs / integraciones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629400" y="1847850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COES Datos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6629400" y="282892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Volumetría: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700 - 3,000 Tickets/mes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Apps: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~8 fuentes de datos</a:t>
            </a:r>
            <a:endParaRPr/>
          </a:p>
        </p:txBody>
      </p:sp>
      <p:pic>
        <p:nvPicPr>
          <p:cNvPr descr="image.png" id="203" name="Google Shape;20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314575"/>
            <a:ext cx="13906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90775" y="2314575"/>
            <a:ext cx="1352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76675" y="2314575"/>
            <a:ext cx="6667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 txBox="1"/>
          <p:nvPr/>
        </p:nvSpPr>
        <p:spPr>
          <a:xfrm>
            <a:off x="866775" y="3638550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Contexto Operacional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866775" y="3971925"/>
            <a:ext cx="46958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Servicios de integración para COES Bancolombia. Herramienta de gestión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Helix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(propiedad del cliente). Disponibilidad exigida: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24x7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Promedio de resolución: 80-250 casos por agente/mes.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866775" y="5410200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Urbanist"/>
                <a:ea typeface="Urbanist"/>
                <a:cs typeface="Urbanist"/>
                <a:sym typeface="Urbanist"/>
              </a:rPr>
              <a:t>Brechas Críticas Identificadas</a:t>
            </a:r>
            <a:endParaRPr/>
          </a:p>
        </p:txBody>
      </p:sp>
      <p:pic>
        <p:nvPicPr>
          <p:cNvPr descr="image.png" id="209" name="Google Shape;20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2314575"/>
            <a:ext cx="13906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53400" y="2314575"/>
            <a:ext cx="1352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39300" y="2314575"/>
            <a:ext cx="6667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6629400" y="3638550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Contexto Operacional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6629400" y="3971925"/>
            <a:ext cx="46958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Servicios de datos para COES Bancolombia. Gestión a través de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Helix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(Bancolombia). Disponibilidad: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24x7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Promedio de resolución: 80-250 casos por agente al mes.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6629400" y="5410200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Urbanist"/>
                <a:ea typeface="Urbanist"/>
                <a:cs typeface="Urbanist"/>
                <a:sym typeface="Urbanist"/>
              </a:rPr>
              <a:t>Brechas Críticas Identificadas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1019175" y="58483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1057275" y="5848350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D20: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Dimensionamiento sin modelo estandarizado (criterio experto individual).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1019175" y="64198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(alta variabilidad).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1019175" y="6705600"/>
            <a:ext cx="38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D23: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Recargo económico por jornada 24x7.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6781800" y="58483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6819900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D20: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Dimensionamiento sin modelo estandarizado.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6781800" y="61341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6819900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Volumetría altamente variable y no controlada.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6781800" y="64198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6819900" y="6419850"/>
            <a:ext cx="45053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D23: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Recargo económico por jornada extendida 24x7 no planificada inicialmente.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Bancolombia: Integración y Datos</a:t>
            </a:r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5286375" cy="573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52575"/>
            <a:ext cx="5286375" cy="573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486150"/>
            <a:ext cx="469582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5257800"/>
            <a:ext cx="4695825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3486150"/>
            <a:ext cx="469582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5257800"/>
            <a:ext cx="4695825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9"/>
          <p:cNvSpPr txBox="1"/>
          <p:nvPr/>
        </p:nvSpPr>
        <p:spPr>
          <a:xfrm>
            <a:off x="866775" y="1847850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COES Soporte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866775" y="282892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Volumetría: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700 - 3,000 Tickets/mes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Apps: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Soporte transversal (sin apps propias)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6629400" y="1847850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COES Emma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6629400" y="282892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Volumetría: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700 - 3,000 Tickets/mes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Apps: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 plataforma Emma + integraciones</a:t>
            </a:r>
            <a:endParaRPr/>
          </a:p>
        </p:txBody>
      </p:sp>
      <p:pic>
        <p:nvPicPr>
          <p:cNvPr descr="image.png" id="244" name="Google Shape;244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75" y="2314575"/>
            <a:ext cx="13906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90775" y="2314575"/>
            <a:ext cx="1352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76675" y="2314575"/>
            <a:ext cx="7048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9"/>
          <p:cNvSpPr txBox="1"/>
          <p:nvPr/>
        </p:nvSpPr>
        <p:spPr>
          <a:xfrm>
            <a:off x="866775" y="3638550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Contexto Operacional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866775" y="3971925"/>
            <a:ext cx="46958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Soporte transversal a través de los COES de Bancolombia. El cliente provee la herramienta ITSM (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Helix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). Requiere disponibilidad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24x7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Resolución de 80 a 250 casos/agente/mes.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866775" y="5410200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Urbanist"/>
                <a:ea typeface="Urbanist"/>
                <a:cs typeface="Urbanist"/>
                <a:sym typeface="Urbanist"/>
              </a:rPr>
              <a:t>Brechas Críticas Identificadas</a:t>
            </a:r>
            <a:endParaRPr/>
          </a:p>
        </p:txBody>
      </p:sp>
      <p:pic>
        <p:nvPicPr>
          <p:cNvPr descr="image.png" id="250" name="Google Shape;25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29400" y="2314575"/>
            <a:ext cx="13906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53400" y="2314575"/>
            <a:ext cx="1352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639300" y="2314575"/>
            <a:ext cx="6667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9"/>
          <p:cNvSpPr txBox="1"/>
          <p:nvPr/>
        </p:nvSpPr>
        <p:spPr>
          <a:xfrm>
            <a:off x="6629400" y="3638550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Contexto Operacional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6629400" y="3971925"/>
            <a:ext cx="46958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Servicios enfocados en la plataforma Emma para los COES. Herramienta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Helix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propiedad del banco. Exigencia de soporte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24x7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Promedio de resolución: 80-250 casos/agente/mes.</a:t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6629400" y="5410200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Urbanist"/>
                <a:ea typeface="Urbanist"/>
                <a:cs typeface="Urbanist"/>
                <a:sym typeface="Urbanist"/>
              </a:rPr>
              <a:t>Brechas Críticas Identificadas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1019175" y="58483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D20: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Dimensionamiento sin modelo estandarizado.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1019175" y="61341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ejecutado.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1019175" y="64198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D23: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Recargo económico por jornada 24x7.</a:t>
            </a:r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6781800" y="58483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6819900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D20: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Dimensionamiento sin modelo estandarizado.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6781800" y="61341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6819900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Alta variabilidad en la volumetría real.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6781800" y="64198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6819900" y="6419850"/>
            <a:ext cx="45053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D23: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Recargo económico no planificado por horario 24x7.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Bancolombia: Soporte y Emma</a:t>
            </a:r>
            <a:endParaRPr/>
          </a:p>
        </p:txBody>
      </p:sp>
      <p:sp>
        <p:nvSpPr>
          <p:cNvPr id="269" name="Google Shape;269;p19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5286375" cy="5448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52575"/>
            <a:ext cx="5286375" cy="5448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486150"/>
            <a:ext cx="469582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5257800"/>
            <a:ext cx="4695825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0"/>
          <p:cNvSpPr txBox="1"/>
          <p:nvPr/>
        </p:nvSpPr>
        <p:spPr>
          <a:xfrm>
            <a:off x="866775" y="1847850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COES Emma iSeries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866775" y="282892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Volumetría: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700 - 3,000 Tickets/mes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Apps: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 sistema iSeries/AS400 (legado)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6512004" y="2990850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Resumen Transversal BCO (N1)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6629400" y="345757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Condiciones contractuales y operativas idénticas en las 5 mesas (32 FTE en total):</a:t>
            </a:r>
            <a:endParaRPr/>
          </a:p>
        </p:txBody>
      </p:sp>
      <p:pic>
        <p:nvPicPr>
          <p:cNvPr descr="image.png" id="283" name="Google Shape;28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314575"/>
            <a:ext cx="13906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90775" y="2314575"/>
            <a:ext cx="1352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76675" y="2314575"/>
            <a:ext cx="12382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0"/>
          <p:cNvSpPr txBox="1"/>
          <p:nvPr/>
        </p:nvSpPr>
        <p:spPr>
          <a:xfrm>
            <a:off x="866775" y="3638550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Contexto Operacional</a:t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866775" y="3971925"/>
            <a:ext cx="46958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Soporte a sistemas legados iSeries/AS400. Operación bajo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Helix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Obligación de soporte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24x7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gestionada por un solo recurso, lo que eleva significativamente el riesgo operacional.</a:t>
            </a: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866775" y="5410200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Urbanist"/>
                <a:ea typeface="Urbanist"/>
                <a:cs typeface="Urbanist"/>
                <a:sym typeface="Urbanist"/>
              </a:rPr>
              <a:t>Brechas Críticas Identificadas</a:t>
            </a:r>
            <a:endParaRPr/>
          </a:p>
        </p:txBody>
      </p:sp>
      <p:pic>
        <p:nvPicPr>
          <p:cNvPr descr="image.png" id="289" name="Google Shape;289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91562" y="20383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0"/>
          <p:cNvSpPr txBox="1"/>
          <p:nvPr/>
        </p:nvSpPr>
        <p:spPr>
          <a:xfrm>
            <a:off x="6819900" y="4210050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Herramienta del Cliente: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Helix es propiedad del Banco, limitando la parametrización de PS.</a:t>
            </a:r>
            <a:endParaRPr/>
          </a:p>
        </p:txBody>
      </p:sp>
      <p:sp>
        <p:nvSpPr>
          <p:cNvPr id="291" name="Google Shape;291;p20"/>
          <p:cNvSpPr txBox="1"/>
          <p:nvPr/>
        </p:nvSpPr>
        <p:spPr>
          <a:xfrm>
            <a:off x="6819900" y="4876800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Acuerdos (SLA):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No existe SLA formal de PS. Operación rige por ANS internos del Banco.</a:t>
            </a:r>
            <a:endParaRPr/>
          </a:p>
        </p:txBody>
      </p:sp>
      <p:sp>
        <p:nvSpPr>
          <p:cNvPr id="292" name="Google Shape;292;p20"/>
          <p:cNvSpPr txBox="1"/>
          <p:nvPr/>
        </p:nvSpPr>
        <p:spPr>
          <a:xfrm>
            <a:off x="6819900" y="5543550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Dolor Transversal: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Recargos económicos 24x7 (D23) y asignación a criterio experto sin modelo de demanda (D20).</a:t>
            </a: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1019175" y="58483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Bus factor crítico (conocimiento en 1 persona).</a:t>
            </a:r>
            <a:endParaRPr/>
          </a:p>
        </p:txBody>
      </p:sp>
      <p:sp>
        <p:nvSpPr>
          <p:cNvPr id="295" name="Google Shape;295;p20"/>
          <p:cNvSpPr txBox="1"/>
          <p:nvPr/>
        </p:nvSpPr>
        <p:spPr>
          <a:xfrm>
            <a:off x="1019175" y="61341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6" name="Google Shape;296;p20"/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D20: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Dimensionamiento sin modelo.</a:t>
            </a:r>
            <a:endParaRPr/>
          </a:p>
        </p:txBody>
      </p:sp>
      <p:sp>
        <p:nvSpPr>
          <p:cNvPr id="297" name="Google Shape;297;p20"/>
          <p:cNvSpPr txBox="1"/>
          <p:nvPr/>
        </p:nvSpPr>
        <p:spPr>
          <a:xfrm>
            <a:off x="1019175" y="64198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8" name="Google Shape;298;p20"/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D23: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Recargo económico por jornada extendida.</a:t>
            </a:r>
            <a:endParaRPr/>
          </a:p>
        </p:txBody>
      </p:sp>
      <p:pic>
        <p:nvPicPr>
          <p:cNvPr descr="image.png" id="299" name="Google Shape;299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19900" y="42529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819900" y="491966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819900" y="558641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0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Bancolombia: Emma iSeries y Resumen Global N1</a:t>
            </a:r>
            <a:endParaRPr/>
          </a:p>
        </p:txBody>
      </p:sp>
      <p:sp>
        <p:nvSpPr>
          <p:cNvPr id="303" name="Google Shape;303;p20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8" name="Google Shape;3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11049000" cy="3838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0" name="Google Shape;310;p21"/>
          <p:cNvGraphicFramePr/>
          <p:nvPr/>
        </p:nvGraphicFramePr>
        <p:xfrm>
          <a:off x="581025" y="1562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{997DED2D-289C-47F1-AAA4-BD76FF997FBC}</a:tableStyleId>
              </a:tblPr>
              <a:tblGrid>
                <a:gridCol w="1909175"/>
                <a:gridCol w="916325"/>
                <a:gridCol w="1745450"/>
                <a:gridCol w="1418175"/>
                <a:gridCol w="1625500"/>
                <a:gridCol w="3415300"/>
              </a:tblGrid>
              <a:tr h="63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Tickets/mes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MTTR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SLA (Rige)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Aplicaciones (Soportadas)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3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Integración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700 - 3,000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30m - 3h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ANS Banco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~15 APIs / integraciones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700 - 3,000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30m - 3h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ANS Banco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~8 fuentes de datos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Soporte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700 - 3,000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30m - 3h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ANS Banco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Transversal (sin apps propias)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Emma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700 - 3,000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30m - 3h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ANS Banco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 plataforma Emma + int.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Emma iSeries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700 - 3,000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30m - 3h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ANS Banco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 sistema iSeries/AS400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1" name="Google Shape;311;p21"/>
          <p:cNvSpPr/>
          <p:nvPr/>
        </p:nvSpPr>
        <p:spPr>
          <a:xfrm>
            <a:off x="581025" y="2185987"/>
            <a:ext cx="19091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2490192" y="2185987"/>
            <a:ext cx="9163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3406526" y="2185987"/>
            <a:ext cx="17454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5151983" y="2185987"/>
            <a:ext cx="14181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6570166" y="2185987"/>
            <a:ext cx="1625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8195667" y="2185987"/>
            <a:ext cx="34153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581025" y="2824162"/>
            <a:ext cx="19091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2490192" y="2824162"/>
            <a:ext cx="9163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3406526" y="2824162"/>
            <a:ext cx="17454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5151983" y="2824162"/>
            <a:ext cx="14181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6570166" y="2824162"/>
            <a:ext cx="1625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8195667" y="2824162"/>
            <a:ext cx="34153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581025" y="3462337"/>
            <a:ext cx="19091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2490192" y="3462337"/>
            <a:ext cx="9163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3406526" y="3462337"/>
            <a:ext cx="17454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5151983" y="3462337"/>
            <a:ext cx="14181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6570166" y="3462337"/>
            <a:ext cx="1625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8195667" y="3462337"/>
            <a:ext cx="34153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581025" y="4100512"/>
            <a:ext cx="19091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1"/>
          <p:cNvSpPr/>
          <p:nvPr/>
        </p:nvSpPr>
        <p:spPr>
          <a:xfrm>
            <a:off x="2490192" y="4100512"/>
            <a:ext cx="9163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3406526" y="4100512"/>
            <a:ext cx="17454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5151983" y="4100512"/>
            <a:ext cx="14181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6570166" y="4100512"/>
            <a:ext cx="1625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8195667" y="4100512"/>
            <a:ext cx="34153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581025" y="4738687"/>
            <a:ext cx="19091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2490192" y="4738687"/>
            <a:ext cx="9163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3406526" y="4738687"/>
            <a:ext cx="17454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5151983" y="4738687"/>
            <a:ext cx="14181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6570166" y="4738687"/>
            <a:ext cx="1625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8195667" y="4738687"/>
            <a:ext cx="34153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Bancolombia: Volumetría y Aplicaciones Consolidadas</a:t>
            </a:r>
            <a:endParaRPr/>
          </a:p>
        </p:txBody>
      </p:sp>
      <p:sp>
        <p:nvSpPr>
          <p:cNvPr id="342" name="Google Shape;342;p21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7" name="Google Shape;3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11049000" cy="5237857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2"/>
          <p:cNvSpPr txBox="1"/>
          <p:nvPr/>
        </p:nvSpPr>
        <p:spPr>
          <a:xfrm>
            <a:off x="571500" y="6076057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Las mesas críticas de SURA superan el benchmark de la industria ($35). Alcanzar la meta Gen Next N3 ($15) generaría ahorros superiores a $33,000 USD/mes.</a:t>
            </a:r>
            <a:endParaRPr/>
          </a:p>
        </p:txBody>
      </p:sp>
      <p:pic>
        <p:nvPicPr>
          <p:cNvPr descr="image.png" id="350" name="Google Shape;35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4957" y="5172075"/>
            <a:ext cx="3342084" cy="618232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2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Análisis Financiero: Costo USD / Ticket</a:t>
            </a:r>
            <a:endParaRPr/>
          </a:p>
        </p:txBody>
      </p:sp>
      <p:sp>
        <p:nvSpPr>
          <p:cNvPr id="352" name="Google Shape;352;p22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7" name="Google Shape;3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11049000" cy="528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3"/>
          <p:cNvSpPr txBox="1"/>
          <p:nvPr/>
        </p:nvSpPr>
        <p:spPr>
          <a:xfrm>
            <a:off x="571500" y="6124575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 operación de Bancolombia concentra más del 50% de la fuerza laboral evaluada (57 FTE totales), requiriendo modelos de estandarización urgentes para habilitar escalabilidad.</a:t>
            </a:r>
            <a:endParaRPr/>
          </a:p>
        </p:txBody>
      </p:sp>
      <p:sp>
        <p:nvSpPr>
          <p:cNvPr id="360" name="Google Shape;360;p23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Distribución de Capacidad (FTE por Cliente)</a:t>
            </a:r>
            <a:endParaRPr/>
          </a:p>
        </p:txBody>
      </p:sp>
      <p:sp>
        <p:nvSpPr>
          <p:cNvPr id="361" name="Google Shape;361;p23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6" name="Google Shape;36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4"/>
          <p:cNvSpPr txBox="1"/>
          <p:nvPr/>
        </p:nvSpPr>
        <p:spPr>
          <a:xfrm>
            <a:off x="571500" y="571500"/>
            <a:ext cx="555069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Evolución Estratégica</a:t>
            </a:r>
            <a:endParaRPr/>
          </a:p>
        </p:txBody>
      </p:sp>
      <p:pic>
        <p:nvPicPr>
          <p:cNvPr descr="image.png" id="368" name="Google Shape;36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4"/>
          <p:cNvSpPr txBox="1"/>
          <p:nvPr/>
        </p:nvSpPr>
        <p:spPr>
          <a:xfrm>
            <a:off x="571500" y="231933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Hacia la Nueva Generación</a:t>
            </a:r>
            <a:endParaRPr/>
          </a:p>
        </p:txBody>
      </p:sp>
      <p:sp>
        <p:nvSpPr>
          <p:cNvPr id="370" name="Google Shape;370;p24"/>
          <p:cNvSpPr txBox="1"/>
          <p:nvPr/>
        </p:nvSpPr>
        <p:spPr>
          <a:xfrm>
            <a:off x="571500" y="2967037"/>
            <a:ext cx="52863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 caracterización completa demuestra la necesidad imperativa de migrar las operaciones N1/N2 hacia mesas N3 impulsadas por IA agéntica.</a:t>
            </a:r>
            <a:endParaRPr/>
          </a:p>
        </p:txBody>
      </p:sp>
      <p:sp>
        <p:nvSpPr>
          <p:cNvPr id="371" name="Google Shape;371;p24"/>
          <p:cNvSpPr txBox="1"/>
          <p:nvPr/>
        </p:nvSpPr>
        <p:spPr>
          <a:xfrm>
            <a:off x="571500" y="4052887"/>
            <a:ext cx="5286375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 estandarización de aplicaciones, la reducción drástica de MTTR y la implementación de modelos outcome-based (XLA) garantizarán que el soporte tecnológico deje de ser un centro de costos.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6" name="Google Shape;3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2090737"/>
            <a:ext cx="8839200" cy="26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5"/>
          <p:cNvSpPr txBox="1"/>
          <p:nvPr/>
        </p:nvSpPr>
        <p:spPr>
          <a:xfrm>
            <a:off x="1965483" y="2576512"/>
            <a:ext cx="82610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Blueprint Next Gen</a:t>
            </a:r>
            <a:endParaRPr/>
          </a:p>
        </p:txBody>
      </p:sp>
      <p:sp>
        <p:nvSpPr>
          <p:cNvPr id="379" name="Google Shape;379;p25"/>
          <p:cNvSpPr txBox="1"/>
          <p:nvPr/>
        </p:nvSpPr>
        <p:spPr>
          <a:xfrm>
            <a:off x="2162175" y="3452812"/>
            <a:ext cx="78676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Transformando el soporte de TI en una ventaja competitiva sostenible a través de la observabilidad, autonomía de agentes IA y experiencia digital.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4" name="Google Shape;38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6"/>
          <p:cNvSpPr txBox="1"/>
          <p:nvPr/>
        </p:nvSpPr>
        <p:spPr>
          <a:xfrm>
            <a:off x="295275" y="476250"/>
            <a:ext cx="11601450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¿Preguntas?</a:t>
            </a:r>
            <a:endParaRPr/>
          </a:p>
        </p:txBody>
      </p:sp>
      <p:sp>
        <p:nvSpPr>
          <p:cNvPr id="386" name="Google Shape;386;p26"/>
          <p:cNvSpPr txBox="1"/>
          <p:nvPr/>
        </p:nvSpPr>
        <p:spPr>
          <a:xfrm>
            <a:off x="571500" y="170497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Final del Levantamiento Operacional.</a:t>
            </a:r>
            <a:endParaRPr/>
          </a:p>
        </p:txBody>
      </p:sp>
      <p:sp>
        <p:nvSpPr>
          <p:cNvPr id="387" name="Google Shape;387;p26"/>
          <p:cNvSpPr txBox="1"/>
          <p:nvPr/>
        </p:nvSpPr>
        <p:spPr>
          <a:xfrm>
            <a:off x="571500" y="248602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Diseño de Mesas de Servicio de Nueva Generación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2" name="Google Shape;39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1704975"/>
            <a:ext cx="5715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7"/>
          <p:cNvSpPr txBox="1"/>
          <p:nvPr/>
        </p:nvSpPr>
        <p:spPr>
          <a:xfrm>
            <a:off x="952500" y="5591175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https://media.istockphoto.com/id/2242395790/vector/abstract-big-data-analytics-visualization-dashboard-interface-futuristic-digital-technology.jpg?s=612x612&amp;w=0&amp;k=20&amp;c=O-7elnqtLRSlpMXGNDTOhSZ37scU3WyWKF5Tk98CgrA=</a:t>
            </a:r>
            <a:endParaRPr/>
          </a:p>
        </p:txBody>
      </p:sp>
      <p:sp>
        <p:nvSpPr>
          <p:cNvPr id="395" name="Google Shape;395;p27"/>
          <p:cNvSpPr txBox="1"/>
          <p:nvPr/>
        </p:nvSpPr>
        <p:spPr>
          <a:xfrm>
            <a:off x="952500" y="6305550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500" u="none" cap="none" strike="noStrike">
                <a:solidFill>
                  <a:srgbClr val="0000EE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pic>
        <p:nvPicPr>
          <p:cNvPr descr="image.png" id="396" name="Google Shape;39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6734175"/>
            <a:ext cx="5715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7"/>
          <p:cNvSpPr txBox="1"/>
          <p:nvPr/>
        </p:nvSpPr>
        <p:spPr>
          <a:xfrm>
            <a:off x="952500" y="10620375"/>
            <a:ext cx="10668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https://elements-resized.envatousercontent.com/elements-video-cover-images/files/252675813/Preview.jpg?w=500&amp;cf_fit=cover&amp;q=85&amp;format=auto&amp;s=da84db80fa922b42fd3aaf5b9b944bac0606f80c362dadd059b77114eaae6c6a</a:t>
            </a:r>
            <a:endParaRPr/>
          </a:p>
        </p:txBody>
      </p:sp>
      <p:sp>
        <p:nvSpPr>
          <p:cNvPr id="398" name="Google Shape;398;p27"/>
          <p:cNvSpPr txBox="1"/>
          <p:nvPr/>
        </p:nvSpPr>
        <p:spPr>
          <a:xfrm>
            <a:off x="952500" y="11334750"/>
            <a:ext cx="10668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500" u="none" cap="none" strike="noStrike">
                <a:solidFill>
                  <a:srgbClr val="0000EE"/>
                </a:solidFill>
                <a:latin typeface="Urbanist"/>
                <a:ea typeface="Urbanist"/>
                <a:cs typeface="Urbanist"/>
                <a:sym typeface="Urbanist"/>
              </a:rPr>
              <a:t>elements.envato.com</a:t>
            </a:r>
            <a:endParaRPr/>
          </a:p>
        </p:txBody>
      </p:sp>
      <p:sp>
        <p:nvSpPr>
          <p:cNvPr id="399" name="Google Shape;399;p27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400" name="Google Shape;400;p27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