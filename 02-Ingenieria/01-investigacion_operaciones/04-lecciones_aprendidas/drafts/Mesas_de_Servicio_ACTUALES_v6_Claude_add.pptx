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?>
<Relationships xmlns="http://schemas.openxmlformats.org/package/2006/relationships">
  
  
  <Relationship Id="rId3" Type="http://schemas.openxmlformats.org/officeDocument/2006/relationships/extended-properties" Target="docProps/app.xml"/>
  
  
  <Relationship Id="rId2" Type="http://schemas.openxmlformats.org/package/2006/relationships/metadata/core-properties" Target="docProps/core.xml"/>
  
  
  <Relationship Id="rId1" Type="http://schemas.openxmlformats.org/officeDocument/2006/relationships/officeDocument" Target="ppt/presentation.xml"/>
  
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6" r:id="rId1"/>
    <p:sldMasterId id="2147483648" r:id="rId2"/>
  </p:sldMasterIdLst>
  <p:notesMasterIdLst>
    <p:notesMasterId r:id="rId8"/>
  </p:notesMasterIdLst>
  <p:sldIdLst>
    <p:sldId id="293" r:id="rId3"/>
    <p:sldId id="306" r:id="rId4"/>
    <p:sldId id="318" r:id="rId5"/>
    <p:sldId id="273" r:id="rId6"/>
    <p:sldId id="274" r:id="rId7"/>
    <p:sldId id="319" r:id="rId61"/>
    <p:sldId id="320" r:id="rId62"/>
    <p:sldId id="321" r:id="rId63"/>
    <p:sldId id="322" r:id="rId64"/>
    <p:sldId id="323" r:id="rId65"/>
    <p:sldId id="324" r:id="rId66"/>
    <p:sldId id="325" r:id="rId67"/>
    <p:sldId id="326" r:id="rId68"/>
  </p:sldIdLst>
  <p:sldSz cx="9144000" cy="5143500" type="screen16x9"/>
  <p:notesSz cx="6858000" cy="9144000"/>
  <p:embeddedFontLst>
    <p:embeddedFont>
      <p:font typeface="Reddit Sans" panose="020B0604020202020204" charset="0"/>
      <p:regular r:id="rId9"/>
      <p:bold r:id="rId10"/>
      <p:italic r:id="rId11"/>
      <p:boldItalic r:id="rId12"/>
    </p:embeddedFont>
    <p:embeddedFont>
      <p:font typeface="Reddit Sans SemiBold" panose="020B0604020202020204" charset="0"/>
      <p:regular r:id="rId13"/>
      <p:bold r:id="rId14"/>
      <p:italic r:id="rId15"/>
      <p:boldItalic r:id="rId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5" roundtripDataSignature="AMtx7mjbXstnVTn4VoWkkWw8RkcDPqyOe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69C7AEB-803E-58E8-3032-67EAC5529C77}" v="1406" dt="2026-07-08T21:07:31.329"/>
    <p1510:client id="{8CFE1048-07CD-42CF-A5E3-F35DEFEF98BF}" v="1632" dt="2026-07-08T20:34:32.701"/>
    <p1510:client id="{C5740E76-A8B1-842A-8097-940ADCC85B94}" v="225" dt="2026-07-07T22:26:35.199"/>
  </p1510:revLst>
</p1510:revInfo>
</file>

<file path=ppt/tableStyles.xml><?xml version="1.0" encoding="utf-8"?>
<a:tblStyleLst xmlns:a="http://schemas.openxmlformats.org/drawingml/2006/main" def="{1FEE7CD7-7DD5-4E0E-8F7E-406774204185}">
  <a:tblStyle styleId="{1FEE7CD7-7DD5-4E0E-8F7E-40677420418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93" d="100"/>
          <a:sy n="93" d="100"/>
        </p:scale>
        <p:origin x="54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
<Relationships xmlns="http://schemas.openxmlformats.org/package/2006/relationships">
  
  
  <Relationship Id="rId8" Type="http://schemas.openxmlformats.org/officeDocument/2006/relationships/notesMaster" Target="notesMasters/notesMaster1.xml"/>
  
  
  <Relationship Id="rId13" Type="http://schemas.openxmlformats.org/officeDocument/2006/relationships/font" Target="fonts/font5.fntdata"/>
  
  
  <Relationship Id="rId3" Type="http://schemas.openxmlformats.org/officeDocument/2006/relationships/slide" Target="slides/slide1.xml"/>
  
  
  <Relationship Id="rId55" Type="http://customschemas.google.com/relationships/presentationmetadata" Target="metadata"/>
  
  
  <Relationship Id="rId7" Type="http://schemas.openxmlformats.org/officeDocument/2006/relationships/slide" Target="slides/slide5.xml"/>
  
  
  <Relationship Id="rId12" Type="http://schemas.openxmlformats.org/officeDocument/2006/relationships/font" Target="fonts/font4.fntdata"/>
  
  
  <Relationship Id="rId59" Type="http://schemas.openxmlformats.org/officeDocument/2006/relationships/tableStyles" Target="tableStyles.xml"/>
  
  
  <Relationship Id="rId2" Type="http://schemas.openxmlformats.org/officeDocument/2006/relationships/slideMaster" Target="slideMasters/slideMaster2.xml"/>
  
  
  <Relationship Id="rId16" Type="http://schemas.openxmlformats.org/officeDocument/2006/relationships/font" Target="fonts/font8.fntdata"/>
  
  
  <Relationship Id="rId1" Type="http://schemas.openxmlformats.org/officeDocument/2006/relationships/slideMaster" Target="slideMasters/slideMaster1.xml"/>
  
  
  <Relationship Id="rId6" Type="http://schemas.openxmlformats.org/officeDocument/2006/relationships/slide" Target="slides/slide4.xml"/>
  
  
  <Relationship Id="rId11" Type="http://schemas.openxmlformats.org/officeDocument/2006/relationships/font" Target="fonts/font3.fntdata"/>
  
  
  <Relationship Id="rId58" Type="http://schemas.openxmlformats.org/officeDocument/2006/relationships/theme" Target="theme/theme1.xml"/>
  
  
  <Relationship Id="rId5" Type="http://schemas.openxmlformats.org/officeDocument/2006/relationships/slide" Target="slides/slide3.xml"/>
  
  
  <Relationship Id="rId15" Type="http://schemas.openxmlformats.org/officeDocument/2006/relationships/font" Target="fonts/font7.fntdata"/>
  
  
  <Relationship Id="rId57" Type="http://schemas.openxmlformats.org/officeDocument/2006/relationships/viewProps" Target="viewProps.xml"/>
  
  
  <Relationship Id="rId10" Type="http://schemas.openxmlformats.org/officeDocument/2006/relationships/font" Target="fonts/font2.fntdata"/>
  
  
  <Relationship Id="rId60" Type="http://schemas.microsoft.com/office/2015/10/relationships/revisionInfo" Target="revisionInfo.xml"/>
  
  
  <Relationship Id="rId4" Type="http://schemas.openxmlformats.org/officeDocument/2006/relationships/slide" Target="slides/slide2.xml"/>
  
  
  <Relationship Id="rId9" Type="http://schemas.openxmlformats.org/officeDocument/2006/relationships/font" Target="fonts/font1.fntdata"/>
  
  
  <Relationship Id="rId14" Type="http://schemas.openxmlformats.org/officeDocument/2006/relationships/font" Target="fonts/font6.fntdata"/>
  
  
  <Relationship Id="rId56" Type="http://schemas.openxmlformats.org/officeDocument/2006/relationships/presProps" Target="presProps.xml"/>
  

  <Relationship Id="rId61" Type="http://schemas.openxmlformats.org/officeDocument/2006/relationships/slide" Target="slides/slide6.xml"/>
  <Relationship Id="rId62" Type="http://schemas.openxmlformats.org/officeDocument/2006/relationships/slide" Target="slides/slide7.xml"/>
<Relationship Id="rId63" Type="http://schemas.openxmlformats.org/officeDocument/2006/relationships/slide" Target="slides/slide8.xml"/><Relationship Id="rId64" Type="http://schemas.openxmlformats.org/officeDocument/2006/relationships/slide" Target="slides/slide9.xml"/><Relationship Id="rId65" Type="http://schemas.openxmlformats.org/officeDocument/2006/relationships/slide" Target="slides/slide10.xml"/><Relationship Id="rId66" Type="http://schemas.openxmlformats.org/officeDocument/2006/relationships/slide" Target="slides/slide11.xml"/><Relationship Id="rId67" Type="http://schemas.openxmlformats.org/officeDocument/2006/relationships/slide" Target="slides/slide12.xml"/><Relationship Id="rId68" Type="http://schemas.openxmlformats.org/officeDocument/2006/relationships/slide" Target="slides/slide13.xml"/></Relationships>

</file>

<file path=ppt/notesMasters/_rels/notesMaster1.xml.rels><?xml version="1.0" encoding="utf-8"?>
<Relationships xmlns="http://schemas.openxmlformats.org/package/2006/relationships">
  
  
  <Relationship Id="rId1" Type="http://schemas.openxmlformats.org/officeDocument/2006/relationships/theme" Target="../theme/theme3.xml"/>
  

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?>
<Relationships xmlns="http://schemas.openxmlformats.org/package/2006/relationships">
  
  
  <Relationship Id="rId2" Type="http://schemas.openxmlformats.org/officeDocument/2006/relationships/slide" Target="../slides/slide1.xml"/>
  
  
  <Relationship Id="rId1" Type="http://schemas.openxmlformats.org/officeDocument/2006/relationships/notesMaster" Target="../notesMasters/notesMaster1.xml"/>
  

</Relationships>

</file>

<file path=ppt/notesSlides/_rels/notesSlide2.xml.rels><?xml version="1.0" encoding="utf-8"?>
<Relationships xmlns="http://schemas.openxmlformats.org/package/2006/relationships">
  
  
  <Relationship Id="rId2" Type="http://schemas.openxmlformats.org/officeDocument/2006/relationships/slide" Target="../slides/slide4.xml"/>
  
  
  <Relationship Id="rId1" Type="http://schemas.openxmlformats.org/officeDocument/2006/relationships/notesMaster" Target="../notesMasters/notesMaster1.xml"/>
  

</Relationships>

</file>

<file path=ppt/notesSlides/_rels/notesSlide3.xml.rels><?xml version="1.0" encoding="utf-8"?>
<Relationships xmlns="http://schemas.openxmlformats.org/package/2006/relationships">
  
  
  <Relationship Id="rId2" Type="http://schemas.openxmlformats.org/officeDocument/2006/relationships/slide" Target="../slides/slide5.xml"/>
  
  
  <Relationship Id="rId1" Type="http://schemas.openxmlformats.org/officeDocument/2006/relationships/notesMaster" Target="../notesMasters/notesMaster1.xml"/>
  

</Relationships>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>
          <a:extLst>
            <a:ext uri="{FF2B5EF4-FFF2-40B4-BE49-F238E27FC236}">
              <a16:creationId xmlns:a16="http://schemas.microsoft.com/office/drawing/2014/main" id="{CE505433-2ACA-69A8-B0C3-A79DA987B7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657f5ba65c_1_28:notes">
            <a:extLst>
              <a:ext uri="{FF2B5EF4-FFF2-40B4-BE49-F238E27FC236}">
                <a16:creationId xmlns:a16="http://schemas.microsoft.com/office/drawing/2014/main" id="{603A7570-A496-3D05-6901-598F97D07A0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657f5ba65c_1_28:notes">
            <a:extLst>
              <a:ext uri="{FF2B5EF4-FFF2-40B4-BE49-F238E27FC236}">
                <a16:creationId xmlns:a16="http://schemas.microsoft.com/office/drawing/2014/main" id="{71F902F3-8C74-1208-3B51-B4F19066F03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366074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?>
<Relationships xmlns="http://schemas.openxmlformats.org/package/2006/relationships">
  
  
  <Relationship Id="rId2" Type="http://schemas.openxmlformats.org/officeDocument/2006/relationships/image" Target="../media/image1.png"/>
  
  
  <Relationship Id="rId1" Type="http://schemas.openxmlformats.org/officeDocument/2006/relationships/slideMaster" Target="../slideMasters/slideMaster1.xml"/>
  

</Relationships>

</file>

<file path=ppt/slideLayouts/_rels/slideLayout2.xml.rels><?xml version="1.0" encoding="utf-8"?>
<Relationships xmlns="http://schemas.openxmlformats.org/package/2006/relationships">
  
  
  <Relationship Id="rId2" Type="http://schemas.openxmlformats.org/officeDocument/2006/relationships/image" Target="../media/image2.png"/>
  
  
  <Relationship Id="rId1" Type="http://schemas.openxmlformats.org/officeDocument/2006/relationships/slideMaster" Target="../slideMasters/slideMaster1.xml"/>
  

</Relationships>

</file>

<file path=ppt/slideLayouts/_rels/slideLayout3.xml.rels><?xml version="1.0" encoding="utf-8"?>
<Relationships xmlns="http://schemas.openxmlformats.org/package/2006/relationships">
  
  
  <Relationship Id="rId2" Type="http://schemas.openxmlformats.org/officeDocument/2006/relationships/image" Target="../media/image3.png"/>
  
  
  <Relationship Id="rId1" Type="http://schemas.openxmlformats.org/officeDocument/2006/relationships/slideMaster" Target="../slideMasters/slideMaster1.xml"/>
  

</Relationships>

</file>

<file path=ppt/slideLayouts/_rels/slideLayout4.xml.rels><?xml version="1.0" encoding="utf-8"?>
<Relationships xmlns="http://schemas.openxmlformats.org/package/2006/relationships">
  
  
  <Relationship Id="rId2" Type="http://schemas.openxmlformats.org/officeDocument/2006/relationships/image" Target="../media/image3.png"/>
  
  
  <Relationship Id="rId1" Type="http://schemas.openxmlformats.org/officeDocument/2006/relationships/slideMaster" Target="../slideMasters/slideMaster1.xml"/>
  

</Relationships>

</file>

<file path=ppt/slideLayouts/_rels/slideLayout5.xml.rels><?xml version="1.0" encoding="utf-8"?>
<Relationships xmlns="http://schemas.openxmlformats.org/package/2006/relationships">
  
  
  <Relationship Id="rId2" Type="http://schemas.openxmlformats.org/officeDocument/2006/relationships/image" Target="../media/image3.png"/>
  
  
  <Relationship Id="rId1" Type="http://schemas.openxmlformats.org/officeDocument/2006/relationships/slideMaster" Target="../slideMasters/slideMaster1.xml"/>
  

</Relationships>

</file>

<file path=ppt/slideLayouts/_rels/slideLayout6.xml.rels><?xml version="1.0" encoding="utf-8"?>
<Relationships xmlns="http://schemas.openxmlformats.org/package/2006/relationships">
  
  
  <Relationship Id="rId1" Type="http://schemas.openxmlformats.org/officeDocument/2006/relationships/slideMaster" Target="../slideMasters/slideMaster1.xml"/>
  

</Relationships>

</file>

<file path=ppt/slideLayouts/_rels/slideLayout7.xml.rels><?xml version="1.0" encoding="utf-8"?>
<Relationships xmlns="http://schemas.openxmlformats.org/package/2006/relationships">
  
  
  <Relationship Id="rId3" Type="http://schemas.openxmlformats.org/officeDocument/2006/relationships/image" Target="../media/image5.png"/>
  
  
  <Relationship Id="rId2" Type="http://schemas.openxmlformats.org/officeDocument/2006/relationships/image" Target="../media/image4.jpeg"/>
  
  
  <Relationship Id="rId1" Type="http://schemas.openxmlformats.org/officeDocument/2006/relationships/slideMaster" Target="../slideMasters/slideMaster2.xml"/>
  

</Relationships>

</file>

<file path=ppt/slideLayouts/_rels/slideLayout8.xml.rels><?xml version="1.0" encoding="utf-8"?>
<Relationships xmlns="http://schemas.openxmlformats.org/package/2006/relationships">
  
  
  <Relationship Id="rId2" Type="http://schemas.openxmlformats.org/officeDocument/2006/relationships/image" Target="../media/image1.png"/>
  
  
  <Relationship Id="rId1" Type="http://schemas.openxmlformats.org/officeDocument/2006/relationships/slideMaster" Target="../slideMasters/slideMaster2.xml"/>
  

</Relationships>

</file>

<file path=ppt/slideLayouts/_rels/slideLayout9.xml.rels><?xml version="1.0" encoding="utf-8"?>
<Relationships xmlns="http://schemas.openxmlformats.org/package/2006/relationships">
  
  
  <Relationship Id="rId1" Type="http://schemas.openxmlformats.org/officeDocument/2006/relationships/slideMaster" Target="../slideMasters/slideMaster2.xml"/>
  

</Relationships>

</file>

<file path=ppt/slideLayouts/_rels/slideLayout10.xml.rels><?xml version="1.0" encoding="utf-8"?>
<Relationships xmlns="http://schemas.openxmlformats.org/package/2006/relationships">
  
  
  <Relationship Id="rId2" Type="http://schemas.openxmlformats.org/officeDocument/2006/relationships/image" Target="../media/image2.png"/>
  
  
  <Relationship Id="rId1" Type="http://schemas.openxmlformats.org/officeDocument/2006/relationships/slideMaster" Target="../slideMasters/slideMaster2.xml"/>
  

</Relationships>

</file>

<file path=ppt/slideLayouts/_rels/slideLayout11.xml.rels><?xml version="1.0" encoding="utf-8"?>
<Relationships xmlns="http://schemas.openxmlformats.org/package/2006/relationships">
  
  
  <Relationship Id="rId2" Type="http://schemas.openxmlformats.org/officeDocument/2006/relationships/image" Target="../media/image3.png"/>
  
  
  <Relationship Id="rId1" Type="http://schemas.openxmlformats.org/officeDocument/2006/relationships/slideMaster" Target="../slideMasters/slideMaster2.xml"/>
  

</Relationships>

</file>

<file path=ppt/slideLayouts/_rels/slideLayout12.xml.rels><?xml version="1.0" encoding="utf-8"?>
<Relationships xmlns="http://schemas.openxmlformats.org/package/2006/relationships">
  
  
  <Relationship Id="rId2" Type="http://schemas.openxmlformats.org/officeDocument/2006/relationships/image" Target="../media/image3.png"/>
  
  
  <Relationship Id="rId1" Type="http://schemas.openxmlformats.org/officeDocument/2006/relationships/slideMaster" Target="../slideMasters/slideMaster2.xml"/>
  

</Relationships>

</file>

<file path=ppt/slideLayouts/_rels/slideLayout13.xml.rels><?xml version="1.0" encoding="utf-8"?>
<Relationships xmlns="http://schemas.openxmlformats.org/package/2006/relationships">
  
  
  <Relationship Id="rId2" Type="http://schemas.openxmlformats.org/officeDocument/2006/relationships/image" Target="../media/image3.png"/>
  
  
  <Relationship Id="rId1" Type="http://schemas.openxmlformats.org/officeDocument/2006/relationships/slideMaster" Target="../slideMasters/slideMaster2.xml"/>
  

</Relationships>

</file>

<file path=ppt/slideLayouts/_rels/slideLayout14.xml.rels><?xml version="1.0" encoding="utf-8"?>
<Relationships xmlns="http://schemas.openxmlformats.org/package/2006/relationships">
  
  
  <Relationship Id="rId3" Type="http://schemas.openxmlformats.org/officeDocument/2006/relationships/image" Target="../media/image7.png"/>
  
  
  <Relationship Id="rId2" Type="http://schemas.openxmlformats.org/officeDocument/2006/relationships/image" Target="../media/image6.png"/>
  
  
  <Relationship Id="rId1" Type="http://schemas.openxmlformats.org/officeDocument/2006/relationships/slideMaster" Target="../slideMasters/slideMaster2.xml"/>
  

</Relationships>

</file>

<file path=ppt/slideLayouts/_rels/slideLayout15.xml.rels><?xml version="1.0" encoding="utf-8"?>
<Relationships xmlns="http://schemas.openxmlformats.org/package/2006/relationships">
  
  
  <Relationship Id="rId3" Type="http://schemas.openxmlformats.org/officeDocument/2006/relationships/image" Target="../media/image5.png"/>
  
  
  <Relationship Id="rId2" Type="http://schemas.openxmlformats.org/officeDocument/2006/relationships/image" Target="../media/image6.png"/>
  
  
  <Relationship Id="rId1" Type="http://schemas.openxmlformats.org/officeDocument/2006/relationships/slideMaster" Target="../slideMasters/slideMaster2.xml"/>
  

</Relationships>

</file>

<file path=ppt/slideLayouts/_rels/slideLayout16.xml.rels><?xml version="1.0" encoding="utf-8"?>
<Relationships xmlns="http://schemas.openxmlformats.org/package/2006/relationships">
  
  
  <Relationship Id="rId2" Type="http://schemas.openxmlformats.org/officeDocument/2006/relationships/image" Target="../media/image3.png"/>
  
  
  <Relationship Id="rId1" Type="http://schemas.openxmlformats.org/officeDocument/2006/relationships/slideMaster" Target="../slideMasters/slideMaster2.xml"/>
  

</Relationships>

</file>

<file path=ppt/slideLayouts/_rels/slideLayout17.xml.rels><?xml version="1.0" encoding="utf-8"?>
<Relationships xmlns="http://schemas.openxmlformats.org/package/2006/relationships">
  
  
  <Relationship Id="rId1" Type="http://schemas.openxmlformats.org/officeDocument/2006/relationships/slideMaster" Target="../slideMasters/slideMaster2.xml"/>
  
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+ Contenido Clásico">
  <p:cSld name="TITLE_1_1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37e80574407_0_4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sp>
        <p:nvSpPr>
          <p:cNvPr id="43" name="Google Shape;43;g37e80574407_0_46"/>
          <p:cNvSpPr txBox="1"/>
          <p:nvPr/>
        </p:nvSpPr>
        <p:spPr>
          <a:xfrm>
            <a:off x="8028325" y="442300"/>
            <a:ext cx="919500" cy="29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2"/>
              </a:solidFill>
              <a:latin typeface="Reddit Sans SemiBold"/>
              <a:ea typeface="Reddit Sans SemiBold"/>
              <a:cs typeface="Reddit Sans SemiBold"/>
              <a:sym typeface="Reddit Sans SemiBold"/>
            </a:endParaRPr>
          </a:p>
        </p:txBody>
      </p:sp>
      <p:pic>
        <p:nvPicPr>
          <p:cNvPr id="44" name="Google Shape;44;g37e80574407_0_46" title="isotipo_pos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0000" y="4540953"/>
            <a:ext cx="540000" cy="279900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g37e80574407_0_46"/>
          <p:cNvSpPr txBox="1">
            <a:spLocks noGrp="1"/>
          </p:cNvSpPr>
          <p:nvPr>
            <p:ph type="ctrTitle"/>
          </p:nvPr>
        </p:nvSpPr>
        <p:spPr>
          <a:xfrm>
            <a:off x="307875" y="1827750"/>
            <a:ext cx="8536500" cy="159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37C"/>
              </a:buClr>
              <a:buSzPts val="5000"/>
              <a:buNone/>
              <a:defRPr sz="5000">
                <a:solidFill>
                  <a:srgbClr val="0E337C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37C"/>
              </a:buClr>
              <a:buSzPts val="5000"/>
              <a:buNone/>
              <a:defRPr sz="5000">
                <a:solidFill>
                  <a:srgbClr val="0E337C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37C"/>
              </a:buClr>
              <a:buSzPts val="5000"/>
              <a:buNone/>
              <a:defRPr sz="5000">
                <a:solidFill>
                  <a:srgbClr val="0E337C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37C"/>
              </a:buClr>
              <a:buSzPts val="5000"/>
              <a:buNone/>
              <a:defRPr sz="5000">
                <a:solidFill>
                  <a:srgbClr val="0E337C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37C"/>
              </a:buClr>
              <a:buSzPts val="5000"/>
              <a:buNone/>
              <a:defRPr sz="5000">
                <a:solidFill>
                  <a:srgbClr val="0E337C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37C"/>
              </a:buClr>
              <a:buSzPts val="5000"/>
              <a:buNone/>
              <a:defRPr sz="5000">
                <a:solidFill>
                  <a:srgbClr val="0E337C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37C"/>
              </a:buClr>
              <a:buSzPts val="5000"/>
              <a:buNone/>
              <a:defRPr sz="5000">
                <a:solidFill>
                  <a:srgbClr val="0E337C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37C"/>
              </a:buClr>
              <a:buSzPts val="5000"/>
              <a:buNone/>
              <a:defRPr sz="5000">
                <a:solidFill>
                  <a:srgbClr val="0E337C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37C"/>
              </a:buClr>
              <a:buSzPts val="5000"/>
              <a:buNone/>
              <a:defRPr sz="5000">
                <a:solidFill>
                  <a:srgbClr val="0E337C"/>
                </a:solidFill>
              </a:defRPr>
            </a:lvl9pPr>
          </a:lstStyle>
          <a:p>
            <a:endParaRPr/>
          </a:p>
        </p:txBody>
      </p:sp>
      <p:sp>
        <p:nvSpPr>
          <p:cNvPr id="46" name="Google Shape;46;g37e80574407_0_46"/>
          <p:cNvSpPr txBox="1">
            <a:spLocks noGrp="1"/>
          </p:cNvSpPr>
          <p:nvPr>
            <p:ph type="subTitle" idx="1"/>
          </p:nvPr>
        </p:nvSpPr>
        <p:spPr>
          <a:xfrm>
            <a:off x="365600" y="3424775"/>
            <a:ext cx="84789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3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rgbClr val="0072BC"/>
        </a:solidFill>
        <a:effectLst/>
      </p:bgPr>
    </p:bg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2"/>
          <p:cNvSpPr txBox="1">
            <a:spLocks noGrp="1"/>
          </p:cNvSpPr>
          <p:nvPr>
            <p:ph type="title"/>
          </p:nvPr>
        </p:nvSpPr>
        <p:spPr>
          <a:xfrm>
            <a:off x="336750" y="1267200"/>
            <a:ext cx="8135700" cy="260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pic>
        <p:nvPicPr>
          <p:cNvPr id="54" name="Google Shape;54;p12" title="isotipo_neg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0000" y="4544103"/>
            <a:ext cx="540000" cy="27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3">
          <p15:clr>
            <a:srgbClr val="E46962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/>
          <p:nvPr/>
        </p:nvSpPr>
        <p:spPr>
          <a:xfrm>
            <a:off x="21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13"/>
          <p:cNvSpPr txBox="1">
            <a:spLocks noGrp="1"/>
          </p:cNvSpPr>
          <p:nvPr>
            <p:ph type="subTitle" idx="1"/>
          </p:nvPr>
        </p:nvSpPr>
        <p:spPr>
          <a:xfrm>
            <a:off x="464275" y="3428125"/>
            <a:ext cx="3476700" cy="84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body" idx="2"/>
          </p:nvPr>
        </p:nvSpPr>
        <p:spPr>
          <a:xfrm>
            <a:off x="4939500" y="1208600"/>
            <a:ext cx="3612000" cy="315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title"/>
          </p:nvPr>
        </p:nvSpPr>
        <p:spPr>
          <a:xfrm>
            <a:off x="340500" y="200392"/>
            <a:ext cx="8211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37C"/>
              </a:buClr>
              <a:buSzPts val="1600"/>
              <a:buNone/>
              <a:defRPr sz="1600">
                <a:solidFill>
                  <a:srgbClr val="0E337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pic>
        <p:nvPicPr>
          <p:cNvPr id="61" name="Google Shape;61;p13" title="Recurso 3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011500" y="4538978"/>
            <a:ext cx="540000" cy="283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3">
          <p15:clr>
            <a:srgbClr val="E46962"/>
          </p15:clr>
        </p15:guide>
        <p15:guide id="2" pos="5388">
          <p15:clr>
            <a:srgbClr val="E46962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userDrawn="1">
  <p:cSld name="TITLE_ONLY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pic>
        <p:nvPicPr>
          <p:cNvPr id="71" name="Google Shape;71;p16" title="Recurso 3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011500" y="4538978"/>
            <a:ext cx="540000" cy="2838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60;p13">
            <a:extLst>
              <a:ext uri="{FF2B5EF4-FFF2-40B4-BE49-F238E27FC236}">
                <a16:creationId xmlns:a16="http://schemas.microsoft.com/office/drawing/2014/main" id="{BA34F530-57E1-3ACD-6780-261D7941DA0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40500" y="200392"/>
            <a:ext cx="8211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37C"/>
              </a:buClr>
              <a:buSzPts val="1600"/>
              <a:buNone/>
              <a:defRPr sz="1600">
                <a:solidFill>
                  <a:srgbClr val="0E337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3">
          <p15:clr>
            <a:srgbClr val="E46962"/>
          </p15:clr>
        </p15:guide>
        <p15:guide id="2" pos="5388">
          <p15:clr>
            <a:srgbClr val="E46962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2BC"/>
              </a:buClr>
              <a:buSzPts val="12000"/>
              <a:buNone/>
              <a:defRPr sz="12000">
                <a:solidFill>
                  <a:srgbClr val="0072BC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6" name="Google Shape;96;p19"/>
          <p:cNvSpPr txBox="1">
            <a:spLocks noGrp="1"/>
          </p:cNvSpPr>
          <p:nvPr>
            <p:ph type="body" idx="1"/>
          </p:nvPr>
        </p:nvSpPr>
        <p:spPr>
          <a:xfrm>
            <a:off x="450000" y="2959950"/>
            <a:ext cx="8101500" cy="139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97" name="Google Shape;97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pic>
        <p:nvPicPr>
          <p:cNvPr id="98" name="Google Shape;98;p19" title="Recurso 3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011500" y="4538978"/>
            <a:ext cx="540000" cy="283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387">
          <p15:clr>
            <a:srgbClr val="E46962"/>
          </p15:clr>
        </p15:guide>
        <p15:guide id="2" pos="283">
          <p15:clr>
            <a:srgbClr val="E46962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307800" y="1827720"/>
            <a:ext cx="8536320" cy="1596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>
              <a:buNone/>
              <a:defRPr/>
            </a:lvl1pPr>
          </a:lstStyle>
          <a:p>
            <a:pPr indent="0">
              <a:buNone/>
            </a:pPr>
            <a:endParaRPr lang="es-CO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indent="0">
              <a:spcBef>
                <a:spcPts val="1417"/>
              </a:spcBef>
              <a:buNone/>
              <a:defRPr/>
            </a:lvl1pPr>
          </a:lstStyle>
          <a:p>
            <a:pPr indent="0">
              <a:spcBef>
                <a:spcPts val="1063"/>
              </a:spcBef>
              <a:buNone/>
            </a:pPr>
            <a:endParaRPr lang="es-CO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4"/>
          </p:nvPr>
        </p:nvSpPr>
        <p:spPr/>
        <p:txBody>
          <a:bodyPr/>
          <a:lstStyle/>
          <a:p>
            <a:fld id="{72251460-32DC-45C6-B957-D4BECA177940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394437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stático">
  <p:cSld name="TITLE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17;g37e80574407_0_7"/>
          <p:cNvPicPr>
            <a:picLocks noChangeAspect="1"/>
          </p:cNvPicPr>
          <p:nvPr/>
        </p:nvPicPr>
        <p:blipFill rotWithShape="1">
          <a:blip r:embed="rId2">
            <a:alphaModFix/>
          </a:blip>
          <a:srcRect t="219" b="209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ln>
            <a:noFill/>
          </a:ln>
        </p:spPr>
      </p:pic>
      <p:sp>
        <p:nvSpPr>
          <p:cNvPr id="18" name="Google Shape;18;g37e80574407_0_7">
            <a:extLst>
              <a:ext uri="{FF2B5EF4-FFF2-40B4-BE49-F238E27FC236}">
                <a16:creationId xmlns:a16="http://schemas.microsoft.com/office/drawing/2014/main" id="{B1F1B4D1-E690-4E3D-BC28-F902B81251B3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  <a:endParaRPr/>
          </a:p>
        </p:txBody>
      </p:sp>
      <p:sp>
        <p:nvSpPr>
          <p:cNvPr id="19" name="Google Shape;19;g37e80574407_0_7">
            <a:extLst>
              <a:ext uri="{FF2B5EF4-FFF2-40B4-BE49-F238E27FC236}">
                <a16:creationId xmlns:a16="http://schemas.microsoft.com/office/drawing/2014/main" id="{25844D9E-7907-4F22-A074-7B081F402AEA}"/>
              </a:ext>
            </a:extLst>
          </p:cNvPr>
          <p:cNvSpPr>
            <a:spLocks noGrp="1"/>
          </p:cNvSpPr>
          <p:nvPr/>
        </p:nvSpPr>
        <p:spPr>
          <a:xfrm>
            <a:off x="8028325" y="442300"/>
            <a:ext cx="919500" cy="29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0" name="Google Shape;20;g37e80574407_0_7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9998" y="4438648"/>
            <a:ext cx="1770700" cy="170430"/>
          </a:xfrm>
          <a:prstGeom prst="rect">
            <a:avLst/>
          </a:prstGeom>
          <a:ln>
            <a:noFill/>
          </a:ln>
        </p:spPr>
      </p:pic>
      <p:sp>
        <p:nvSpPr>
          <p:cNvPr id="21" name="Google Shape;21;g37e80574407_0_7">
            <a:extLst>
              <a:ext uri="{FF2B5EF4-FFF2-40B4-BE49-F238E27FC236}">
                <a16:creationId xmlns:a16="http://schemas.microsoft.com/office/drawing/2014/main" id="{2FB57A7C-437F-42BA-B53C-D4338DC2B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7875" y="1827750"/>
            <a:ext cx="8536500" cy="159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000">
                <a:solidFill>
                  <a:schemeClr val="lt1"/>
                </a:solidFill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9pPr>
          </a:lstStyle>
          <a:p>
            <a:endParaRPr/>
          </a:p>
        </p:txBody>
      </p:sp>
      <p:sp>
        <p:nvSpPr>
          <p:cNvPr id="22" name="Google Shape;22;g37e80574407_0_7">
            <a:extLst>
              <a:ext uri="{FF2B5EF4-FFF2-40B4-BE49-F238E27FC236}">
                <a16:creationId xmlns:a16="http://schemas.microsoft.com/office/drawing/2014/main" id="{426D5CFE-345B-4A49-911F-78F4C3A99C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5600" y="3424775"/>
            <a:ext cx="84789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accent1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accent1"/>
                </a:solidFill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accent1"/>
                </a:solidFill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accent1"/>
                </a:solidFill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accent1"/>
                </a:solidFill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accent1"/>
                </a:solidFill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accent1"/>
                </a:solidFill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accent1"/>
                </a:solidFill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+ Contenido Clásico">
  <p:cSld name="TITLE_1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37e80574407_0_46">
            <a:extLst>
              <a:ext uri="{FF2B5EF4-FFF2-40B4-BE49-F238E27FC236}">
                <a16:creationId xmlns:a16="http://schemas.microsoft.com/office/drawing/2014/main" id="{AC2B24F9-BF8F-4F47-9728-EE6D5F7DDA3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  <a:endParaRPr/>
          </a:p>
        </p:txBody>
      </p:sp>
      <p:sp>
        <p:nvSpPr>
          <p:cNvPr id="43" name="Google Shape;43;g37e80574407_0_46">
            <a:extLst>
              <a:ext uri="{FF2B5EF4-FFF2-40B4-BE49-F238E27FC236}">
                <a16:creationId xmlns:a16="http://schemas.microsoft.com/office/drawing/2014/main" id="{FC4BF158-4191-4C42-9860-425EE1BDD06D}"/>
              </a:ext>
            </a:extLst>
          </p:cNvPr>
          <p:cNvSpPr>
            <a:spLocks noGrp="1"/>
          </p:cNvSpPr>
          <p:nvPr/>
        </p:nvSpPr>
        <p:spPr>
          <a:xfrm>
            <a:off x="8028325" y="442300"/>
            <a:ext cx="919500" cy="29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4" name="Google Shape;44;g37e80574407_0_46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0000" y="4540953"/>
            <a:ext cx="540000" cy="279900"/>
          </a:xfrm>
          <a:prstGeom prst="rect">
            <a:avLst/>
          </a:prstGeom>
          <a:ln>
            <a:noFill/>
          </a:ln>
        </p:spPr>
      </p:pic>
      <p:sp>
        <p:nvSpPr>
          <p:cNvPr id="45" name="Google Shape;45;g37e80574407_0_46">
            <a:extLst>
              <a:ext uri="{FF2B5EF4-FFF2-40B4-BE49-F238E27FC236}">
                <a16:creationId xmlns:a16="http://schemas.microsoft.com/office/drawing/2014/main" id="{4662A93F-6B5F-4650-99EA-136417DEC4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7875" y="1827750"/>
            <a:ext cx="8536500" cy="159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000">
                <a:solidFill>
                  <a:srgbClr val="0E337C"/>
                </a:solidFill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000">
                <a:solidFill>
                  <a:srgbClr val="0E337C"/>
                </a:solidFill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000">
                <a:solidFill>
                  <a:srgbClr val="0E337C"/>
                </a:solidFill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000">
                <a:solidFill>
                  <a:srgbClr val="0E337C"/>
                </a:solidFill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000">
                <a:solidFill>
                  <a:srgbClr val="0E337C"/>
                </a:solidFill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000">
                <a:solidFill>
                  <a:srgbClr val="0E337C"/>
                </a:solidFill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000">
                <a:solidFill>
                  <a:srgbClr val="0E337C"/>
                </a:solidFill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000">
                <a:solidFill>
                  <a:srgbClr val="0E337C"/>
                </a:solidFill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000">
                <a:solidFill>
                  <a:srgbClr val="0E337C"/>
                </a:solidFill>
              </a:defRPr>
            </a:lvl9pPr>
          </a:lstStyle>
          <a:p>
            <a:endParaRPr/>
          </a:p>
        </p:txBody>
      </p:sp>
      <p:sp>
        <p:nvSpPr>
          <p:cNvPr id="46" name="Google Shape;46;g37e80574407_0_46">
            <a:extLst>
              <a:ext uri="{FF2B5EF4-FFF2-40B4-BE49-F238E27FC236}">
                <a16:creationId xmlns:a16="http://schemas.microsoft.com/office/drawing/2014/main" id="{270D2604-63C8-451C-BE8A-4A120451F2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5600" y="3424775"/>
            <a:ext cx="84789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accent1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accent1"/>
                </a:solidFill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accent1"/>
                </a:solidFill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accent1"/>
                </a:solidFill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accent1"/>
                </a:solidFill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accent1"/>
                </a:solidFill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accent1"/>
                </a:solidFill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accent1"/>
                </a:solidFill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1">
            <a:extLst>
              <a:ext uri="{FF2B5EF4-FFF2-40B4-BE49-F238E27FC236}">
                <a16:creationId xmlns:a16="http://schemas.microsoft.com/office/drawing/2014/main" id="{7D50AF58-B676-47BE-8C6D-250EC4D3E8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350" y="494725"/>
            <a:ext cx="5567400" cy="19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rgbClr val="0E337C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1">
            <a:extLst>
              <a:ext uri="{FF2B5EF4-FFF2-40B4-BE49-F238E27FC236}">
                <a16:creationId xmlns:a16="http://schemas.microsoft.com/office/drawing/2014/main" id="{71F7FED3-EB9E-4E62-85FD-9E94811E3A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2815250"/>
            <a:ext cx="5666700" cy="139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rmAutofit/>
          </a:bodyPr>
          <a:lstStyle>
            <a:lvl1pPr marL="4572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 sz="1400"/>
            </a:lvl1pPr>
            <a:lvl2pPr marL="9144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/>
            </a:lvl2pPr>
            <a:lvl3pPr marL="13716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/>
            </a:lvl3pPr>
            <a:lvl4pPr marL="18288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/>
            </a:lvl4pPr>
            <a:lvl5pPr marL="22860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/>
            </a:lvl5pPr>
            <a:lvl6pPr marL="27432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/>
            </a:lvl6pPr>
            <a:lvl7pPr marL="32004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/>
            </a:lvl7pPr>
            <a:lvl8pPr marL="36576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/>
            </a:lvl8pPr>
            <a:lvl9pPr marL="41148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/>
            </a:lvl9pPr>
          </a:lstStyle>
          <a:p>
            <a:endParaRPr/>
          </a:p>
        </p:txBody>
      </p:sp>
      <p:sp>
        <p:nvSpPr>
          <p:cNvPr id="50" name="Google Shape;50;p11">
            <a:extLst>
              <a:ext uri="{FF2B5EF4-FFF2-40B4-BE49-F238E27FC236}">
                <a16:creationId xmlns:a16="http://schemas.microsoft.com/office/drawing/2014/main" id="{3A16CCED-69D6-4723-B785-3409A4A7C6C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rgbClr val="0072B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2">
            <a:extLst>
              <a:ext uri="{FF2B5EF4-FFF2-40B4-BE49-F238E27FC236}">
                <a16:creationId xmlns:a16="http://schemas.microsoft.com/office/drawing/2014/main" id="{BB6C1E23-7014-4B48-B0EA-54D45F6F75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750" y="1267200"/>
            <a:ext cx="8135700" cy="260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9pPr>
          </a:lstStyle>
          <a:p>
            <a:endParaRPr/>
          </a:p>
        </p:txBody>
      </p:sp>
      <p:sp>
        <p:nvSpPr>
          <p:cNvPr id="53" name="Google Shape;53;p12">
            <a:extLst>
              <a:ext uri="{FF2B5EF4-FFF2-40B4-BE49-F238E27FC236}">
                <a16:creationId xmlns:a16="http://schemas.microsoft.com/office/drawing/2014/main" id="{F6EEF040-AE2F-44DB-9865-075D0CEE9E52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  <a:endParaRPr/>
          </a:p>
        </p:txBody>
      </p:sp>
      <p:pic>
        <p:nvPicPr>
          <p:cNvPr id="54" name="Google Shape;54;p12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0000" y="4544103"/>
            <a:ext cx="540000" cy="2736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>
            <a:extLst>
              <a:ext uri="{FF2B5EF4-FFF2-40B4-BE49-F238E27FC236}">
                <a16:creationId xmlns:a16="http://schemas.microsoft.com/office/drawing/2014/main" id="{1BAF1A59-2F8B-4BF4-B64A-0DEEE27D9EC7}"/>
              </a:ext>
            </a:extLst>
          </p:cNvPr>
          <p:cNvSpPr>
            <a:spLocks noGrp="1"/>
          </p:cNvSpPr>
          <p:nvPr/>
        </p:nvSpPr>
        <p:spPr>
          <a:xfrm>
            <a:off x="21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13">
            <a:extLst>
              <a:ext uri="{FF2B5EF4-FFF2-40B4-BE49-F238E27FC236}">
                <a16:creationId xmlns:a16="http://schemas.microsoft.com/office/drawing/2014/main" id="{2662C8F9-5006-4CC6-AED6-A2CD441DFF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4275" y="3428125"/>
            <a:ext cx="3476700" cy="84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9pPr>
          </a:lstStyle>
          <a:p>
            <a:endParaRPr/>
          </a:p>
        </p:txBody>
      </p:sp>
      <p:sp>
        <p:nvSpPr>
          <p:cNvPr id="58" name="Google Shape;58;p13">
            <a:extLst>
              <a:ext uri="{FF2B5EF4-FFF2-40B4-BE49-F238E27FC236}">
                <a16:creationId xmlns:a16="http://schemas.microsoft.com/office/drawing/2014/main" id="{A6655D54-16B1-4D78-A722-D1F26E4A4B76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939500" y="1208600"/>
            <a:ext cx="3612000" cy="315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rmAutofit/>
          </a:bodyPr>
          <a:lstStyle>
            <a:lvl1pPr marL="4572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 sz="1400"/>
            </a:lvl1pPr>
            <a:lvl2pPr marL="9144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/>
            </a:lvl2pPr>
            <a:lvl3pPr marL="13716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/>
            </a:lvl3pPr>
            <a:lvl4pPr marL="18288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/>
            </a:lvl4pPr>
            <a:lvl5pPr marL="22860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/>
            </a:lvl5pPr>
            <a:lvl6pPr marL="27432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/>
            </a:lvl6pPr>
            <a:lvl7pPr marL="32004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/>
            </a:lvl7pPr>
            <a:lvl8pPr marL="36576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/>
            </a:lvl8pPr>
            <a:lvl9pPr marL="41148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/>
            </a:lvl9pPr>
          </a:lstStyle>
          <a:p>
            <a:endParaRPr/>
          </a:p>
        </p:txBody>
      </p:sp>
      <p:sp>
        <p:nvSpPr>
          <p:cNvPr id="59" name="Google Shape;59;p13">
            <a:extLst>
              <a:ext uri="{FF2B5EF4-FFF2-40B4-BE49-F238E27FC236}">
                <a16:creationId xmlns:a16="http://schemas.microsoft.com/office/drawing/2014/main" id="{4AED8AE0-C1B9-4169-8A53-F4F5AB29A206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  <a:endParaRPr/>
          </a:p>
        </p:txBody>
      </p:sp>
      <p:sp>
        <p:nvSpPr>
          <p:cNvPr id="60" name="Google Shape;60;p13">
            <a:extLst>
              <a:ext uri="{FF2B5EF4-FFF2-40B4-BE49-F238E27FC236}">
                <a16:creationId xmlns:a16="http://schemas.microsoft.com/office/drawing/2014/main" id="{D0ADD963-6F0B-49A6-9DDA-847662A0B6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500" y="200392"/>
            <a:ext cx="8211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E337C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pic>
        <p:nvPicPr>
          <p:cNvPr id="61" name="Google Shape;61;p13"/>
          <p:cNvPicPr>
            <a:picLocks noChangeAspect="1"/>
          </p:cNvPicPr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011500" y="4538978"/>
            <a:ext cx="540000" cy="28385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>
            <a:extLst>
              <a:ext uri="{FF2B5EF4-FFF2-40B4-BE49-F238E27FC236}">
                <a16:creationId xmlns:a16="http://schemas.microsoft.com/office/drawing/2014/main" id="{7D67C296-E9AD-4915-BA06-B6F6B2EC42B6}"/>
              </a:ext>
            </a:extLst>
          </p:cNvPr>
          <p:cNvSpPr>
            <a:spLocks noGrp="1"/>
          </p:cNvSpPr>
          <p:nvPr/>
        </p:nvSpPr>
        <p:spPr>
          <a:xfrm>
            <a:off x="0" y="-5675"/>
            <a:ext cx="4572000" cy="5143500"/>
          </a:xfrm>
          <a:prstGeom prst="rect">
            <a:avLst/>
          </a:prstGeom>
          <a:solidFill>
            <a:srgbClr val="0072BC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4" name="Google Shape;64;p14"/>
          <p:cNvPicPr>
            <a:picLocks noChangeAspect="1"/>
          </p:cNvPicPr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011500" y="4538978"/>
            <a:ext cx="540000" cy="283850"/>
          </a:xfrm>
          <a:prstGeom prst="rect">
            <a:avLst/>
          </a:prstGeom>
          <a:ln>
            <a:noFill/>
          </a:ln>
        </p:spPr>
      </p:pic>
      <p:sp>
        <p:nvSpPr>
          <p:cNvPr id="65" name="Google Shape;65;p14">
            <a:extLst>
              <a:ext uri="{FF2B5EF4-FFF2-40B4-BE49-F238E27FC236}">
                <a16:creationId xmlns:a16="http://schemas.microsoft.com/office/drawing/2014/main" id="{232FDF76-CBF3-4E5C-8FB1-3030B412B8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675" y="655450"/>
            <a:ext cx="3964500" cy="28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1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1"/>
                </a:solidFill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1"/>
                </a:solidFill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1"/>
                </a:solidFill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1"/>
                </a:solidFill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1"/>
                </a:solidFill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1"/>
                </a:solidFill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1"/>
                </a:solidFill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6" name="Google Shape;66;p14">
            <a:extLst>
              <a:ext uri="{FF2B5EF4-FFF2-40B4-BE49-F238E27FC236}">
                <a16:creationId xmlns:a16="http://schemas.microsoft.com/office/drawing/2014/main" id="{279437C4-6BCF-4B1F-B660-DA9C7842D8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58700" y="1311925"/>
            <a:ext cx="3694800" cy="30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rmAutofit/>
          </a:bodyPr>
          <a:lstStyle>
            <a:lvl1pPr marL="4572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 sz="1400"/>
            </a:lvl1pPr>
            <a:lvl2pPr marL="9144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/>
            </a:lvl2pPr>
            <a:lvl3pPr marL="13716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/>
            </a:lvl3pPr>
            <a:lvl4pPr marL="18288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/>
            </a:lvl4pPr>
            <a:lvl5pPr marL="22860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/>
            </a:lvl5pPr>
            <a:lvl6pPr marL="27432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/>
            </a:lvl6pPr>
            <a:lvl7pPr marL="32004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/>
            </a:lvl7pPr>
            <a:lvl8pPr marL="36576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/>
            </a:lvl8pPr>
            <a:lvl9pPr marL="41148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/>
            </a:lvl9pPr>
          </a:lstStyle>
          <a:p>
            <a:endParaRPr/>
          </a:p>
        </p:txBody>
      </p:sp>
      <p:sp>
        <p:nvSpPr>
          <p:cNvPr id="67" name="Google Shape;67;p14">
            <a:extLst>
              <a:ext uri="{FF2B5EF4-FFF2-40B4-BE49-F238E27FC236}">
                <a16:creationId xmlns:a16="http://schemas.microsoft.com/office/drawing/2014/main" id="{8B73836B-BAC0-453C-98C1-65A75236F922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  <a:endParaRPr/>
          </a:p>
        </p:txBody>
      </p:sp>
      <p:sp>
        <p:nvSpPr>
          <p:cNvPr id="68" name="Google Shape;68;p14">
            <a:extLst>
              <a:ext uri="{FF2B5EF4-FFF2-40B4-BE49-F238E27FC236}">
                <a16:creationId xmlns:a16="http://schemas.microsoft.com/office/drawing/2014/main" id="{321D8131-11BD-44F4-B952-43C1B7777BCC}"/>
              </a:ext>
            </a:extLst>
          </p:cNvPr>
          <p:cNvSpPr>
            <a:spLocks noGrp="1"/>
          </p:cNvSpPr>
          <p:nvPr>
            <p:ph type="title" idx="2"/>
          </p:nvPr>
        </p:nvSpPr>
        <p:spPr>
          <a:xfrm>
            <a:off x="412475" y="1495950"/>
            <a:ext cx="3734400" cy="292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userDrawn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6">
            <a:extLst>
              <a:ext uri="{FF2B5EF4-FFF2-40B4-BE49-F238E27FC236}">
                <a16:creationId xmlns:a16="http://schemas.microsoft.com/office/drawing/2014/main" id="{99B40456-9C26-4E25-812A-F58F94D54390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  <a:endParaRPr/>
          </a:p>
        </p:txBody>
      </p:sp>
      <p:pic>
        <p:nvPicPr>
          <p:cNvPr id="71" name="Google Shape;71;p16"/>
          <p:cNvPicPr>
            <a:picLocks noChangeAspect="1"/>
          </p:cNvPicPr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011500" y="4538978"/>
            <a:ext cx="540000" cy="283850"/>
          </a:xfrm>
          <a:prstGeom prst="rect">
            <a:avLst/>
          </a:prstGeom>
          <a:ln>
            <a:noFill/>
          </a:ln>
        </p:spPr>
      </p:pic>
      <p:sp>
        <p:nvSpPr>
          <p:cNvPr id="2" name="Google Shape;60;p13">
            <a:extLst>
              <a:ext uri="{FF2B5EF4-FFF2-40B4-BE49-F238E27FC236}">
                <a16:creationId xmlns:a16="http://schemas.microsoft.com/office/drawing/2014/main" id="{BA34F530-57E1-3ACD-6780-261D7941D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500" y="200392"/>
            <a:ext cx="8211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E337C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ierre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>
            <a:extLst>
              <a:ext uri="{FF2B5EF4-FFF2-40B4-BE49-F238E27FC236}">
                <a16:creationId xmlns:a16="http://schemas.microsoft.com/office/drawing/2014/main" id="{65463B6A-3B5D-42D5-8C0A-A8D6F3C2D840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  <a:endParaRPr/>
          </a:p>
        </p:txBody>
      </p:sp>
      <p:pic>
        <p:nvPicPr>
          <p:cNvPr id="75" name="Google Shape;75;p15"/>
          <p:cNvPicPr>
            <a:picLocks noChangeAspect="1"/>
          </p:cNvPicPr>
          <p:nvPr/>
        </p:nvPicPr>
        <p:blipFill rotWithShape="1">
          <a:blip r:embed="rId2">
            <a:alphaModFix/>
          </a:blip>
          <a:srcRect b="7379"/>
          <a:stretch/>
        </p:blipFill>
        <p:spPr>
          <a:xfrm>
            <a:off x="0" y="0"/>
            <a:ext cx="9143999" cy="5143500"/>
          </a:xfrm>
          <a:prstGeom prst="rect">
            <a:avLst/>
          </a:prstGeom>
          <a:ln>
            <a:noFill/>
          </a:ln>
        </p:spPr>
      </p:pic>
      <p:pic>
        <p:nvPicPr>
          <p:cNvPr id="76" name="Google Shape;76;p15"/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170050" y="2265624"/>
            <a:ext cx="4803901" cy="4574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radecimiento">
  <p:cSld name="BLANK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7e80574407_0_110">
            <a:extLst>
              <a:ext uri="{FF2B5EF4-FFF2-40B4-BE49-F238E27FC236}">
                <a16:creationId xmlns:a16="http://schemas.microsoft.com/office/drawing/2014/main" id="{D0542C14-919E-485C-87A7-5251DBE7ECE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  <a:endParaRPr/>
          </a:p>
        </p:txBody>
      </p:sp>
      <p:pic>
        <p:nvPicPr>
          <p:cNvPr id="79" name="Google Shape;79;g37e80574407_0_110"/>
          <p:cNvPicPr>
            <a:picLocks noChangeAspect="1"/>
          </p:cNvPicPr>
          <p:nvPr/>
        </p:nvPicPr>
        <p:blipFill rotWithShape="1">
          <a:blip r:embed="rId2">
            <a:alphaModFix/>
          </a:blip>
          <a:srcRect b="7381"/>
          <a:stretch/>
        </p:blipFill>
        <p:spPr>
          <a:xfrm>
            <a:off x="0" y="0"/>
            <a:ext cx="9143999" cy="5143500"/>
          </a:xfrm>
          <a:prstGeom prst="rect">
            <a:avLst/>
          </a:prstGeom>
          <a:ln>
            <a:noFill/>
          </a:ln>
        </p:spPr>
      </p:pic>
      <p:pic>
        <p:nvPicPr>
          <p:cNvPr id="80" name="Google Shape;80;g37e80574407_0_110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9998" y="4438648"/>
            <a:ext cx="1770700" cy="170430"/>
          </a:xfrm>
          <a:prstGeom prst="rect">
            <a:avLst/>
          </a:prstGeom>
          <a:ln>
            <a:noFill/>
          </a:ln>
        </p:spPr>
      </p:pic>
      <p:sp>
        <p:nvSpPr>
          <p:cNvPr id="81" name="Google Shape;81;g37e80574407_0_110">
            <a:extLst>
              <a:ext uri="{FF2B5EF4-FFF2-40B4-BE49-F238E27FC236}">
                <a16:creationId xmlns:a16="http://schemas.microsoft.com/office/drawing/2014/main" id="{4A0B87D1-0F80-492E-9F0A-334D3E371C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87108" y="4327063"/>
            <a:ext cx="45489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rm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lt1"/>
                </a:solidFill>
              </a:defRPr>
            </a:lvl1pPr>
            <a:lvl2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500"/>
            </a:lvl2pPr>
            <a:lvl3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500"/>
            </a:lvl3pPr>
            <a:lvl4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500"/>
            </a:lvl4pPr>
            <a:lvl5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500"/>
            </a:lvl5pPr>
            <a:lvl6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500"/>
            </a:lvl6pPr>
            <a:lvl7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500"/>
            </a:lvl7pPr>
            <a:lvl8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500"/>
            </a:lvl8pPr>
            <a:lvl9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500"/>
            </a:lvl9pPr>
          </a:lstStyle>
          <a:p>
            <a:endParaRPr/>
          </a:p>
        </p:txBody>
      </p:sp>
      <p:sp>
        <p:nvSpPr>
          <p:cNvPr id="82" name="Google Shape;82;g37e80574407_0_110">
            <a:extLst>
              <a:ext uri="{FF2B5EF4-FFF2-40B4-BE49-F238E27FC236}">
                <a16:creationId xmlns:a16="http://schemas.microsoft.com/office/drawing/2014/main" id="{D892436E-C895-4668-B0A0-541237687D75}"/>
              </a:ext>
            </a:extLst>
          </p:cNvPr>
          <p:cNvSpPr>
            <a:spLocks noGrp="1"/>
          </p:cNvSpPr>
          <p:nvPr>
            <p:ph type="ctrTitle" idx="2"/>
          </p:nvPr>
        </p:nvSpPr>
        <p:spPr>
          <a:xfrm>
            <a:off x="450000" y="1827750"/>
            <a:ext cx="8100000" cy="159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100" b="0">
                <a:solidFill>
                  <a:schemeClr val="lt1"/>
                </a:solidFill>
                <a:latin typeface="Reddit Sans Black"/>
                <a:ea typeface="Reddit Sans Black"/>
                <a:cs typeface="Reddit Sans Black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500">
                <a:latin typeface="Reddit Sans Black"/>
                <a:ea typeface="Reddit Sans Black"/>
                <a:cs typeface="Reddit Sans Black"/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500">
                <a:latin typeface="Reddit Sans Black"/>
                <a:ea typeface="Reddit Sans Black"/>
                <a:cs typeface="Reddit Sans Black"/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500">
                <a:latin typeface="Reddit Sans Black"/>
                <a:ea typeface="Reddit Sans Black"/>
                <a:cs typeface="Reddit Sans Black"/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500">
                <a:latin typeface="Reddit Sans Black"/>
                <a:ea typeface="Reddit Sans Black"/>
                <a:cs typeface="Reddit Sans Black"/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500">
                <a:latin typeface="Reddit Sans Black"/>
                <a:ea typeface="Reddit Sans Black"/>
                <a:cs typeface="Reddit Sans Black"/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500">
                <a:latin typeface="Reddit Sans Black"/>
                <a:ea typeface="Reddit Sans Black"/>
                <a:cs typeface="Reddit Sans Black"/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500">
                <a:latin typeface="Reddit Sans Black"/>
                <a:ea typeface="Reddit Sans Black"/>
                <a:cs typeface="Reddit Sans Black"/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500">
                <a:latin typeface="Reddit Sans Black"/>
                <a:ea typeface="Reddit Sans Black"/>
                <a:cs typeface="Reddit Sans Black"/>
              </a:defRPr>
            </a:lvl9pPr>
          </a:lstStyle>
          <a:p>
            <a:endParaRPr/>
          </a:p>
        </p:txBody>
      </p:sp>
      <p:sp>
        <p:nvSpPr>
          <p:cNvPr id="83" name="Google Shape;83;g37e80574407_0_110">
            <a:extLst>
              <a:ext uri="{FF2B5EF4-FFF2-40B4-BE49-F238E27FC236}">
                <a16:creationId xmlns:a16="http://schemas.microsoft.com/office/drawing/2014/main" id="{98E67182-6C92-488F-A8B6-56EDE400E980}"/>
              </a:ext>
            </a:extLst>
          </p:cNvPr>
          <p:cNvSpPr>
            <a:spLocks noGrp="1"/>
          </p:cNvSpPr>
          <p:nvPr>
            <p:ph type="title" idx="3"/>
          </p:nvPr>
        </p:nvSpPr>
        <p:spPr>
          <a:xfrm>
            <a:off x="4087108" y="446138"/>
            <a:ext cx="45489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rm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>
                <a:solidFill>
                  <a:schemeClr val="lt1"/>
                </a:solidFill>
                <a:latin typeface="Reddit Sans Light"/>
                <a:ea typeface="Reddit Sans Light"/>
                <a:cs typeface="Reddit Sans Light"/>
              </a:defRPr>
            </a:lvl1pPr>
            <a:lvl2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>
                <a:latin typeface="Reddit Sans Light"/>
                <a:ea typeface="Reddit Sans Light"/>
                <a:cs typeface="Reddit Sans Light"/>
              </a:defRPr>
            </a:lvl2pPr>
            <a:lvl3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>
                <a:latin typeface="Reddit Sans Light"/>
                <a:ea typeface="Reddit Sans Light"/>
                <a:cs typeface="Reddit Sans Light"/>
              </a:defRPr>
            </a:lvl3pPr>
            <a:lvl4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>
                <a:latin typeface="Reddit Sans Light"/>
                <a:ea typeface="Reddit Sans Light"/>
                <a:cs typeface="Reddit Sans Light"/>
              </a:defRPr>
            </a:lvl4pPr>
            <a:lvl5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>
                <a:latin typeface="Reddit Sans Light"/>
                <a:ea typeface="Reddit Sans Light"/>
                <a:cs typeface="Reddit Sans Light"/>
              </a:defRPr>
            </a:lvl5pPr>
            <a:lvl6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>
                <a:latin typeface="Reddit Sans Light"/>
                <a:ea typeface="Reddit Sans Light"/>
                <a:cs typeface="Reddit Sans Light"/>
              </a:defRPr>
            </a:lvl6pPr>
            <a:lvl7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>
                <a:latin typeface="Reddit Sans Light"/>
                <a:ea typeface="Reddit Sans Light"/>
                <a:cs typeface="Reddit Sans Light"/>
              </a:defRPr>
            </a:lvl7pPr>
            <a:lvl8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>
                <a:latin typeface="Reddit Sans Light"/>
                <a:ea typeface="Reddit Sans Light"/>
                <a:cs typeface="Reddit Sans Light"/>
              </a:defRPr>
            </a:lvl8pPr>
            <a:lvl9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>
                <a:latin typeface="Reddit Sans Light"/>
                <a:ea typeface="Reddit Sans Light"/>
                <a:cs typeface="Reddit Sans Ligh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>
            <a:extLst>
              <a:ext uri="{FF2B5EF4-FFF2-40B4-BE49-F238E27FC236}">
                <a16:creationId xmlns:a16="http://schemas.microsoft.com/office/drawing/2014/main" id="{8E6D5907-34E3-4CE9-983B-4E147D000A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0">
                <a:solidFill>
                  <a:srgbClr val="0072BC"/>
                </a:solidFill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6" name="Google Shape;96;p19">
            <a:extLst>
              <a:ext uri="{FF2B5EF4-FFF2-40B4-BE49-F238E27FC236}">
                <a16:creationId xmlns:a16="http://schemas.microsoft.com/office/drawing/2014/main" id="{4F839F2F-0F0D-41B9-B28D-AB64487272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0000" y="2959950"/>
            <a:ext cx="8101500" cy="139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rmAutofit/>
          </a:bodyPr>
          <a:lstStyle>
            <a:lvl1pPr marL="45720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/>
            </a:lvl1pPr>
            <a:lvl2pPr marL="914400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/>
            </a:lvl2pPr>
            <a:lvl3pPr marL="1371600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/>
            </a:lvl3pPr>
            <a:lvl4pPr marL="1828800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/>
            </a:lvl4pPr>
            <a:lvl5pPr marL="2286000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/>
            </a:lvl5pPr>
            <a:lvl6pPr marL="2743200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/>
            </a:lvl6pPr>
            <a:lvl7pPr marL="3200400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/>
            </a:lvl7pPr>
            <a:lvl8pPr marL="3657600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/>
            </a:lvl8pPr>
            <a:lvl9pPr marL="4114800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/>
            </a:lvl9pPr>
          </a:lstStyle>
          <a:p>
            <a:endParaRPr/>
          </a:p>
        </p:txBody>
      </p:sp>
      <p:sp>
        <p:nvSpPr>
          <p:cNvPr id="97" name="Google Shape;97;p19">
            <a:extLst>
              <a:ext uri="{FF2B5EF4-FFF2-40B4-BE49-F238E27FC236}">
                <a16:creationId xmlns:a16="http://schemas.microsoft.com/office/drawing/2014/main" id="{F7CD12D5-85E6-4041-B0D2-EF7D45924AAA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  <a:endParaRPr/>
          </a:p>
        </p:txBody>
      </p:sp>
      <p:pic>
        <p:nvPicPr>
          <p:cNvPr id="98" name="Google Shape;98;p19"/>
          <p:cNvPicPr>
            <a:picLocks noChangeAspect="1"/>
          </p:cNvPicPr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011500" y="4538978"/>
            <a:ext cx="540000" cy="28385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>
            <a:extLst>
              <a:ext uri="{FF2B5EF4-FFF2-40B4-BE49-F238E27FC236}">
                <a16:creationId xmlns:a16="http://schemas.microsoft.com/office/drawing/2014/main" id="{EB7B3939-448D-4C7E-BAF2-861F4762F9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800" y="1827720"/>
            <a:ext cx="8536320" cy="1596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>
              <a:buNone/>
              <a:defRPr/>
            </a:lvl1pPr>
          </a:lstStyle>
          <a:p>
            <a:pPr indent="0">
              <a:buNone/>
            </a:pPr>
            <a:endParaRPr/>
          </a:p>
        </p:txBody>
      </p:sp>
      <p:sp>
        <p:nvSpPr>
          <p:cNvPr id="76" name="PlaceHolder 2">
            <a:extLst>
              <a:ext uri="{FF2B5EF4-FFF2-40B4-BE49-F238E27FC236}">
                <a16:creationId xmlns:a16="http://schemas.microsoft.com/office/drawing/2014/main" id="{DC2F081B-FF45-4D98-A4F2-8210772AA9F1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indent="0">
              <a:spcBef>
                <a:spcPts val="1417"/>
              </a:spcBef>
              <a:buNone/>
              <a:defRPr/>
            </a:lvl1pPr>
          </a:lstStyle>
          <a:p>
            <a:pPr indent="0">
              <a:spcBef>
                <a:spcPts val="1063"/>
              </a:spcBef>
              <a:buNone/>
            </a:pPr>
            <a:endParaRPr/>
          </a:p>
        </p:txBody>
      </p:sp>
      <p:sp>
        <p:nvSpPr>
          <p:cNvPr id="4" name="PlaceHolder 3">
            <a:extLst>
              <a:ext uri="{FF2B5EF4-FFF2-40B4-BE49-F238E27FC236}">
                <a16:creationId xmlns:a16="http://schemas.microsoft.com/office/drawing/2014/main" id="{C4FF6657-BD0F-4337-B334-52ED8F7C802A}"/>
              </a:ext>
            </a:extLst>
          </p:cNvPr>
          <p:cNvSpPr>
            <a:spLocks noGrp="1"/>
          </p:cNvSpPr>
          <p:nvPr>
            <p:ph type="sldNum" idx="14"/>
          </p:nvPr>
        </p:nvSpPr>
        <p:spPr/>
        <p:txBody>
          <a:bodyPr/>
          <a:lstStyle/>
          <a:p>
            <a:fld id="{72251460-32DC-45C6-B957-D4BECA177940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
  
  
  <Relationship Id="rId3" Type="http://schemas.openxmlformats.org/officeDocument/2006/relationships/slideLayout" Target="../slideLayouts/slideLayout3.xml"/>
  
  
  <Relationship Id="rId7" Type="http://schemas.openxmlformats.org/officeDocument/2006/relationships/theme" Target="../theme/theme1.xml"/>
  
  
  <Relationship Id="rId2" Type="http://schemas.openxmlformats.org/officeDocument/2006/relationships/slideLayout" Target="../slideLayouts/slideLayout2.xml"/>
  
  
  <Relationship Id="rId1" Type="http://schemas.openxmlformats.org/officeDocument/2006/relationships/slideLayout" Target="../slideLayouts/slideLayout1.xml"/>
  
  
  <Relationship Id="rId6" Type="http://schemas.openxmlformats.org/officeDocument/2006/relationships/slideLayout" Target="../slideLayouts/slideLayout6.xml"/>
  
  
  <Relationship Id="rId5" Type="http://schemas.openxmlformats.org/officeDocument/2006/relationships/slideLayout" Target="../slideLayouts/slideLayout5.xml"/>
  
  
  <Relationship Id="rId4" Type="http://schemas.openxmlformats.org/officeDocument/2006/relationships/slideLayout" Target="../slideLayouts/slideLayout4.xml"/>
  

</Relationships>

</file>

<file path=ppt/slideMasters/_rels/slideMaster2.xml.rels><?xml version="1.0" encoding="utf-8"?>
<Relationships xmlns="http://schemas.openxmlformats.org/package/2006/relationships">
  
  
  <Relationship Id="rId8" Type="http://schemas.openxmlformats.org/officeDocument/2006/relationships/slideLayout" Target="../slideLayouts/slideLayout14.xml"/>
  
  
  <Relationship Id="rId3" Type="http://schemas.openxmlformats.org/officeDocument/2006/relationships/slideLayout" Target="../slideLayouts/slideLayout9.xml"/>
  
  
  <Relationship Id="rId7" Type="http://schemas.openxmlformats.org/officeDocument/2006/relationships/slideLayout" Target="../slideLayouts/slideLayout13.xml"/>
  
  
  <Relationship Id="rId12" Type="http://schemas.openxmlformats.org/officeDocument/2006/relationships/theme" Target="../theme/theme2.xml"/>
  
  
  <Relationship Id="rId2" Type="http://schemas.openxmlformats.org/officeDocument/2006/relationships/slideLayout" Target="../slideLayouts/slideLayout8.xml"/>
  
  
  <Relationship Id="rId1" Type="http://schemas.openxmlformats.org/officeDocument/2006/relationships/slideLayout" Target="../slideLayouts/slideLayout7.xml"/>
  
  
  <Relationship Id="rId6" Type="http://schemas.openxmlformats.org/officeDocument/2006/relationships/slideLayout" Target="../slideLayouts/slideLayout12.xml"/>
  
  
  <Relationship Id="rId11" Type="http://schemas.openxmlformats.org/officeDocument/2006/relationships/slideLayout" Target="../slideLayouts/slideLayout17.xml"/>
  
  
  <Relationship Id="rId5" Type="http://schemas.openxmlformats.org/officeDocument/2006/relationships/slideLayout" Target="../slideLayouts/slideLayout11.xml"/>
  
  
  <Relationship Id="rId10" Type="http://schemas.openxmlformats.org/officeDocument/2006/relationships/slideLayout" Target="../slideLayouts/slideLayout16.xml"/>
  
  
  <Relationship Id="rId4" Type="http://schemas.openxmlformats.org/officeDocument/2006/relationships/slideLayout" Target="../slideLayouts/slideLayout10.xml"/>
  
  
  <Relationship Id="rId9" Type="http://schemas.openxmlformats.org/officeDocument/2006/relationships/slideLayout" Target="../slideLayouts/slideLayout15.xml"/>
  
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eddit Sans"/>
              <a:buNone/>
              <a:defRPr sz="2800" b="1" i="0" u="none" strike="noStrike" cap="none">
                <a:solidFill>
                  <a:schemeClr val="dk1"/>
                </a:solidFill>
                <a:latin typeface="Reddit Sans"/>
                <a:ea typeface="Reddit Sans"/>
                <a:cs typeface="Reddit Sans"/>
                <a:sym typeface="Reddit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eddit Sans"/>
              <a:buChar char="●"/>
              <a:defRPr sz="1800" b="0" i="0" u="none" strike="noStrike" cap="none">
                <a:solidFill>
                  <a:schemeClr val="dk2"/>
                </a:solidFill>
                <a:latin typeface="Reddit Sans"/>
                <a:ea typeface="Reddit Sans"/>
                <a:cs typeface="Reddit Sans"/>
                <a:sym typeface="Reddit Sans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dit Sans"/>
              <a:buChar char="○"/>
              <a:defRPr sz="1400" b="0" i="0" u="none" strike="noStrike" cap="none">
                <a:solidFill>
                  <a:schemeClr val="dk2"/>
                </a:solidFill>
                <a:latin typeface="Reddit Sans"/>
                <a:ea typeface="Reddit Sans"/>
                <a:cs typeface="Reddit Sans"/>
                <a:sym typeface="Reddit Sans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dit Sans"/>
              <a:buChar char="■"/>
              <a:defRPr sz="1400" b="0" i="0" u="none" strike="noStrike" cap="none">
                <a:solidFill>
                  <a:schemeClr val="dk2"/>
                </a:solidFill>
                <a:latin typeface="Reddit Sans"/>
                <a:ea typeface="Reddit Sans"/>
                <a:cs typeface="Reddit Sans"/>
                <a:sym typeface="Reddit Sans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dit Sans"/>
              <a:buChar char="●"/>
              <a:defRPr sz="1400" b="0" i="0" u="none" strike="noStrike" cap="none">
                <a:solidFill>
                  <a:schemeClr val="dk2"/>
                </a:solidFill>
                <a:latin typeface="Reddit Sans"/>
                <a:ea typeface="Reddit Sans"/>
                <a:cs typeface="Reddit Sans"/>
                <a:sym typeface="Reddit Sans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dit Sans"/>
              <a:buChar char="○"/>
              <a:defRPr sz="1400" b="0" i="0" u="none" strike="noStrike" cap="none">
                <a:solidFill>
                  <a:schemeClr val="dk2"/>
                </a:solidFill>
                <a:latin typeface="Reddit Sans"/>
                <a:ea typeface="Reddit Sans"/>
                <a:cs typeface="Reddit Sans"/>
                <a:sym typeface="Reddit Sans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dit Sans"/>
              <a:buChar char="■"/>
              <a:defRPr sz="1400" b="0" i="0" u="none" strike="noStrike" cap="none">
                <a:solidFill>
                  <a:schemeClr val="dk2"/>
                </a:solidFill>
                <a:latin typeface="Reddit Sans"/>
                <a:ea typeface="Reddit Sans"/>
                <a:cs typeface="Reddit Sans"/>
                <a:sym typeface="Reddit Sans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dit Sans"/>
              <a:buChar char="●"/>
              <a:defRPr sz="1400" b="0" i="0" u="none" strike="noStrike" cap="none">
                <a:solidFill>
                  <a:schemeClr val="dk2"/>
                </a:solidFill>
                <a:latin typeface="Reddit Sans"/>
                <a:ea typeface="Reddit Sans"/>
                <a:cs typeface="Reddit Sans"/>
                <a:sym typeface="Reddit Sans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dit Sans"/>
              <a:buChar char="○"/>
              <a:defRPr sz="1400" b="0" i="0" u="none" strike="noStrike" cap="none">
                <a:solidFill>
                  <a:schemeClr val="dk2"/>
                </a:solidFill>
                <a:latin typeface="Reddit Sans"/>
                <a:ea typeface="Reddit Sans"/>
                <a:cs typeface="Reddit Sans"/>
                <a:sym typeface="Reddit Sans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dit Sans"/>
              <a:buChar char="■"/>
              <a:defRPr sz="1400" b="0" i="0" u="none" strike="noStrike" cap="none">
                <a:solidFill>
                  <a:schemeClr val="dk2"/>
                </a:solidFill>
                <a:latin typeface="Reddit Sans"/>
                <a:ea typeface="Reddit Sans"/>
                <a:cs typeface="Reddit Sans"/>
                <a:sym typeface="Reddit Sans"/>
              </a:defRPr>
            </a:lvl9pPr>
          </a:lstStyle>
          <a:p>
            <a:endParaRPr/>
          </a:p>
        </p:txBody>
      </p:sp>
      <p:sp>
        <p:nvSpPr>
          <p:cNvPr id="8" name="Google Shape;8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8" r:id="rId1"/>
    <p:sldLayoutId id="2147483670" r:id="rId2"/>
    <p:sldLayoutId id="2147483671" r:id="rId3"/>
    <p:sldLayoutId id="2147483673" r:id="rId4"/>
    <p:sldLayoutId id="2147483664" r:id="rId5"/>
    <p:sldLayoutId id="2147483665" r:id="rId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>
            <a:extLst>
              <a:ext uri="{FF2B5EF4-FFF2-40B4-BE49-F238E27FC236}">
                <a16:creationId xmlns:a16="http://schemas.microsoft.com/office/drawing/2014/main" id="{D4B7FFF8-9AA4-4E53-9ECB-A10FB484A9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 i="0" u="none" cap="none">
                <a:solidFill>
                  <a:schemeClr val="dk1"/>
                </a:solidFill>
                <a:latin typeface="Reddit Sans"/>
                <a:ea typeface="Reddit Sans"/>
                <a:cs typeface="Reddit San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7" name="Google Shape;7;p9">
            <a:extLst>
              <a:ext uri="{FF2B5EF4-FFF2-40B4-BE49-F238E27FC236}">
                <a16:creationId xmlns:a16="http://schemas.microsoft.com/office/drawing/2014/main" id="{0C1FD014-2FA6-495D-9389-E278A0D2DF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rmAutofit/>
          </a:bodyPr>
          <a:lstStyle>
            <a:lvl1pPr marL="45720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 sz="1800" b="0" i="0" u="none" cap="none">
                <a:solidFill>
                  <a:schemeClr val="dk2"/>
                </a:solidFill>
                <a:latin typeface="Reddit Sans"/>
                <a:ea typeface="Reddit Sans"/>
                <a:cs typeface="Reddit Sans"/>
              </a:defRPr>
            </a:lvl1pPr>
            <a:lvl2pPr marL="9144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 sz="1400" b="0" i="0" u="none" cap="none">
                <a:solidFill>
                  <a:schemeClr val="dk2"/>
                </a:solidFill>
                <a:latin typeface="Reddit Sans"/>
                <a:ea typeface="Reddit Sans"/>
                <a:cs typeface="Reddit Sans"/>
              </a:defRPr>
            </a:lvl2pPr>
            <a:lvl3pPr marL="13716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 sz="1400" b="0" i="0" u="none" cap="none">
                <a:solidFill>
                  <a:schemeClr val="dk2"/>
                </a:solidFill>
                <a:latin typeface="Reddit Sans"/>
                <a:ea typeface="Reddit Sans"/>
                <a:cs typeface="Reddit Sans"/>
              </a:defRPr>
            </a:lvl3pPr>
            <a:lvl4pPr marL="18288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 sz="1400" b="0" i="0" u="none" cap="none">
                <a:solidFill>
                  <a:schemeClr val="dk2"/>
                </a:solidFill>
                <a:latin typeface="Reddit Sans"/>
                <a:ea typeface="Reddit Sans"/>
                <a:cs typeface="Reddit Sans"/>
              </a:defRPr>
            </a:lvl4pPr>
            <a:lvl5pPr marL="22860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 sz="1400" b="0" i="0" u="none" cap="none">
                <a:solidFill>
                  <a:schemeClr val="dk2"/>
                </a:solidFill>
                <a:latin typeface="Reddit Sans"/>
                <a:ea typeface="Reddit Sans"/>
                <a:cs typeface="Reddit Sans"/>
              </a:defRPr>
            </a:lvl5pPr>
            <a:lvl6pPr marL="27432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 sz="1400" b="0" i="0" u="none" cap="none">
                <a:solidFill>
                  <a:schemeClr val="dk2"/>
                </a:solidFill>
                <a:latin typeface="Reddit Sans"/>
                <a:ea typeface="Reddit Sans"/>
                <a:cs typeface="Reddit Sans"/>
              </a:defRPr>
            </a:lvl6pPr>
            <a:lvl7pPr marL="32004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 sz="1400" b="0" i="0" u="none" cap="none">
                <a:solidFill>
                  <a:schemeClr val="dk2"/>
                </a:solidFill>
                <a:latin typeface="Reddit Sans"/>
                <a:ea typeface="Reddit Sans"/>
                <a:cs typeface="Reddit Sans"/>
              </a:defRPr>
            </a:lvl7pPr>
            <a:lvl8pPr marL="36576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 sz="1400" b="0" i="0" u="none" cap="none">
                <a:solidFill>
                  <a:schemeClr val="dk2"/>
                </a:solidFill>
                <a:latin typeface="Reddit Sans"/>
                <a:ea typeface="Reddit Sans"/>
                <a:cs typeface="Reddit Sans"/>
              </a:defRPr>
            </a:lvl8pPr>
            <a:lvl9pPr marL="41148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 sz="1400" b="0" i="0" u="none" cap="none">
                <a:solidFill>
                  <a:schemeClr val="dk2"/>
                </a:solidFill>
                <a:latin typeface="Reddit Sans"/>
                <a:ea typeface="Reddit Sans"/>
                <a:cs typeface="Reddit Sans"/>
              </a:defRPr>
            </a:lvl9pPr>
          </a:lstStyle>
          <a:p>
            <a:endParaRPr/>
          </a:p>
        </p:txBody>
      </p:sp>
      <p:sp>
        <p:nvSpPr>
          <p:cNvPr id="8" name="Google Shape;8;p9">
            <a:extLst>
              <a:ext uri="{FF2B5EF4-FFF2-40B4-BE49-F238E27FC236}">
                <a16:creationId xmlns:a16="http://schemas.microsoft.com/office/drawing/2014/main" id="{6B0AA307-4D0A-4E91-8EDE-F652AA60ED2E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101" Type="http://schemas.openxmlformats.org/officeDocument/2006/relationships/hyperlink" Target="https://www.thinkhdi.com/~/media/HDICorp/Files/Standards/HDI-SC-Standard-v-5-0.pdf" TargetMode="External"/>
<Relationship Id="rId102" Type="http://schemas.openxmlformats.org/officeDocument/2006/relationships/hyperlink" Target="https://www.metricnet.com/service-desk-benchmarks/" TargetMode="External"/>
<Relationship Id="rId104" Type="http://schemas.openxmlformats.org/officeDocument/2006/relationships/hyperlink" Target="https://www.givainc.com/blog/shift-left-analysis-how-to-guide-maximize-it-service-management-itsm-efficiency/" TargetMode="External"/>
</Relationships>
</file>

<file path=ppt/slides/_rels/slide7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100" Type="http://schemas.openxmlformats.org/officeDocument/2006/relationships/hyperlink" Target="https://www.sqmgroup.com/resources/library/blog/what-good-first-call-resolution-rate" TargetMode="External"/>
<Relationship Id="rId101" Type="http://schemas.openxmlformats.org/officeDocument/2006/relationships/hyperlink" Target="https://www.thinkhdi.com/~/media/HDICorp/Files/Standards/HDI-SC-Standard-v-5-0.pdf" TargetMode="External"/>
<Relationship Id="rId102" Type="http://schemas.openxmlformats.org/officeDocument/2006/relationships/hyperlink" Target="https://www.metricnet.com/service-desk-benchmarks/" TargetMode="External"/>
<Relationship Id="rId103" Type="http://schemas.openxmlformats.org/officeDocument/2006/relationships/hyperlink" Target="https://freshservice.com/assets/resources/freshservice/freshservice-it-service-management-benchmark-report-2024.pdf" TargetMode="External"/>
<Relationship Id="rId104" Type="http://schemas.openxmlformats.org/officeDocument/2006/relationships/hyperlink" Target="https://www.givainc.com/blog/shift-left-analysis-how-to-guide-maximize-it-service-management-itsm-efficiency/" TargetMode="External"/>
<Relationship Id="rId107" Type="http://schemas.openxmlformats.org/officeDocument/2006/relationships/hyperlink" Target="https://kwestra.com/service-desk-kpis/" TargetMode="External"/>
<Relationship Id="rId108" Type="http://schemas.openxmlformats.org/officeDocument/2006/relationships/hyperlink" Target="https://blog.invgate.com/itsm-statistics" TargetMode="External"/>
</Relationships>
</file>

<file path=ppt/slides/_rels/slide8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100" Type="http://schemas.openxmlformats.org/officeDocument/2006/relationships/hyperlink" Target="https://www.sqmgroup.com/resources/library/blog/what-good-first-call-resolution-rate" TargetMode="External"/>
<Relationship Id="rId101" Type="http://schemas.openxmlformats.org/officeDocument/2006/relationships/hyperlink" Target="https://www.thinkhdi.com/~/media/HDICorp/Files/Standards/HDI-SC-Standard-v-5-0.pdf" TargetMode="External"/>
<Relationship Id="rId102" Type="http://schemas.openxmlformats.org/officeDocument/2006/relationships/hyperlink" Target="https://www.metricnet.com/service-desk-benchmarks/" TargetMode="External"/>
<Relationship Id="rId103" Type="http://schemas.openxmlformats.org/officeDocument/2006/relationships/hyperlink" Target="https://freshservice.com/assets/resources/freshservice/freshservice-it-service-management-benchmark-report-2024.pdf" TargetMode="External"/>
<Relationship Id="rId104" Type="http://schemas.openxmlformats.org/officeDocument/2006/relationships/hyperlink" Target="https://www.givainc.com/blog/shift-left-analysis-how-to-guide-maximize-it-service-management-itsm-efficiency/" TargetMode="External"/>
<Relationship Id="rId107" Type="http://schemas.openxmlformats.org/officeDocument/2006/relationships/hyperlink" Target="https://kwestra.com/service-desk-kpis/" TargetMode="External"/>
<Relationship Id="rId108" Type="http://schemas.openxmlformats.org/officeDocument/2006/relationships/hyperlink" Target="https://blog.invgate.com/itsm-statistics" TargetMode="External"/>
</Relationships>
</file>

<file path=ppt/slides/_rels/slide9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100" Type="http://schemas.openxmlformats.org/officeDocument/2006/relationships/hyperlink" Target="https://www.sqmgroup.com/resources/library/blog/what-good-first-call-resolution-rate" TargetMode="External"/>
<Relationship Id="rId101" Type="http://schemas.openxmlformats.org/officeDocument/2006/relationships/hyperlink" Target="https://www.thinkhdi.com/~/media/HDICorp/Files/Standards/HDI-SC-Standard-v-5-0.pdf" TargetMode="External"/>
<Relationship Id="rId102" Type="http://schemas.openxmlformats.org/officeDocument/2006/relationships/hyperlink" Target="https://www.metricnet.com/service-desk-benchmarks/" TargetMode="External"/>
<Relationship Id="rId103" Type="http://schemas.openxmlformats.org/officeDocument/2006/relationships/hyperlink" Target="https://freshservice.com/assets/resources/freshservice/freshservice-it-service-management-benchmark-report-2024.pdf" TargetMode="External"/>
<Relationship Id="rId104" Type="http://schemas.openxmlformats.org/officeDocument/2006/relationships/hyperlink" Target="https://www.givainc.com/blog/shift-left-analysis-how-to-guide-maximize-it-service-management-itsm-efficiency/" TargetMode="External"/>
<Relationship Id="rId107" Type="http://schemas.openxmlformats.org/officeDocument/2006/relationships/hyperlink" Target="https://kwestra.com/service-desk-kpis/" TargetMode="External"/>
<Relationship Id="rId108" Type="http://schemas.openxmlformats.org/officeDocument/2006/relationships/hyperlink" Target="https://blog.invgate.com/itsm-statistics" TargetMode="External"/>
</Relationships>
</file>

<file path=ppt/slides/_rels/slide10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100" Type="http://schemas.openxmlformats.org/officeDocument/2006/relationships/hyperlink" Target="https://www.sqmgroup.com/resources/library/blog/what-good-first-call-resolution-rate" TargetMode="External"/>
<Relationship Id="rId101" Type="http://schemas.openxmlformats.org/officeDocument/2006/relationships/hyperlink" Target="https://www.thinkhdi.com/~/media/HDICorp/Files/Standards/HDI-SC-Standard-v-5-0.pdf" TargetMode="External"/>
<Relationship Id="rId102" Type="http://schemas.openxmlformats.org/officeDocument/2006/relationships/hyperlink" Target="https://www.metricnet.com/service-desk-benchmarks/" TargetMode="External"/>
<Relationship Id="rId103" Type="http://schemas.openxmlformats.org/officeDocument/2006/relationships/hyperlink" Target="https://freshservice.com/assets/resources/freshservice/freshservice-it-service-management-benchmark-report-2024.pdf" TargetMode="External"/>
<Relationship Id="rId104" Type="http://schemas.openxmlformats.org/officeDocument/2006/relationships/hyperlink" Target="https://www.givainc.com/blog/shift-left-analysis-how-to-guide-maximize-it-service-management-itsm-efficiency/" TargetMode="External"/>
<Relationship Id="rId107" Type="http://schemas.openxmlformats.org/officeDocument/2006/relationships/hyperlink" Target="https://kwestra.com/service-desk-kpis/" TargetMode="External"/>
<Relationship Id="rId108" Type="http://schemas.openxmlformats.org/officeDocument/2006/relationships/hyperlink" Target="https://blog.invgate.com/itsm-statistics" TargetMode="External"/>
</Relationships>
</file>

<file path=ppt/slides/_rels/slide1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100" Type="http://schemas.openxmlformats.org/officeDocument/2006/relationships/hyperlink" Target="https://www.sqmgroup.com/resources/library/blog/what-good-first-call-resolution-rate" TargetMode="External"/>
<Relationship Id="rId101" Type="http://schemas.openxmlformats.org/officeDocument/2006/relationships/hyperlink" Target="https://www.thinkhdi.com/~/media/HDICorp/Files/Standards/HDI-SC-Standard-v-5-0.pdf" TargetMode="External"/>
<Relationship Id="rId102" Type="http://schemas.openxmlformats.org/officeDocument/2006/relationships/hyperlink" Target="https://www.metricnet.com/service-desk-benchmarks/" TargetMode="External"/>
<Relationship Id="rId103" Type="http://schemas.openxmlformats.org/officeDocument/2006/relationships/hyperlink" Target="https://freshservice.com/assets/resources/freshservice/freshservice-it-service-management-benchmark-report-2024.pdf" TargetMode="External"/>
<Relationship Id="rId104" Type="http://schemas.openxmlformats.org/officeDocument/2006/relationships/hyperlink" Target="https://www.givainc.com/blog/shift-left-analysis-how-to-guide-maximize-it-service-management-itsm-efficiency/" TargetMode="External"/>
<Relationship Id="rId107" Type="http://schemas.openxmlformats.org/officeDocument/2006/relationships/hyperlink" Target="https://kwestra.com/service-desk-kpis/" TargetMode="External"/>
<Relationship Id="rId108" Type="http://schemas.openxmlformats.org/officeDocument/2006/relationships/hyperlink" Target="https://blog.invgate.com/itsm-statistics" TargetMode="External"/>
</Relationships>
</file>

<file path=ppt/slides/_rels/slide1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100" Type="http://schemas.openxmlformats.org/officeDocument/2006/relationships/hyperlink" Target="https://www.sqmgroup.com/resources/library/blog/what-good-first-call-resolution-rate" TargetMode="External"/>
<Relationship Id="rId101" Type="http://schemas.openxmlformats.org/officeDocument/2006/relationships/hyperlink" Target="https://www.thinkhdi.com/~/media/HDICorp/Files/Standards/HDI-SC-Standard-v-5-0.pdf" TargetMode="External"/>
<Relationship Id="rId102" Type="http://schemas.openxmlformats.org/officeDocument/2006/relationships/hyperlink" Target="https://www.metricnet.com/service-desk-benchmarks/" TargetMode="External"/>
<Relationship Id="rId103" Type="http://schemas.openxmlformats.org/officeDocument/2006/relationships/hyperlink" Target="https://freshservice.com/assets/resources/freshservice/freshservice-it-service-management-benchmark-report-2024.pdf" TargetMode="External"/>
<Relationship Id="rId104" Type="http://schemas.openxmlformats.org/officeDocument/2006/relationships/hyperlink" Target="https://www.givainc.com/blog/shift-left-analysis-how-to-guide-maximize-it-service-management-itsm-efficiency/" TargetMode="External"/>
<Relationship Id="rId107" Type="http://schemas.openxmlformats.org/officeDocument/2006/relationships/hyperlink" Target="https://kwestra.com/service-desk-kpis/" TargetMode="External"/>
<Relationship Id="rId108" Type="http://schemas.openxmlformats.org/officeDocument/2006/relationships/hyperlink" Target="https://blog.invgate.com/itsm-statistics" TargetMode="External"/>
</Relationships>
</file>

<file path=ppt/slides/_rels/slide13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100" Type="http://schemas.openxmlformats.org/officeDocument/2006/relationships/hyperlink" Target="https://www.sqmgroup.com/resources/library/blog/what-good-first-call-resolution-rate" TargetMode="External"/>
<Relationship Id="rId101" Type="http://schemas.openxmlformats.org/officeDocument/2006/relationships/hyperlink" Target="https://www.thinkhdi.com/~/media/HDICorp/Files/Standards/HDI-SC-Standard-v-5-0.pdf" TargetMode="External"/>
<Relationship Id="rId102" Type="http://schemas.openxmlformats.org/officeDocument/2006/relationships/hyperlink" Target="https://www.metricnet.com/service-desk-benchmarks/" TargetMode="External"/>
<Relationship Id="rId103" Type="http://schemas.openxmlformats.org/officeDocument/2006/relationships/hyperlink" Target="https://freshservice.com/assets/resources/freshservice/freshservice-it-service-management-benchmark-report-2024.pdf" TargetMode="External"/>
<Relationship Id="rId104" Type="http://schemas.openxmlformats.org/officeDocument/2006/relationships/hyperlink" Target="https://www.givainc.com/blog/shift-left-analysis-how-to-guide-maximize-it-service-management-itsm-efficiency/" TargetMode="External"/>
<Relationship Id="rId107" Type="http://schemas.openxmlformats.org/officeDocument/2006/relationships/hyperlink" Target="https://kwestra.com/service-desk-kpis/" TargetMode="External"/>
<Relationship Id="rId108" Type="http://schemas.openxmlformats.org/officeDocument/2006/relationships/hyperlink" Target="https://blog.invgate.com/itsm-statistics" TargetMode="External"/>
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bg"/>
          <p:cNvSpPr>
            <a:spLocks noGrp="1"/>
          </p:cNvSpPr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5E"/>
          </a:solidFill>
          <a:ln>
            <a:noFill/>
          </a:ln>
        </p:spPr>
      </p:sp>
      <p:sp>
        <p:nvSpPr>
          <p:cNvPr id="3" name="dec1"/>
          <p:cNvSpPr>
            <a:spLocks noGrp="1"/>
          </p:cNvSpPr>
          <p:nvPr/>
        </p:nvSpPr>
        <p:spPr>
          <a:xfrm>
            <a:off x="6217920" y="0"/>
            <a:ext cx="2286000" cy="5143500"/>
          </a:xfrm>
          <a:prstGeom prst="rect">
            <a:avLst/>
          </a:prstGeom>
          <a:solidFill>
            <a:srgbClr val="132A6B"/>
          </a:solidFill>
          <a:ln>
            <a:noFill/>
          </a:ln>
        </p:spPr>
      </p:sp>
      <p:sp>
        <p:nvSpPr>
          <p:cNvPr id="4" name="dec2"/>
          <p:cNvSpPr>
            <a:spLocks noGrp="1"/>
          </p:cNvSpPr>
          <p:nvPr/>
        </p:nvSpPr>
        <p:spPr>
          <a:xfrm>
            <a:off x="6766560" y="0"/>
            <a:ext cx="1828800" cy="5143500"/>
          </a:xfrm>
          <a:prstGeom prst="rect">
            <a:avLst/>
          </a:prstGeom>
          <a:solidFill>
            <a:srgbClr val="0F2060"/>
          </a:solidFill>
          <a:ln>
            <a:noFill/>
          </a:ln>
        </p:spPr>
      </p:sp>
      <p:sp>
        <p:nvSpPr>
          <p:cNvPr id="5" name="bot"/>
          <p:cNvSpPr>
            <a:spLocks noGrp="1"/>
          </p:cNvSpPr>
          <p:nvPr/>
        </p:nvSpPr>
        <p:spPr>
          <a:xfrm>
            <a:off x="0" y="3931920"/>
            <a:ext cx="9144000" cy="548640"/>
          </a:xfrm>
          <a:prstGeom prst="rect">
            <a:avLst/>
          </a:prstGeom>
          <a:solidFill>
            <a:srgbClr val="1A3A8F"/>
          </a:solidFill>
          <a:ln>
            <a:noFill/>
          </a:ln>
        </p:spPr>
      </p:sp>
      <p:sp>
        <p:nvSpPr>
          <p:cNvPr id="6" name="ttl1"/>
          <p:cNvSpPr txBox="1">
            <a:spLocks noGrp="1"/>
          </p:cNvSpPr>
          <p:nvPr/>
        </p:nvSpPr>
        <p:spPr>
          <a:xfrm>
            <a:off x="457200" y="914400"/>
            <a:ext cx="5669280" cy="731520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l"/>
            <a:r>
              <a:rPr lang="es-ES" sz="4000" dirty="0" b="1">
                <a:solidFill>
                  <a:srgbClr val="FFFFFF"/>
                </a:solidFill>
                <a:latin typeface="Calibri"/>
              </a:rPr>
              <a:t>Mesas de Servicio</a:t>
            </a:r>
          </a:p>
        </p:txBody>
      </p:sp>
      <p:sp>
        <p:nvSpPr>
          <p:cNvPr id="7" name="ttl2"/>
          <p:cNvSpPr txBox="1">
            <a:spLocks noGrp="1"/>
          </p:cNvSpPr>
          <p:nvPr/>
        </p:nvSpPr>
        <p:spPr>
          <a:xfrm>
            <a:off x="457200" y="1664208"/>
            <a:ext cx="5669280" cy="475488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l"/>
            <a:r>
              <a:rPr lang="es-ES" sz="3200" dirty="0" b="1">
                <a:solidFill>
                  <a:srgbClr val="C8DDFF"/>
                </a:solidFill>
                <a:latin typeface="Calibri"/>
              </a:rPr>
              <a:t>de Nueva Generacion</a:t>
            </a:r>
          </a:p>
        </p:txBody>
      </p:sp>
      <p:sp>
        <p:nvSpPr>
          <p:cNvPr id="8" name="sub"/>
          <p:cNvSpPr txBox="1">
            <a:spLocks noGrp="1"/>
          </p:cNvSpPr>
          <p:nvPr/>
        </p:nvSpPr>
        <p:spPr>
          <a:xfrm>
            <a:off x="457200" y="2249424"/>
            <a:ext cx="5669280" cy="256032"/>
          </a:xfrm>
          <a:prstGeom prst="rect">
            <a:avLst/>
          </a:prstGeom>
          <a:noFill/>
          <a:ln>
            <a:noFill/>
          </a:ln>
        </p:spPr>
        <p:txBody>
          <a:bodyPr anchor="t" wrap="square" lIns="91440" rIns="91440" tIns="45720" bIns="45720">
            <a:noAutofit/>
          </a:bodyPr>
          <a:lstStyle/>
          <a:p>
            <a:pPr algn="l"/>
            <a:r>
              <a:rPr lang="es-ES" sz="1100" dirty="0">
                <a:solidFill>
                  <a:srgbClr val="8AB0E8"/>
                </a:solidFill>
                <a:latin typeface="Calibri"/>
              </a:rPr>
              <a:t>Diagnostico Actual · Estado de las 12 Mesas · Julio 2026</a:t>
            </a:r>
          </a:p>
        </p:txBody>
      </p:sp>
      <p:sp>
        <p:nvSpPr>
          <p:cNvPr id="10" name="dn"/>
          <p:cNvSpPr txBox="1">
            <a:spLocks noGrp="1"/>
          </p:cNvSpPr>
          <p:nvPr/>
        </p:nvSpPr>
        <p:spPr>
          <a:xfrm>
            <a:off x="457200" y="3968496"/>
            <a:ext cx="1645920" cy="256032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l"/>
            <a:r>
              <a:rPr lang="es-ES" sz="2200" dirty="0" b="1">
                <a:solidFill>
                  <a:srgbClr val="FFFFFF"/>
                </a:solidFill>
                <a:latin typeface="Calibri"/>
              </a:rPr>
              <a:t>12</a:t>
            </a:r>
            <a:r>
              <a:rPr lang="es-ES" sz="1000" dirty="0">
                <a:solidFill>
                  <a:srgbClr val="D6E8FF"/>
                </a:solidFill>
                <a:latin typeface="Calibri"/>
              </a:rPr>
              <a:t>  mesas activas</a:t>
            </a:r>
          </a:p>
        </p:txBody>
      </p:sp>
      <p:sp>
        <p:nvSpPr>
          <p:cNvPr id="12" name="dn"/>
          <p:cNvSpPr txBox="1">
            <a:spLocks noGrp="1"/>
          </p:cNvSpPr>
          <p:nvPr/>
        </p:nvSpPr>
        <p:spPr>
          <a:xfrm>
            <a:off x="2286000" y="3968496"/>
            <a:ext cx="1645920" cy="256032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l"/>
            <a:r>
              <a:rPr lang="es-ES" sz="2200" dirty="0" b="1">
                <a:solidFill>
                  <a:srgbClr val="FFFFFF"/>
                </a:solidFill>
                <a:latin typeface="Calibri"/>
              </a:rPr>
              <a:t>69</a:t>
            </a:r>
            <a:r>
              <a:rPr lang="es-ES" sz="1000" dirty="0">
                <a:solidFill>
                  <a:srgbClr val="D6E8FF"/>
                </a:solidFill>
                <a:latin typeface="Calibri"/>
              </a:rPr>
              <a:t>  FTE totales</a:t>
            </a:r>
          </a:p>
        </p:txBody>
      </p:sp>
      <p:sp>
        <p:nvSpPr>
          <p:cNvPr id="14" name="dn"/>
          <p:cNvSpPr txBox="1">
            <a:spLocks noGrp="1"/>
          </p:cNvSpPr>
          <p:nvPr/>
        </p:nvSpPr>
        <p:spPr>
          <a:xfrm>
            <a:off x="4114800" y="3968496"/>
            <a:ext cx="1645920" cy="256032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l"/>
            <a:r>
              <a:rPr lang="es-ES" sz="2200" dirty="0" b="1">
                <a:solidFill>
                  <a:srgbClr val="FFFFFF"/>
                </a:solidFill>
                <a:latin typeface="Calibri"/>
              </a:rPr>
              <a:t>5</a:t>
            </a:r>
            <a:r>
              <a:rPr lang="es-ES" sz="1000" dirty="0">
                <a:solidFill>
                  <a:srgbClr val="D6E8FF"/>
                </a:solidFill>
                <a:latin typeface="Calibri"/>
              </a:rPr>
              <a:t>  clientes</a:t>
            </a:r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bg"/>
          <p:cNvSpPr>
            <a:spLocks noGrp="1"/>
          </p:cNvSpPr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hdr"/>
          <p:cNvSpPr>
            <a:spLocks noGrp="1"/>
          </p:cNvSpPr>
          <p:nvPr/>
        </p:nvSpPr>
        <p:spPr>
          <a:xfrm>
            <a:off x="0" y="0"/>
            <a:ext cx="9144000" cy="694944"/>
          </a:xfrm>
          <a:prstGeom prst="rect">
            <a:avLst/>
          </a:prstGeom>
          <a:solidFill>
            <a:srgbClr val="0D1B5E"/>
          </a:solidFill>
          <a:ln>
            <a:noFill/>
          </a:ln>
        </p:spPr>
      </p:sp>
      <p:sp>
        <p:nvSpPr>
          <p:cNvPr id="4" name="ttl"/>
          <p:cNvSpPr txBox="1">
            <a:spLocks noGrp="1"/>
          </p:cNvSpPr>
          <p:nvPr/>
        </p:nvSpPr>
        <p:spPr>
          <a:xfrm>
            <a:off x="347472" y="100584"/>
            <a:ext cx="7717536" cy="493776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l"/>
            <a:r>
              <a:rPr lang="es-ES" sz="2000" dirty="0" b="1">
                <a:solidFill>
                  <a:srgbClr val="FFFFFF"/>
                </a:solidFill>
                <a:latin typeface="Calibri"/>
              </a:rPr>
              <a:t>¿Dónde estamos? — 12 Mesas, 5 Clientes, 0 en N3</a:t>
            </a:r>
          </a:p>
        </p:txBody>
      </p:sp>
      <p:sp>
        <p:nvSpPr>
          <p:cNvPr id="5" name="sub"/>
          <p:cNvSpPr txBox="1">
            <a:spLocks noGrp="1"/>
          </p:cNvSpPr>
          <p:nvPr/>
        </p:nvSpPr>
        <p:spPr>
          <a:xfrm>
            <a:off x="347472" y="585216"/>
            <a:ext cx="7717536" cy="219456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l"/>
            <a:r>
              <a:rPr lang="es-ES" sz="960" dirty="0">
                <a:solidFill>
                  <a:srgbClr val="D6E8FF"/>
                </a:solidFill>
                <a:latin typeface="Calibri"/>
              </a:rPr>
              <a:t>Ninguna mesa ha llegado al nivel minimo de madurez (N3) · Meta Wave 1: todas a N3 antes de Dic 2026</a:t>
            </a:r>
          </a:p>
        </p:txBody>
      </p:sp>
      <p:sp>
        <p:nvSpPr>
          <p:cNvPr id="10" name="kb"/>
          <p:cNvSpPr>
            <a:spLocks noGrp="1"/>
          </p:cNvSpPr>
          <p:nvPr/>
        </p:nvSpPr>
        <p:spPr>
          <a:xfrm>
            <a:off x="320040" y="804672"/>
            <a:ext cx="1828800" cy="804672"/>
          </a:xfrm>
          <a:prstGeom prst="roundRect">
            <a:avLst>
              <a:gd name="adj" fmla="val 14000"/>
            </a:avLst>
          </a:prstGeom>
          <a:solidFill>
            <a:srgbClr val="EBF4FF"/>
          </a:solidFill>
          <a:ln w="12700">
            <a:solidFill>
              <a:srgbClr val="1A3A8F"/>
            </a:solidFill>
          </a:ln>
        </p:spPr>
      </p:sp>
      <p:sp>
        <p:nvSpPr>
          <p:cNvPr id="11" name="kt"/>
          <p:cNvSpPr>
            <a:spLocks noGrp="1"/>
          </p:cNvSpPr>
          <p:nvPr/>
        </p:nvSpPr>
        <p:spPr>
          <a:xfrm>
            <a:off x="320040" y="804672"/>
            <a:ext cx="1828800" cy="54864"/>
          </a:xfrm>
          <a:prstGeom prst="roundRect">
            <a:avLst>
              <a:gd name="adj" fmla="val 14000"/>
            </a:avLst>
          </a:prstGeom>
          <a:solidFill>
            <a:srgbClr val="1A3A8F"/>
          </a:solidFill>
          <a:ln>
            <a:noFill/>
          </a:ln>
        </p:spPr>
      </p:sp>
      <p:sp>
        <p:nvSpPr>
          <p:cNvPr id="12" name="kn"/>
          <p:cNvSpPr txBox="1">
            <a:spLocks noGrp="1"/>
          </p:cNvSpPr>
          <p:nvPr/>
        </p:nvSpPr>
        <p:spPr>
          <a:xfrm>
            <a:off x="320040" y="896112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2600" dirty="0" b="1">
                <a:solidFill>
                  <a:srgbClr val="1A3A8F"/>
                </a:solidFill>
                <a:latin typeface="Calibri"/>
              </a:rPr>
              <a:t>12</a:t>
            </a:r>
          </a:p>
        </p:txBody>
      </p:sp>
      <p:sp>
        <p:nvSpPr>
          <p:cNvPr id="13" name="kl"/>
          <p:cNvSpPr txBox="1">
            <a:spLocks noGrp="1"/>
          </p:cNvSpPr>
          <p:nvPr/>
        </p:nvSpPr>
        <p:spPr>
          <a:xfrm>
            <a:off x="393192" y="1335024"/>
            <a:ext cx="1682496" cy="256032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840" dirty="0">
                <a:solidFill>
                  <a:srgbClr val="1A3A8F"/>
                </a:solidFill>
                <a:latin typeface="Calibri"/>
              </a:rPr>
              <a:t>mesas
levantadas</a:t>
            </a:r>
          </a:p>
        </p:txBody>
      </p:sp>
      <p:sp>
        <p:nvSpPr>
          <p:cNvPr id="15" name="kb"/>
          <p:cNvSpPr>
            <a:spLocks noGrp="1"/>
          </p:cNvSpPr>
          <p:nvPr/>
        </p:nvSpPr>
        <p:spPr>
          <a:xfrm>
            <a:off x="2258568" y="804672"/>
            <a:ext cx="1828800" cy="804672"/>
          </a:xfrm>
          <a:prstGeom prst="roundRect">
            <a:avLst>
              <a:gd name="adj" fmla="val 14000"/>
            </a:avLst>
          </a:prstGeom>
          <a:solidFill>
            <a:srgbClr val="E8EDF8"/>
          </a:solidFill>
          <a:ln w="12700">
            <a:solidFill>
              <a:srgbClr val="0D1B5E"/>
            </a:solidFill>
          </a:ln>
        </p:spPr>
      </p:sp>
      <p:sp>
        <p:nvSpPr>
          <p:cNvPr id="16" name="kt"/>
          <p:cNvSpPr>
            <a:spLocks noGrp="1"/>
          </p:cNvSpPr>
          <p:nvPr/>
        </p:nvSpPr>
        <p:spPr>
          <a:xfrm>
            <a:off x="2258568" y="804672"/>
            <a:ext cx="1828800" cy="54864"/>
          </a:xfrm>
          <a:prstGeom prst="roundRect">
            <a:avLst>
              <a:gd name="adj" fmla="val 14000"/>
            </a:avLst>
          </a:prstGeom>
          <a:solidFill>
            <a:srgbClr val="0D1B5E"/>
          </a:solidFill>
          <a:ln>
            <a:noFill/>
          </a:ln>
        </p:spPr>
      </p:sp>
      <p:sp>
        <p:nvSpPr>
          <p:cNvPr id="17" name="kn"/>
          <p:cNvSpPr txBox="1">
            <a:spLocks noGrp="1"/>
          </p:cNvSpPr>
          <p:nvPr/>
        </p:nvSpPr>
        <p:spPr>
          <a:xfrm>
            <a:off x="2258568" y="896112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2600" dirty="0" b="1">
                <a:solidFill>
                  <a:srgbClr val="0D1B5E"/>
                </a:solidFill>
                <a:latin typeface="Calibri"/>
              </a:rPr>
              <a:t>69</a:t>
            </a:r>
          </a:p>
        </p:txBody>
      </p:sp>
      <p:sp>
        <p:nvSpPr>
          <p:cNvPr id="18" name="kl"/>
          <p:cNvSpPr txBox="1">
            <a:spLocks noGrp="1"/>
          </p:cNvSpPr>
          <p:nvPr/>
        </p:nvSpPr>
        <p:spPr>
          <a:xfrm>
            <a:off x="2331720" y="1335024"/>
            <a:ext cx="1682496" cy="256032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840" dirty="0">
                <a:solidFill>
                  <a:srgbClr val="0D1B5E"/>
                </a:solidFill>
                <a:latin typeface="Calibri"/>
              </a:rPr>
              <a:t>FTE
totales</a:t>
            </a:r>
          </a:p>
        </p:txBody>
      </p:sp>
      <p:sp>
        <p:nvSpPr>
          <p:cNvPr id="20" name="kb"/>
          <p:cNvSpPr>
            <a:spLocks noGrp="1"/>
          </p:cNvSpPr>
          <p:nvPr/>
        </p:nvSpPr>
        <p:spPr>
          <a:xfrm>
            <a:off x="4197096" y="804672"/>
            <a:ext cx="1828800" cy="804672"/>
          </a:xfrm>
          <a:prstGeom prst="roundRect">
            <a:avLst>
              <a:gd name="adj" fmla="val 14000"/>
            </a:avLst>
          </a:prstGeom>
          <a:solidFill>
            <a:srgbClr val="FEF2F2"/>
          </a:solidFill>
          <a:ln w="12700">
            <a:solidFill>
              <a:srgbClr val="B91C1C"/>
            </a:solidFill>
          </a:ln>
        </p:spPr>
      </p:sp>
      <p:sp>
        <p:nvSpPr>
          <p:cNvPr id="21" name="kt"/>
          <p:cNvSpPr>
            <a:spLocks noGrp="1"/>
          </p:cNvSpPr>
          <p:nvPr/>
        </p:nvSpPr>
        <p:spPr>
          <a:xfrm>
            <a:off x="4197096" y="804672"/>
            <a:ext cx="1828800" cy="54864"/>
          </a:xfrm>
          <a:prstGeom prst="roundRect">
            <a:avLst>
              <a:gd name="adj" fmla="val 14000"/>
            </a:avLst>
          </a:prstGeom>
          <a:solidFill>
            <a:srgbClr val="B91C1C"/>
          </a:solidFill>
          <a:ln>
            <a:noFill/>
          </a:ln>
        </p:spPr>
      </p:sp>
      <p:sp>
        <p:nvSpPr>
          <p:cNvPr id="22" name="kn"/>
          <p:cNvSpPr txBox="1">
            <a:spLocks noGrp="1"/>
          </p:cNvSpPr>
          <p:nvPr/>
        </p:nvSpPr>
        <p:spPr>
          <a:xfrm>
            <a:off x="4197096" y="896112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2600" dirty="0" b="1">
                <a:solidFill>
                  <a:srgbClr val="B91C1C"/>
                </a:solidFill>
                <a:latin typeface="Calibri"/>
              </a:rPr>
              <a:t>0</a:t>
            </a:r>
          </a:p>
        </p:txBody>
      </p:sp>
      <p:sp>
        <p:nvSpPr>
          <p:cNvPr id="23" name="kl"/>
          <p:cNvSpPr txBox="1">
            <a:spLocks noGrp="1"/>
          </p:cNvSpPr>
          <p:nvPr/>
        </p:nvSpPr>
        <p:spPr>
          <a:xfrm>
            <a:off x="4270248" y="1335024"/>
            <a:ext cx="1682496" cy="256032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840" dirty="0">
                <a:solidFill>
                  <a:srgbClr val="B91C1C"/>
                </a:solidFill>
                <a:latin typeface="Calibri"/>
              </a:rPr>
              <a:t>mesas en
N3 META</a:t>
            </a:r>
          </a:p>
        </p:txBody>
      </p:sp>
      <p:sp>
        <p:nvSpPr>
          <p:cNvPr id="25" name="kb"/>
          <p:cNvSpPr>
            <a:spLocks noGrp="1"/>
          </p:cNvSpPr>
          <p:nvPr/>
        </p:nvSpPr>
        <p:spPr>
          <a:xfrm>
            <a:off x="6135624" y="804672"/>
            <a:ext cx="1828800" cy="804672"/>
          </a:xfrm>
          <a:prstGeom prst="roundRect">
            <a:avLst>
              <a:gd name="adj" fmla="val 14000"/>
            </a:avLst>
          </a:prstGeom>
          <a:solidFill>
            <a:srgbClr val="E4F4F6"/>
          </a:solidFill>
          <a:ln w="12700">
            <a:solidFill>
              <a:srgbClr val="1B7B85"/>
            </a:solidFill>
          </a:ln>
        </p:spPr>
      </p:sp>
      <p:sp>
        <p:nvSpPr>
          <p:cNvPr id="26" name="kt"/>
          <p:cNvSpPr>
            <a:spLocks noGrp="1"/>
          </p:cNvSpPr>
          <p:nvPr/>
        </p:nvSpPr>
        <p:spPr>
          <a:xfrm>
            <a:off x="6135624" y="804672"/>
            <a:ext cx="1828800" cy="54864"/>
          </a:xfrm>
          <a:prstGeom prst="roundRect">
            <a:avLst>
              <a:gd name="adj" fmla="val 14000"/>
            </a:avLst>
          </a:prstGeom>
          <a:solidFill>
            <a:srgbClr val="1B7B85"/>
          </a:solidFill>
          <a:ln>
            <a:noFill/>
          </a:ln>
        </p:spPr>
      </p:sp>
      <p:sp>
        <p:nvSpPr>
          <p:cNvPr id="27" name="kn"/>
          <p:cNvSpPr txBox="1">
            <a:spLocks noGrp="1"/>
          </p:cNvSpPr>
          <p:nvPr/>
        </p:nvSpPr>
        <p:spPr>
          <a:xfrm>
            <a:off x="6135624" y="896112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2600" dirty="0" b="1">
                <a:solidFill>
                  <a:srgbClr val="1B7B85"/>
                </a:solidFill>
                <a:latin typeface="Calibri"/>
              </a:rPr>
              <a:t>5</a:t>
            </a:r>
          </a:p>
        </p:txBody>
      </p:sp>
      <p:sp>
        <p:nvSpPr>
          <p:cNvPr id="28" name="kl"/>
          <p:cNvSpPr txBox="1">
            <a:spLocks noGrp="1"/>
          </p:cNvSpPr>
          <p:nvPr/>
        </p:nvSpPr>
        <p:spPr>
          <a:xfrm>
            <a:off x="6208776" y="1335024"/>
            <a:ext cx="1682496" cy="256032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840" dirty="0">
                <a:solidFill>
                  <a:srgbClr val="1B7B85"/>
                </a:solidFill>
                <a:latin typeface="Calibri"/>
              </a:rPr>
              <a:t>clientes
activos</a:t>
            </a:r>
          </a:p>
        </p:txBody>
      </p:sp>
      <p:sp>
        <p:nvSpPr>
          <p:cNvPr id="30" name="bg2"/>
          <p:cNvSpPr>
            <a:spLocks noGrp="1"/>
          </p:cNvSpPr>
          <p:nvPr/>
        </p:nvSpPr>
        <p:spPr>
          <a:xfrm>
            <a:off x="320040" y="1737360"/>
            <a:ext cx="7717536" cy="914400"/>
          </a:xfrm>
          <a:prstGeom prst="roundRect">
            <a:avLst>
              <a:gd name="adj" fmla="val 10000"/>
            </a:avLst>
          </a:prstGeom>
          <a:solidFill>
            <a:srgbClr val="FEF2F2"/>
          </a:solidFill>
          <a:ln w="19050">
            <a:solidFill>
              <a:srgbClr val="FCA5A5"/>
            </a:solidFill>
          </a:ln>
        </p:spPr>
      </p:sp>
      <p:sp>
        <p:nvSpPr>
          <p:cNvPr id="31" name="nb"/>
          <p:cNvSpPr>
            <a:spLocks noGrp="1"/>
          </p:cNvSpPr>
          <p:nvPr/>
        </p:nvSpPr>
        <p:spPr>
          <a:xfrm>
            <a:off x="320040" y="1737360"/>
            <a:ext cx="786384" cy="914400"/>
          </a:xfrm>
          <a:prstGeom prst="roundRect">
            <a:avLst>
              <a:gd name="adj" fmla="val 10000"/>
            </a:avLst>
          </a:prstGeom>
          <a:solidFill>
            <a:srgbClr val="B91C1C"/>
          </a:solidFill>
          <a:ln>
            <a:noFill/>
          </a:ln>
        </p:spPr>
      </p:sp>
      <p:sp>
        <p:nvSpPr>
          <p:cNvPr id="32" name="nt"/>
          <p:cNvSpPr txBox="1">
            <a:spLocks noGrp="1"/>
          </p:cNvSpPr>
          <p:nvPr/>
        </p:nvSpPr>
        <p:spPr>
          <a:xfrm>
            <a:off x="320040" y="1810512"/>
            <a:ext cx="786384" cy="493776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1600" dirty="0" b="1">
                <a:solidFill>
                  <a:srgbClr val="FFFFFF"/>
                </a:solidFill>
                <a:latin typeface="Calibri"/>
              </a:rPr>
              <a:t>N1</a:t>
            </a:r>
          </a:p>
        </p:txBody>
      </p:sp>
      <p:sp>
        <p:nvSpPr>
          <p:cNvPr id="33" name="nl"/>
          <p:cNvSpPr txBox="1">
            <a:spLocks noGrp="1"/>
          </p:cNvSpPr>
          <p:nvPr/>
        </p:nvSpPr>
        <p:spPr>
          <a:xfrm>
            <a:off x="320040" y="2286000"/>
            <a:ext cx="786384" cy="201168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740" dirty="0" b="1">
                <a:solidFill>
                  <a:srgbClr val="FFFFFF"/>
                </a:solidFill>
                <a:latin typeface="Calibri"/>
              </a:rPr>
              <a:t>Inicial</a:t>
            </a:r>
          </a:p>
        </p:txBody>
      </p:sp>
      <p:sp>
        <p:nvSpPr>
          <p:cNvPr id="40" name="mc"/>
          <p:cNvSpPr>
            <a:spLocks noGrp="1"/>
          </p:cNvSpPr>
          <p:nvPr/>
        </p:nvSpPr>
        <p:spPr>
          <a:xfrm>
            <a:off x="1161288" y="1810512"/>
            <a:ext cx="922237" cy="7680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FCA5A5"/>
            </a:solidFill>
          </a:ln>
        </p:spPr>
      </p:sp>
      <p:sp>
        <p:nvSpPr>
          <p:cNvPr id="41" name="mb"/>
          <p:cNvSpPr>
            <a:spLocks noGrp="1"/>
          </p:cNvSpPr>
          <p:nvPr/>
        </p:nvSpPr>
        <p:spPr>
          <a:xfrm>
            <a:off x="1161288" y="1810512"/>
            <a:ext cx="922237" cy="36576"/>
          </a:xfrm>
          <a:prstGeom prst="roundRect">
            <a:avLst>
              <a:gd name="adj" fmla="val 8000"/>
            </a:avLst>
          </a:prstGeom>
          <a:solidFill>
            <a:srgbClr val="B91C1C"/>
          </a:solidFill>
          <a:ln>
            <a:noFill/>
          </a:ln>
        </p:spPr>
      </p:sp>
      <p:sp>
        <p:nvSpPr>
          <p:cNvPr id="42" name="mt"/>
          <p:cNvSpPr txBox="1">
            <a:spLocks noGrp="1"/>
          </p:cNvSpPr>
          <p:nvPr/>
        </p:nvSpPr>
        <p:spPr>
          <a:xfrm>
            <a:off x="1216152" y="1883664"/>
            <a:ext cx="812509" cy="548640"/>
          </a:xfrm>
          <a:prstGeom prst="rect">
            <a:avLst/>
          </a:prstGeom>
          <a:noFill/>
          <a:ln>
            <a:noFill/>
          </a:ln>
        </p:spPr>
        <p:txBody>
          <a:bodyPr anchor="t" wrap="square" lIns="91440" rIns="91440" tIns="45720" bIns="45720">
            <a:noAutofit/>
          </a:bodyPr>
          <a:lstStyle/>
          <a:p>
            <a:pPr algn="ctr"/>
            <a:r>
              <a:rPr lang="es-ES" sz="780" dirty="0" b="1">
                <a:solidFill>
                  <a:srgbClr val="B91C1C"/>
                </a:solidFill>
                <a:latin typeface="Calibri"/>
              </a:rPr>
              <a:t>AES</a:t>
            </a:r>
          </a:p>
          <a:p>
            <a:pPr algn="ctr"/>
            <a:r>
              <a:rPr lang="es-ES" sz="700" dirty="0" i="1">
                <a:solidFill>
                  <a:srgbClr val="5A6475"/>
                </a:solidFill>
                <a:latin typeface="Calibri"/>
              </a:rPr>
              <a:t>Energia · 4 FTE</a:t>
            </a:r>
          </a:p>
        </p:txBody>
      </p:sp>
      <p:sp>
        <p:nvSpPr>
          <p:cNvPr id="43" name="mc"/>
          <p:cNvSpPr>
            <a:spLocks noGrp="1"/>
          </p:cNvSpPr>
          <p:nvPr/>
        </p:nvSpPr>
        <p:spPr>
          <a:xfrm>
            <a:off x="2138389" y="1810512"/>
            <a:ext cx="922237" cy="7680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FCA5A5"/>
            </a:solidFill>
          </a:ln>
        </p:spPr>
      </p:sp>
      <p:sp>
        <p:nvSpPr>
          <p:cNvPr id="44" name="mb"/>
          <p:cNvSpPr>
            <a:spLocks noGrp="1"/>
          </p:cNvSpPr>
          <p:nvPr/>
        </p:nvSpPr>
        <p:spPr>
          <a:xfrm>
            <a:off x="2138389" y="1810512"/>
            <a:ext cx="922237" cy="36576"/>
          </a:xfrm>
          <a:prstGeom prst="roundRect">
            <a:avLst>
              <a:gd name="adj" fmla="val 8000"/>
            </a:avLst>
          </a:prstGeom>
          <a:solidFill>
            <a:srgbClr val="B91C1C"/>
          </a:solidFill>
          <a:ln>
            <a:noFill/>
          </a:ln>
        </p:spPr>
      </p:sp>
      <p:sp>
        <p:nvSpPr>
          <p:cNvPr id="45" name="mt"/>
          <p:cNvSpPr txBox="1">
            <a:spLocks noGrp="1"/>
          </p:cNvSpPr>
          <p:nvPr/>
        </p:nvSpPr>
        <p:spPr>
          <a:xfrm>
            <a:off x="2193253" y="1883664"/>
            <a:ext cx="812509" cy="548640"/>
          </a:xfrm>
          <a:prstGeom prst="rect">
            <a:avLst/>
          </a:prstGeom>
          <a:noFill/>
          <a:ln>
            <a:noFill/>
          </a:ln>
        </p:spPr>
        <p:txBody>
          <a:bodyPr anchor="t" wrap="square" lIns="91440" rIns="91440" tIns="45720" bIns="45720">
            <a:noAutofit/>
          </a:bodyPr>
          <a:lstStyle/>
          <a:p>
            <a:pPr algn="ctr"/>
            <a:r>
              <a:rPr lang="es-ES" sz="780" dirty="0" b="1">
                <a:solidFill>
                  <a:srgbClr val="B91C1C"/>
                </a:solidFill>
                <a:latin typeface="Calibri"/>
              </a:rPr>
              <a:t>BCO COES Integracion</a:t>
            </a:r>
          </a:p>
          <a:p>
            <a:pPr algn="ctr"/>
            <a:r>
              <a:rPr lang="es-ES" sz="700" dirty="0" i="1">
                <a:solidFill>
                  <a:srgbClr val="5A6475"/>
                </a:solidFill>
                <a:latin typeface="Calibri"/>
              </a:rPr>
              <a:t>Banca · 7 FTE</a:t>
            </a:r>
          </a:p>
        </p:txBody>
      </p:sp>
      <p:sp>
        <p:nvSpPr>
          <p:cNvPr id="46" name="mc"/>
          <p:cNvSpPr>
            <a:spLocks noGrp="1"/>
          </p:cNvSpPr>
          <p:nvPr/>
        </p:nvSpPr>
        <p:spPr>
          <a:xfrm>
            <a:off x="3115491" y="1810512"/>
            <a:ext cx="922237" cy="7680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FCA5A5"/>
            </a:solidFill>
          </a:ln>
        </p:spPr>
      </p:sp>
      <p:sp>
        <p:nvSpPr>
          <p:cNvPr id="47" name="mb"/>
          <p:cNvSpPr>
            <a:spLocks noGrp="1"/>
          </p:cNvSpPr>
          <p:nvPr/>
        </p:nvSpPr>
        <p:spPr>
          <a:xfrm>
            <a:off x="3115491" y="1810512"/>
            <a:ext cx="922237" cy="36576"/>
          </a:xfrm>
          <a:prstGeom prst="roundRect">
            <a:avLst>
              <a:gd name="adj" fmla="val 8000"/>
            </a:avLst>
          </a:prstGeom>
          <a:solidFill>
            <a:srgbClr val="B91C1C"/>
          </a:solidFill>
          <a:ln>
            <a:noFill/>
          </a:ln>
        </p:spPr>
      </p:sp>
      <p:sp>
        <p:nvSpPr>
          <p:cNvPr id="48" name="mt"/>
          <p:cNvSpPr txBox="1">
            <a:spLocks noGrp="1"/>
          </p:cNvSpPr>
          <p:nvPr/>
        </p:nvSpPr>
        <p:spPr>
          <a:xfrm>
            <a:off x="3170355" y="1883664"/>
            <a:ext cx="812509" cy="548640"/>
          </a:xfrm>
          <a:prstGeom prst="rect">
            <a:avLst/>
          </a:prstGeom>
          <a:noFill/>
          <a:ln>
            <a:noFill/>
          </a:ln>
        </p:spPr>
        <p:txBody>
          <a:bodyPr anchor="t" wrap="square" lIns="91440" rIns="91440" tIns="45720" bIns="45720">
            <a:noAutofit/>
          </a:bodyPr>
          <a:lstStyle/>
          <a:p>
            <a:pPr algn="ctr"/>
            <a:r>
              <a:rPr lang="es-ES" sz="780" dirty="0" b="1">
                <a:solidFill>
                  <a:srgbClr val="B91C1C"/>
                </a:solidFill>
                <a:latin typeface="Calibri"/>
              </a:rPr>
              <a:t>BCO COES Datos</a:t>
            </a:r>
          </a:p>
          <a:p>
            <a:pPr algn="ctr"/>
            <a:r>
              <a:rPr lang="es-ES" sz="700" dirty="0" i="1">
                <a:solidFill>
                  <a:srgbClr val="5A6475"/>
                </a:solidFill>
                <a:latin typeface="Calibri"/>
              </a:rPr>
              <a:t>Banca · 7 FTE</a:t>
            </a:r>
          </a:p>
        </p:txBody>
      </p:sp>
      <p:sp>
        <p:nvSpPr>
          <p:cNvPr id="49" name="mc"/>
          <p:cNvSpPr>
            <a:spLocks noGrp="1"/>
          </p:cNvSpPr>
          <p:nvPr/>
        </p:nvSpPr>
        <p:spPr>
          <a:xfrm>
            <a:off x="4092593" y="1810512"/>
            <a:ext cx="922237" cy="7680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FCA5A5"/>
            </a:solidFill>
          </a:ln>
        </p:spPr>
      </p:sp>
      <p:sp>
        <p:nvSpPr>
          <p:cNvPr id="50" name="mb"/>
          <p:cNvSpPr>
            <a:spLocks noGrp="1"/>
          </p:cNvSpPr>
          <p:nvPr/>
        </p:nvSpPr>
        <p:spPr>
          <a:xfrm>
            <a:off x="4092593" y="1810512"/>
            <a:ext cx="922237" cy="36576"/>
          </a:xfrm>
          <a:prstGeom prst="roundRect">
            <a:avLst>
              <a:gd name="adj" fmla="val 8000"/>
            </a:avLst>
          </a:prstGeom>
          <a:solidFill>
            <a:srgbClr val="B91C1C"/>
          </a:solidFill>
          <a:ln>
            <a:noFill/>
          </a:ln>
        </p:spPr>
      </p:sp>
      <p:sp>
        <p:nvSpPr>
          <p:cNvPr id="51" name="mt"/>
          <p:cNvSpPr txBox="1">
            <a:spLocks noGrp="1"/>
          </p:cNvSpPr>
          <p:nvPr/>
        </p:nvSpPr>
        <p:spPr>
          <a:xfrm>
            <a:off x="4147457" y="1883664"/>
            <a:ext cx="812509" cy="548640"/>
          </a:xfrm>
          <a:prstGeom prst="rect">
            <a:avLst/>
          </a:prstGeom>
          <a:noFill/>
          <a:ln>
            <a:noFill/>
          </a:ln>
        </p:spPr>
        <p:txBody>
          <a:bodyPr anchor="t" wrap="square" lIns="91440" rIns="91440" tIns="45720" bIns="45720">
            <a:noAutofit/>
          </a:bodyPr>
          <a:lstStyle/>
          <a:p>
            <a:pPr algn="ctr"/>
            <a:r>
              <a:rPr lang="es-ES" sz="780" dirty="0" b="1">
                <a:solidFill>
                  <a:srgbClr val="B91C1C"/>
                </a:solidFill>
                <a:latin typeface="Calibri"/>
              </a:rPr>
              <a:t>BCO Soporte</a:t>
            </a:r>
          </a:p>
          <a:p>
            <a:pPr algn="ctr"/>
            <a:r>
              <a:rPr lang="es-ES" sz="700" dirty="0" i="1">
                <a:solidFill>
                  <a:srgbClr val="5A6475"/>
                </a:solidFill>
                <a:latin typeface="Calibri"/>
              </a:rPr>
              <a:t>Banca · 13 FTE</a:t>
            </a:r>
          </a:p>
        </p:txBody>
      </p:sp>
      <p:sp>
        <p:nvSpPr>
          <p:cNvPr id="52" name="mc"/>
          <p:cNvSpPr>
            <a:spLocks noGrp="1"/>
          </p:cNvSpPr>
          <p:nvPr/>
        </p:nvSpPr>
        <p:spPr>
          <a:xfrm>
            <a:off x="5069694" y="1810512"/>
            <a:ext cx="922237" cy="7680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FCA5A5"/>
            </a:solidFill>
          </a:ln>
        </p:spPr>
      </p:sp>
      <p:sp>
        <p:nvSpPr>
          <p:cNvPr id="53" name="mb"/>
          <p:cNvSpPr>
            <a:spLocks noGrp="1"/>
          </p:cNvSpPr>
          <p:nvPr/>
        </p:nvSpPr>
        <p:spPr>
          <a:xfrm>
            <a:off x="5069694" y="1810512"/>
            <a:ext cx="922237" cy="36576"/>
          </a:xfrm>
          <a:prstGeom prst="roundRect">
            <a:avLst>
              <a:gd name="adj" fmla="val 8000"/>
            </a:avLst>
          </a:prstGeom>
          <a:solidFill>
            <a:srgbClr val="B91C1C"/>
          </a:solidFill>
          <a:ln>
            <a:noFill/>
          </a:ln>
        </p:spPr>
      </p:sp>
      <p:sp>
        <p:nvSpPr>
          <p:cNvPr id="54" name="mt"/>
          <p:cNvSpPr txBox="1">
            <a:spLocks noGrp="1"/>
          </p:cNvSpPr>
          <p:nvPr/>
        </p:nvSpPr>
        <p:spPr>
          <a:xfrm>
            <a:off x="5124558" y="1883664"/>
            <a:ext cx="812509" cy="548640"/>
          </a:xfrm>
          <a:prstGeom prst="rect">
            <a:avLst/>
          </a:prstGeom>
          <a:noFill/>
          <a:ln>
            <a:noFill/>
          </a:ln>
        </p:spPr>
        <p:txBody>
          <a:bodyPr anchor="t" wrap="square" lIns="91440" rIns="91440" tIns="45720" bIns="45720">
            <a:noAutofit/>
          </a:bodyPr>
          <a:lstStyle/>
          <a:p>
            <a:pPr algn="ctr"/>
            <a:r>
              <a:rPr lang="es-ES" sz="780" dirty="0" b="1">
                <a:solidFill>
                  <a:srgbClr val="B91C1C"/>
                </a:solidFill>
                <a:latin typeface="Calibri"/>
              </a:rPr>
              <a:t>BCO COES Emma</a:t>
            </a:r>
          </a:p>
          <a:p>
            <a:pPr algn="ctr"/>
            <a:r>
              <a:rPr lang="es-ES" sz="700" dirty="0" i="1">
                <a:solidFill>
                  <a:srgbClr val="5A6475"/>
                </a:solidFill>
                <a:latin typeface="Calibri"/>
              </a:rPr>
              <a:t>Banca · 4 FTE</a:t>
            </a:r>
          </a:p>
        </p:txBody>
      </p:sp>
      <p:sp>
        <p:nvSpPr>
          <p:cNvPr id="55" name="mc"/>
          <p:cNvSpPr>
            <a:spLocks noGrp="1"/>
          </p:cNvSpPr>
          <p:nvPr/>
        </p:nvSpPr>
        <p:spPr>
          <a:xfrm>
            <a:off x="6046796" y="1810512"/>
            <a:ext cx="922237" cy="7680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FCA5A5"/>
            </a:solidFill>
          </a:ln>
        </p:spPr>
      </p:sp>
      <p:sp>
        <p:nvSpPr>
          <p:cNvPr id="56" name="mb"/>
          <p:cNvSpPr>
            <a:spLocks noGrp="1"/>
          </p:cNvSpPr>
          <p:nvPr/>
        </p:nvSpPr>
        <p:spPr>
          <a:xfrm>
            <a:off x="6046796" y="1810512"/>
            <a:ext cx="922237" cy="36576"/>
          </a:xfrm>
          <a:prstGeom prst="roundRect">
            <a:avLst>
              <a:gd name="adj" fmla="val 8000"/>
            </a:avLst>
          </a:prstGeom>
          <a:solidFill>
            <a:srgbClr val="B91C1C"/>
          </a:solidFill>
          <a:ln>
            <a:noFill/>
          </a:ln>
        </p:spPr>
      </p:sp>
      <p:sp>
        <p:nvSpPr>
          <p:cNvPr id="57" name="mt"/>
          <p:cNvSpPr txBox="1">
            <a:spLocks noGrp="1"/>
          </p:cNvSpPr>
          <p:nvPr/>
        </p:nvSpPr>
        <p:spPr>
          <a:xfrm>
            <a:off x="6101660" y="1883664"/>
            <a:ext cx="812509" cy="548640"/>
          </a:xfrm>
          <a:prstGeom prst="rect">
            <a:avLst/>
          </a:prstGeom>
          <a:noFill/>
          <a:ln>
            <a:noFill/>
          </a:ln>
        </p:spPr>
        <p:txBody>
          <a:bodyPr anchor="t" wrap="square" lIns="91440" rIns="91440" tIns="45720" bIns="45720">
            <a:noAutofit/>
          </a:bodyPr>
          <a:lstStyle/>
          <a:p>
            <a:pPr algn="ctr"/>
            <a:r>
              <a:rPr lang="es-ES" sz="780" dirty="0" b="1">
                <a:solidFill>
                  <a:srgbClr val="B91C1C"/>
                </a:solidFill>
                <a:latin typeface="Calibri"/>
              </a:rPr>
              <a:t>BCO Emma iSeries</a:t>
            </a:r>
          </a:p>
          <a:p>
            <a:pPr algn="ctr"/>
            <a:r>
              <a:rPr lang="es-ES" sz="700" dirty="0" i="1">
                <a:solidFill>
                  <a:srgbClr val="5A6475"/>
                </a:solidFill>
                <a:latin typeface="Calibri"/>
              </a:rPr>
              <a:t>Banca · 1 FTE</a:t>
            </a:r>
          </a:p>
        </p:txBody>
      </p:sp>
      <p:sp>
        <p:nvSpPr>
          <p:cNvPr id="58" name="mc"/>
          <p:cNvSpPr>
            <a:spLocks noGrp="1"/>
          </p:cNvSpPr>
          <p:nvPr/>
        </p:nvSpPr>
        <p:spPr>
          <a:xfrm>
            <a:off x="7023898" y="1810512"/>
            <a:ext cx="922237" cy="7680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FCA5A5"/>
            </a:solidFill>
          </a:ln>
        </p:spPr>
      </p:sp>
      <p:sp>
        <p:nvSpPr>
          <p:cNvPr id="59" name="mb"/>
          <p:cNvSpPr>
            <a:spLocks noGrp="1"/>
          </p:cNvSpPr>
          <p:nvPr/>
        </p:nvSpPr>
        <p:spPr>
          <a:xfrm>
            <a:off x="7023898" y="1810512"/>
            <a:ext cx="922237" cy="36576"/>
          </a:xfrm>
          <a:prstGeom prst="roundRect">
            <a:avLst>
              <a:gd name="adj" fmla="val 8000"/>
            </a:avLst>
          </a:prstGeom>
          <a:solidFill>
            <a:srgbClr val="B91C1C"/>
          </a:solidFill>
          <a:ln>
            <a:noFill/>
          </a:ln>
        </p:spPr>
      </p:sp>
      <p:sp>
        <p:nvSpPr>
          <p:cNvPr id="60" name="mt"/>
          <p:cNvSpPr txBox="1">
            <a:spLocks noGrp="1"/>
          </p:cNvSpPr>
          <p:nvPr/>
        </p:nvSpPr>
        <p:spPr>
          <a:xfrm>
            <a:off x="7078762" y="1883664"/>
            <a:ext cx="812509" cy="548640"/>
          </a:xfrm>
          <a:prstGeom prst="rect">
            <a:avLst/>
          </a:prstGeom>
          <a:noFill/>
          <a:ln>
            <a:noFill/>
          </a:ln>
        </p:spPr>
        <p:txBody>
          <a:bodyPr anchor="t" wrap="square" lIns="91440" rIns="91440" tIns="45720" bIns="45720">
            <a:noAutofit/>
          </a:bodyPr>
          <a:lstStyle/>
          <a:p>
            <a:pPr algn="ctr"/>
            <a:r>
              <a:rPr lang="es-ES" sz="780" dirty="0" b="1">
                <a:solidFill>
                  <a:srgbClr val="B91C1C"/>
                </a:solidFill>
                <a:latin typeface="Calibri"/>
              </a:rPr>
              <a:t>MEDICARTE</a:t>
            </a:r>
          </a:p>
          <a:p>
            <a:pPr algn="ctr"/>
            <a:r>
              <a:rPr lang="es-ES" sz="700" dirty="0" i="1">
                <a:solidFill>
                  <a:srgbClr val="5A6475"/>
                </a:solidFill>
                <a:latin typeface="Calibri"/>
              </a:rPr>
              <a:t>Salud · 12 FTE</a:t>
            </a:r>
          </a:p>
        </p:txBody>
      </p:sp>
      <p:sp>
        <p:nvSpPr>
          <p:cNvPr id="80" name="bg2"/>
          <p:cNvSpPr>
            <a:spLocks noGrp="1"/>
          </p:cNvSpPr>
          <p:nvPr/>
        </p:nvSpPr>
        <p:spPr>
          <a:xfrm>
            <a:off x="320040" y="2761488"/>
            <a:ext cx="7717536" cy="914400"/>
          </a:xfrm>
          <a:prstGeom prst="roundRect">
            <a:avLst>
              <a:gd name="adj" fmla="val 10000"/>
            </a:avLst>
          </a:prstGeom>
          <a:solidFill>
            <a:srgbClr val="EBF4FF"/>
          </a:solidFill>
          <a:ln w="19050">
            <a:solidFill>
              <a:srgbClr val="D6E8FF"/>
            </a:solidFill>
          </a:ln>
        </p:spPr>
      </p:sp>
      <p:sp>
        <p:nvSpPr>
          <p:cNvPr id="81" name="nb"/>
          <p:cNvSpPr>
            <a:spLocks noGrp="1"/>
          </p:cNvSpPr>
          <p:nvPr/>
        </p:nvSpPr>
        <p:spPr>
          <a:xfrm>
            <a:off x="320040" y="2761488"/>
            <a:ext cx="786384" cy="914400"/>
          </a:xfrm>
          <a:prstGeom prst="roundRect">
            <a:avLst>
              <a:gd name="adj" fmla="val 10000"/>
            </a:avLst>
          </a:prstGeom>
          <a:solidFill>
            <a:srgbClr val="1A3A8F"/>
          </a:solidFill>
          <a:ln>
            <a:noFill/>
          </a:ln>
        </p:spPr>
      </p:sp>
      <p:sp>
        <p:nvSpPr>
          <p:cNvPr id="82" name="nt"/>
          <p:cNvSpPr txBox="1">
            <a:spLocks noGrp="1"/>
          </p:cNvSpPr>
          <p:nvPr/>
        </p:nvSpPr>
        <p:spPr>
          <a:xfrm>
            <a:off x="320040" y="2834640"/>
            <a:ext cx="786384" cy="493776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1600" dirty="0" b="1">
                <a:solidFill>
                  <a:srgbClr val="FFFFFF"/>
                </a:solidFill>
                <a:latin typeface="Calibri"/>
              </a:rPr>
              <a:t>N2</a:t>
            </a:r>
          </a:p>
        </p:txBody>
      </p:sp>
      <p:sp>
        <p:nvSpPr>
          <p:cNvPr id="83" name="nl"/>
          <p:cNvSpPr txBox="1">
            <a:spLocks noGrp="1"/>
          </p:cNvSpPr>
          <p:nvPr/>
        </p:nvSpPr>
        <p:spPr>
          <a:xfrm>
            <a:off x="320040" y="3310128"/>
            <a:ext cx="786384" cy="201168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740" dirty="0" b="1">
                <a:solidFill>
                  <a:srgbClr val="FFFFFF"/>
                </a:solidFill>
                <a:latin typeface="Calibri"/>
              </a:rPr>
              <a:t>Admin.</a:t>
            </a:r>
          </a:p>
        </p:txBody>
      </p:sp>
      <p:sp>
        <p:nvSpPr>
          <p:cNvPr id="90" name="mc"/>
          <p:cNvSpPr>
            <a:spLocks noGrp="1"/>
          </p:cNvSpPr>
          <p:nvPr/>
        </p:nvSpPr>
        <p:spPr>
          <a:xfrm>
            <a:off x="1161288" y="2834640"/>
            <a:ext cx="1313078" cy="7680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6E8FF"/>
            </a:solidFill>
          </a:ln>
        </p:spPr>
      </p:sp>
      <p:sp>
        <p:nvSpPr>
          <p:cNvPr id="91" name="mb"/>
          <p:cNvSpPr>
            <a:spLocks noGrp="1"/>
          </p:cNvSpPr>
          <p:nvPr/>
        </p:nvSpPr>
        <p:spPr>
          <a:xfrm>
            <a:off x="1161288" y="2834640"/>
            <a:ext cx="1313078" cy="36576"/>
          </a:xfrm>
          <a:prstGeom prst="roundRect">
            <a:avLst>
              <a:gd name="adj" fmla="val 8000"/>
            </a:avLst>
          </a:prstGeom>
          <a:solidFill>
            <a:srgbClr val="1A3A8F"/>
          </a:solidFill>
          <a:ln>
            <a:noFill/>
          </a:ln>
        </p:spPr>
      </p:sp>
      <p:sp>
        <p:nvSpPr>
          <p:cNvPr id="92" name="mt"/>
          <p:cNvSpPr txBox="1">
            <a:spLocks noGrp="1"/>
          </p:cNvSpPr>
          <p:nvPr/>
        </p:nvSpPr>
        <p:spPr>
          <a:xfrm>
            <a:off x="1216152" y="2907792"/>
            <a:ext cx="1203350" cy="548640"/>
          </a:xfrm>
          <a:prstGeom prst="rect">
            <a:avLst/>
          </a:prstGeom>
          <a:noFill/>
          <a:ln>
            <a:noFill/>
          </a:ln>
        </p:spPr>
        <p:txBody>
          <a:bodyPr anchor="t" wrap="square" lIns="91440" rIns="91440" tIns="45720" bIns="45720">
            <a:noAutofit/>
          </a:bodyPr>
          <a:lstStyle/>
          <a:p>
            <a:pPr algn="ctr"/>
            <a:r>
              <a:rPr lang="es-ES" sz="780" dirty="0" b="1">
                <a:solidFill>
                  <a:srgbClr val="1A3A8F"/>
                </a:solidFill>
                <a:latin typeface="Calibri"/>
              </a:rPr>
              <a:t>SURA Cotizadores</a:t>
            </a:r>
          </a:p>
          <a:p>
            <a:pPr algn="ctr"/>
            <a:r>
              <a:rPr lang="es-ES" sz="700" dirty="0" i="1">
                <a:solidFill>
                  <a:srgbClr val="5A6475"/>
                </a:solidFill>
                <a:latin typeface="Calibri"/>
              </a:rPr>
              <a:t>Seguros · 8 FTE</a:t>
            </a:r>
          </a:p>
        </p:txBody>
      </p:sp>
      <p:sp>
        <p:nvSpPr>
          <p:cNvPr id="93" name="mc"/>
          <p:cNvSpPr>
            <a:spLocks noGrp="1"/>
          </p:cNvSpPr>
          <p:nvPr/>
        </p:nvSpPr>
        <p:spPr>
          <a:xfrm>
            <a:off x="2529230" y="2834640"/>
            <a:ext cx="1313078" cy="7680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6E8FF"/>
            </a:solidFill>
          </a:ln>
        </p:spPr>
      </p:sp>
      <p:sp>
        <p:nvSpPr>
          <p:cNvPr id="94" name="mb"/>
          <p:cNvSpPr>
            <a:spLocks noGrp="1"/>
          </p:cNvSpPr>
          <p:nvPr/>
        </p:nvSpPr>
        <p:spPr>
          <a:xfrm>
            <a:off x="2529230" y="2834640"/>
            <a:ext cx="1313078" cy="36576"/>
          </a:xfrm>
          <a:prstGeom prst="roundRect">
            <a:avLst>
              <a:gd name="adj" fmla="val 8000"/>
            </a:avLst>
          </a:prstGeom>
          <a:solidFill>
            <a:srgbClr val="1A3A8F"/>
          </a:solidFill>
          <a:ln>
            <a:noFill/>
          </a:ln>
        </p:spPr>
      </p:sp>
      <p:sp>
        <p:nvSpPr>
          <p:cNvPr id="95" name="mt"/>
          <p:cNvSpPr txBox="1">
            <a:spLocks noGrp="1"/>
          </p:cNvSpPr>
          <p:nvPr/>
        </p:nvSpPr>
        <p:spPr>
          <a:xfrm>
            <a:off x="2584094" y="2907792"/>
            <a:ext cx="1203350" cy="548640"/>
          </a:xfrm>
          <a:prstGeom prst="rect">
            <a:avLst/>
          </a:prstGeom>
          <a:noFill/>
          <a:ln>
            <a:noFill/>
          </a:ln>
        </p:spPr>
        <p:txBody>
          <a:bodyPr anchor="t" wrap="square" lIns="91440" rIns="91440" tIns="45720" bIns="45720">
            <a:noAutofit/>
          </a:bodyPr>
          <a:lstStyle/>
          <a:p>
            <a:pPr algn="ctr"/>
            <a:r>
              <a:rPr lang="es-ES" sz="780" dirty="0" b="1">
                <a:solidFill>
                  <a:srgbClr val="1A3A8F"/>
                </a:solidFill>
                <a:latin typeface="Calibri"/>
              </a:rPr>
              <a:t>SURA Venta Digital</a:t>
            </a:r>
          </a:p>
          <a:p>
            <a:pPr algn="ctr"/>
            <a:r>
              <a:rPr lang="es-ES" sz="700" dirty="0" i="1">
                <a:solidFill>
                  <a:srgbClr val="5A6475"/>
                </a:solidFill>
                <a:latin typeface="Calibri"/>
              </a:rPr>
              <a:t>Seguros · 2 FTE</a:t>
            </a:r>
          </a:p>
        </p:txBody>
      </p:sp>
      <p:sp>
        <p:nvSpPr>
          <p:cNvPr id="96" name="mc"/>
          <p:cNvSpPr>
            <a:spLocks noGrp="1"/>
          </p:cNvSpPr>
          <p:nvPr/>
        </p:nvSpPr>
        <p:spPr>
          <a:xfrm>
            <a:off x="3897172" y="2834640"/>
            <a:ext cx="1313078" cy="7680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6E8FF"/>
            </a:solidFill>
          </a:ln>
        </p:spPr>
      </p:sp>
      <p:sp>
        <p:nvSpPr>
          <p:cNvPr id="97" name="mb"/>
          <p:cNvSpPr>
            <a:spLocks noGrp="1"/>
          </p:cNvSpPr>
          <p:nvPr/>
        </p:nvSpPr>
        <p:spPr>
          <a:xfrm>
            <a:off x="3897172" y="2834640"/>
            <a:ext cx="1313078" cy="36576"/>
          </a:xfrm>
          <a:prstGeom prst="roundRect">
            <a:avLst>
              <a:gd name="adj" fmla="val 8000"/>
            </a:avLst>
          </a:prstGeom>
          <a:solidFill>
            <a:srgbClr val="1A3A8F"/>
          </a:solidFill>
          <a:ln>
            <a:noFill/>
          </a:ln>
        </p:spPr>
      </p:sp>
      <p:sp>
        <p:nvSpPr>
          <p:cNvPr id="98" name="mt"/>
          <p:cNvSpPr txBox="1">
            <a:spLocks noGrp="1"/>
          </p:cNvSpPr>
          <p:nvPr/>
        </p:nvSpPr>
        <p:spPr>
          <a:xfrm>
            <a:off x="3952036" y="2907792"/>
            <a:ext cx="1203350" cy="548640"/>
          </a:xfrm>
          <a:prstGeom prst="rect">
            <a:avLst/>
          </a:prstGeom>
          <a:noFill/>
          <a:ln>
            <a:noFill/>
          </a:ln>
        </p:spPr>
        <p:txBody>
          <a:bodyPr anchor="t" wrap="square" lIns="91440" rIns="91440" tIns="45720" bIns="45720">
            <a:noAutofit/>
          </a:bodyPr>
          <a:lstStyle/>
          <a:p>
            <a:pPr algn="ctr"/>
            <a:r>
              <a:rPr lang="es-ES" sz="780" dirty="0" b="1">
                <a:solidFill>
                  <a:srgbClr val="1A3A8F"/>
                </a:solidFill>
                <a:latin typeface="Calibri"/>
              </a:rPr>
              <a:t>SURA Automatizacion</a:t>
            </a:r>
          </a:p>
          <a:p>
            <a:pPr algn="ctr"/>
            <a:r>
              <a:rPr lang="es-ES" sz="700" dirty="0" i="1">
                <a:solidFill>
                  <a:srgbClr val="5A6475"/>
                </a:solidFill>
                <a:latin typeface="Calibri"/>
              </a:rPr>
              <a:t>Seguros · 6 FTE</a:t>
            </a:r>
          </a:p>
        </p:txBody>
      </p:sp>
      <p:sp>
        <p:nvSpPr>
          <p:cNvPr id="99" name="mc"/>
          <p:cNvSpPr>
            <a:spLocks noGrp="1"/>
          </p:cNvSpPr>
          <p:nvPr/>
        </p:nvSpPr>
        <p:spPr>
          <a:xfrm>
            <a:off x="5265115" y="2834640"/>
            <a:ext cx="1313078" cy="7680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6E8FF"/>
            </a:solidFill>
          </a:ln>
        </p:spPr>
      </p:sp>
      <p:sp>
        <p:nvSpPr>
          <p:cNvPr id="100" name="mb"/>
          <p:cNvSpPr>
            <a:spLocks noGrp="1"/>
          </p:cNvSpPr>
          <p:nvPr/>
        </p:nvSpPr>
        <p:spPr>
          <a:xfrm>
            <a:off x="5265115" y="2834640"/>
            <a:ext cx="1313078" cy="36576"/>
          </a:xfrm>
          <a:prstGeom prst="roundRect">
            <a:avLst>
              <a:gd name="adj" fmla="val 8000"/>
            </a:avLst>
          </a:prstGeom>
          <a:solidFill>
            <a:srgbClr val="1A3A8F"/>
          </a:solidFill>
          <a:ln>
            <a:noFill/>
          </a:ln>
        </p:spPr>
      </p:sp>
      <p:sp>
        <p:nvSpPr>
          <p:cNvPr id="101" name="mt"/>
          <p:cNvSpPr txBox="1">
            <a:spLocks noGrp="1"/>
          </p:cNvSpPr>
          <p:nvPr/>
        </p:nvSpPr>
        <p:spPr>
          <a:xfrm>
            <a:off x="5319979" y="2907792"/>
            <a:ext cx="1203350" cy="548640"/>
          </a:xfrm>
          <a:prstGeom prst="rect">
            <a:avLst/>
          </a:prstGeom>
          <a:noFill/>
          <a:ln>
            <a:noFill/>
          </a:ln>
        </p:spPr>
        <p:txBody>
          <a:bodyPr anchor="t" wrap="square" lIns="91440" rIns="91440" tIns="45720" bIns="45720">
            <a:noAutofit/>
          </a:bodyPr>
          <a:lstStyle/>
          <a:p>
            <a:pPr algn="ctr"/>
            <a:r>
              <a:rPr lang="es-ES" sz="780" dirty="0" b="1">
                <a:solidFill>
                  <a:srgbClr val="1A3A8F"/>
                </a:solidFill>
                <a:latin typeface="Calibri"/>
              </a:rPr>
              <a:t>SURA Canales Masivos</a:t>
            </a:r>
          </a:p>
          <a:p>
            <a:pPr algn="ctr"/>
            <a:r>
              <a:rPr lang="es-ES" sz="700" dirty="0" i="1">
                <a:solidFill>
                  <a:srgbClr val="5A6475"/>
                </a:solidFill>
                <a:latin typeface="Calibri"/>
              </a:rPr>
              <a:t>Seguros · 1 FTE</a:t>
            </a:r>
          </a:p>
        </p:txBody>
      </p:sp>
      <p:sp>
        <p:nvSpPr>
          <p:cNvPr id="102" name="mc"/>
          <p:cNvSpPr>
            <a:spLocks noGrp="1"/>
          </p:cNvSpPr>
          <p:nvPr/>
        </p:nvSpPr>
        <p:spPr>
          <a:xfrm>
            <a:off x="6633057" y="2834640"/>
            <a:ext cx="1313078" cy="7680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6E8FF"/>
            </a:solidFill>
          </a:ln>
        </p:spPr>
      </p:sp>
      <p:sp>
        <p:nvSpPr>
          <p:cNvPr id="103" name="mb"/>
          <p:cNvSpPr>
            <a:spLocks noGrp="1"/>
          </p:cNvSpPr>
          <p:nvPr/>
        </p:nvSpPr>
        <p:spPr>
          <a:xfrm>
            <a:off x="6633057" y="2834640"/>
            <a:ext cx="1313078" cy="36576"/>
          </a:xfrm>
          <a:prstGeom prst="roundRect">
            <a:avLst>
              <a:gd name="adj" fmla="val 8000"/>
            </a:avLst>
          </a:prstGeom>
          <a:solidFill>
            <a:srgbClr val="1A3A8F"/>
          </a:solidFill>
          <a:ln>
            <a:noFill/>
          </a:ln>
        </p:spPr>
      </p:sp>
      <p:sp>
        <p:nvSpPr>
          <p:cNvPr id="104" name="mt"/>
          <p:cNvSpPr txBox="1">
            <a:spLocks noGrp="1"/>
          </p:cNvSpPr>
          <p:nvPr/>
        </p:nvSpPr>
        <p:spPr>
          <a:xfrm>
            <a:off x="6687921" y="2907792"/>
            <a:ext cx="1203350" cy="548640"/>
          </a:xfrm>
          <a:prstGeom prst="rect">
            <a:avLst/>
          </a:prstGeom>
          <a:noFill/>
          <a:ln>
            <a:noFill/>
          </a:ln>
        </p:spPr>
        <p:txBody>
          <a:bodyPr anchor="t" wrap="square" lIns="91440" rIns="91440" tIns="45720" bIns="45720">
            <a:noAutofit/>
          </a:bodyPr>
          <a:lstStyle/>
          <a:p>
            <a:pPr algn="ctr"/>
            <a:r>
              <a:rPr lang="es-ES" sz="780" dirty="0" b="1">
                <a:solidFill>
                  <a:srgbClr val="1A3A8F"/>
                </a:solidFill>
                <a:latin typeface="Calibri"/>
              </a:rPr>
              <a:t>XM Apps Criticas</a:t>
            </a:r>
          </a:p>
          <a:p>
            <a:pPr algn="ctr"/>
            <a:r>
              <a:rPr lang="es-ES" sz="700" dirty="0" i="1">
                <a:solidFill>
                  <a:srgbClr val="5A6475"/>
                </a:solidFill>
                <a:latin typeface="Calibri"/>
              </a:rPr>
              <a:t>Energia · 4 FTE</a:t>
            </a:r>
          </a:p>
        </p:txBody>
      </p:sp>
      <p:sp>
        <p:nvSpPr>
          <p:cNvPr id="150" name="n3bg"/>
          <p:cNvSpPr>
            <a:spLocks noGrp="1"/>
          </p:cNvSpPr>
          <p:nvPr/>
        </p:nvSpPr>
        <p:spPr>
          <a:xfrm>
            <a:off x="320040" y="3785616"/>
            <a:ext cx="7717536" cy="548640"/>
          </a:xfrm>
          <a:prstGeom prst="roundRect">
            <a:avLst>
              <a:gd name="adj" fmla="val 10000"/>
            </a:avLst>
          </a:prstGeom>
          <a:solidFill>
            <a:srgbClr val="E8F5EE"/>
          </a:solidFill>
          <a:ln w="19050">
            <a:solidFill>
              <a:srgbClr val="0E6B3C"/>
            </a:solidFill>
          </a:ln>
        </p:spPr>
      </p:sp>
      <p:sp>
        <p:nvSpPr>
          <p:cNvPr id="151" name="n3b"/>
          <p:cNvSpPr>
            <a:spLocks noGrp="1"/>
          </p:cNvSpPr>
          <p:nvPr/>
        </p:nvSpPr>
        <p:spPr>
          <a:xfrm>
            <a:off x="320040" y="3785616"/>
            <a:ext cx="786384" cy="548640"/>
          </a:xfrm>
          <a:prstGeom prst="roundRect">
            <a:avLst>
              <a:gd name="adj" fmla="val 10000"/>
            </a:avLst>
          </a:prstGeom>
          <a:solidFill>
            <a:srgbClr val="0E6B3C"/>
          </a:solidFill>
          <a:ln>
            <a:noFill/>
          </a:ln>
        </p:spPr>
      </p:sp>
      <p:sp>
        <p:nvSpPr>
          <p:cNvPr id="152" name="n3t"/>
          <p:cNvSpPr txBox="1">
            <a:spLocks noGrp="1"/>
          </p:cNvSpPr>
          <p:nvPr/>
        </p:nvSpPr>
        <p:spPr>
          <a:xfrm>
            <a:off x="320040" y="3840480"/>
            <a:ext cx="786384" cy="329184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1600" dirty="0" b="1">
                <a:solidFill>
                  <a:srgbClr val="FFFFFF"/>
                </a:solidFill>
                <a:latin typeface="Calibri"/>
              </a:rPr>
              <a:t>N3</a:t>
            </a:r>
          </a:p>
        </p:txBody>
      </p:sp>
      <p:sp>
        <p:nvSpPr>
          <p:cNvPr id="153" name="n3l"/>
          <p:cNvSpPr txBox="1">
            <a:spLocks noGrp="1"/>
          </p:cNvSpPr>
          <p:nvPr/>
        </p:nvSpPr>
        <p:spPr>
          <a:xfrm>
            <a:off x="320040" y="4151376"/>
            <a:ext cx="786384" cy="164592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740" dirty="0" b="1">
                <a:solidFill>
                  <a:srgbClr val="FFFFFF"/>
                </a:solidFill>
                <a:latin typeface="Calibri"/>
              </a:rPr>
              <a:t>Meta</a:t>
            </a:r>
          </a:p>
        </p:txBody>
      </p:sp>
      <p:sp>
        <p:nvSpPr>
          <p:cNvPr id="154" name="n3d"/>
          <p:cNvSpPr txBox="1">
            <a:spLocks noGrp="1"/>
          </p:cNvSpPr>
          <p:nvPr/>
        </p:nvSpPr>
        <p:spPr>
          <a:xfrm>
            <a:off x="1188720" y="3877056"/>
            <a:ext cx="4114800" cy="365760"/>
          </a:xfrm>
          <a:prstGeom prst="rect">
            <a:avLst/>
          </a:prstGeom>
          <a:noFill/>
          <a:ln>
            <a:noFill/>
          </a:ln>
        </p:spPr>
        <p:txBody>
          <a:bodyPr anchor="t" wrap="square" lIns="91440" rIns="91440" tIns="45720" bIns="45720">
            <a:noAutofit/>
          </a:bodyPr>
          <a:lstStyle/>
          <a:p>
            <a:pPr algn="l"/>
            <a:r>
              <a:rPr lang="es-ES" sz="960" dirty="0" b="1">
                <a:solidFill>
                  <a:srgbClr val="0E6B3C"/>
                </a:solidFill>
                <a:latin typeface="Calibri"/>
              </a:rPr>
              <a:t>RACI · ANS firmado · Catalogo activo · KEDB · KPIs en tiempo real · Gobierno claro</a:t>
            </a:r>
          </a:p>
          <a:p>
            <a:pPr algn="l"/>
            <a:r>
              <a:rPr lang="es-ES" sz="860" dirty="0" i="1">
                <a:solidFill>
                  <a:srgbClr val="0E6B3C"/>
                </a:solidFill>
                <a:latin typeface="Calibri"/>
              </a:rPr>
              <a:t>Ninguna mesa ha llegado aqui aun — es la meta para todas antes de Diciembre 2026</a:t>
            </a:r>
          </a:p>
        </p:txBody>
      </p:sp>
      <p:sp>
        <p:nvSpPr>
          <p:cNvPr id="155" name="n3g"/>
          <p:cNvSpPr>
            <a:spLocks noGrp="1"/>
          </p:cNvSpPr>
          <p:nvPr/>
        </p:nvSpPr>
        <p:spPr>
          <a:xfrm>
            <a:off x="5486400" y="3858768"/>
            <a:ext cx="2487168" cy="402336"/>
          </a:xfrm>
          <a:prstGeom prst="roundRect">
            <a:avLst>
              <a:gd name="adj" fmla="val 10000"/>
            </a:avLst>
          </a:prstGeom>
          <a:solidFill>
            <a:srgbClr val="0E6B3C"/>
          </a:solidFill>
          <a:ln>
            <a:noFill/>
          </a:ln>
        </p:spPr>
      </p:sp>
      <p:sp>
        <p:nvSpPr>
          <p:cNvPr id="156" name="n3gt"/>
          <p:cNvSpPr txBox="1">
            <a:spLocks noGrp="1"/>
          </p:cNvSpPr>
          <p:nvPr/>
        </p:nvSpPr>
        <p:spPr>
          <a:xfrm>
            <a:off x="5486400" y="3858768"/>
            <a:ext cx="2487168" cy="402336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1100" dirty="0" b="1">
                <a:solidFill>
                  <a:srgbClr val="FFFFFF"/>
                </a:solidFill>
                <a:latin typeface="Calibri"/>
              </a:rPr>
              <a:t>★  META WAVE 1 — Dic 2026</a:t>
            </a:r>
          </a:p>
        </p:txBody>
      </p:sp>
      <p:sp>
        <p:nvSpPr>
          <p:cNvPr id="200" name="src"/>
          <p:cNvSpPr txBox="1">
            <a:spLocks noGrp="1"/>
          </p:cNvSpPr>
          <p:nvPr/>
        </p:nvSpPr>
        <p:spPr>
          <a:xfrm>
            <a:off x="320040" y="4453128"/>
            <a:ext cx="7717536" cy="164592"/>
          </a:xfrm>
          <a:prstGeom prst="rect">
            <a:avLst/>
          </a:prstGeom>
          <a:noFill/>
          <a:ln>
            <a:noFill/>
          </a:ln>
        </p:spPr>
        <p:txBody>
          <a:bodyPr anchor="t" wrap="square" lIns="91440" rIns="91440" tIns="45720" bIns="45720">
            <a:noAutofit/>
          </a:bodyPr>
          <a:lstStyle/>
          <a:p>
            <a:pPr algn="l"/>
            <a:r>
              <a:rPr lang="es-ES" sz="780" dirty="0" i="1">
                <a:solidFill>
                  <a:srgbClr val="5A6475"/>
                </a:solidFill>
                <a:latin typeface="Calibri"/>
              </a:rPr>
              <a:t>Fuente: Levantamiento interno PersonalSoft · Julio 2026 · Excel Levantamiento_Mesas_Julio_2026</a:t>
            </a:r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bg"/>
          <p:cNvSpPr>
            <a:spLocks noGrp="1"/>
          </p:cNvSpPr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hdr"/>
          <p:cNvSpPr>
            <a:spLocks noGrp="1"/>
          </p:cNvSpPr>
          <p:nvPr/>
        </p:nvSpPr>
        <p:spPr>
          <a:xfrm>
            <a:off x="0" y="0"/>
            <a:ext cx="9144000" cy="694944"/>
          </a:xfrm>
          <a:prstGeom prst="rect">
            <a:avLst/>
          </a:prstGeom>
          <a:solidFill>
            <a:srgbClr val="B91C1C"/>
          </a:solidFill>
          <a:ln>
            <a:noFill/>
          </a:ln>
        </p:spPr>
      </p:sp>
      <p:sp>
        <p:nvSpPr>
          <p:cNvPr id="4" name="n1b"/>
          <p:cNvSpPr>
            <a:spLocks noGrp="1"/>
          </p:cNvSpPr>
          <p:nvPr/>
        </p:nvSpPr>
        <p:spPr>
          <a:xfrm>
            <a:off x="320040" y="109728"/>
            <a:ext cx="475488" cy="4754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5" name="n1t"/>
          <p:cNvSpPr txBox="1">
            <a:spLocks noGrp="1"/>
          </p:cNvSpPr>
          <p:nvPr/>
        </p:nvSpPr>
        <p:spPr>
          <a:xfrm>
            <a:off x="320040" y="109728"/>
            <a:ext cx="475488" cy="475488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1400" dirty="0" b="1">
                <a:solidFill>
                  <a:srgbClr val="B91C1C"/>
                </a:solidFill>
                <a:latin typeface="Calibri"/>
              </a:rPr>
              <a:t>N1</a:t>
            </a:r>
          </a:p>
        </p:txBody>
      </p:sp>
      <p:sp>
        <p:nvSpPr>
          <p:cNvPr id="6" name="ttl"/>
          <p:cNvSpPr txBox="1">
            <a:spLocks noGrp="1"/>
          </p:cNvSpPr>
          <p:nvPr/>
        </p:nvSpPr>
        <p:spPr>
          <a:xfrm>
            <a:off x="877824" y="109728"/>
            <a:ext cx="6949440" cy="475488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l"/>
            <a:r>
              <a:rPr lang="es-ES" sz="1900" dirty="0" b="1">
                <a:solidFill>
                  <a:srgbClr val="FFFFFF"/>
                </a:solidFill>
                <a:latin typeface="Calibri"/>
              </a:rPr>
              <a:t>Nivel N1 — Inicial · 7 Mesas · Sin Gobierno Estandarizado</a:t>
            </a:r>
          </a:p>
        </p:txBody>
      </p:sp>
      <p:sp>
        <p:nvSpPr>
          <p:cNvPr id="7" name="sub"/>
          <p:cNvSpPr txBox="1">
            <a:spLocks noGrp="1"/>
          </p:cNvSpPr>
          <p:nvPr/>
        </p:nvSpPr>
        <p:spPr>
          <a:xfrm>
            <a:off x="347472" y="585216"/>
            <a:ext cx="7717536" cy="201168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l"/>
            <a:r>
              <a:rPr lang="es-ES" sz="920" dirty="0">
                <a:solidFill>
                  <a:srgbClr val="FFCCCC"/>
                </a:solidFill>
                <a:latin typeface="Calibri"/>
              </a:rPr>
              <a:t>AES · Bancolombia COES (5 mesas) · MEDICARTE · Caracteristica comun: operacion reactiva, sin RACI, sin metricas formales</a:t>
            </a:r>
          </a:p>
        </p:txBody>
      </p:sp>
      <p:sp>
        <p:nvSpPr>
          <p:cNvPr id="10" name="card"/>
          <p:cNvSpPr>
            <a:spLocks noGrp="1"/>
          </p:cNvSpPr>
          <p:nvPr/>
        </p:nvSpPr>
        <p:spPr>
          <a:xfrm>
            <a:off x="274320" y="804672"/>
            <a:ext cx="2523744" cy="3639312"/>
          </a:xfrm>
          <a:prstGeom prst="roundRect">
            <a:avLst>
              <a:gd name="adj" fmla="val 12000"/>
            </a:avLst>
          </a:prstGeom>
          <a:solidFill>
            <a:srgbClr val="FEF2F2"/>
          </a:solidFill>
          <a:ln w="15875">
            <a:solidFill>
              <a:srgbClr val="B91C1C"/>
            </a:solidFill>
          </a:ln>
        </p:spPr>
      </p:sp>
      <p:sp>
        <p:nvSpPr>
          <p:cNvPr id="11" name="ch"/>
          <p:cNvSpPr>
            <a:spLocks noGrp="1"/>
          </p:cNvSpPr>
          <p:nvPr/>
        </p:nvSpPr>
        <p:spPr>
          <a:xfrm>
            <a:off x="274320" y="804672"/>
            <a:ext cx="2523744" cy="347472"/>
          </a:xfrm>
          <a:prstGeom prst="roundRect">
            <a:avLst>
              <a:gd name="adj" fmla="val 12000"/>
            </a:avLst>
          </a:prstGeom>
          <a:solidFill>
            <a:srgbClr val="B91C1C"/>
          </a:solidFill>
          <a:ln>
            <a:noFill/>
          </a:ln>
        </p:spPr>
      </p:sp>
      <p:sp>
        <p:nvSpPr>
          <p:cNvPr id="12" name="ch2"/>
          <p:cNvSpPr>
            <a:spLocks noGrp="1"/>
          </p:cNvSpPr>
          <p:nvPr/>
        </p:nvSpPr>
        <p:spPr>
          <a:xfrm>
            <a:off x="274320" y="1024128"/>
            <a:ext cx="2523744" cy="128016"/>
          </a:xfrm>
          <a:prstGeom prst="rect">
            <a:avLst/>
          </a:prstGeom>
          <a:solidFill>
            <a:srgbClr val="B91C1C"/>
          </a:solidFill>
          <a:ln>
            <a:noFill/>
          </a:ln>
        </p:spPr>
      </p:sp>
      <p:sp>
        <p:nvSpPr>
          <p:cNvPr id="13" name="ct"/>
          <p:cNvSpPr txBox="1">
            <a:spLocks noGrp="1"/>
          </p:cNvSpPr>
          <p:nvPr/>
        </p:nvSpPr>
        <p:spPr>
          <a:xfrm>
            <a:off x="365760" y="850392"/>
            <a:ext cx="2340864" cy="256032"/>
          </a:xfrm>
          <a:prstGeom prst="rect">
            <a:avLst/>
          </a:prstGeom>
          <a:noFill/>
          <a:ln>
            <a:noFill/>
          </a:ln>
        </p:spPr>
        <p:txBody>
          <a:bodyPr anchor="t" wrap="square" lIns="91440" rIns="91440" tIns="45720" bIns="45720">
            <a:noAutofit/>
          </a:bodyPr>
          <a:lstStyle/>
          <a:p>
            <a:pPr algn="l"/>
            <a:r>
              <a:rPr lang="es-ES" sz="1000" dirty="0" b="1">
                <a:solidFill>
                  <a:srgbClr val="FFFFFF"/>
                </a:solidFill>
                <a:latin typeface="Calibri"/>
              </a:rPr>
              <a:t>AES — Soporte IT/OT</a:t>
            </a:r>
          </a:p>
        </p:txBody>
      </p:sp>
      <p:sp>
        <p:nvSpPr>
          <p:cNvPr id="14" name="cm"/>
          <p:cNvSpPr txBox="1">
            <a:spLocks noGrp="1"/>
          </p:cNvSpPr>
          <p:nvPr/>
        </p:nvSpPr>
        <p:spPr>
          <a:xfrm>
            <a:off x="365760" y="1188720"/>
            <a:ext cx="2340864" cy="182880"/>
          </a:xfrm>
          <a:prstGeom prst="rect">
            <a:avLst/>
          </a:prstGeom>
          <a:noFill/>
          <a:ln>
            <a:noFill/>
          </a:ln>
        </p:spPr>
        <p:txBody>
          <a:bodyPr anchor="t" wrap="square" lIns="91440" rIns="91440" tIns="45720" bIns="45720">
            <a:noAutofit/>
          </a:bodyPr>
          <a:lstStyle/>
          <a:p>
            <a:pPr algn="l"/>
            <a:r>
              <a:rPr lang="es-ES" sz="790" dirty="0" i="1">
                <a:solidFill>
                  <a:srgbClr val="5A6475"/>
                </a:solidFill>
                <a:latin typeface="Calibri"/>
              </a:rPr>
              <a:t>Energia · 4 FTE · ServiceNow (del cliente) · Staffing</a:t>
            </a:r>
          </a:p>
        </p:txBody>
      </p:sp>
      <p:sp>
        <p:nvSpPr>
          <p:cNvPr id="15" name="ca"/>
          <p:cNvSpPr txBox="1">
            <a:spLocks noGrp="1"/>
          </p:cNvSpPr>
          <p:nvPr/>
        </p:nvSpPr>
        <p:spPr>
          <a:xfrm>
            <a:off x="365760" y="1371600"/>
            <a:ext cx="2340864" cy="164592"/>
          </a:xfrm>
          <a:prstGeom prst="rect">
            <a:avLst/>
          </a:prstGeom>
          <a:noFill/>
          <a:ln>
            <a:noFill/>
          </a:ln>
        </p:spPr>
        <p:txBody>
          <a:bodyPr anchor="t" wrap="square" lIns="91440" rIns="91440" tIns="45720" bIns="45720">
            <a:noAutofit/>
          </a:bodyPr>
          <a:lstStyle/>
          <a:p>
            <a:pPr algn="l"/>
            <a:r>
              <a:rPr lang="es-ES" sz="800" dirty="0" b="1">
                <a:solidFill>
                  <a:srgbClr val="B45309"/>
                </a:solidFill>
                <a:latin typeface="Calibri"/>
              </a:rPr>
              <a:t>⚠ RFP pendiente · Contrato fin Nov 2026 · OPORTUNIDAD</a:t>
            </a:r>
          </a:p>
        </p:txBody>
      </p:sp>
      <p:sp>
        <p:nvSpPr>
          <p:cNvPr id="16" name="kb"/>
          <p:cNvSpPr>
            <a:spLocks noGrp="1"/>
          </p:cNvSpPr>
          <p:nvPr/>
        </p:nvSpPr>
        <p:spPr>
          <a:xfrm>
            <a:off x="365760" y="1572768"/>
            <a:ext cx="548640" cy="3840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6E8FF"/>
            </a:solidFill>
          </a:ln>
        </p:spPr>
      </p:sp>
      <p:sp>
        <p:nvSpPr>
          <p:cNvPr id="17" name="kv"/>
          <p:cNvSpPr txBox="1">
            <a:spLocks noGrp="1"/>
          </p:cNvSpPr>
          <p:nvPr/>
        </p:nvSpPr>
        <p:spPr>
          <a:xfrm>
            <a:off x="365760" y="1572768"/>
            <a:ext cx="548640" cy="219456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940" dirty="0" b="1">
                <a:solidFill>
                  <a:srgbClr val="1A3A8F"/>
                </a:solidFill>
                <a:latin typeface="Calibri"/>
              </a:rPr>
              <a:t>4</a:t>
            </a:r>
          </a:p>
        </p:txBody>
      </p:sp>
      <p:sp>
        <p:nvSpPr>
          <p:cNvPr id="18" name="kl"/>
          <p:cNvSpPr txBox="1">
            <a:spLocks noGrp="1"/>
          </p:cNvSpPr>
          <p:nvPr/>
        </p:nvSpPr>
        <p:spPr>
          <a:xfrm>
            <a:off x="365760" y="1773936"/>
            <a:ext cx="548640" cy="164592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700" dirty="0">
                <a:solidFill>
                  <a:srgbClr val="5A6475"/>
                </a:solidFill>
                <a:latin typeface="Calibri"/>
              </a:rPr>
              <a:t>FTE</a:t>
            </a:r>
          </a:p>
        </p:txBody>
      </p:sp>
      <p:sp>
        <p:nvSpPr>
          <p:cNvPr id="19" name="kb"/>
          <p:cNvSpPr>
            <a:spLocks noGrp="1"/>
          </p:cNvSpPr>
          <p:nvPr/>
        </p:nvSpPr>
        <p:spPr>
          <a:xfrm>
            <a:off x="950976" y="1572768"/>
            <a:ext cx="548640" cy="3840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6E8FF"/>
            </a:solidFill>
          </a:ln>
        </p:spPr>
      </p:sp>
      <p:sp>
        <p:nvSpPr>
          <p:cNvPr id="20" name="kv"/>
          <p:cNvSpPr txBox="1">
            <a:spLocks noGrp="1"/>
          </p:cNvSpPr>
          <p:nvPr/>
        </p:nvSpPr>
        <p:spPr>
          <a:xfrm>
            <a:off x="950976" y="1572768"/>
            <a:ext cx="548640" cy="219456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940" dirty="0" b="1">
                <a:solidFill>
                  <a:srgbClr val="5A6475"/>
                </a:solidFill>
                <a:latin typeface="Calibri"/>
              </a:rPr>
              <a:t>N/D</a:t>
            </a:r>
          </a:p>
        </p:txBody>
      </p:sp>
      <p:sp>
        <p:nvSpPr>
          <p:cNvPr id="21" name="kl"/>
          <p:cNvSpPr txBox="1">
            <a:spLocks noGrp="1"/>
          </p:cNvSpPr>
          <p:nvPr/>
        </p:nvSpPr>
        <p:spPr>
          <a:xfrm>
            <a:off x="950976" y="1773936"/>
            <a:ext cx="548640" cy="164592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700" dirty="0">
                <a:solidFill>
                  <a:srgbClr val="5A6475"/>
                </a:solidFill>
                <a:latin typeface="Calibri"/>
              </a:rPr>
              <a:t>Tickets</a:t>
            </a:r>
          </a:p>
        </p:txBody>
      </p:sp>
      <p:sp>
        <p:nvSpPr>
          <p:cNvPr id="22" name="kb"/>
          <p:cNvSpPr>
            <a:spLocks noGrp="1"/>
          </p:cNvSpPr>
          <p:nvPr/>
        </p:nvSpPr>
        <p:spPr>
          <a:xfrm>
            <a:off x="1536192" y="1572768"/>
            <a:ext cx="548640" cy="3840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6E8FF"/>
            </a:solidFill>
          </a:ln>
        </p:spPr>
      </p:sp>
      <p:sp>
        <p:nvSpPr>
          <p:cNvPr id="23" name="kv"/>
          <p:cNvSpPr txBox="1">
            <a:spLocks noGrp="1"/>
          </p:cNvSpPr>
          <p:nvPr/>
        </p:nvSpPr>
        <p:spPr>
          <a:xfrm>
            <a:off x="1536192" y="1572768"/>
            <a:ext cx="548640" cy="219456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940" dirty="0" b="1">
                <a:solidFill>
                  <a:srgbClr val="5A6475"/>
                </a:solidFill>
                <a:latin typeface="Calibri"/>
              </a:rPr>
              <a:t>N/D</a:t>
            </a:r>
          </a:p>
        </p:txBody>
      </p:sp>
      <p:sp>
        <p:nvSpPr>
          <p:cNvPr id="24" name="kl"/>
          <p:cNvSpPr txBox="1">
            <a:spLocks noGrp="1"/>
          </p:cNvSpPr>
          <p:nvPr/>
        </p:nvSpPr>
        <p:spPr>
          <a:xfrm>
            <a:off x="1536192" y="1773936"/>
            <a:ext cx="548640" cy="164592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700" dirty="0">
                <a:solidFill>
                  <a:srgbClr val="5A6475"/>
                </a:solidFill>
                <a:latin typeface="Calibri"/>
              </a:rPr>
              <a:t>MTTR</a:t>
            </a:r>
          </a:p>
        </p:txBody>
      </p:sp>
      <p:sp>
        <p:nvSpPr>
          <p:cNvPr id="25" name="kb"/>
          <p:cNvSpPr>
            <a:spLocks noGrp="1"/>
          </p:cNvSpPr>
          <p:nvPr/>
        </p:nvSpPr>
        <p:spPr>
          <a:xfrm>
            <a:off x="2121408" y="1572768"/>
            <a:ext cx="548640" cy="3840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6E8FF"/>
            </a:solidFill>
          </a:ln>
        </p:spPr>
      </p:sp>
      <p:sp>
        <p:nvSpPr>
          <p:cNvPr id="26" name="kv"/>
          <p:cNvSpPr txBox="1">
            <a:spLocks noGrp="1"/>
          </p:cNvSpPr>
          <p:nvPr/>
        </p:nvSpPr>
        <p:spPr>
          <a:xfrm>
            <a:off x="2121408" y="1572768"/>
            <a:ext cx="548640" cy="219456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940" dirty="0" b="1">
                <a:solidFill>
                  <a:srgbClr val="5A6475"/>
                </a:solidFill>
                <a:latin typeface="Calibri"/>
              </a:rPr>
              <a:t>N/D</a:t>
            </a:r>
          </a:p>
        </p:txBody>
      </p:sp>
      <p:sp>
        <p:nvSpPr>
          <p:cNvPr id="27" name="kl"/>
          <p:cNvSpPr txBox="1">
            <a:spLocks noGrp="1"/>
          </p:cNvSpPr>
          <p:nvPr/>
        </p:nvSpPr>
        <p:spPr>
          <a:xfrm>
            <a:off x="2121408" y="1773936"/>
            <a:ext cx="548640" cy="164592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700" dirty="0">
                <a:solidFill>
                  <a:srgbClr val="5A6475"/>
                </a:solidFill>
                <a:latin typeface="Calibri"/>
              </a:rPr>
              <a:t>SLA</a:t>
            </a:r>
          </a:p>
        </p:txBody>
      </p:sp>
      <p:sp>
        <p:nvSpPr>
          <p:cNvPr id="20" name="sep"/>
          <p:cNvSpPr>
            <a:spLocks noGrp="1"/>
          </p:cNvSpPr>
          <p:nvPr/>
        </p:nvSpPr>
        <p:spPr>
          <a:xfrm>
            <a:off x="365760" y="2011680"/>
            <a:ext cx="2340864" cy="9144"/>
          </a:xfrm>
          <a:prstGeom prst="rect">
            <a:avLst/>
          </a:prstGeom>
          <a:solidFill>
            <a:srgbClr val="D6E8FF"/>
          </a:solidFill>
          <a:ln>
            <a:noFill/>
          </a:ln>
        </p:spPr>
      </p:sp>
      <p:sp>
        <p:nvSpPr>
          <p:cNvPr id="21" name="d"/>
          <p:cNvSpPr txBox="1">
            <a:spLocks noGrp="1"/>
          </p:cNvSpPr>
          <p:nvPr/>
        </p:nvSpPr>
        <p:spPr>
          <a:xfrm>
            <a:off x="365760" y="2066544"/>
            <a:ext cx="2340864" cy="256032"/>
          </a:xfrm>
          <a:prstGeom prst="rect">
            <a:avLst/>
          </a:prstGeom>
          <a:noFill/>
          <a:ln>
            <a:noFill/>
          </a:ln>
        </p:spPr>
        <p:txBody>
          <a:bodyPr anchor="t" wrap="square" lIns="91440" rIns="91440" tIns="45720" bIns="45720">
            <a:noAutofit/>
          </a:bodyPr>
          <a:lstStyle/>
          <a:p>
            <a:pPr algn="l"/>
            <a:r>
              <a:rPr lang="es-ES" sz="900" dirty="0" b="1">
                <a:solidFill>
                  <a:srgbClr val="B91C1C"/>
                </a:solidFill>
                <a:latin typeface="Calibri"/>
              </a:rPr>
              <a:t>● </a:t>
            </a:r>
            <a:r>
              <a:rPr lang="es-ES" sz="820" dirty="0">
                <a:solidFill>
                  <a:srgbClr val="0D1B5E"/>
                </a:solidFill>
                <a:latin typeface="Calibri"/>
              </a:rPr>
              <a:t>Postura 100% reactiva — sin proceso formal de gestion</a:t>
            </a:r>
          </a:p>
        </p:txBody>
      </p:sp>
      <p:sp>
        <p:nvSpPr>
          <p:cNvPr id="22" name="d"/>
          <p:cNvSpPr txBox="1">
            <a:spLocks noGrp="1"/>
          </p:cNvSpPr>
          <p:nvPr/>
        </p:nvSpPr>
        <p:spPr>
          <a:xfrm>
            <a:off x="365760" y="2340864"/>
            <a:ext cx="2340864" cy="256032"/>
          </a:xfrm>
          <a:prstGeom prst="rect">
            <a:avLst/>
          </a:prstGeom>
          <a:noFill/>
          <a:ln>
            <a:noFill/>
          </a:ln>
        </p:spPr>
        <p:txBody>
          <a:bodyPr anchor="t" wrap="square" lIns="91440" rIns="91440" tIns="45720" bIns="45720">
            <a:noAutofit/>
          </a:bodyPr>
          <a:lstStyle/>
          <a:p>
            <a:pPr algn="l"/>
            <a:r>
              <a:rPr lang="es-ES" sz="900" dirty="0" b="1">
                <a:solidFill>
                  <a:srgbClr val="B91C1C"/>
                </a:solidFill>
                <a:latin typeface="Calibri"/>
              </a:rPr>
              <a:t>● </a:t>
            </a:r>
            <a:r>
              <a:rPr lang="es-ES" sz="820" dirty="0">
                <a:solidFill>
                  <a:srgbClr val="0D1B5E"/>
                </a:solidFill>
                <a:latin typeface="Calibri"/>
              </a:rPr>
              <a:t>Sin metricas ni KPIs — nadie sabe si el servicio es bueno</a:t>
            </a:r>
          </a:p>
        </p:txBody>
      </p:sp>
      <p:sp>
        <p:nvSpPr>
          <p:cNvPr id="23" name="d"/>
          <p:cNvSpPr txBox="1">
            <a:spLocks noGrp="1"/>
          </p:cNvSpPr>
          <p:nvPr/>
        </p:nvSpPr>
        <p:spPr>
          <a:xfrm>
            <a:off x="365760" y="2615184"/>
            <a:ext cx="2340864" cy="256032"/>
          </a:xfrm>
          <a:prstGeom prst="rect">
            <a:avLst/>
          </a:prstGeom>
          <a:noFill/>
          <a:ln>
            <a:noFill/>
          </a:ln>
        </p:spPr>
        <p:txBody>
          <a:bodyPr anchor="t" wrap="square" lIns="91440" rIns="91440" tIns="45720" bIns="45720">
            <a:noAutofit/>
          </a:bodyPr>
          <a:lstStyle/>
          <a:p>
            <a:pPr algn="l"/>
            <a:r>
              <a:rPr lang="es-ES" sz="900" dirty="0" b="1">
                <a:solidFill>
                  <a:srgbClr val="B91C1C"/>
                </a:solidFill>
                <a:latin typeface="Calibri"/>
              </a:rPr>
              <a:t>● </a:t>
            </a:r>
            <a:r>
              <a:rPr lang="es-ES" sz="820" dirty="0">
                <a:solidFill>
                  <a:srgbClr val="0D1B5E"/>
                </a:solidFill>
                <a:latin typeface="Calibri"/>
              </a:rPr>
              <a:t>Brechas comercial — volumetria mal estimada en preventa</a:t>
            </a:r>
          </a:p>
        </p:txBody>
      </p:sp>
      <p:sp>
        <p:nvSpPr>
          <p:cNvPr id="24" name="d"/>
          <p:cNvSpPr txBox="1">
            <a:spLocks noGrp="1"/>
          </p:cNvSpPr>
          <p:nvPr/>
        </p:nvSpPr>
        <p:spPr>
          <a:xfrm>
            <a:off x="365760" y="2889504"/>
            <a:ext cx="2340864" cy="256032"/>
          </a:xfrm>
          <a:prstGeom prst="rect">
            <a:avLst/>
          </a:prstGeom>
          <a:noFill/>
          <a:ln>
            <a:noFill/>
          </a:ln>
        </p:spPr>
        <p:txBody>
          <a:bodyPr anchor="t" wrap="square" lIns="91440" rIns="91440" tIns="45720" bIns="45720">
            <a:noAutofit/>
          </a:bodyPr>
          <a:lstStyle/>
          <a:p>
            <a:pPr algn="l"/>
            <a:r>
              <a:rPr lang="es-ES" sz="900" dirty="0" b="1">
                <a:solidFill>
                  <a:srgbClr val="B91C1C"/>
                </a:solidFill>
                <a:latin typeface="Calibri"/>
              </a:rPr>
              <a:t>● </a:t>
            </a:r>
            <a:r>
              <a:rPr lang="es-ES" sz="820" dirty="0">
                <a:solidFill>
                  <a:srgbClr val="0D1B5E"/>
                </a:solidFill>
                <a:latin typeface="Calibri"/>
              </a:rPr>
              <a:t>Asignacion de personal sin modelo de demanda</a:t>
            </a:r>
          </a:p>
        </p:txBody>
      </p:sp>
      <p:sp>
        <p:nvSpPr>
          <p:cNvPr id="25" name="d"/>
          <p:cNvSpPr txBox="1">
            <a:spLocks noGrp="1"/>
          </p:cNvSpPr>
          <p:nvPr/>
        </p:nvSpPr>
        <p:spPr>
          <a:xfrm>
            <a:off x="365760" y="3163824"/>
            <a:ext cx="2340864" cy="256032"/>
          </a:xfrm>
          <a:prstGeom prst="rect">
            <a:avLst/>
          </a:prstGeom>
          <a:noFill/>
          <a:ln>
            <a:noFill/>
          </a:ln>
        </p:spPr>
        <p:txBody>
          <a:bodyPr anchor="t" wrap="square" lIns="91440" rIns="91440" tIns="45720" bIns="45720">
            <a:noAutofit/>
          </a:bodyPr>
          <a:lstStyle/>
          <a:p>
            <a:pPr algn="l"/>
            <a:r>
              <a:rPr lang="es-ES" sz="900" dirty="0" b="1">
                <a:solidFill>
                  <a:srgbClr val="B45309"/>
                </a:solidFill>
                <a:latin typeface="Calibri"/>
              </a:rPr>
              <a:t>◐ </a:t>
            </a:r>
            <a:r>
              <a:rPr lang="es-ES" sz="820" dirty="0">
                <a:solidFill>
                  <a:srgbClr val="0D1B5E"/>
                </a:solidFill>
                <a:latin typeface="Calibri"/>
              </a:rPr>
              <a:t>Sin gobierno — sin RACI ni ANS formales</a:t>
            </a:r>
          </a:p>
        </p:txBody>
      </p:sp>
      <p:sp>
        <p:nvSpPr>
          <p:cNvPr id="26" name="d"/>
          <p:cNvSpPr txBox="1">
            <a:spLocks noGrp="1"/>
          </p:cNvSpPr>
          <p:nvPr/>
        </p:nvSpPr>
        <p:spPr>
          <a:xfrm>
            <a:off x="365760" y="3438144"/>
            <a:ext cx="2340864" cy="256032"/>
          </a:xfrm>
          <a:prstGeom prst="rect">
            <a:avLst/>
          </a:prstGeom>
          <a:noFill/>
          <a:ln>
            <a:noFill/>
          </a:ln>
        </p:spPr>
        <p:txBody>
          <a:bodyPr anchor="t" wrap="square" lIns="91440" rIns="91440" tIns="45720" bIns="45720">
            <a:noAutofit/>
          </a:bodyPr>
          <a:lstStyle/>
          <a:p>
            <a:pPr algn="l"/>
            <a:r>
              <a:rPr lang="es-ES" sz="900" dirty="0" b="1">
                <a:solidFill>
                  <a:srgbClr val="B45309"/>
                </a:solidFill>
                <a:latin typeface="Calibri"/>
              </a:rPr>
              <a:t>◐ </a:t>
            </a:r>
            <a:r>
              <a:rPr lang="es-ES" sz="820" dirty="0">
                <a:solidFill>
                  <a:srgbClr val="0D1B5E"/>
                </a:solidFill>
                <a:latin typeface="Calibri"/>
              </a:rPr>
              <a:t>Herramientas: ServiceNow es del cliente, PS paga licencia</a:t>
            </a:r>
          </a:p>
        </p:txBody>
      </p:sp>
      <p:sp>
        <p:nvSpPr>
          <p:cNvPr id="27" name="d"/>
          <p:cNvSpPr txBox="1">
            <a:spLocks noGrp="1"/>
          </p:cNvSpPr>
          <p:nvPr/>
        </p:nvSpPr>
        <p:spPr>
          <a:xfrm>
            <a:off x="365760" y="3712464"/>
            <a:ext cx="2340864" cy="256032"/>
          </a:xfrm>
          <a:prstGeom prst="rect">
            <a:avLst/>
          </a:prstGeom>
          <a:noFill/>
          <a:ln>
            <a:noFill/>
          </a:ln>
        </p:spPr>
        <p:txBody>
          <a:bodyPr anchor="t" wrap="square" lIns="91440" rIns="91440" tIns="45720" bIns="45720">
            <a:noAutofit/>
          </a:bodyPr>
          <a:lstStyle/>
          <a:p>
            <a:pPr algn="l"/>
            <a:r>
              <a:rPr lang="es-ES" sz="900" dirty="0" b="1">
                <a:solidFill>
                  <a:srgbClr val="B45309"/>
                </a:solidFill>
                <a:latin typeface="Calibri"/>
              </a:rPr>
              <a:t>◐ </a:t>
            </a:r>
            <a:r>
              <a:rPr lang="es-ES" sz="820" dirty="0">
                <a:solidFill>
                  <a:srgbClr val="0D1B5E"/>
                </a:solidFill>
                <a:latin typeface="Calibri"/>
              </a:rPr>
              <a:t>Roles sin definir — criterio individual, no modelo</a:t>
            </a:r>
          </a:p>
        </p:txBody>
      </p:sp>
      <p:sp>
        <p:nvSpPr>
          <p:cNvPr id="28" name="d"/>
          <p:cNvSpPr txBox="1">
            <a:spLocks noGrp="1"/>
          </p:cNvSpPr>
          <p:nvPr/>
        </p:nvSpPr>
        <p:spPr>
          <a:xfrm>
            <a:off x="365760" y="3986784"/>
            <a:ext cx="2340864" cy="256032"/>
          </a:xfrm>
          <a:prstGeom prst="rect">
            <a:avLst/>
          </a:prstGeom>
          <a:noFill/>
          <a:ln>
            <a:noFill/>
          </a:ln>
        </p:spPr>
        <p:txBody>
          <a:bodyPr anchor="t" wrap="square" lIns="91440" rIns="91440" tIns="45720" bIns="45720">
            <a:noAutofit/>
          </a:bodyPr>
          <a:lstStyle/>
          <a:p>
            <a:pPr algn="l"/>
            <a:r>
              <a:rPr lang="es-ES" sz="900" dirty="0" b="1">
                <a:solidFill>
                  <a:srgbClr val="B45309"/>
                </a:solidFill>
                <a:latin typeface="Calibri"/>
              </a:rPr>
              <a:t>◐ </a:t>
            </a:r>
            <a:r>
              <a:rPr lang="es-ES" sz="820" dirty="0">
                <a:solidFill>
                  <a:srgbClr val="0D1B5E"/>
                </a:solidFill>
                <a:latin typeface="Calibri"/>
              </a:rPr>
              <a:t>Scope creep — solicitudes absorben al equipo</a:t>
            </a:r>
          </a:p>
        </p:txBody>
      </p:sp>
      <p:sp>
        <p:nvSpPr>
          <p:cNvPr id="50" name="card"/>
          <p:cNvSpPr>
            <a:spLocks noGrp="1"/>
          </p:cNvSpPr>
          <p:nvPr/>
        </p:nvSpPr>
        <p:spPr>
          <a:xfrm>
            <a:off x="2907792" y="804672"/>
            <a:ext cx="2523744" cy="3639312"/>
          </a:xfrm>
          <a:prstGeom prst="roundRect">
            <a:avLst>
              <a:gd name="adj" fmla="val 12000"/>
            </a:avLst>
          </a:prstGeom>
          <a:solidFill>
            <a:srgbClr val="EBF4FF"/>
          </a:solidFill>
          <a:ln w="15875">
            <a:solidFill>
              <a:srgbClr val="0D1B5E"/>
            </a:solidFill>
          </a:ln>
        </p:spPr>
      </p:sp>
      <p:sp>
        <p:nvSpPr>
          <p:cNvPr id="51" name="ch"/>
          <p:cNvSpPr>
            <a:spLocks noGrp="1"/>
          </p:cNvSpPr>
          <p:nvPr/>
        </p:nvSpPr>
        <p:spPr>
          <a:xfrm>
            <a:off x="2907792" y="804672"/>
            <a:ext cx="2523744" cy="347472"/>
          </a:xfrm>
          <a:prstGeom prst="roundRect">
            <a:avLst>
              <a:gd name="adj" fmla="val 12000"/>
            </a:avLst>
          </a:prstGeom>
          <a:solidFill>
            <a:srgbClr val="0D1B5E"/>
          </a:solidFill>
          <a:ln>
            <a:noFill/>
          </a:ln>
        </p:spPr>
      </p:sp>
      <p:sp>
        <p:nvSpPr>
          <p:cNvPr id="52" name="ch2"/>
          <p:cNvSpPr>
            <a:spLocks noGrp="1"/>
          </p:cNvSpPr>
          <p:nvPr/>
        </p:nvSpPr>
        <p:spPr>
          <a:xfrm>
            <a:off x="2907792" y="1024128"/>
            <a:ext cx="2523744" cy="128016"/>
          </a:xfrm>
          <a:prstGeom prst="rect">
            <a:avLst/>
          </a:prstGeom>
          <a:solidFill>
            <a:srgbClr val="0D1B5E"/>
          </a:solidFill>
          <a:ln>
            <a:noFill/>
          </a:ln>
        </p:spPr>
      </p:sp>
      <p:sp>
        <p:nvSpPr>
          <p:cNvPr id="53" name="ct"/>
          <p:cNvSpPr txBox="1">
            <a:spLocks noGrp="1"/>
          </p:cNvSpPr>
          <p:nvPr/>
        </p:nvSpPr>
        <p:spPr>
          <a:xfrm>
            <a:off x="2999232" y="850392"/>
            <a:ext cx="2340864" cy="256032"/>
          </a:xfrm>
          <a:prstGeom prst="rect">
            <a:avLst/>
          </a:prstGeom>
          <a:noFill/>
          <a:ln>
            <a:noFill/>
          </a:ln>
        </p:spPr>
        <p:txBody>
          <a:bodyPr anchor="t" wrap="square" lIns="91440" rIns="91440" tIns="45720" bIns="45720">
            <a:noAutofit/>
          </a:bodyPr>
          <a:lstStyle/>
          <a:p>
            <a:pPr algn="l"/>
            <a:r>
              <a:rPr lang="es-ES" sz="1000" dirty="0" b="1">
                <a:solidFill>
                  <a:srgbClr val="FFFFFF"/>
                </a:solidFill>
                <a:latin typeface="Calibri"/>
              </a:rPr>
              <a:t>BCO — 5 Mesas COES</a:t>
            </a:r>
          </a:p>
        </p:txBody>
      </p:sp>
      <p:sp>
        <p:nvSpPr>
          <p:cNvPr id="54" name="cm"/>
          <p:cNvSpPr txBox="1">
            <a:spLocks noGrp="1"/>
          </p:cNvSpPr>
          <p:nvPr/>
        </p:nvSpPr>
        <p:spPr>
          <a:xfrm>
            <a:off x="2999232" y="1188720"/>
            <a:ext cx="2340864" cy="182880"/>
          </a:xfrm>
          <a:prstGeom prst="rect">
            <a:avLst/>
          </a:prstGeom>
          <a:noFill/>
          <a:ln>
            <a:noFill/>
          </a:ln>
        </p:spPr>
        <p:txBody>
          <a:bodyPr anchor="t" wrap="square" lIns="91440" rIns="91440" tIns="45720" bIns="45720">
            <a:noAutofit/>
          </a:bodyPr>
          <a:lstStyle/>
          <a:p>
            <a:pPr algn="l"/>
            <a:r>
              <a:rPr lang="es-ES" sz="790" dirty="0" i="1">
                <a:solidFill>
                  <a:srgbClr val="5A6475"/>
                </a:solidFill>
                <a:latin typeface="Calibri"/>
              </a:rPr>
              <a:t>Banca · 32 FTE totales · Helix BMC · Virginia &amp; Lina</a:t>
            </a:r>
          </a:p>
        </p:txBody>
      </p:sp>
      <p:sp>
        <p:nvSpPr>
          <p:cNvPr id="55" name="ca"/>
          <p:cNvSpPr txBox="1">
            <a:spLocks noGrp="1"/>
          </p:cNvSpPr>
          <p:nvPr/>
        </p:nvSpPr>
        <p:spPr>
          <a:xfrm>
            <a:off x="2999232" y="1371600"/>
            <a:ext cx="2340864" cy="164592"/>
          </a:xfrm>
          <a:prstGeom prst="rect">
            <a:avLst/>
          </a:prstGeom>
          <a:noFill/>
          <a:ln>
            <a:noFill/>
          </a:ln>
        </p:spPr>
        <p:txBody>
          <a:bodyPr anchor="t" wrap="square" lIns="91440" rIns="91440" tIns="45720" bIns="45720">
            <a:noAutofit/>
          </a:bodyPr>
          <a:lstStyle/>
          <a:p>
            <a:pPr algn="l"/>
            <a:r>
              <a:rPr lang="es-ES" sz="800" dirty="0" b="1">
                <a:solidFill>
                  <a:srgbClr val="1B7B85"/>
                </a:solidFill>
                <a:latin typeface="Calibri"/>
              </a:rPr>
              <a:t>✓ Levantamiento completo Julio 2026</a:t>
            </a:r>
          </a:p>
        </p:txBody>
      </p:sp>
      <p:sp>
        <p:nvSpPr>
          <p:cNvPr id="56" name="kb"/>
          <p:cNvSpPr>
            <a:spLocks noGrp="1"/>
          </p:cNvSpPr>
          <p:nvPr/>
        </p:nvSpPr>
        <p:spPr>
          <a:xfrm>
            <a:off x="2999232" y="1572768"/>
            <a:ext cx="548640" cy="3840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6E8FF"/>
            </a:solidFill>
          </a:ln>
        </p:spPr>
      </p:sp>
      <p:sp>
        <p:nvSpPr>
          <p:cNvPr id="57" name="kv"/>
          <p:cNvSpPr txBox="1">
            <a:spLocks noGrp="1"/>
          </p:cNvSpPr>
          <p:nvPr/>
        </p:nvSpPr>
        <p:spPr>
          <a:xfrm>
            <a:off x="2999232" y="1572768"/>
            <a:ext cx="548640" cy="219456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940" dirty="0" b="1">
                <a:solidFill>
                  <a:srgbClr val="1A3A8F"/>
                </a:solidFill>
                <a:latin typeface="Calibri"/>
              </a:rPr>
              <a:t>32</a:t>
            </a:r>
          </a:p>
        </p:txBody>
      </p:sp>
      <p:sp>
        <p:nvSpPr>
          <p:cNvPr id="58" name="kl"/>
          <p:cNvSpPr txBox="1">
            <a:spLocks noGrp="1"/>
          </p:cNvSpPr>
          <p:nvPr/>
        </p:nvSpPr>
        <p:spPr>
          <a:xfrm>
            <a:off x="2999232" y="1773936"/>
            <a:ext cx="548640" cy="164592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700" dirty="0">
                <a:solidFill>
                  <a:srgbClr val="5A6475"/>
                </a:solidFill>
                <a:latin typeface="Calibri"/>
              </a:rPr>
              <a:t>FTE</a:t>
            </a:r>
          </a:p>
        </p:txBody>
      </p:sp>
      <p:sp>
        <p:nvSpPr>
          <p:cNvPr id="59" name="kb"/>
          <p:cNvSpPr>
            <a:spLocks noGrp="1"/>
          </p:cNvSpPr>
          <p:nvPr/>
        </p:nvSpPr>
        <p:spPr>
          <a:xfrm>
            <a:off x="3584448" y="1572768"/>
            <a:ext cx="548640" cy="3840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6E8FF"/>
            </a:solidFill>
          </a:ln>
        </p:spPr>
      </p:sp>
      <p:sp>
        <p:nvSpPr>
          <p:cNvPr id="60" name="kv"/>
          <p:cNvSpPr txBox="1">
            <a:spLocks noGrp="1"/>
          </p:cNvSpPr>
          <p:nvPr/>
        </p:nvSpPr>
        <p:spPr>
          <a:xfrm>
            <a:off x="3584448" y="1572768"/>
            <a:ext cx="548640" cy="219456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940" dirty="0" b="1">
                <a:solidFill>
                  <a:srgbClr val="5A6475"/>
                </a:solidFill>
                <a:latin typeface="Calibri"/>
              </a:rPr>
              <a:t>700-3K/mesa</a:t>
            </a:r>
          </a:p>
        </p:txBody>
      </p:sp>
      <p:sp>
        <p:nvSpPr>
          <p:cNvPr id="61" name="kl"/>
          <p:cNvSpPr txBox="1">
            <a:spLocks noGrp="1"/>
          </p:cNvSpPr>
          <p:nvPr/>
        </p:nvSpPr>
        <p:spPr>
          <a:xfrm>
            <a:off x="3584448" y="1773936"/>
            <a:ext cx="548640" cy="164592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700" dirty="0">
                <a:solidFill>
                  <a:srgbClr val="5A6475"/>
                </a:solidFill>
                <a:latin typeface="Calibri"/>
              </a:rPr>
              <a:t>Tickets</a:t>
            </a:r>
          </a:p>
        </p:txBody>
      </p:sp>
      <p:sp>
        <p:nvSpPr>
          <p:cNvPr id="62" name="kb"/>
          <p:cNvSpPr>
            <a:spLocks noGrp="1"/>
          </p:cNvSpPr>
          <p:nvPr/>
        </p:nvSpPr>
        <p:spPr>
          <a:xfrm>
            <a:off x="4169664" y="1572768"/>
            <a:ext cx="548640" cy="3840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6E8FF"/>
            </a:solidFill>
          </a:ln>
        </p:spPr>
      </p:sp>
      <p:sp>
        <p:nvSpPr>
          <p:cNvPr id="63" name="kv"/>
          <p:cNvSpPr txBox="1">
            <a:spLocks noGrp="1"/>
          </p:cNvSpPr>
          <p:nvPr/>
        </p:nvSpPr>
        <p:spPr>
          <a:xfrm>
            <a:off x="4169664" y="1572768"/>
            <a:ext cx="548640" cy="219456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940" dirty="0" b="1">
                <a:solidFill>
                  <a:srgbClr val="0E6B3C"/>
                </a:solidFill>
                <a:latin typeface="Calibri"/>
              </a:rPr>
              <a:t>0.5-3h</a:t>
            </a:r>
          </a:p>
        </p:txBody>
      </p:sp>
      <p:sp>
        <p:nvSpPr>
          <p:cNvPr id="64" name="kl"/>
          <p:cNvSpPr txBox="1">
            <a:spLocks noGrp="1"/>
          </p:cNvSpPr>
          <p:nvPr/>
        </p:nvSpPr>
        <p:spPr>
          <a:xfrm>
            <a:off x="4169664" y="1773936"/>
            <a:ext cx="548640" cy="164592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700" dirty="0">
                <a:solidFill>
                  <a:srgbClr val="5A6475"/>
                </a:solidFill>
                <a:latin typeface="Calibri"/>
              </a:rPr>
              <a:t>MTTR</a:t>
            </a:r>
          </a:p>
        </p:txBody>
      </p:sp>
      <p:sp>
        <p:nvSpPr>
          <p:cNvPr id="65" name="kb"/>
          <p:cNvSpPr>
            <a:spLocks noGrp="1"/>
          </p:cNvSpPr>
          <p:nvPr/>
        </p:nvSpPr>
        <p:spPr>
          <a:xfrm>
            <a:off x="4754880" y="1572768"/>
            <a:ext cx="548640" cy="3840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6E8FF"/>
            </a:solidFill>
          </a:ln>
        </p:spPr>
      </p:sp>
      <p:sp>
        <p:nvSpPr>
          <p:cNvPr id="66" name="kv"/>
          <p:cNvSpPr txBox="1">
            <a:spLocks noGrp="1"/>
          </p:cNvSpPr>
          <p:nvPr/>
        </p:nvSpPr>
        <p:spPr>
          <a:xfrm>
            <a:off x="4754880" y="1572768"/>
            <a:ext cx="548640" cy="219456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940" dirty="0" b="1">
                <a:solidFill>
                  <a:srgbClr val="B91C1C"/>
                </a:solidFill>
                <a:latin typeface="Calibri"/>
              </a:rPr>
              <a:t>Sin ANS</a:t>
            </a:r>
          </a:p>
        </p:txBody>
      </p:sp>
      <p:sp>
        <p:nvSpPr>
          <p:cNvPr id="67" name="kl"/>
          <p:cNvSpPr txBox="1">
            <a:spLocks noGrp="1"/>
          </p:cNvSpPr>
          <p:nvPr/>
        </p:nvSpPr>
        <p:spPr>
          <a:xfrm>
            <a:off x="4754880" y="1773936"/>
            <a:ext cx="548640" cy="164592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700" dirty="0">
                <a:solidFill>
                  <a:srgbClr val="5A6475"/>
                </a:solidFill>
                <a:latin typeface="Calibri"/>
              </a:rPr>
              <a:t>SLA</a:t>
            </a:r>
          </a:p>
        </p:txBody>
      </p:sp>
      <p:sp>
        <p:nvSpPr>
          <p:cNvPr id="60" name="sep"/>
          <p:cNvSpPr>
            <a:spLocks noGrp="1"/>
          </p:cNvSpPr>
          <p:nvPr/>
        </p:nvSpPr>
        <p:spPr>
          <a:xfrm>
            <a:off x="2999232" y="2011680"/>
            <a:ext cx="2340864" cy="9144"/>
          </a:xfrm>
          <a:prstGeom prst="rect">
            <a:avLst/>
          </a:prstGeom>
          <a:solidFill>
            <a:srgbClr val="D6E8FF"/>
          </a:solidFill>
          <a:ln>
            <a:noFill/>
          </a:ln>
        </p:spPr>
      </p:sp>
      <p:sp>
        <p:nvSpPr>
          <p:cNvPr id="61" name="d"/>
          <p:cNvSpPr txBox="1">
            <a:spLocks noGrp="1"/>
          </p:cNvSpPr>
          <p:nvPr/>
        </p:nvSpPr>
        <p:spPr>
          <a:xfrm>
            <a:off x="2999232" y="2066544"/>
            <a:ext cx="2340864" cy="256032"/>
          </a:xfrm>
          <a:prstGeom prst="rect">
            <a:avLst/>
          </a:prstGeom>
          <a:noFill/>
          <a:ln>
            <a:noFill/>
          </a:ln>
        </p:spPr>
        <p:txBody>
          <a:bodyPr anchor="t" wrap="square" lIns="91440" rIns="91440" tIns="45720" bIns="45720">
            <a:noAutofit/>
          </a:bodyPr>
          <a:lstStyle/>
          <a:p>
            <a:pPr algn="l"/>
            <a:r>
              <a:rPr lang="es-ES" sz="900" dirty="0" b="1">
                <a:solidFill>
                  <a:srgbClr val="B91C1C"/>
                </a:solidFill>
                <a:latin typeface="Calibri"/>
              </a:rPr>
              <a:t>● </a:t>
            </a:r>
            <a:r>
              <a:rPr lang="es-ES" sz="820" dirty="0">
                <a:solidFill>
                  <a:srgbClr val="0D1B5E"/>
                </a:solidFill>
                <a:latin typeface="Calibri"/>
              </a:rPr>
              <a:t>Asignacion sin modelo — criterio experto individual</a:t>
            </a:r>
          </a:p>
        </p:txBody>
      </p:sp>
      <p:sp>
        <p:nvSpPr>
          <p:cNvPr id="62" name="d"/>
          <p:cNvSpPr txBox="1">
            <a:spLocks noGrp="1"/>
          </p:cNvSpPr>
          <p:nvPr/>
        </p:nvSpPr>
        <p:spPr>
          <a:xfrm>
            <a:off x="2999232" y="2340864"/>
            <a:ext cx="2340864" cy="256032"/>
          </a:xfrm>
          <a:prstGeom prst="rect">
            <a:avLst/>
          </a:prstGeom>
          <a:noFill/>
          <a:ln>
            <a:noFill/>
          </a:ln>
        </p:spPr>
        <p:txBody>
          <a:bodyPr anchor="t" wrap="square" lIns="91440" rIns="91440" tIns="45720" bIns="45720">
            <a:noAutofit/>
          </a:bodyPr>
          <a:lstStyle/>
          <a:p>
            <a:pPr algn="l"/>
            <a:r>
              <a:rPr lang="es-ES" sz="900" dirty="0" b="1">
                <a:solidFill>
                  <a:srgbClr val="B91C1C"/>
                </a:solidFill>
                <a:latin typeface="Calibri"/>
              </a:rPr>
              <a:t>● </a:t>
            </a:r>
            <a:r>
              <a:rPr lang="es-ES" sz="820" dirty="0">
                <a:solidFill>
                  <a:srgbClr val="0D1B5E"/>
                </a:solidFill>
                <a:latin typeface="Calibri"/>
              </a:rPr>
              <a:t>Sin SLA formal — solo ANS del Banco y COES</a:t>
            </a:r>
          </a:p>
        </p:txBody>
      </p:sp>
      <p:sp>
        <p:nvSpPr>
          <p:cNvPr id="63" name="d"/>
          <p:cNvSpPr txBox="1">
            <a:spLocks noGrp="1"/>
          </p:cNvSpPr>
          <p:nvPr/>
        </p:nvSpPr>
        <p:spPr>
          <a:xfrm>
            <a:off x="2999232" y="2615184"/>
            <a:ext cx="2340864" cy="256032"/>
          </a:xfrm>
          <a:prstGeom prst="rect">
            <a:avLst/>
          </a:prstGeom>
          <a:noFill/>
          <a:ln>
            <a:noFill/>
          </a:ln>
        </p:spPr>
        <p:txBody>
          <a:bodyPr anchor="t" wrap="square" lIns="91440" rIns="91440" tIns="45720" bIns="45720">
            <a:noAutofit/>
          </a:bodyPr>
          <a:lstStyle/>
          <a:p>
            <a:pPr algn="l"/>
            <a:r>
              <a:rPr lang="es-ES" sz="900" dirty="0" b="1">
                <a:solidFill>
                  <a:srgbClr val="B91C1C"/>
                </a:solidFill>
                <a:latin typeface="Calibri"/>
              </a:rPr>
              <a:t>● </a:t>
            </a:r>
            <a:r>
              <a:rPr lang="es-ES" sz="820" dirty="0">
                <a:solidFill>
                  <a:srgbClr val="0D1B5E"/>
                </a:solidFill>
                <a:latin typeface="Calibri"/>
              </a:rPr>
              <a:t>Sin costo/ticket calculado — dato no disponible</a:t>
            </a:r>
          </a:p>
        </p:txBody>
      </p:sp>
      <p:sp>
        <p:nvSpPr>
          <p:cNvPr id="64" name="d"/>
          <p:cNvSpPr txBox="1">
            <a:spLocks noGrp="1"/>
          </p:cNvSpPr>
          <p:nvPr/>
        </p:nvSpPr>
        <p:spPr>
          <a:xfrm>
            <a:off x="2999232" y="2889504"/>
            <a:ext cx="2340864" cy="256032"/>
          </a:xfrm>
          <a:prstGeom prst="rect">
            <a:avLst/>
          </a:prstGeom>
          <a:noFill/>
          <a:ln>
            <a:noFill/>
          </a:ln>
        </p:spPr>
        <p:txBody>
          <a:bodyPr anchor="t" wrap="square" lIns="91440" rIns="91440" tIns="45720" bIns="45720">
            <a:noAutofit/>
          </a:bodyPr>
          <a:lstStyle/>
          <a:p>
            <a:pPr algn="l"/>
            <a:r>
              <a:rPr lang="es-ES" sz="900" dirty="0" b="1">
                <a:solidFill>
                  <a:srgbClr val="B91C1C"/>
                </a:solidFill>
                <a:latin typeface="Calibri"/>
              </a:rPr>
              <a:t>● </a:t>
            </a:r>
            <a:r>
              <a:rPr lang="es-ES" sz="820" dirty="0">
                <a:solidFill>
                  <a:srgbClr val="0D1B5E"/>
                </a:solidFill>
                <a:latin typeface="Calibri"/>
              </a:rPr>
              <a:t>Brechas vendido vs ejecutado — volumetria sin datos</a:t>
            </a:r>
          </a:p>
        </p:txBody>
      </p:sp>
      <p:sp>
        <p:nvSpPr>
          <p:cNvPr id="65" name="d"/>
          <p:cNvSpPr txBox="1">
            <a:spLocks noGrp="1"/>
          </p:cNvSpPr>
          <p:nvPr/>
        </p:nvSpPr>
        <p:spPr>
          <a:xfrm>
            <a:off x="2999232" y="3163824"/>
            <a:ext cx="2340864" cy="256032"/>
          </a:xfrm>
          <a:prstGeom prst="rect">
            <a:avLst/>
          </a:prstGeom>
          <a:noFill/>
          <a:ln>
            <a:noFill/>
          </a:ln>
        </p:spPr>
        <p:txBody>
          <a:bodyPr anchor="t" wrap="square" lIns="91440" rIns="91440" tIns="45720" bIns="45720">
            <a:noAutofit/>
          </a:bodyPr>
          <a:lstStyle/>
          <a:p>
            <a:pPr algn="l"/>
            <a:r>
              <a:rPr lang="es-ES" sz="900" dirty="0" b="1">
                <a:solidFill>
                  <a:srgbClr val="B45309"/>
                </a:solidFill>
                <a:latin typeface="Calibri"/>
              </a:rPr>
              <a:t>◐ </a:t>
            </a:r>
            <a:r>
              <a:rPr lang="es-ES" sz="820" dirty="0">
                <a:solidFill>
                  <a:srgbClr val="0D1B5E"/>
                </a:solidFill>
                <a:latin typeface="Calibri"/>
              </a:rPr>
              <a:t>Sin autoservicio — todo entra por call o correo</a:t>
            </a:r>
          </a:p>
        </p:txBody>
      </p:sp>
      <p:sp>
        <p:nvSpPr>
          <p:cNvPr id="66" name="d"/>
          <p:cNvSpPr txBox="1">
            <a:spLocks noGrp="1"/>
          </p:cNvSpPr>
          <p:nvPr/>
        </p:nvSpPr>
        <p:spPr>
          <a:xfrm>
            <a:off x="2999232" y="3438144"/>
            <a:ext cx="2340864" cy="256032"/>
          </a:xfrm>
          <a:prstGeom prst="rect">
            <a:avLst/>
          </a:prstGeom>
          <a:noFill/>
          <a:ln>
            <a:noFill/>
          </a:ln>
        </p:spPr>
        <p:txBody>
          <a:bodyPr anchor="t" wrap="square" lIns="91440" rIns="91440" tIns="45720" bIns="45720">
            <a:noAutofit/>
          </a:bodyPr>
          <a:lstStyle/>
          <a:p>
            <a:pPr algn="l"/>
            <a:r>
              <a:rPr lang="es-ES" sz="900" dirty="0" b="1">
                <a:solidFill>
                  <a:srgbClr val="B45309"/>
                </a:solidFill>
                <a:latin typeface="Calibri"/>
              </a:rPr>
              <a:t>◐ </a:t>
            </a:r>
            <a:r>
              <a:rPr lang="es-ES" sz="820" dirty="0">
                <a:solidFill>
                  <a:srgbClr val="0D1B5E"/>
                </a:solidFill>
                <a:latin typeface="Calibri"/>
              </a:rPr>
              <a:t>Rotacion de personal — perdida de conocimiento</a:t>
            </a:r>
          </a:p>
        </p:txBody>
      </p:sp>
      <p:sp>
        <p:nvSpPr>
          <p:cNvPr id="67" name="d"/>
          <p:cNvSpPr txBox="1">
            <a:spLocks noGrp="1"/>
          </p:cNvSpPr>
          <p:nvPr/>
        </p:nvSpPr>
        <p:spPr>
          <a:xfrm>
            <a:off x="2999232" y="3712464"/>
            <a:ext cx="2340864" cy="256032"/>
          </a:xfrm>
          <a:prstGeom prst="rect">
            <a:avLst/>
          </a:prstGeom>
          <a:noFill/>
          <a:ln>
            <a:noFill/>
          </a:ln>
        </p:spPr>
        <p:txBody>
          <a:bodyPr anchor="t" wrap="square" lIns="91440" rIns="91440" tIns="45720" bIns="45720">
            <a:noAutofit/>
          </a:bodyPr>
          <a:lstStyle/>
          <a:p>
            <a:pPr algn="l"/>
            <a:r>
              <a:rPr lang="es-ES" sz="900" dirty="0" b="1">
                <a:solidFill>
                  <a:srgbClr val="B45309"/>
                </a:solidFill>
                <a:latin typeface="Calibri"/>
              </a:rPr>
              <a:t>◐ </a:t>
            </a:r>
            <a:r>
              <a:rPr lang="es-ES" sz="820" dirty="0">
                <a:solidFill>
                  <a:srgbClr val="0D1B5E"/>
                </a:solidFill>
                <a:latin typeface="Calibri"/>
              </a:rPr>
              <a:t>COES Integracion 7FTE · Datos 7FTE · Soporte 13FTE</a:t>
            </a:r>
          </a:p>
        </p:txBody>
      </p:sp>
      <p:sp>
        <p:nvSpPr>
          <p:cNvPr id="68" name="d"/>
          <p:cNvSpPr txBox="1">
            <a:spLocks noGrp="1"/>
          </p:cNvSpPr>
          <p:nvPr/>
        </p:nvSpPr>
        <p:spPr>
          <a:xfrm>
            <a:off x="2999232" y="3986784"/>
            <a:ext cx="2340864" cy="256032"/>
          </a:xfrm>
          <a:prstGeom prst="rect">
            <a:avLst/>
          </a:prstGeom>
          <a:noFill/>
          <a:ln>
            <a:noFill/>
          </a:ln>
        </p:spPr>
        <p:txBody>
          <a:bodyPr anchor="t" wrap="square" lIns="91440" rIns="91440" tIns="45720" bIns="45720">
            <a:noAutofit/>
          </a:bodyPr>
          <a:lstStyle/>
          <a:p>
            <a:pPr algn="l"/>
            <a:r>
              <a:rPr lang="es-ES" sz="900" dirty="0" b="1">
                <a:solidFill>
                  <a:srgbClr val="B45309"/>
                </a:solidFill>
                <a:latin typeface="Calibri"/>
              </a:rPr>
              <a:t>◐ </a:t>
            </a:r>
            <a:r>
              <a:rPr lang="es-ES" sz="820" dirty="0">
                <a:solidFill>
                  <a:srgbClr val="0D1B5E"/>
                </a:solidFill>
                <a:latin typeface="Calibri"/>
              </a:rPr>
              <a:t>COES Emma 4FTE · Emma iSeries 1FTE</a:t>
            </a:r>
          </a:p>
        </p:txBody>
      </p:sp>
      <p:sp>
        <p:nvSpPr>
          <p:cNvPr id="90" name="card"/>
          <p:cNvSpPr>
            <a:spLocks noGrp="1"/>
          </p:cNvSpPr>
          <p:nvPr/>
        </p:nvSpPr>
        <p:spPr>
          <a:xfrm>
            <a:off x="5541264" y="804672"/>
            <a:ext cx="2523744" cy="3639312"/>
          </a:xfrm>
          <a:prstGeom prst="roundRect">
            <a:avLst>
              <a:gd name="adj" fmla="val 12000"/>
            </a:avLst>
          </a:prstGeom>
          <a:solidFill>
            <a:srgbClr val="E4F4F6"/>
          </a:solidFill>
          <a:ln w="15875">
            <a:solidFill>
              <a:srgbClr val="1B7B85"/>
            </a:solidFill>
          </a:ln>
        </p:spPr>
      </p:sp>
      <p:sp>
        <p:nvSpPr>
          <p:cNvPr id="91" name="ch"/>
          <p:cNvSpPr>
            <a:spLocks noGrp="1"/>
          </p:cNvSpPr>
          <p:nvPr/>
        </p:nvSpPr>
        <p:spPr>
          <a:xfrm>
            <a:off x="5541264" y="804672"/>
            <a:ext cx="2523744" cy="347472"/>
          </a:xfrm>
          <a:prstGeom prst="roundRect">
            <a:avLst>
              <a:gd name="adj" fmla="val 12000"/>
            </a:avLst>
          </a:prstGeom>
          <a:solidFill>
            <a:srgbClr val="1B7B85"/>
          </a:solidFill>
          <a:ln>
            <a:noFill/>
          </a:ln>
        </p:spPr>
      </p:sp>
      <p:sp>
        <p:nvSpPr>
          <p:cNvPr id="92" name="ch2"/>
          <p:cNvSpPr>
            <a:spLocks noGrp="1"/>
          </p:cNvSpPr>
          <p:nvPr/>
        </p:nvSpPr>
        <p:spPr>
          <a:xfrm>
            <a:off x="5541264" y="1024128"/>
            <a:ext cx="2523744" cy="128016"/>
          </a:xfrm>
          <a:prstGeom prst="rect">
            <a:avLst/>
          </a:prstGeom>
          <a:solidFill>
            <a:srgbClr val="1B7B85"/>
          </a:solidFill>
          <a:ln>
            <a:noFill/>
          </a:ln>
        </p:spPr>
      </p:sp>
      <p:sp>
        <p:nvSpPr>
          <p:cNvPr id="93" name="ct"/>
          <p:cNvSpPr txBox="1">
            <a:spLocks noGrp="1"/>
          </p:cNvSpPr>
          <p:nvPr/>
        </p:nvSpPr>
        <p:spPr>
          <a:xfrm>
            <a:off x="5632704" y="850392"/>
            <a:ext cx="2340864" cy="256032"/>
          </a:xfrm>
          <a:prstGeom prst="rect">
            <a:avLst/>
          </a:prstGeom>
          <a:noFill/>
          <a:ln>
            <a:noFill/>
          </a:ln>
        </p:spPr>
        <p:txBody>
          <a:bodyPr anchor="t" wrap="square" lIns="91440" rIns="91440" tIns="45720" bIns="45720">
            <a:noAutofit/>
          </a:bodyPr>
          <a:lstStyle/>
          <a:p>
            <a:pPr algn="l"/>
            <a:r>
              <a:rPr lang="es-ES" sz="1000" dirty="0" b="1">
                <a:solidFill>
                  <a:srgbClr val="FFFFFF"/>
                </a:solidFill>
                <a:latin typeface="Calibri"/>
              </a:rPr>
              <a:t>MEDICARTE — Mesa IT</a:t>
            </a:r>
          </a:p>
        </p:txBody>
      </p:sp>
      <p:sp>
        <p:nvSpPr>
          <p:cNvPr id="94" name="cm"/>
          <p:cNvSpPr txBox="1">
            <a:spLocks noGrp="1"/>
          </p:cNvSpPr>
          <p:nvPr/>
        </p:nvSpPr>
        <p:spPr>
          <a:xfrm>
            <a:off x="5632704" y="1188720"/>
            <a:ext cx="2340864" cy="182880"/>
          </a:xfrm>
          <a:prstGeom prst="rect">
            <a:avLst/>
          </a:prstGeom>
          <a:noFill/>
          <a:ln>
            <a:noFill/>
          </a:ln>
        </p:spPr>
        <p:txBody>
          <a:bodyPr anchor="t" wrap="square" lIns="91440" rIns="91440" tIns="45720" bIns="45720">
            <a:noAutofit/>
          </a:bodyPr>
          <a:lstStyle/>
          <a:p>
            <a:pPr algn="l"/>
            <a:r>
              <a:rPr lang="es-ES" sz="790" dirty="0" i="1">
                <a:solidFill>
                  <a:srgbClr val="5A6475"/>
                </a:solidFill>
                <a:latin typeface="Calibri"/>
              </a:rPr>
              <a:t>Salud (EPS/IPS) · 12 FTE · Herramienta por definir</a:t>
            </a:r>
          </a:p>
        </p:txBody>
      </p:sp>
      <p:sp>
        <p:nvSpPr>
          <p:cNvPr id="95" name="ca"/>
          <p:cNvSpPr txBox="1">
            <a:spLocks noGrp="1"/>
          </p:cNvSpPr>
          <p:nvPr/>
        </p:nvSpPr>
        <p:spPr>
          <a:xfrm>
            <a:off x="5632704" y="1371600"/>
            <a:ext cx="2340864" cy="164592"/>
          </a:xfrm>
          <a:prstGeom prst="rect">
            <a:avLst/>
          </a:prstGeom>
          <a:noFill/>
          <a:ln>
            <a:noFill/>
          </a:ln>
        </p:spPr>
        <p:txBody>
          <a:bodyPr anchor="t" wrap="square" lIns="91440" rIns="91440" tIns="45720" bIns="45720">
            <a:noAutofit/>
          </a:bodyPr>
          <a:lstStyle/>
          <a:p>
            <a:pPr algn="l"/>
            <a:r>
              <a:rPr lang="es-ES" sz="800" dirty="0" b="1">
                <a:solidFill>
                  <a:srgbClr val="0E6B3C"/>
                </a:solidFill>
                <a:latin typeface="Calibri"/>
              </a:rPr>
              <a:t>★ Mejor desempeno de las 12 mesas — referencia</a:t>
            </a:r>
          </a:p>
        </p:txBody>
      </p:sp>
      <p:sp>
        <p:nvSpPr>
          <p:cNvPr id="96" name="kb"/>
          <p:cNvSpPr>
            <a:spLocks noGrp="1"/>
          </p:cNvSpPr>
          <p:nvPr/>
        </p:nvSpPr>
        <p:spPr>
          <a:xfrm>
            <a:off x="5632704" y="1572768"/>
            <a:ext cx="548640" cy="3840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6E8FF"/>
            </a:solidFill>
          </a:ln>
        </p:spPr>
      </p:sp>
      <p:sp>
        <p:nvSpPr>
          <p:cNvPr id="97" name="kv"/>
          <p:cNvSpPr txBox="1">
            <a:spLocks noGrp="1"/>
          </p:cNvSpPr>
          <p:nvPr/>
        </p:nvSpPr>
        <p:spPr>
          <a:xfrm>
            <a:off x="5632704" y="1572768"/>
            <a:ext cx="548640" cy="219456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940" dirty="0" b="1">
                <a:solidFill>
                  <a:srgbClr val="1A3A8F"/>
                </a:solidFill>
                <a:latin typeface="Calibri"/>
              </a:rPr>
              <a:t>12</a:t>
            </a:r>
          </a:p>
        </p:txBody>
      </p:sp>
      <p:sp>
        <p:nvSpPr>
          <p:cNvPr id="98" name="kl"/>
          <p:cNvSpPr txBox="1">
            <a:spLocks noGrp="1"/>
          </p:cNvSpPr>
          <p:nvPr/>
        </p:nvSpPr>
        <p:spPr>
          <a:xfrm>
            <a:off x="5632704" y="1773936"/>
            <a:ext cx="548640" cy="164592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700" dirty="0">
                <a:solidFill>
                  <a:srgbClr val="5A6475"/>
                </a:solidFill>
                <a:latin typeface="Calibri"/>
              </a:rPr>
              <a:t>FTE</a:t>
            </a:r>
          </a:p>
        </p:txBody>
      </p:sp>
      <p:sp>
        <p:nvSpPr>
          <p:cNvPr id="99" name="kb"/>
          <p:cNvSpPr>
            <a:spLocks noGrp="1"/>
          </p:cNvSpPr>
          <p:nvPr/>
        </p:nvSpPr>
        <p:spPr>
          <a:xfrm>
            <a:off x="6217920" y="1572768"/>
            <a:ext cx="548640" cy="3840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6E8FF"/>
            </a:solidFill>
          </a:ln>
        </p:spPr>
      </p:sp>
      <p:sp>
        <p:nvSpPr>
          <p:cNvPr id="100" name="kv"/>
          <p:cNvSpPr txBox="1">
            <a:spLocks noGrp="1"/>
          </p:cNvSpPr>
          <p:nvPr/>
        </p:nvSpPr>
        <p:spPr>
          <a:xfrm>
            <a:off x="6217920" y="1572768"/>
            <a:ext cx="548640" cy="219456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940" dirty="0" b="1">
                <a:solidFill>
                  <a:srgbClr val="0E6B3C"/>
                </a:solidFill>
                <a:latin typeface="Calibri"/>
              </a:rPr>
              <a:t>68%</a:t>
            </a:r>
          </a:p>
        </p:txBody>
      </p:sp>
      <p:sp>
        <p:nvSpPr>
          <p:cNvPr id="101" name="kl"/>
          <p:cNvSpPr txBox="1">
            <a:spLocks noGrp="1"/>
          </p:cNvSpPr>
          <p:nvPr/>
        </p:nvSpPr>
        <p:spPr>
          <a:xfrm>
            <a:off x="6217920" y="1773936"/>
            <a:ext cx="548640" cy="164592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700" dirty="0">
                <a:solidFill>
                  <a:srgbClr val="5A6475"/>
                </a:solidFill>
                <a:latin typeface="Calibri"/>
              </a:rPr>
              <a:t>FCR</a:t>
            </a:r>
          </a:p>
        </p:txBody>
      </p:sp>
      <p:sp>
        <p:nvSpPr>
          <p:cNvPr id="102" name="kb"/>
          <p:cNvSpPr>
            <a:spLocks noGrp="1"/>
          </p:cNvSpPr>
          <p:nvPr/>
        </p:nvSpPr>
        <p:spPr>
          <a:xfrm>
            <a:off x="6803136" y="1572768"/>
            <a:ext cx="548640" cy="3840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6E8FF"/>
            </a:solidFill>
          </a:ln>
        </p:spPr>
      </p:sp>
      <p:sp>
        <p:nvSpPr>
          <p:cNvPr id="103" name="kv"/>
          <p:cNvSpPr txBox="1">
            <a:spLocks noGrp="1"/>
          </p:cNvSpPr>
          <p:nvPr/>
        </p:nvSpPr>
        <p:spPr>
          <a:xfrm>
            <a:off x="6803136" y="1572768"/>
            <a:ext cx="548640" cy="219456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940" dirty="0" b="1">
                <a:solidFill>
                  <a:srgbClr val="0E6B3C"/>
                </a:solidFill>
                <a:latin typeface="Calibri"/>
              </a:rPr>
              <a:t>0.55h ✓</a:t>
            </a:r>
          </a:p>
        </p:txBody>
      </p:sp>
      <p:sp>
        <p:nvSpPr>
          <p:cNvPr id="104" name="kl"/>
          <p:cNvSpPr txBox="1">
            <a:spLocks noGrp="1"/>
          </p:cNvSpPr>
          <p:nvPr/>
        </p:nvSpPr>
        <p:spPr>
          <a:xfrm>
            <a:off x="6803136" y="1773936"/>
            <a:ext cx="548640" cy="164592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700" dirty="0">
                <a:solidFill>
                  <a:srgbClr val="5A6475"/>
                </a:solidFill>
                <a:latin typeface="Calibri"/>
              </a:rPr>
              <a:t>MTTR</a:t>
            </a:r>
          </a:p>
        </p:txBody>
      </p:sp>
      <p:sp>
        <p:nvSpPr>
          <p:cNvPr id="105" name="kb"/>
          <p:cNvSpPr>
            <a:spLocks noGrp="1"/>
          </p:cNvSpPr>
          <p:nvPr/>
        </p:nvSpPr>
        <p:spPr>
          <a:xfrm>
            <a:off x="7388352" y="1572768"/>
            <a:ext cx="548640" cy="3840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6E8FF"/>
            </a:solidFill>
          </a:ln>
        </p:spPr>
      </p:sp>
      <p:sp>
        <p:nvSpPr>
          <p:cNvPr id="106" name="kv"/>
          <p:cNvSpPr txBox="1">
            <a:spLocks noGrp="1"/>
          </p:cNvSpPr>
          <p:nvPr/>
        </p:nvSpPr>
        <p:spPr>
          <a:xfrm>
            <a:off x="7388352" y="1572768"/>
            <a:ext cx="548640" cy="219456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940" dirty="0" b="1">
                <a:solidFill>
                  <a:srgbClr val="0E6B3C"/>
                </a:solidFill>
                <a:latin typeface="Calibri"/>
              </a:rPr>
              <a:t>89%</a:t>
            </a:r>
          </a:p>
        </p:txBody>
      </p:sp>
      <p:sp>
        <p:nvSpPr>
          <p:cNvPr id="107" name="kl"/>
          <p:cNvSpPr txBox="1">
            <a:spLocks noGrp="1"/>
          </p:cNvSpPr>
          <p:nvPr/>
        </p:nvSpPr>
        <p:spPr>
          <a:xfrm>
            <a:off x="7388352" y="1773936"/>
            <a:ext cx="548640" cy="164592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700" dirty="0">
                <a:solidFill>
                  <a:srgbClr val="5A6475"/>
                </a:solidFill>
                <a:latin typeface="Calibri"/>
              </a:rPr>
              <a:t>SLA</a:t>
            </a:r>
          </a:p>
        </p:txBody>
      </p:sp>
      <p:sp>
        <p:nvSpPr>
          <p:cNvPr id="100" name="sep"/>
          <p:cNvSpPr>
            <a:spLocks noGrp="1"/>
          </p:cNvSpPr>
          <p:nvPr/>
        </p:nvSpPr>
        <p:spPr>
          <a:xfrm>
            <a:off x="5632704" y="2011680"/>
            <a:ext cx="2340864" cy="9144"/>
          </a:xfrm>
          <a:prstGeom prst="rect">
            <a:avLst/>
          </a:prstGeom>
          <a:solidFill>
            <a:srgbClr val="D6E8FF"/>
          </a:solidFill>
          <a:ln>
            <a:noFill/>
          </a:ln>
        </p:spPr>
      </p:sp>
      <p:sp>
        <p:nvSpPr>
          <p:cNvPr id="101" name="d"/>
          <p:cNvSpPr txBox="1">
            <a:spLocks noGrp="1"/>
          </p:cNvSpPr>
          <p:nvPr/>
        </p:nvSpPr>
        <p:spPr>
          <a:xfrm>
            <a:off x="5632704" y="2066544"/>
            <a:ext cx="2340864" cy="256032"/>
          </a:xfrm>
          <a:prstGeom prst="rect">
            <a:avLst/>
          </a:prstGeom>
          <a:noFill/>
          <a:ln>
            <a:noFill/>
          </a:ln>
        </p:spPr>
        <p:txBody>
          <a:bodyPr anchor="t" wrap="square" lIns="91440" rIns="91440" tIns="45720" bIns="45720">
            <a:noAutofit/>
          </a:bodyPr>
          <a:lstStyle/>
          <a:p>
            <a:pPr algn="l"/>
            <a:r>
              <a:rPr lang="es-ES" sz="900" dirty="0" b="1">
                <a:solidFill>
                  <a:srgbClr val="B91C1C"/>
                </a:solidFill>
                <a:latin typeface="Calibri"/>
              </a:rPr>
              <a:t>● </a:t>
            </a:r>
            <a:r>
              <a:rPr lang="es-ES" sz="820" dirty="0">
                <a:solidFill>
                  <a:srgbClr val="0D1B5E"/>
                </a:solidFill>
                <a:latin typeface="Calibri"/>
              </a:rPr>
              <a:t>FCR 68% — referencia para todas las otras mesas</a:t>
            </a:r>
          </a:p>
        </p:txBody>
      </p:sp>
      <p:sp>
        <p:nvSpPr>
          <p:cNvPr id="102" name="d"/>
          <p:cNvSpPr txBox="1">
            <a:spLocks noGrp="1"/>
          </p:cNvSpPr>
          <p:nvPr/>
        </p:nvSpPr>
        <p:spPr>
          <a:xfrm>
            <a:off x="5632704" y="2340864"/>
            <a:ext cx="2340864" cy="256032"/>
          </a:xfrm>
          <a:prstGeom prst="rect">
            <a:avLst/>
          </a:prstGeom>
          <a:noFill/>
          <a:ln>
            <a:noFill/>
          </a:ln>
        </p:spPr>
        <p:txBody>
          <a:bodyPr anchor="t" wrap="square" lIns="91440" rIns="91440" tIns="45720" bIns="45720">
            <a:noAutofit/>
          </a:bodyPr>
          <a:lstStyle/>
          <a:p>
            <a:pPr algn="l"/>
            <a:r>
              <a:rPr lang="es-ES" sz="900" dirty="0" b="1">
                <a:solidFill>
                  <a:srgbClr val="B91C1C"/>
                </a:solidFill>
                <a:latin typeface="Calibri"/>
              </a:rPr>
              <a:t>● </a:t>
            </a:r>
            <a:r>
              <a:rPr lang="es-ES" sz="820" dirty="0">
                <a:solidFill>
                  <a:srgbClr val="0D1B5E"/>
                </a:solidFill>
                <a:latin typeface="Calibri"/>
              </a:rPr>
              <a:t>MTTR 0.55h — unica mesa bajo 4h (world-class)</a:t>
            </a:r>
          </a:p>
        </p:txBody>
      </p:sp>
      <p:sp>
        <p:nvSpPr>
          <p:cNvPr id="103" name="d"/>
          <p:cNvSpPr txBox="1">
            <a:spLocks noGrp="1"/>
          </p:cNvSpPr>
          <p:nvPr/>
        </p:nvSpPr>
        <p:spPr>
          <a:xfrm>
            <a:off x="5632704" y="2615184"/>
            <a:ext cx="2340864" cy="256032"/>
          </a:xfrm>
          <a:prstGeom prst="rect">
            <a:avLst/>
          </a:prstGeom>
          <a:noFill/>
          <a:ln>
            <a:noFill/>
          </a:ln>
        </p:spPr>
        <p:txBody>
          <a:bodyPr anchor="t" wrap="square" lIns="91440" rIns="91440" tIns="45720" bIns="45720">
            <a:noAutofit/>
          </a:bodyPr>
          <a:lstStyle/>
          <a:p>
            <a:pPr algn="l"/>
            <a:r>
              <a:rPr lang="es-ES" sz="900" dirty="0" b="1">
                <a:solidFill>
                  <a:srgbClr val="B91C1C"/>
                </a:solidFill>
                <a:latin typeface="Calibri"/>
              </a:rPr>
              <a:t>● </a:t>
            </a:r>
            <a:r>
              <a:rPr lang="es-ES" sz="820" dirty="0">
                <a:solidFill>
                  <a:srgbClr val="0D1B5E"/>
                </a:solidFill>
                <a:latin typeface="Calibri"/>
              </a:rPr>
              <a:t>SLA 89% — ya cerca de meta 92%</a:t>
            </a:r>
          </a:p>
        </p:txBody>
      </p:sp>
      <p:sp>
        <p:nvSpPr>
          <p:cNvPr id="104" name="d"/>
          <p:cNvSpPr txBox="1">
            <a:spLocks noGrp="1"/>
          </p:cNvSpPr>
          <p:nvPr/>
        </p:nvSpPr>
        <p:spPr>
          <a:xfrm>
            <a:off x="5632704" y="2889504"/>
            <a:ext cx="2340864" cy="256032"/>
          </a:xfrm>
          <a:prstGeom prst="rect">
            <a:avLst/>
          </a:prstGeom>
          <a:noFill/>
          <a:ln>
            <a:noFill/>
          </a:ln>
        </p:spPr>
        <p:txBody>
          <a:bodyPr anchor="t" wrap="square" lIns="91440" rIns="91440" tIns="45720" bIns="45720">
            <a:noAutofit/>
          </a:bodyPr>
          <a:lstStyle/>
          <a:p>
            <a:pPr algn="l"/>
            <a:r>
              <a:rPr lang="es-ES" sz="900" dirty="0" b="1">
                <a:solidFill>
                  <a:srgbClr val="B91C1C"/>
                </a:solidFill>
                <a:latin typeface="Calibri"/>
              </a:rPr>
              <a:t>● </a:t>
            </a:r>
            <a:r>
              <a:rPr lang="es-ES" sz="820" dirty="0">
                <a:solidFill>
                  <a:srgbClr val="0D1B5E"/>
                </a:solidFill>
                <a:latin typeface="Calibri"/>
              </a:rPr>
              <a:t>8% autoservicio N0 — unica con deflexion activa</a:t>
            </a:r>
          </a:p>
        </p:txBody>
      </p:sp>
      <p:sp>
        <p:nvSpPr>
          <p:cNvPr id="105" name="d"/>
          <p:cNvSpPr txBox="1">
            <a:spLocks noGrp="1"/>
          </p:cNvSpPr>
          <p:nvPr/>
        </p:nvSpPr>
        <p:spPr>
          <a:xfrm>
            <a:off x="5632704" y="3163824"/>
            <a:ext cx="2340864" cy="256032"/>
          </a:xfrm>
          <a:prstGeom prst="rect">
            <a:avLst/>
          </a:prstGeom>
          <a:noFill/>
          <a:ln>
            <a:noFill/>
          </a:ln>
        </p:spPr>
        <p:txBody>
          <a:bodyPr anchor="t" wrap="square" lIns="91440" rIns="91440" tIns="45720" bIns="45720">
            <a:noAutofit/>
          </a:bodyPr>
          <a:lstStyle/>
          <a:p>
            <a:pPr algn="l"/>
            <a:r>
              <a:rPr lang="es-ES" sz="900" dirty="0" b="1">
                <a:solidFill>
                  <a:srgbClr val="B45309"/>
                </a:solidFill>
                <a:latin typeface="Calibri"/>
              </a:rPr>
              <a:t>◐ </a:t>
            </a:r>
            <a:r>
              <a:rPr lang="es-ES" sz="820" dirty="0">
                <a:solidFill>
                  <a:srgbClr val="0D1B5E"/>
                </a:solidFill>
                <a:latin typeface="Calibri"/>
              </a:rPr>
              <a:t>12 FTE — tickets/mes aun sin levantar en Excel</a:t>
            </a:r>
          </a:p>
        </p:txBody>
      </p:sp>
      <p:sp>
        <p:nvSpPr>
          <p:cNvPr id="106" name="d"/>
          <p:cNvSpPr txBox="1">
            <a:spLocks noGrp="1"/>
          </p:cNvSpPr>
          <p:nvPr/>
        </p:nvSpPr>
        <p:spPr>
          <a:xfrm>
            <a:off x="5632704" y="3438144"/>
            <a:ext cx="2340864" cy="256032"/>
          </a:xfrm>
          <a:prstGeom prst="rect">
            <a:avLst/>
          </a:prstGeom>
          <a:noFill/>
          <a:ln>
            <a:noFill/>
          </a:ln>
        </p:spPr>
        <p:txBody>
          <a:bodyPr anchor="t" wrap="square" lIns="91440" rIns="91440" tIns="45720" bIns="45720">
            <a:noAutofit/>
          </a:bodyPr>
          <a:lstStyle/>
          <a:p>
            <a:pPr algn="l"/>
            <a:r>
              <a:rPr lang="es-ES" sz="900" dirty="0" b="1">
                <a:solidFill>
                  <a:srgbClr val="B45309"/>
                </a:solidFill>
                <a:latin typeface="Calibri"/>
              </a:rPr>
              <a:t>◐ </a:t>
            </a:r>
            <a:r>
              <a:rPr lang="es-ES" sz="820" dirty="0">
                <a:solidFill>
                  <a:srgbClr val="0D1B5E"/>
                </a:solidFill>
                <a:latin typeface="Calibri"/>
              </a:rPr>
              <a:t>Herramienta ITSM sin formalizar</a:t>
            </a:r>
          </a:p>
        </p:txBody>
      </p:sp>
      <p:sp>
        <p:nvSpPr>
          <p:cNvPr id="107" name="d"/>
          <p:cNvSpPr txBox="1">
            <a:spLocks noGrp="1"/>
          </p:cNvSpPr>
          <p:nvPr/>
        </p:nvSpPr>
        <p:spPr>
          <a:xfrm>
            <a:off x="5632704" y="3712464"/>
            <a:ext cx="2340864" cy="256032"/>
          </a:xfrm>
          <a:prstGeom prst="rect">
            <a:avLst/>
          </a:prstGeom>
          <a:noFill/>
          <a:ln>
            <a:noFill/>
          </a:ln>
        </p:spPr>
        <p:txBody>
          <a:bodyPr anchor="t" wrap="square" lIns="91440" rIns="91440" tIns="45720" bIns="45720">
            <a:noAutofit/>
          </a:bodyPr>
          <a:lstStyle/>
          <a:p>
            <a:pPr algn="l"/>
            <a:r>
              <a:rPr lang="es-ES" sz="900" dirty="0" b="1">
                <a:solidFill>
                  <a:srgbClr val="B45309"/>
                </a:solidFill>
                <a:latin typeface="Calibri"/>
              </a:rPr>
              <a:t>◐ </a:t>
            </a:r>
            <a:r>
              <a:rPr lang="es-ES" sz="820" dirty="0">
                <a:solidFill>
                  <a:srgbClr val="0D1B5E"/>
                </a:solidFill>
                <a:latin typeface="Calibri"/>
              </a:rPr>
              <a:t>Alta presion regulatoria Minsalud</a:t>
            </a:r>
          </a:p>
        </p:txBody>
      </p:sp>
      <p:sp>
        <p:nvSpPr>
          <p:cNvPr id="200" name="src"/>
          <p:cNvSpPr txBox="1">
            <a:spLocks noGrp="1"/>
          </p:cNvSpPr>
          <p:nvPr/>
        </p:nvSpPr>
        <p:spPr>
          <a:xfrm>
            <a:off x="320040" y="4453128"/>
            <a:ext cx="7717536" cy="164592"/>
          </a:xfrm>
          <a:prstGeom prst="rect">
            <a:avLst/>
          </a:prstGeom>
          <a:noFill/>
          <a:ln>
            <a:noFill/>
          </a:ln>
        </p:spPr>
        <p:txBody>
          <a:bodyPr anchor="t" wrap="square" lIns="91440" rIns="91440" tIns="45720" bIns="45720">
            <a:noAutofit/>
          </a:bodyPr>
          <a:lstStyle/>
          <a:p>
            <a:pPr algn="l"/>
            <a:r>
              <a:rPr lang="es-ES" sz="780" dirty="0" i="1">
                <a:solidFill>
                  <a:srgbClr val="5A6475"/>
                </a:solidFill>
                <a:latin typeface="Calibri"/>
              </a:rPr>
              <a:t>Fuente: Levantamiento interno PS · Julio 2026 · Reuniones: Michael Arevalo (AES) · Virginia &amp; Lina (BCO/COES) · Excel Levantamiento_Mesas_Julio_2026</a:t>
            </a:r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bg"/>
          <p:cNvSpPr>
            <a:spLocks noGrp="1"/>
          </p:cNvSpPr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hdr"/>
          <p:cNvSpPr>
            <a:spLocks noGrp="1"/>
          </p:cNvSpPr>
          <p:nvPr/>
        </p:nvSpPr>
        <p:spPr>
          <a:xfrm>
            <a:off x="0" y="0"/>
            <a:ext cx="9144000" cy="694944"/>
          </a:xfrm>
          <a:prstGeom prst="rect">
            <a:avLst/>
          </a:prstGeom>
          <a:solidFill>
            <a:srgbClr val="1A3A8F"/>
          </a:solidFill>
          <a:ln>
            <a:noFill/>
          </a:ln>
        </p:spPr>
      </p:sp>
      <p:sp>
        <p:nvSpPr>
          <p:cNvPr id="4" name="n2b"/>
          <p:cNvSpPr>
            <a:spLocks noGrp="1"/>
          </p:cNvSpPr>
          <p:nvPr/>
        </p:nvSpPr>
        <p:spPr>
          <a:xfrm>
            <a:off x="320040" y="109728"/>
            <a:ext cx="475488" cy="4754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5" name="n2t"/>
          <p:cNvSpPr txBox="1">
            <a:spLocks noGrp="1"/>
          </p:cNvSpPr>
          <p:nvPr/>
        </p:nvSpPr>
        <p:spPr>
          <a:xfrm>
            <a:off x="320040" y="109728"/>
            <a:ext cx="475488" cy="475488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1400" dirty="0" b="1">
                <a:solidFill>
                  <a:srgbClr val="1A3A8F"/>
                </a:solidFill>
                <a:latin typeface="Calibri"/>
              </a:rPr>
              <a:t>N2</a:t>
            </a:r>
          </a:p>
        </p:txBody>
      </p:sp>
      <p:sp>
        <p:nvSpPr>
          <p:cNvPr id="6" name="ttl"/>
          <p:cNvSpPr txBox="1">
            <a:spLocks noGrp="1"/>
          </p:cNvSpPr>
          <p:nvPr/>
        </p:nvSpPr>
        <p:spPr>
          <a:xfrm>
            <a:off x="877824" y="109728"/>
            <a:ext cx="6949440" cy="475488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l"/>
            <a:r>
              <a:rPr lang="es-ES" sz="1900" dirty="0" b="1">
                <a:solidFill>
                  <a:srgbClr val="FFFFFF"/>
                </a:solidFill>
                <a:latin typeface="Calibri"/>
              </a:rPr>
              <a:t>Nivel N2 — Administrado · 5 Mesas · Herramienta Activa sin Gobierno Central</a:t>
            </a:r>
          </a:p>
        </p:txBody>
      </p:sp>
      <p:sp>
        <p:nvSpPr>
          <p:cNvPr id="7" name="sub"/>
          <p:cNvSpPr txBox="1">
            <a:spLocks noGrp="1"/>
          </p:cNvSpPr>
          <p:nvPr/>
        </p:nvSpPr>
        <p:spPr>
          <a:xfrm>
            <a:off x="347472" y="585216"/>
            <a:ext cx="7717536" cy="201168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l"/>
            <a:r>
              <a:rPr lang="es-ES" sz="920" dirty="0">
                <a:solidFill>
                  <a:srgbClr val="D6E8FF"/>
                </a:solidFill>
                <a:latin typeface="Calibri"/>
              </a:rPr>
              <a:t>SURA (4 mesas) · XM · 21 FTE · 1.615 tickets/mes levantados (solo SURA+XM) · Renovaciones SURA en Aug/Dic 2026</a:t>
            </a:r>
          </a:p>
        </p:txBody>
      </p:sp>
      <p:sp>
        <p:nvSpPr>
          <p:cNvPr id="10" name="card"/>
          <p:cNvSpPr>
            <a:spLocks noGrp="1"/>
          </p:cNvSpPr>
          <p:nvPr/>
        </p:nvSpPr>
        <p:spPr>
          <a:xfrm>
            <a:off x="274320" y="804672"/>
            <a:ext cx="1536192" cy="3657600"/>
          </a:xfrm>
          <a:prstGeom prst="roundRect">
            <a:avLst>
              <a:gd name="adj" fmla="val 10000"/>
            </a:avLst>
          </a:prstGeom>
          <a:solidFill>
            <a:srgbClr val="EBF4FF"/>
          </a:solidFill>
          <a:ln w="12700">
            <a:solidFill>
              <a:srgbClr val="1A3A8F"/>
            </a:solidFill>
          </a:ln>
        </p:spPr>
      </p:sp>
      <p:sp>
        <p:nvSpPr>
          <p:cNvPr id="11" name="ch"/>
          <p:cNvSpPr>
            <a:spLocks noGrp="1"/>
          </p:cNvSpPr>
          <p:nvPr/>
        </p:nvSpPr>
        <p:spPr>
          <a:xfrm>
            <a:off x="274320" y="804672"/>
            <a:ext cx="1536192" cy="310896"/>
          </a:xfrm>
          <a:prstGeom prst="roundRect">
            <a:avLst>
              <a:gd name="adj" fmla="val 10000"/>
            </a:avLst>
          </a:prstGeom>
          <a:solidFill>
            <a:srgbClr val="1A3A8F"/>
          </a:solidFill>
          <a:ln>
            <a:noFill/>
          </a:ln>
        </p:spPr>
      </p:sp>
      <p:sp>
        <p:nvSpPr>
          <p:cNvPr id="12" name="ch2"/>
          <p:cNvSpPr>
            <a:spLocks noGrp="1"/>
          </p:cNvSpPr>
          <p:nvPr/>
        </p:nvSpPr>
        <p:spPr>
          <a:xfrm>
            <a:off x="274320" y="1005840"/>
            <a:ext cx="1536192" cy="109728"/>
          </a:xfrm>
          <a:prstGeom prst="rect">
            <a:avLst/>
          </a:prstGeom>
          <a:solidFill>
            <a:srgbClr val="1A3A8F"/>
          </a:solidFill>
          <a:ln>
            <a:noFill/>
          </a:ln>
        </p:spPr>
      </p:sp>
      <p:sp>
        <p:nvSpPr>
          <p:cNvPr id="13" name="cn"/>
          <p:cNvSpPr txBox="1">
            <a:spLocks noGrp="1"/>
          </p:cNvSpPr>
          <p:nvPr/>
        </p:nvSpPr>
        <p:spPr>
          <a:xfrm>
            <a:off x="329184" y="841248"/>
            <a:ext cx="1426464" cy="256032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840" dirty="0" b="1">
                <a:solidFill>
                  <a:srgbClr val="FFFFFF"/>
                </a:solidFill>
                <a:latin typeface="Calibri"/>
              </a:rPr>
              <a:t>SURA
Cotizadores</a:t>
            </a:r>
          </a:p>
        </p:txBody>
      </p:sp>
      <p:sp>
        <p:nvSpPr>
          <p:cNvPr id="14" name="ci"/>
          <p:cNvSpPr txBox="1">
            <a:spLocks noGrp="1"/>
          </p:cNvSpPr>
          <p:nvPr/>
        </p:nvSpPr>
        <p:spPr>
          <a:xfrm>
            <a:off x="329184" y="1133856"/>
            <a:ext cx="1426464" cy="182880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760" dirty="0" i="1">
                <a:solidFill>
                  <a:srgbClr val="5A6475"/>
                </a:solidFill>
                <a:latin typeface="Calibri"/>
              </a:rPr>
              <a:t>FTE:8 · BMC Remedy</a:t>
            </a:r>
          </a:p>
        </p:txBody>
      </p:sp>
      <p:sp>
        <p:nvSpPr>
          <p:cNvPr id="15" name="ca"/>
          <p:cNvSpPr txBox="1">
            <a:spLocks noGrp="1"/>
          </p:cNvSpPr>
          <p:nvPr/>
        </p:nvSpPr>
        <p:spPr>
          <a:xfrm>
            <a:off x="329184" y="1316736"/>
            <a:ext cx="1426464" cy="164592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740" dirty="0" b="1">
                <a:solidFill>
                  <a:srgbClr val="1A3A8F"/>
                </a:solidFill>
                <a:latin typeface="Calibri"/>
              </a:rPr>
              <a:t>Renovacion Aug · Competencia 2027</a:t>
            </a:r>
          </a:p>
        </p:txBody>
      </p:sp>
      <p:sp>
        <p:nvSpPr>
          <p:cNvPr id="16" name="kb"/>
          <p:cNvSpPr>
            <a:spLocks noGrp="1"/>
          </p:cNvSpPr>
          <p:nvPr/>
        </p:nvSpPr>
        <p:spPr>
          <a:xfrm>
            <a:off x="329184" y="1536192"/>
            <a:ext cx="676656" cy="3291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D6E8FF"/>
            </a:solidFill>
          </a:ln>
        </p:spPr>
      </p:sp>
      <p:sp>
        <p:nvSpPr>
          <p:cNvPr id="17" name="kv"/>
          <p:cNvSpPr txBox="1">
            <a:spLocks noGrp="1"/>
          </p:cNvSpPr>
          <p:nvPr/>
        </p:nvSpPr>
        <p:spPr>
          <a:xfrm>
            <a:off x="329184" y="1554480"/>
            <a:ext cx="676656" cy="201168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900" dirty="0" b="1">
                <a:solidFill>
                  <a:srgbClr val="1A3A8F"/>
                </a:solidFill>
                <a:latin typeface="Calibri"/>
              </a:rPr>
              <a:t>668</a:t>
            </a:r>
          </a:p>
        </p:txBody>
      </p:sp>
      <p:sp>
        <p:nvSpPr>
          <p:cNvPr id="18" name="kl"/>
          <p:cNvSpPr txBox="1">
            <a:spLocks noGrp="1"/>
          </p:cNvSpPr>
          <p:nvPr/>
        </p:nvSpPr>
        <p:spPr>
          <a:xfrm>
            <a:off x="329184" y="1737360"/>
            <a:ext cx="676656" cy="128016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680" dirty="0">
                <a:solidFill>
                  <a:srgbClr val="5A6475"/>
                </a:solidFill>
                <a:latin typeface="Calibri"/>
              </a:rPr>
              <a:t>tickets/mes</a:t>
            </a:r>
          </a:p>
        </p:txBody>
      </p:sp>
      <p:sp>
        <p:nvSpPr>
          <p:cNvPr id="19" name="kb"/>
          <p:cNvSpPr>
            <a:spLocks noGrp="1"/>
          </p:cNvSpPr>
          <p:nvPr/>
        </p:nvSpPr>
        <p:spPr>
          <a:xfrm>
            <a:off x="1042416" y="1536192"/>
            <a:ext cx="676656" cy="3291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D6E8FF"/>
            </a:solidFill>
          </a:ln>
        </p:spPr>
      </p:sp>
      <p:sp>
        <p:nvSpPr>
          <p:cNvPr id="20" name="kv"/>
          <p:cNvSpPr txBox="1">
            <a:spLocks noGrp="1"/>
          </p:cNvSpPr>
          <p:nvPr/>
        </p:nvSpPr>
        <p:spPr>
          <a:xfrm>
            <a:off x="1042416" y="1554480"/>
            <a:ext cx="676656" cy="201168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900" dirty="0" b="1">
                <a:solidFill>
                  <a:srgbClr val="B91C1C"/>
                </a:solidFill>
                <a:latin typeface="Calibri"/>
              </a:rPr>
              <a:t>24.6h</a:t>
            </a:r>
          </a:p>
        </p:txBody>
      </p:sp>
      <p:sp>
        <p:nvSpPr>
          <p:cNvPr id="21" name="kl"/>
          <p:cNvSpPr txBox="1">
            <a:spLocks noGrp="1"/>
          </p:cNvSpPr>
          <p:nvPr/>
        </p:nvSpPr>
        <p:spPr>
          <a:xfrm>
            <a:off x="1042416" y="1737360"/>
            <a:ext cx="676656" cy="128016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680" dirty="0">
                <a:solidFill>
                  <a:srgbClr val="5A6475"/>
                </a:solidFill>
                <a:latin typeface="Calibri"/>
              </a:rPr>
              <a:t>MTTR</a:t>
            </a:r>
          </a:p>
        </p:txBody>
      </p:sp>
      <p:sp>
        <p:nvSpPr>
          <p:cNvPr id="22" name="kb"/>
          <p:cNvSpPr>
            <a:spLocks noGrp="1"/>
          </p:cNvSpPr>
          <p:nvPr/>
        </p:nvSpPr>
        <p:spPr>
          <a:xfrm>
            <a:off x="329184" y="1901952"/>
            <a:ext cx="676656" cy="3291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D6E8FF"/>
            </a:solidFill>
          </a:ln>
        </p:spPr>
      </p:sp>
      <p:sp>
        <p:nvSpPr>
          <p:cNvPr id="23" name="kv"/>
          <p:cNvSpPr txBox="1">
            <a:spLocks noGrp="1"/>
          </p:cNvSpPr>
          <p:nvPr/>
        </p:nvSpPr>
        <p:spPr>
          <a:xfrm>
            <a:off x="329184" y="1920240"/>
            <a:ext cx="676656" cy="201168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900" dirty="0" b="1">
                <a:solidFill>
                  <a:srgbClr val="B91C1C"/>
                </a:solidFill>
                <a:latin typeface="Calibri"/>
              </a:rPr>
              <a:t>70%</a:t>
            </a:r>
          </a:p>
        </p:txBody>
      </p:sp>
      <p:sp>
        <p:nvSpPr>
          <p:cNvPr id="24" name="kl"/>
          <p:cNvSpPr txBox="1">
            <a:spLocks noGrp="1"/>
          </p:cNvSpPr>
          <p:nvPr/>
        </p:nvSpPr>
        <p:spPr>
          <a:xfrm>
            <a:off x="329184" y="2103120"/>
            <a:ext cx="676656" cy="128016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680" dirty="0">
                <a:solidFill>
                  <a:srgbClr val="5A6475"/>
                </a:solidFill>
                <a:latin typeface="Calibri"/>
              </a:rPr>
              <a:t>SLA</a:t>
            </a:r>
          </a:p>
        </p:txBody>
      </p:sp>
      <p:sp>
        <p:nvSpPr>
          <p:cNvPr id="25" name="kb"/>
          <p:cNvSpPr>
            <a:spLocks noGrp="1"/>
          </p:cNvSpPr>
          <p:nvPr/>
        </p:nvSpPr>
        <p:spPr>
          <a:xfrm>
            <a:off x="1042416" y="1901952"/>
            <a:ext cx="676656" cy="3291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D6E8FF"/>
            </a:solidFill>
          </a:ln>
        </p:spPr>
      </p:sp>
      <p:sp>
        <p:nvSpPr>
          <p:cNvPr id="26" name="kv"/>
          <p:cNvSpPr txBox="1">
            <a:spLocks noGrp="1"/>
          </p:cNvSpPr>
          <p:nvPr/>
        </p:nvSpPr>
        <p:spPr>
          <a:xfrm>
            <a:off x="1042416" y="1920240"/>
            <a:ext cx="676656" cy="201168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900" dirty="0" b="1">
                <a:solidFill>
                  <a:srgbClr val="B91C1C"/>
                </a:solidFill>
                <a:latin typeface="Calibri"/>
              </a:rPr>
              <a:t>USD $40</a:t>
            </a:r>
          </a:p>
        </p:txBody>
      </p:sp>
      <p:sp>
        <p:nvSpPr>
          <p:cNvPr id="27" name="kl"/>
          <p:cNvSpPr txBox="1">
            <a:spLocks noGrp="1"/>
          </p:cNvSpPr>
          <p:nvPr/>
        </p:nvSpPr>
        <p:spPr>
          <a:xfrm>
            <a:off x="1042416" y="2103120"/>
            <a:ext cx="676656" cy="128016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680" dirty="0">
                <a:solidFill>
                  <a:srgbClr val="5A6475"/>
                </a:solidFill>
                <a:latin typeface="Calibri"/>
              </a:rPr>
              <a:t>costo/tix</a:t>
            </a:r>
          </a:p>
        </p:txBody>
      </p:sp>
      <p:sp>
        <p:nvSpPr>
          <p:cNvPr id="19" name="sep"/>
          <p:cNvSpPr>
            <a:spLocks noGrp="1"/>
          </p:cNvSpPr>
          <p:nvPr/>
        </p:nvSpPr>
        <p:spPr>
          <a:xfrm>
            <a:off x="329184" y="2304288"/>
            <a:ext cx="1426464" cy="9144"/>
          </a:xfrm>
          <a:prstGeom prst="rect">
            <a:avLst/>
          </a:prstGeom>
          <a:solidFill>
            <a:srgbClr val="D6E8FF"/>
          </a:solidFill>
          <a:ln>
            <a:noFill/>
          </a:ln>
        </p:spPr>
      </p:sp>
      <p:sp>
        <p:nvSpPr>
          <p:cNvPr id="20" name="db"/>
          <p:cNvSpPr>
            <a:spLocks noGrp="1"/>
          </p:cNvSpPr>
          <p:nvPr/>
        </p:nvSpPr>
        <p:spPr>
          <a:xfrm>
            <a:off x="329184" y="2359152"/>
            <a:ext cx="1426464" cy="4389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D6E8FF"/>
            </a:solidFill>
          </a:ln>
        </p:spPr>
      </p:sp>
      <p:sp>
        <p:nvSpPr>
          <p:cNvPr id="21" name="dbar"/>
          <p:cNvSpPr>
            <a:spLocks noGrp="1"/>
          </p:cNvSpPr>
          <p:nvPr/>
        </p:nvSpPr>
        <p:spPr>
          <a:xfrm>
            <a:off x="329184" y="2359152"/>
            <a:ext cx="54864" cy="438912"/>
          </a:xfrm>
          <a:prstGeom prst="roundRect">
            <a:avLst>
              <a:gd name="adj" fmla="val 6000"/>
            </a:avLst>
          </a:prstGeom>
          <a:solidFill>
            <a:srgbClr val="1A3A8F"/>
          </a:solidFill>
          <a:ln>
            <a:noFill/>
          </a:ln>
        </p:spPr>
      </p:sp>
      <p:sp>
        <p:nvSpPr>
          <p:cNvPr id="22" name="dt"/>
          <p:cNvSpPr txBox="1">
            <a:spLocks noGrp="1"/>
          </p:cNvSpPr>
          <p:nvPr/>
        </p:nvSpPr>
        <p:spPr>
          <a:xfrm>
            <a:off x="420624" y="2395728"/>
            <a:ext cx="1280160" cy="365760"/>
          </a:xfrm>
          <a:prstGeom prst="rect">
            <a:avLst/>
          </a:prstGeom>
          <a:noFill/>
          <a:ln>
            <a:noFill/>
          </a:ln>
        </p:spPr>
        <p:txBody>
          <a:bodyPr anchor="t" wrap="square" lIns="91440" rIns="91440" tIns="45720" bIns="45720">
            <a:noAutofit/>
          </a:bodyPr>
          <a:lstStyle/>
          <a:p>
            <a:pPr algn="l"/>
            <a:r>
              <a:rPr lang="es-ES" sz="780" dirty="0">
                <a:solidFill>
                  <a:srgbClr val="0D1B5E"/>
                </a:solidFill>
                <a:latin typeface="Calibri"/>
              </a:rPr>
              <a:t>SLAs incumplidos
con penalizaciones</a:t>
            </a:r>
          </a:p>
        </p:txBody>
      </p:sp>
      <p:sp>
        <p:nvSpPr>
          <p:cNvPr id="22" name="db"/>
          <p:cNvSpPr>
            <a:spLocks noGrp="1"/>
          </p:cNvSpPr>
          <p:nvPr/>
        </p:nvSpPr>
        <p:spPr>
          <a:xfrm>
            <a:off x="329184" y="2852928"/>
            <a:ext cx="1426464" cy="4389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D6E8FF"/>
            </a:solidFill>
          </a:ln>
        </p:spPr>
      </p:sp>
      <p:sp>
        <p:nvSpPr>
          <p:cNvPr id="23" name="dbar"/>
          <p:cNvSpPr>
            <a:spLocks noGrp="1"/>
          </p:cNvSpPr>
          <p:nvPr/>
        </p:nvSpPr>
        <p:spPr>
          <a:xfrm>
            <a:off x="329184" y="2852928"/>
            <a:ext cx="54864" cy="438912"/>
          </a:xfrm>
          <a:prstGeom prst="roundRect">
            <a:avLst>
              <a:gd name="adj" fmla="val 6000"/>
            </a:avLst>
          </a:prstGeom>
          <a:solidFill>
            <a:srgbClr val="1A3A8F"/>
          </a:solidFill>
          <a:ln>
            <a:noFill/>
          </a:ln>
        </p:spPr>
      </p:sp>
      <p:sp>
        <p:nvSpPr>
          <p:cNvPr id="24" name="dt"/>
          <p:cNvSpPr txBox="1">
            <a:spLocks noGrp="1"/>
          </p:cNvSpPr>
          <p:nvPr/>
        </p:nvSpPr>
        <p:spPr>
          <a:xfrm>
            <a:off x="420624" y="2889504"/>
            <a:ext cx="1280160" cy="365760"/>
          </a:xfrm>
          <a:prstGeom prst="rect">
            <a:avLst/>
          </a:prstGeom>
          <a:noFill/>
          <a:ln>
            <a:noFill/>
          </a:ln>
        </p:spPr>
        <p:txBody>
          <a:bodyPr anchor="t" wrap="square" lIns="91440" rIns="91440" tIns="45720" bIns="45720">
            <a:noAutofit/>
          </a:bodyPr>
          <a:lstStyle/>
          <a:p>
            <a:pPr algn="l"/>
            <a:r>
              <a:rPr lang="es-ES" sz="780" dirty="0">
                <a:solidFill>
                  <a:srgbClr val="0D1B5E"/>
                </a:solidFill>
                <a:latin typeface="Calibri"/>
              </a:rPr>
              <a:t>Sin autoservicio
todo por call</a:t>
            </a:r>
          </a:p>
        </p:txBody>
      </p:sp>
      <p:sp>
        <p:nvSpPr>
          <p:cNvPr id="24" name="db"/>
          <p:cNvSpPr>
            <a:spLocks noGrp="1"/>
          </p:cNvSpPr>
          <p:nvPr/>
        </p:nvSpPr>
        <p:spPr>
          <a:xfrm>
            <a:off x="329184" y="3346704"/>
            <a:ext cx="1426464" cy="4389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D6E8FF"/>
            </a:solidFill>
          </a:ln>
        </p:spPr>
      </p:sp>
      <p:sp>
        <p:nvSpPr>
          <p:cNvPr id="25" name="dbar"/>
          <p:cNvSpPr>
            <a:spLocks noGrp="1"/>
          </p:cNvSpPr>
          <p:nvPr/>
        </p:nvSpPr>
        <p:spPr>
          <a:xfrm>
            <a:off x="329184" y="3346704"/>
            <a:ext cx="54864" cy="438912"/>
          </a:xfrm>
          <a:prstGeom prst="roundRect">
            <a:avLst>
              <a:gd name="adj" fmla="val 6000"/>
            </a:avLst>
          </a:prstGeom>
          <a:solidFill>
            <a:srgbClr val="1A3A8F"/>
          </a:solidFill>
          <a:ln>
            <a:noFill/>
          </a:ln>
        </p:spPr>
      </p:sp>
      <p:sp>
        <p:nvSpPr>
          <p:cNvPr id="26" name="dt"/>
          <p:cNvSpPr txBox="1">
            <a:spLocks noGrp="1"/>
          </p:cNvSpPr>
          <p:nvPr/>
        </p:nvSpPr>
        <p:spPr>
          <a:xfrm>
            <a:off x="420624" y="3383280"/>
            <a:ext cx="1280160" cy="365760"/>
          </a:xfrm>
          <a:prstGeom prst="rect">
            <a:avLst/>
          </a:prstGeom>
          <a:noFill/>
          <a:ln>
            <a:noFill/>
          </a:ln>
        </p:spPr>
        <p:txBody>
          <a:bodyPr anchor="t" wrap="square" lIns="91440" rIns="91440" tIns="45720" bIns="45720">
            <a:noAutofit/>
          </a:bodyPr>
          <a:lstStyle/>
          <a:p>
            <a:pPr algn="l"/>
            <a:r>
              <a:rPr lang="es-ES" sz="780" dirty="0">
                <a:solidFill>
                  <a:srgbClr val="0D1B5E"/>
                </a:solidFill>
                <a:latin typeface="Calibri"/>
              </a:rPr>
              <a:t>Roles sin definir
N1+N2+N3 = 1 persona</a:t>
            </a:r>
          </a:p>
        </p:txBody>
      </p:sp>
      <p:sp>
        <p:nvSpPr>
          <p:cNvPr id="26" name="db"/>
          <p:cNvSpPr>
            <a:spLocks noGrp="1"/>
          </p:cNvSpPr>
          <p:nvPr/>
        </p:nvSpPr>
        <p:spPr>
          <a:xfrm>
            <a:off x="329184" y="3840480"/>
            <a:ext cx="1426464" cy="4389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D6E8FF"/>
            </a:solidFill>
          </a:ln>
        </p:spPr>
      </p:sp>
      <p:sp>
        <p:nvSpPr>
          <p:cNvPr id="27" name="dbar"/>
          <p:cNvSpPr>
            <a:spLocks noGrp="1"/>
          </p:cNvSpPr>
          <p:nvPr/>
        </p:nvSpPr>
        <p:spPr>
          <a:xfrm>
            <a:off x="329184" y="3840480"/>
            <a:ext cx="54864" cy="438912"/>
          </a:xfrm>
          <a:prstGeom prst="roundRect">
            <a:avLst>
              <a:gd name="adj" fmla="val 6000"/>
            </a:avLst>
          </a:prstGeom>
          <a:solidFill>
            <a:srgbClr val="1A3A8F"/>
          </a:solidFill>
          <a:ln>
            <a:noFill/>
          </a:ln>
        </p:spPr>
      </p:sp>
      <p:sp>
        <p:nvSpPr>
          <p:cNvPr id="28" name="dt"/>
          <p:cNvSpPr txBox="1">
            <a:spLocks noGrp="1"/>
          </p:cNvSpPr>
          <p:nvPr/>
        </p:nvSpPr>
        <p:spPr>
          <a:xfrm>
            <a:off x="420624" y="3877056"/>
            <a:ext cx="1280160" cy="365760"/>
          </a:xfrm>
          <a:prstGeom prst="rect">
            <a:avLst/>
          </a:prstGeom>
          <a:noFill/>
          <a:ln>
            <a:noFill/>
          </a:ln>
        </p:spPr>
        <p:txBody>
          <a:bodyPr anchor="t" wrap="square" lIns="91440" rIns="91440" tIns="45720" bIns="45720">
            <a:noAutofit/>
          </a:bodyPr>
          <a:lstStyle/>
          <a:p>
            <a:pPr algn="l"/>
            <a:r>
              <a:rPr lang="es-ES" sz="780" dirty="0">
                <a:solidFill>
                  <a:srgbClr val="0D1B5E"/>
                </a:solidFill>
                <a:latin typeface="Calibri"/>
              </a:rPr>
              <a:t>Brechas vendido
vs ejecutado</a:t>
            </a:r>
          </a:p>
        </p:txBody>
      </p:sp>
      <p:sp>
        <p:nvSpPr>
          <p:cNvPr id="40" name="card"/>
          <p:cNvSpPr>
            <a:spLocks noGrp="1"/>
          </p:cNvSpPr>
          <p:nvPr/>
        </p:nvSpPr>
        <p:spPr>
          <a:xfrm>
            <a:off x="1865376" y="804672"/>
            <a:ext cx="1536192" cy="3657600"/>
          </a:xfrm>
          <a:prstGeom prst="roundRect">
            <a:avLst>
              <a:gd name="adj" fmla="val 10000"/>
            </a:avLst>
          </a:prstGeom>
          <a:solidFill>
            <a:srgbClr val="EBF4FF"/>
          </a:solidFill>
          <a:ln w="12700">
            <a:solidFill>
              <a:srgbClr val="1A3A8F"/>
            </a:solidFill>
          </a:ln>
        </p:spPr>
      </p:sp>
      <p:sp>
        <p:nvSpPr>
          <p:cNvPr id="41" name="ch"/>
          <p:cNvSpPr>
            <a:spLocks noGrp="1"/>
          </p:cNvSpPr>
          <p:nvPr/>
        </p:nvSpPr>
        <p:spPr>
          <a:xfrm>
            <a:off x="1865376" y="804672"/>
            <a:ext cx="1536192" cy="310896"/>
          </a:xfrm>
          <a:prstGeom prst="roundRect">
            <a:avLst>
              <a:gd name="adj" fmla="val 10000"/>
            </a:avLst>
          </a:prstGeom>
          <a:solidFill>
            <a:srgbClr val="1A3A8F"/>
          </a:solidFill>
          <a:ln>
            <a:noFill/>
          </a:ln>
        </p:spPr>
      </p:sp>
      <p:sp>
        <p:nvSpPr>
          <p:cNvPr id="42" name="ch2"/>
          <p:cNvSpPr>
            <a:spLocks noGrp="1"/>
          </p:cNvSpPr>
          <p:nvPr/>
        </p:nvSpPr>
        <p:spPr>
          <a:xfrm>
            <a:off x="1865376" y="1005840"/>
            <a:ext cx="1536192" cy="109728"/>
          </a:xfrm>
          <a:prstGeom prst="rect">
            <a:avLst/>
          </a:prstGeom>
          <a:solidFill>
            <a:srgbClr val="1A3A8F"/>
          </a:solidFill>
          <a:ln>
            <a:noFill/>
          </a:ln>
        </p:spPr>
      </p:sp>
      <p:sp>
        <p:nvSpPr>
          <p:cNvPr id="43" name="cn"/>
          <p:cNvSpPr txBox="1">
            <a:spLocks noGrp="1"/>
          </p:cNvSpPr>
          <p:nvPr/>
        </p:nvSpPr>
        <p:spPr>
          <a:xfrm>
            <a:off x="1920240" y="841248"/>
            <a:ext cx="1426464" cy="256032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840" dirty="0" b="1">
                <a:solidFill>
                  <a:srgbClr val="FFFFFF"/>
                </a:solidFill>
                <a:latin typeface="Calibri"/>
              </a:rPr>
              <a:t>SURA
Venta Digital</a:t>
            </a:r>
          </a:p>
        </p:txBody>
      </p:sp>
      <p:sp>
        <p:nvSpPr>
          <p:cNvPr id="44" name="ci"/>
          <p:cNvSpPr txBox="1">
            <a:spLocks noGrp="1"/>
          </p:cNvSpPr>
          <p:nvPr/>
        </p:nvSpPr>
        <p:spPr>
          <a:xfrm>
            <a:off x="1920240" y="1133856"/>
            <a:ext cx="1426464" cy="182880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760" dirty="0" i="1">
                <a:solidFill>
                  <a:srgbClr val="5A6475"/>
                </a:solidFill>
                <a:latin typeface="Calibri"/>
              </a:rPr>
              <a:t>FTE:2 · BMC Remedy</a:t>
            </a:r>
          </a:p>
        </p:txBody>
      </p:sp>
      <p:sp>
        <p:nvSpPr>
          <p:cNvPr id="45" name="ca"/>
          <p:cNvSpPr txBox="1">
            <a:spLocks noGrp="1"/>
          </p:cNvSpPr>
          <p:nvPr/>
        </p:nvSpPr>
        <p:spPr>
          <a:xfrm>
            <a:off x="1920240" y="1316736"/>
            <a:ext cx="1426464" cy="164592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740" dirty="0" b="1">
                <a:solidFill>
                  <a:srgbClr val="1A3A8F"/>
                </a:solidFill>
                <a:latin typeface="Calibri"/>
              </a:rPr>
              <a:t>Renovacion Aug · Mesa joven 7m</a:t>
            </a:r>
          </a:p>
        </p:txBody>
      </p:sp>
      <p:sp>
        <p:nvSpPr>
          <p:cNvPr id="46" name="kb"/>
          <p:cNvSpPr>
            <a:spLocks noGrp="1"/>
          </p:cNvSpPr>
          <p:nvPr/>
        </p:nvSpPr>
        <p:spPr>
          <a:xfrm>
            <a:off x="1920240" y="1536192"/>
            <a:ext cx="676656" cy="3291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D6E8FF"/>
            </a:solidFill>
          </a:ln>
        </p:spPr>
      </p:sp>
      <p:sp>
        <p:nvSpPr>
          <p:cNvPr id="47" name="kv"/>
          <p:cNvSpPr txBox="1">
            <a:spLocks noGrp="1"/>
          </p:cNvSpPr>
          <p:nvPr/>
        </p:nvSpPr>
        <p:spPr>
          <a:xfrm>
            <a:off x="1920240" y="1554480"/>
            <a:ext cx="676656" cy="201168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900" dirty="0" b="1">
                <a:solidFill>
                  <a:srgbClr val="1A3A8F"/>
                </a:solidFill>
                <a:latin typeface="Calibri"/>
              </a:rPr>
              <a:t>174</a:t>
            </a:r>
          </a:p>
        </p:txBody>
      </p:sp>
      <p:sp>
        <p:nvSpPr>
          <p:cNvPr id="48" name="kl"/>
          <p:cNvSpPr txBox="1">
            <a:spLocks noGrp="1"/>
          </p:cNvSpPr>
          <p:nvPr/>
        </p:nvSpPr>
        <p:spPr>
          <a:xfrm>
            <a:off x="1920240" y="1737360"/>
            <a:ext cx="676656" cy="128016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680" dirty="0">
                <a:solidFill>
                  <a:srgbClr val="5A6475"/>
                </a:solidFill>
                <a:latin typeface="Calibri"/>
              </a:rPr>
              <a:t>tickets/mes</a:t>
            </a:r>
          </a:p>
        </p:txBody>
      </p:sp>
      <p:sp>
        <p:nvSpPr>
          <p:cNvPr id="49" name="kb"/>
          <p:cNvSpPr>
            <a:spLocks noGrp="1"/>
          </p:cNvSpPr>
          <p:nvPr/>
        </p:nvSpPr>
        <p:spPr>
          <a:xfrm>
            <a:off x="2633472" y="1536192"/>
            <a:ext cx="676656" cy="3291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D6E8FF"/>
            </a:solidFill>
          </a:ln>
        </p:spPr>
      </p:sp>
      <p:sp>
        <p:nvSpPr>
          <p:cNvPr id="50" name="kv"/>
          <p:cNvSpPr txBox="1">
            <a:spLocks noGrp="1"/>
          </p:cNvSpPr>
          <p:nvPr/>
        </p:nvSpPr>
        <p:spPr>
          <a:xfrm>
            <a:off x="2633472" y="1554480"/>
            <a:ext cx="676656" cy="201168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900" dirty="0" b="1">
                <a:solidFill>
                  <a:srgbClr val="B91C1C"/>
                </a:solidFill>
                <a:latin typeface="Calibri"/>
              </a:rPr>
              <a:t>12.4h</a:t>
            </a:r>
          </a:p>
        </p:txBody>
      </p:sp>
      <p:sp>
        <p:nvSpPr>
          <p:cNvPr id="51" name="kl"/>
          <p:cNvSpPr txBox="1">
            <a:spLocks noGrp="1"/>
          </p:cNvSpPr>
          <p:nvPr/>
        </p:nvSpPr>
        <p:spPr>
          <a:xfrm>
            <a:off x="2633472" y="1737360"/>
            <a:ext cx="676656" cy="128016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680" dirty="0">
                <a:solidFill>
                  <a:srgbClr val="5A6475"/>
                </a:solidFill>
                <a:latin typeface="Calibri"/>
              </a:rPr>
              <a:t>MTTR</a:t>
            </a:r>
          </a:p>
        </p:txBody>
      </p:sp>
      <p:sp>
        <p:nvSpPr>
          <p:cNvPr id="52" name="kb"/>
          <p:cNvSpPr>
            <a:spLocks noGrp="1"/>
          </p:cNvSpPr>
          <p:nvPr/>
        </p:nvSpPr>
        <p:spPr>
          <a:xfrm>
            <a:off x="1920240" y="1901952"/>
            <a:ext cx="676656" cy="3291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D6E8FF"/>
            </a:solidFill>
          </a:ln>
        </p:spPr>
      </p:sp>
      <p:sp>
        <p:nvSpPr>
          <p:cNvPr id="53" name="kv"/>
          <p:cNvSpPr txBox="1">
            <a:spLocks noGrp="1"/>
          </p:cNvSpPr>
          <p:nvPr/>
        </p:nvSpPr>
        <p:spPr>
          <a:xfrm>
            <a:off x="1920240" y="1920240"/>
            <a:ext cx="676656" cy="201168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900" dirty="0" b="1">
                <a:solidFill>
                  <a:srgbClr val="B91C1C"/>
                </a:solidFill>
                <a:latin typeface="Calibri"/>
              </a:rPr>
              <a:t>74%</a:t>
            </a:r>
          </a:p>
        </p:txBody>
      </p:sp>
      <p:sp>
        <p:nvSpPr>
          <p:cNvPr id="54" name="kl"/>
          <p:cNvSpPr txBox="1">
            <a:spLocks noGrp="1"/>
          </p:cNvSpPr>
          <p:nvPr/>
        </p:nvSpPr>
        <p:spPr>
          <a:xfrm>
            <a:off x="1920240" y="2103120"/>
            <a:ext cx="676656" cy="128016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680" dirty="0">
                <a:solidFill>
                  <a:srgbClr val="5A6475"/>
                </a:solidFill>
                <a:latin typeface="Calibri"/>
              </a:rPr>
              <a:t>SLA</a:t>
            </a:r>
          </a:p>
        </p:txBody>
      </p:sp>
      <p:sp>
        <p:nvSpPr>
          <p:cNvPr id="55" name="kb"/>
          <p:cNvSpPr>
            <a:spLocks noGrp="1"/>
          </p:cNvSpPr>
          <p:nvPr/>
        </p:nvSpPr>
        <p:spPr>
          <a:xfrm>
            <a:off x="2633472" y="1901952"/>
            <a:ext cx="676656" cy="3291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D6E8FF"/>
            </a:solidFill>
          </a:ln>
        </p:spPr>
      </p:sp>
      <p:sp>
        <p:nvSpPr>
          <p:cNvPr id="56" name="kv"/>
          <p:cNvSpPr txBox="1">
            <a:spLocks noGrp="1"/>
          </p:cNvSpPr>
          <p:nvPr/>
        </p:nvSpPr>
        <p:spPr>
          <a:xfrm>
            <a:off x="2633472" y="1920240"/>
            <a:ext cx="676656" cy="201168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900" dirty="0" b="1">
                <a:solidFill>
                  <a:srgbClr val="B91C1C"/>
                </a:solidFill>
                <a:latin typeface="Calibri"/>
              </a:rPr>
              <a:t>USD $39</a:t>
            </a:r>
          </a:p>
        </p:txBody>
      </p:sp>
      <p:sp>
        <p:nvSpPr>
          <p:cNvPr id="57" name="kl"/>
          <p:cNvSpPr txBox="1">
            <a:spLocks noGrp="1"/>
          </p:cNvSpPr>
          <p:nvPr/>
        </p:nvSpPr>
        <p:spPr>
          <a:xfrm>
            <a:off x="2633472" y="2103120"/>
            <a:ext cx="676656" cy="128016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680" dirty="0">
                <a:solidFill>
                  <a:srgbClr val="5A6475"/>
                </a:solidFill>
                <a:latin typeface="Calibri"/>
              </a:rPr>
              <a:t>costo/tix</a:t>
            </a:r>
          </a:p>
        </p:txBody>
      </p:sp>
      <p:sp>
        <p:nvSpPr>
          <p:cNvPr id="49" name="sep"/>
          <p:cNvSpPr>
            <a:spLocks noGrp="1"/>
          </p:cNvSpPr>
          <p:nvPr/>
        </p:nvSpPr>
        <p:spPr>
          <a:xfrm>
            <a:off x="1920240" y="2304288"/>
            <a:ext cx="1426464" cy="9144"/>
          </a:xfrm>
          <a:prstGeom prst="rect">
            <a:avLst/>
          </a:prstGeom>
          <a:solidFill>
            <a:srgbClr val="D6E8FF"/>
          </a:solidFill>
          <a:ln>
            <a:noFill/>
          </a:ln>
        </p:spPr>
      </p:sp>
      <p:sp>
        <p:nvSpPr>
          <p:cNvPr id="50" name="db"/>
          <p:cNvSpPr>
            <a:spLocks noGrp="1"/>
          </p:cNvSpPr>
          <p:nvPr/>
        </p:nvSpPr>
        <p:spPr>
          <a:xfrm>
            <a:off x="1920240" y="2359152"/>
            <a:ext cx="1426464" cy="4389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D6E8FF"/>
            </a:solidFill>
          </a:ln>
        </p:spPr>
      </p:sp>
      <p:sp>
        <p:nvSpPr>
          <p:cNvPr id="51" name="dbar"/>
          <p:cNvSpPr>
            <a:spLocks noGrp="1"/>
          </p:cNvSpPr>
          <p:nvPr/>
        </p:nvSpPr>
        <p:spPr>
          <a:xfrm>
            <a:off x="1920240" y="2359152"/>
            <a:ext cx="54864" cy="438912"/>
          </a:xfrm>
          <a:prstGeom prst="roundRect">
            <a:avLst>
              <a:gd name="adj" fmla="val 6000"/>
            </a:avLst>
          </a:prstGeom>
          <a:solidFill>
            <a:srgbClr val="1A3A8F"/>
          </a:solidFill>
          <a:ln>
            <a:noFill/>
          </a:ln>
        </p:spPr>
      </p:sp>
      <p:sp>
        <p:nvSpPr>
          <p:cNvPr id="52" name="dt"/>
          <p:cNvSpPr txBox="1">
            <a:spLocks noGrp="1"/>
          </p:cNvSpPr>
          <p:nvPr/>
        </p:nvSpPr>
        <p:spPr>
          <a:xfrm>
            <a:off x="2011680" y="2395728"/>
            <a:ext cx="1280160" cy="365760"/>
          </a:xfrm>
          <a:prstGeom prst="rect">
            <a:avLst/>
          </a:prstGeom>
          <a:noFill/>
          <a:ln>
            <a:noFill/>
          </a:ln>
        </p:spPr>
        <p:txBody>
          <a:bodyPr anchor="t" wrap="square" lIns="91440" rIns="91440" tIns="45720" bIns="45720">
            <a:noAutofit/>
          </a:bodyPr>
          <a:lstStyle/>
          <a:p>
            <a:pPr algn="l"/>
            <a:r>
              <a:rPr lang="es-ES" sz="780" dirty="0">
                <a:solidFill>
                  <a:srgbClr val="0D1B5E"/>
                </a:solidFill>
                <a:latin typeface="Calibri"/>
              </a:rPr>
              <a:t>SLAs incumplidos
con penalizaciones</a:t>
            </a:r>
          </a:p>
        </p:txBody>
      </p:sp>
      <p:sp>
        <p:nvSpPr>
          <p:cNvPr id="52" name="db"/>
          <p:cNvSpPr>
            <a:spLocks noGrp="1"/>
          </p:cNvSpPr>
          <p:nvPr/>
        </p:nvSpPr>
        <p:spPr>
          <a:xfrm>
            <a:off x="1920240" y="2852928"/>
            <a:ext cx="1426464" cy="4389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D6E8FF"/>
            </a:solidFill>
          </a:ln>
        </p:spPr>
      </p:sp>
      <p:sp>
        <p:nvSpPr>
          <p:cNvPr id="53" name="dbar"/>
          <p:cNvSpPr>
            <a:spLocks noGrp="1"/>
          </p:cNvSpPr>
          <p:nvPr/>
        </p:nvSpPr>
        <p:spPr>
          <a:xfrm>
            <a:off x="1920240" y="2852928"/>
            <a:ext cx="54864" cy="438912"/>
          </a:xfrm>
          <a:prstGeom prst="roundRect">
            <a:avLst>
              <a:gd name="adj" fmla="val 6000"/>
            </a:avLst>
          </a:prstGeom>
          <a:solidFill>
            <a:srgbClr val="1A3A8F"/>
          </a:solidFill>
          <a:ln>
            <a:noFill/>
          </a:ln>
        </p:spPr>
      </p:sp>
      <p:sp>
        <p:nvSpPr>
          <p:cNvPr id="54" name="dt"/>
          <p:cNvSpPr txBox="1">
            <a:spLocks noGrp="1"/>
          </p:cNvSpPr>
          <p:nvPr/>
        </p:nvSpPr>
        <p:spPr>
          <a:xfrm>
            <a:off x="2011680" y="2889504"/>
            <a:ext cx="1280160" cy="365760"/>
          </a:xfrm>
          <a:prstGeom prst="rect">
            <a:avLst/>
          </a:prstGeom>
          <a:noFill/>
          <a:ln>
            <a:noFill/>
          </a:ln>
        </p:spPr>
        <p:txBody>
          <a:bodyPr anchor="t" wrap="square" lIns="91440" rIns="91440" tIns="45720" bIns="45720">
            <a:noAutofit/>
          </a:bodyPr>
          <a:lstStyle/>
          <a:p>
            <a:pPr algn="l"/>
            <a:r>
              <a:rPr lang="es-ES" sz="780" dirty="0">
                <a:solidFill>
                  <a:srgbClr val="0D1B5E"/>
                </a:solidFill>
                <a:latin typeface="Calibri"/>
              </a:rPr>
              <a:t>Sin dashboard
sin visibilidad</a:t>
            </a:r>
          </a:p>
        </p:txBody>
      </p:sp>
      <p:sp>
        <p:nvSpPr>
          <p:cNvPr id="54" name="db"/>
          <p:cNvSpPr>
            <a:spLocks noGrp="1"/>
          </p:cNvSpPr>
          <p:nvPr/>
        </p:nvSpPr>
        <p:spPr>
          <a:xfrm>
            <a:off x="1920240" y="3346704"/>
            <a:ext cx="1426464" cy="4389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D6E8FF"/>
            </a:solidFill>
          </a:ln>
        </p:spPr>
      </p:sp>
      <p:sp>
        <p:nvSpPr>
          <p:cNvPr id="55" name="dbar"/>
          <p:cNvSpPr>
            <a:spLocks noGrp="1"/>
          </p:cNvSpPr>
          <p:nvPr/>
        </p:nvSpPr>
        <p:spPr>
          <a:xfrm>
            <a:off x="1920240" y="3346704"/>
            <a:ext cx="54864" cy="438912"/>
          </a:xfrm>
          <a:prstGeom prst="roundRect">
            <a:avLst>
              <a:gd name="adj" fmla="val 6000"/>
            </a:avLst>
          </a:prstGeom>
          <a:solidFill>
            <a:srgbClr val="1A3A8F"/>
          </a:solidFill>
          <a:ln>
            <a:noFill/>
          </a:ln>
        </p:spPr>
      </p:sp>
      <p:sp>
        <p:nvSpPr>
          <p:cNvPr id="56" name="dt"/>
          <p:cNvSpPr txBox="1">
            <a:spLocks noGrp="1"/>
          </p:cNvSpPr>
          <p:nvPr/>
        </p:nvSpPr>
        <p:spPr>
          <a:xfrm>
            <a:off x="2011680" y="3383280"/>
            <a:ext cx="1280160" cy="365760"/>
          </a:xfrm>
          <a:prstGeom prst="rect">
            <a:avLst/>
          </a:prstGeom>
          <a:noFill/>
          <a:ln>
            <a:noFill/>
          </a:ln>
        </p:spPr>
        <p:txBody>
          <a:bodyPr anchor="t" wrap="square" lIns="91440" rIns="91440" tIns="45720" bIns="45720">
            <a:noAutofit/>
          </a:bodyPr>
          <a:lstStyle/>
          <a:p>
            <a:pPr algn="l"/>
            <a:r>
              <a:rPr lang="es-ES" sz="780" dirty="0">
                <a:solidFill>
                  <a:srgbClr val="0D1B5E"/>
                </a:solidFill>
                <a:latin typeface="Calibri"/>
              </a:rPr>
              <a:t>Alcance no
controlado</a:t>
            </a:r>
          </a:p>
        </p:txBody>
      </p:sp>
      <p:sp>
        <p:nvSpPr>
          <p:cNvPr id="56" name="db"/>
          <p:cNvSpPr>
            <a:spLocks noGrp="1"/>
          </p:cNvSpPr>
          <p:nvPr/>
        </p:nvSpPr>
        <p:spPr>
          <a:xfrm>
            <a:off x="1920240" y="3840480"/>
            <a:ext cx="1426464" cy="4389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D6E8FF"/>
            </a:solidFill>
          </a:ln>
        </p:spPr>
      </p:sp>
      <p:sp>
        <p:nvSpPr>
          <p:cNvPr id="57" name="dbar"/>
          <p:cNvSpPr>
            <a:spLocks noGrp="1"/>
          </p:cNvSpPr>
          <p:nvPr/>
        </p:nvSpPr>
        <p:spPr>
          <a:xfrm>
            <a:off x="1920240" y="3840480"/>
            <a:ext cx="54864" cy="438912"/>
          </a:xfrm>
          <a:prstGeom prst="roundRect">
            <a:avLst>
              <a:gd name="adj" fmla="val 6000"/>
            </a:avLst>
          </a:prstGeom>
          <a:solidFill>
            <a:srgbClr val="1A3A8F"/>
          </a:solidFill>
          <a:ln>
            <a:noFill/>
          </a:ln>
        </p:spPr>
      </p:sp>
      <p:sp>
        <p:nvSpPr>
          <p:cNvPr id="58" name="dt"/>
          <p:cNvSpPr txBox="1">
            <a:spLocks noGrp="1"/>
          </p:cNvSpPr>
          <p:nvPr/>
        </p:nvSpPr>
        <p:spPr>
          <a:xfrm>
            <a:off x="2011680" y="3877056"/>
            <a:ext cx="1280160" cy="365760"/>
          </a:xfrm>
          <a:prstGeom prst="rect">
            <a:avLst/>
          </a:prstGeom>
          <a:noFill/>
          <a:ln>
            <a:noFill/>
          </a:ln>
        </p:spPr>
        <p:txBody>
          <a:bodyPr anchor="t" wrap="square" lIns="91440" rIns="91440" tIns="45720" bIns="45720">
            <a:noAutofit/>
          </a:bodyPr>
          <a:lstStyle/>
          <a:p>
            <a:pPr algn="l"/>
            <a:r>
              <a:rPr lang="es-ES" sz="780" dirty="0">
                <a:solidFill>
                  <a:srgbClr val="0D1B5E"/>
                </a:solidFill>
                <a:latin typeface="Calibri"/>
              </a:rPr>
              <a:t>Sin metricas
def. formales</a:t>
            </a:r>
          </a:p>
        </p:txBody>
      </p:sp>
      <p:sp>
        <p:nvSpPr>
          <p:cNvPr id="70" name="card"/>
          <p:cNvSpPr>
            <a:spLocks noGrp="1"/>
          </p:cNvSpPr>
          <p:nvPr/>
        </p:nvSpPr>
        <p:spPr>
          <a:xfrm>
            <a:off x="3456432" y="804672"/>
            <a:ext cx="1536192" cy="3657600"/>
          </a:xfrm>
          <a:prstGeom prst="roundRect">
            <a:avLst>
              <a:gd name="adj" fmla="val 10000"/>
            </a:avLst>
          </a:prstGeom>
          <a:solidFill>
            <a:srgbClr val="EBF4FF"/>
          </a:solidFill>
          <a:ln w="12700">
            <a:solidFill>
              <a:srgbClr val="1A3A8F"/>
            </a:solidFill>
          </a:ln>
        </p:spPr>
      </p:sp>
      <p:sp>
        <p:nvSpPr>
          <p:cNvPr id="71" name="ch"/>
          <p:cNvSpPr>
            <a:spLocks noGrp="1"/>
          </p:cNvSpPr>
          <p:nvPr/>
        </p:nvSpPr>
        <p:spPr>
          <a:xfrm>
            <a:off x="3456432" y="804672"/>
            <a:ext cx="1536192" cy="310896"/>
          </a:xfrm>
          <a:prstGeom prst="roundRect">
            <a:avLst>
              <a:gd name="adj" fmla="val 10000"/>
            </a:avLst>
          </a:prstGeom>
          <a:solidFill>
            <a:srgbClr val="1A3A8F"/>
          </a:solidFill>
          <a:ln>
            <a:noFill/>
          </a:ln>
        </p:spPr>
      </p:sp>
      <p:sp>
        <p:nvSpPr>
          <p:cNvPr id="72" name="ch2"/>
          <p:cNvSpPr>
            <a:spLocks noGrp="1"/>
          </p:cNvSpPr>
          <p:nvPr/>
        </p:nvSpPr>
        <p:spPr>
          <a:xfrm>
            <a:off x="3456432" y="1005840"/>
            <a:ext cx="1536192" cy="109728"/>
          </a:xfrm>
          <a:prstGeom prst="rect">
            <a:avLst/>
          </a:prstGeom>
          <a:solidFill>
            <a:srgbClr val="1A3A8F"/>
          </a:solidFill>
          <a:ln>
            <a:noFill/>
          </a:ln>
        </p:spPr>
      </p:sp>
      <p:sp>
        <p:nvSpPr>
          <p:cNvPr id="73" name="cn"/>
          <p:cNvSpPr txBox="1">
            <a:spLocks noGrp="1"/>
          </p:cNvSpPr>
          <p:nvPr/>
        </p:nvSpPr>
        <p:spPr>
          <a:xfrm>
            <a:off x="3511296" y="841248"/>
            <a:ext cx="1426464" cy="256032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840" dirty="0" b="1">
                <a:solidFill>
                  <a:srgbClr val="FFFFFF"/>
                </a:solidFill>
                <a:latin typeface="Calibri"/>
              </a:rPr>
              <a:t>SURA
Automatizacion</a:t>
            </a:r>
          </a:p>
        </p:txBody>
      </p:sp>
      <p:sp>
        <p:nvSpPr>
          <p:cNvPr id="74" name="ci"/>
          <p:cNvSpPr txBox="1">
            <a:spLocks noGrp="1"/>
          </p:cNvSpPr>
          <p:nvPr/>
        </p:nvSpPr>
        <p:spPr>
          <a:xfrm>
            <a:off x="3511296" y="1133856"/>
            <a:ext cx="1426464" cy="182880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760" dirty="0" i="1">
                <a:solidFill>
                  <a:srgbClr val="5A6475"/>
                </a:solidFill>
                <a:latin typeface="Calibri"/>
              </a:rPr>
              <a:t>FTE:6 · BMC+Azure</a:t>
            </a:r>
          </a:p>
        </p:txBody>
      </p:sp>
      <p:sp>
        <p:nvSpPr>
          <p:cNvPr id="75" name="ca"/>
          <p:cNvSpPr txBox="1">
            <a:spLocks noGrp="1"/>
          </p:cNvSpPr>
          <p:nvPr/>
        </p:nvSpPr>
        <p:spPr>
          <a:xfrm>
            <a:off x="3511296" y="1316736"/>
            <a:ext cx="1426464" cy="164592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740" dirty="0" b="1">
                <a:solidFill>
                  <a:srgbClr val="1A3A8F"/>
                </a:solidFill>
                <a:latin typeface="Calibri"/>
              </a:rPr>
              <a:t>Renovacion Aug · Oportunidad N3</a:t>
            </a:r>
          </a:p>
        </p:txBody>
      </p:sp>
      <p:sp>
        <p:nvSpPr>
          <p:cNvPr id="76" name="kb"/>
          <p:cNvSpPr>
            <a:spLocks noGrp="1"/>
          </p:cNvSpPr>
          <p:nvPr/>
        </p:nvSpPr>
        <p:spPr>
          <a:xfrm>
            <a:off x="3511296" y="1536192"/>
            <a:ext cx="676656" cy="3291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D6E8FF"/>
            </a:solidFill>
          </a:ln>
        </p:spPr>
      </p:sp>
      <p:sp>
        <p:nvSpPr>
          <p:cNvPr id="77" name="kv"/>
          <p:cNvSpPr txBox="1">
            <a:spLocks noGrp="1"/>
          </p:cNvSpPr>
          <p:nvPr/>
        </p:nvSpPr>
        <p:spPr>
          <a:xfrm>
            <a:off x="3511296" y="1554480"/>
            <a:ext cx="676656" cy="201168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900" dirty="0" b="1">
                <a:solidFill>
                  <a:srgbClr val="1A3A8F"/>
                </a:solidFill>
                <a:latin typeface="Calibri"/>
              </a:rPr>
              <a:t>512</a:t>
            </a:r>
          </a:p>
        </p:txBody>
      </p:sp>
      <p:sp>
        <p:nvSpPr>
          <p:cNvPr id="78" name="kl"/>
          <p:cNvSpPr txBox="1">
            <a:spLocks noGrp="1"/>
          </p:cNvSpPr>
          <p:nvPr/>
        </p:nvSpPr>
        <p:spPr>
          <a:xfrm>
            <a:off x="3511296" y="1737360"/>
            <a:ext cx="676656" cy="128016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680" dirty="0">
                <a:solidFill>
                  <a:srgbClr val="5A6475"/>
                </a:solidFill>
                <a:latin typeface="Calibri"/>
              </a:rPr>
              <a:t>tickets/mes</a:t>
            </a:r>
          </a:p>
        </p:txBody>
      </p:sp>
      <p:sp>
        <p:nvSpPr>
          <p:cNvPr id="79" name="kb"/>
          <p:cNvSpPr>
            <a:spLocks noGrp="1"/>
          </p:cNvSpPr>
          <p:nvPr/>
        </p:nvSpPr>
        <p:spPr>
          <a:xfrm>
            <a:off x="4224528" y="1536192"/>
            <a:ext cx="676656" cy="3291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D6E8FF"/>
            </a:solidFill>
          </a:ln>
        </p:spPr>
      </p:sp>
      <p:sp>
        <p:nvSpPr>
          <p:cNvPr id="80" name="kv"/>
          <p:cNvSpPr txBox="1">
            <a:spLocks noGrp="1"/>
          </p:cNvSpPr>
          <p:nvPr/>
        </p:nvSpPr>
        <p:spPr>
          <a:xfrm>
            <a:off x="4224528" y="1554480"/>
            <a:ext cx="676656" cy="201168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900" dirty="0" b="1">
                <a:solidFill>
                  <a:srgbClr val="0E6B3C"/>
                </a:solidFill>
                <a:latin typeface="Calibri"/>
              </a:rPr>
              <a:t>3.0h</a:t>
            </a:r>
          </a:p>
        </p:txBody>
      </p:sp>
      <p:sp>
        <p:nvSpPr>
          <p:cNvPr id="81" name="kl"/>
          <p:cNvSpPr txBox="1">
            <a:spLocks noGrp="1"/>
          </p:cNvSpPr>
          <p:nvPr/>
        </p:nvSpPr>
        <p:spPr>
          <a:xfrm>
            <a:off x="4224528" y="1737360"/>
            <a:ext cx="676656" cy="128016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680" dirty="0">
                <a:solidFill>
                  <a:srgbClr val="5A6475"/>
                </a:solidFill>
                <a:latin typeface="Calibri"/>
              </a:rPr>
              <a:t>MTTR</a:t>
            </a:r>
          </a:p>
        </p:txBody>
      </p:sp>
      <p:sp>
        <p:nvSpPr>
          <p:cNvPr id="82" name="kb"/>
          <p:cNvSpPr>
            <a:spLocks noGrp="1"/>
          </p:cNvSpPr>
          <p:nvPr/>
        </p:nvSpPr>
        <p:spPr>
          <a:xfrm>
            <a:off x="3511296" y="1901952"/>
            <a:ext cx="676656" cy="3291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D6E8FF"/>
            </a:solidFill>
          </a:ln>
        </p:spPr>
      </p:sp>
      <p:sp>
        <p:nvSpPr>
          <p:cNvPr id="83" name="kv"/>
          <p:cNvSpPr txBox="1">
            <a:spLocks noGrp="1"/>
          </p:cNvSpPr>
          <p:nvPr/>
        </p:nvSpPr>
        <p:spPr>
          <a:xfrm>
            <a:off x="3511296" y="1920240"/>
            <a:ext cx="676656" cy="201168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900" dirty="0" b="1">
                <a:solidFill>
                  <a:srgbClr val="0E6B3C"/>
                </a:solidFill>
                <a:latin typeface="Calibri"/>
              </a:rPr>
              <a:t>98%</a:t>
            </a:r>
          </a:p>
        </p:txBody>
      </p:sp>
      <p:sp>
        <p:nvSpPr>
          <p:cNvPr id="84" name="kl"/>
          <p:cNvSpPr txBox="1">
            <a:spLocks noGrp="1"/>
          </p:cNvSpPr>
          <p:nvPr/>
        </p:nvSpPr>
        <p:spPr>
          <a:xfrm>
            <a:off x="3511296" y="2103120"/>
            <a:ext cx="676656" cy="128016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680" dirty="0">
                <a:solidFill>
                  <a:srgbClr val="5A6475"/>
                </a:solidFill>
                <a:latin typeface="Calibri"/>
              </a:rPr>
              <a:t>SLA</a:t>
            </a:r>
          </a:p>
        </p:txBody>
      </p:sp>
      <p:sp>
        <p:nvSpPr>
          <p:cNvPr id="85" name="kb"/>
          <p:cNvSpPr>
            <a:spLocks noGrp="1"/>
          </p:cNvSpPr>
          <p:nvPr/>
        </p:nvSpPr>
        <p:spPr>
          <a:xfrm>
            <a:off x="4224528" y="1901952"/>
            <a:ext cx="676656" cy="3291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D6E8FF"/>
            </a:solidFill>
          </a:ln>
        </p:spPr>
      </p:sp>
      <p:sp>
        <p:nvSpPr>
          <p:cNvPr id="86" name="kv"/>
          <p:cNvSpPr txBox="1">
            <a:spLocks noGrp="1"/>
          </p:cNvSpPr>
          <p:nvPr/>
        </p:nvSpPr>
        <p:spPr>
          <a:xfrm>
            <a:off x="4224528" y="1920240"/>
            <a:ext cx="676656" cy="201168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900" dirty="0" b="1">
                <a:solidFill>
                  <a:srgbClr val="B91C1C"/>
                </a:solidFill>
                <a:latin typeface="Calibri"/>
              </a:rPr>
              <a:t>USD $39</a:t>
            </a:r>
          </a:p>
        </p:txBody>
      </p:sp>
      <p:sp>
        <p:nvSpPr>
          <p:cNvPr id="87" name="kl"/>
          <p:cNvSpPr txBox="1">
            <a:spLocks noGrp="1"/>
          </p:cNvSpPr>
          <p:nvPr/>
        </p:nvSpPr>
        <p:spPr>
          <a:xfrm>
            <a:off x="4224528" y="2103120"/>
            <a:ext cx="676656" cy="128016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680" dirty="0">
                <a:solidFill>
                  <a:srgbClr val="5A6475"/>
                </a:solidFill>
                <a:latin typeface="Calibri"/>
              </a:rPr>
              <a:t>costo/tix</a:t>
            </a:r>
          </a:p>
        </p:txBody>
      </p:sp>
      <p:sp>
        <p:nvSpPr>
          <p:cNvPr id="79" name="sep"/>
          <p:cNvSpPr>
            <a:spLocks noGrp="1"/>
          </p:cNvSpPr>
          <p:nvPr/>
        </p:nvSpPr>
        <p:spPr>
          <a:xfrm>
            <a:off x="3511296" y="2304288"/>
            <a:ext cx="1426464" cy="9144"/>
          </a:xfrm>
          <a:prstGeom prst="rect">
            <a:avLst/>
          </a:prstGeom>
          <a:solidFill>
            <a:srgbClr val="D6E8FF"/>
          </a:solidFill>
          <a:ln>
            <a:noFill/>
          </a:ln>
        </p:spPr>
      </p:sp>
      <p:sp>
        <p:nvSpPr>
          <p:cNvPr id="80" name="db"/>
          <p:cNvSpPr>
            <a:spLocks noGrp="1"/>
          </p:cNvSpPr>
          <p:nvPr/>
        </p:nvSpPr>
        <p:spPr>
          <a:xfrm>
            <a:off x="3511296" y="2359152"/>
            <a:ext cx="1426464" cy="4389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D6E8FF"/>
            </a:solidFill>
          </a:ln>
        </p:spPr>
      </p:sp>
      <p:sp>
        <p:nvSpPr>
          <p:cNvPr id="81" name="dbar"/>
          <p:cNvSpPr>
            <a:spLocks noGrp="1"/>
          </p:cNvSpPr>
          <p:nvPr/>
        </p:nvSpPr>
        <p:spPr>
          <a:xfrm>
            <a:off x="3511296" y="2359152"/>
            <a:ext cx="54864" cy="438912"/>
          </a:xfrm>
          <a:prstGeom prst="roundRect">
            <a:avLst>
              <a:gd name="adj" fmla="val 6000"/>
            </a:avLst>
          </a:prstGeom>
          <a:solidFill>
            <a:srgbClr val="1A3A8F"/>
          </a:solidFill>
          <a:ln>
            <a:noFill/>
          </a:ln>
        </p:spPr>
      </p:sp>
      <p:sp>
        <p:nvSpPr>
          <p:cNvPr id="82" name="dt"/>
          <p:cNvSpPr txBox="1">
            <a:spLocks noGrp="1"/>
          </p:cNvSpPr>
          <p:nvPr/>
        </p:nvSpPr>
        <p:spPr>
          <a:xfrm>
            <a:off x="3602736" y="2395728"/>
            <a:ext cx="1280160" cy="365760"/>
          </a:xfrm>
          <a:prstGeom prst="rect">
            <a:avLst/>
          </a:prstGeom>
          <a:noFill/>
          <a:ln>
            <a:noFill/>
          </a:ln>
        </p:spPr>
        <p:txBody>
          <a:bodyPr anchor="t" wrap="square" lIns="91440" rIns="91440" tIns="45720" bIns="45720">
            <a:noAutofit/>
          </a:bodyPr>
          <a:lstStyle/>
          <a:p>
            <a:pPr algn="l"/>
            <a:r>
              <a:rPr lang="es-ES" sz="780" dirty="0">
                <a:solidFill>
                  <a:srgbClr val="0D1B5E"/>
                </a:solidFill>
                <a:latin typeface="Calibri"/>
              </a:rPr>
              <a:t>Sin autoservicio
todo por call</a:t>
            </a:r>
          </a:p>
        </p:txBody>
      </p:sp>
      <p:sp>
        <p:nvSpPr>
          <p:cNvPr id="82" name="db"/>
          <p:cNvSpPr>
            <a:spLocks noGrp="1"/>
          </p:cNvSpPr>
          <p:nvPr/>
        </p:nvSpPr>
        <p:spPr>
          <a:xfrm>
            <a:off x="3511296" y="2852928"/>
            <a:ext cx="1426464" cy="4389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D6E8FF"/>
            </a:solidFill>
          </a:ln>
        </p:spPr>
      </p:sp>
      <p:sp>
        <p:nvSpPr>
          <p:cNvPr id="83" name="dbar"/>
          <p:cNvSpPr>
            <a:spLocks noGrp="1"/>
          </p:cNvSpPr>
          <p:nvPr/>
        </p:nvSpPr>
        <p:spPr>
          <a:xfrm>
            <a:off x="3511296" y="2852928"/>
            <a:ext cx="54864" cy="438912"/>
          </a:xfrm>
          <a:prstGeom prst="roundRect">
            <a:avLst>
              <a:gd name="adj" fmla="val 6000"/>
            </a:avLst>
          </a:prstGeom>
          <a:solidFill>
            <a:srgbClr val="1A3A8F"/>
          </a:solidFill>
          <a:ln>
            <a:noFill/>
          </a:ln>
        </p:spPr>
      </p:sp>
      <p:sp>
        <p:nvSpPr>
          <p:cNvPr id="84" name="dt"/>
          <p:cNvSpPr txBox="1">
            <a:spLocks noGrp="1"/>
          </p:cNvSpPr>
          <p:nvPr/>
        </p:nvSpPr>
        <p:spPr>
          <a:xfrm>
            <a:off x="3602736" y="2889504"/>
            <a:ext cx="1280160" cy="365760"/>
          </a:xfrm>
          <a:prstGeom prst="rect">
            <a:avLst/>
          </a:prstGeom>
          <a:noFill/>
          <a:ln>
            <a:noFill/>
          </a:ln>
        </p:spPr>
        <p:txBody>
          <a:bodyPr anchor="t" wrap="square" lIns="91440" rIns="91440" tIns="45720" bIns="45720">
            <a:noAutofit/>
          </a:bodyPr>
          <a:lstStyle/>
          <a:p>
            <a:pPr algn="l"/>
            <a:r>
              <a:rPr lang="es-ES" sz="780" dirty="0">
                <a:solidFill>
                  <a:srgbClr val="0D1B5E"/>
                </a:solidFill>
                <a:latin typeface="Calibri"/>
              </a:rPr>
              <a:t>Modernizaciones
disfrazadas de soporte</a:t>
            </a:r>
          </a:p>
        </p:txBody>
      </p:sp>
      <p:sp>
        <p:nvSpPr>
          <p:cNvPr id="84" name="db"/>
          <p:cNvSpPr>
            <a:spLocks noGrp="1"/>
          </p:cNvSpPr>
          <p:nvPr/>
        </p:nvSpPr>
        <p:spPr>
          <a:xfrm>
            <a:off x="3511296" y="3346704"/>
            <a:ext cx="1426464" cy="4389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D6E8FF"/>
            </a:solidFill>
          </a:ln>
        </p:spPr>
      </p:sp>
      <p:sp>
        <p:nvSpPr>
          <p:cNvPr id="85" name="dbar"/>
          <p:cNvSpPr>
            <a:spLocks noGrp="1"/>
          </p:cNvSpPr>
          <p:nvPr/>
        </p:nvSpPr>
        <p:spPr>
          <a:xfrm>
            <a:off x="3511296" y="3346704"/>
            <a:ext cx="54864" cy="438912"/>
          </a:xfrm>
          <a:prstGeom prst="roundRect">
            <a:avLst>
              <a:gd name="adj" fmla="val 6000"/>
            </a:avLst>
          </a:prstGeom>
          <a:solidFill>
            <a:srgbClr val="1A3A8F"/>
          </a:solidFill>
          <a:ln>
            <a:noFill/>
          </a:ln>
        </p:spPr>
      </p:sp>
      <p:sp>
        <p:nvSpPr>
          <p:cNvPr id="86" name="dt"/>
          <p:cNvSpPr txBox="1">
            <a:spLocks noGrp="1"/>
          </p:cNvSpPr>
          <p:nvPr/>
        </p:nvSpPr>
        <p:spPr>
          <a:xfrm>
            <a:off x="3602736" y="3383280"/>
            <a:ext cx="1280160" cy="365760"/>
          </a:xfrm>
          <a:prstGeom prst="rect">
            <a:avLst/>
          </a:prstGeom>
          <a:noFill/>
          <a:ln>
            <a:noFill/>
          </a:ln>
        </p:spPr>
        <p:txBody>
          <a:bodyPr anchor="t" wrap="square" lIns="91440" rIns="91440" tIns="45720" bIns="45720">
            <a:noAutofit/>
          </a:bodyPr>
          <a:lstStyle/>
          <a:p>
            <a:pPr algn="l"/>
            <a:r>
              <a:rPr lang="es-ES" sz="780" dirty="0">
                <a:solidFill>
                  <a:srgbClr val="0D1B5E"/>
                </a:solidFill>
                <a:latin typeface="Calibri"/>
              </a:rPr>
              <a:t>Sin dashboard
sin visibilidad</a:t>
            </a:r>
          </a:p>
        </p:txBody>
      </p:sp>
      <p:sp>
        <p:nvSpPr>
          <p:cNvPr id="86" name="db"/>
          <p:cNvSpPr>
            <a:spLocks noGrp="1"/>
          </p:cNvSpPr>
          <p:nvPr/>
        </p:nvSpPr>
        <p:spPr>
          <a:xfrm>
            <a:off x="3511296" y="3840480"/>
            <a:ext cx="1426464" cy="4389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D6E8FF"/>
            </a:solidFill>
          </a:ln>
        </p:spPr>
      </p:sp>
      <p:sp>
        <p:nvSpPr>
          <p:cNvPr id="87" name="dbar"/>
          <p:cNvSpPr>
            <a:spLocks noGrp="1"/>
          </p:cNvSpPr>
          <p:nvPr/>
        </p:nvSpPr>
        <p:spPr>
          <a:xfrm>
            <a:off x="3511296" y="3840480"/>
            <a:ext cx="54864" cy="438912"/>
          </a:xfrm>
          <a:prstGeom prst="roundRect">
            <a:avLst>
              <a:gd name="adj" fmla="val 6000"/>
            </a:avLst>
          </a:prstGeom>
          <a:solidFill>
            <a:srgbClr val="1A3A8F"/>
          </a:solidFill>
          <a:ln>
            <a:noFill/>
          </a:ln>
        </p:spPr>
      </p:sp>
      <p:sp>
        <p:nvSpPr>
          <p:cNvPr id="88" name="dt"/>
          <p:cNvSpPr txBox="1">
            <a:spLocks noGrp="1"/>
          </p:cNvSpPr>
          <p:nvPr/>
        </p:nvSpPr>
        <p:spPr>
          <a:xfrm>
            <a:off x="3602736" y="3877056"/>
            <a:ext cx="1280160" cy="365760"/>
          </a:xfrm>
          <a:prstGeom prst="rect">
            <a:avLst/>
          </a:prstGeom>
          <a:noFill/>
          <a:ln>
            <a:noFill/>
          </a:ln>
        </p:spPr>
        <p:txBody>
          <a:bodyPr anchor="t" wrap="square" lIns="91440" rIns="91440" tIns="45720" bIns="45720">
            <a:noAutofit/>
          </a:bodyPr>
          <a:lstStyle/>
          <a:p>
            <a:pPr algn="l"/>
            <a:r>
              <a:rPr lang="es-ES" sz="780" dirty="0">
                <a:solidFill>
                  <a:srgbClr val="0D1B5E"/>
                </a:solidFill>
                <a:latin typeface="Calibri"/>
              </a:rPr>
              <a:t>Roles sin definir
por mesa</a:t>
            </a:r>
          </a:p>
        </p:txBody>
      </p:sp>
      <p:sp>
        <p:nvSpPr>
          <p:cNvPr id="100" name="card"/>
          <p:cNvSpPr>
            <a:spLocks noGrp="1"/>
          </p:cNvSpPr>
          <p:nvPr/>
        </p:nvSpPr>
        <p:spPr>
          <a:xfrm>
            <a:off x="5047488" y="804672"/>
            <a:ext cx="1536192" cy="3657600"/>
          </a:xfrm>
          <a:prstGeom prst="roundRect">
            <a:avLst>
              <a:gd name="adj" fmla="val 10000"/>
            </a:avLst>
          </a:prstGeom>
          <a:solidFill>
            <a:srgbClr val="FEF2F2"/>
          </a:solidFill>
          <a:ln w="12700">
            <a:solidFill>
              <a:srgbClr val="B91C1C"/>
            </a:solidFill>
          </a:ln>
        </p:spPr>
      </p:sp>
      <p:sp>
        <p:nvSpPr>
          <p:cNvPr id="101" name="ch"/>
          <p:cNvSpPr>
            <a:spLocks noGrp="1"/>
          </p:cNvSpPr>
          <p:nvPr/>
        </p:nvSpPr>
        <p:spPr>
          <a:xfrm>
            <a:off x="5047488" y="804672"/>
            <a:ext cx="1536192" cy="310896"/>
          </a:xfrm>
          <a:prstGeom prst="roundRect">
            <a:avLst>
              <a:gd name="adj" fmla="val 10000"/>
            </a:avLst>
          </a:prstGeom>
          <a:solidFill>
            <a:srgbClr val="1A3A8F"/>
          </a:solidFill>
          <a:ln>
            <a:noFill/>
          </a:ln>
        </p:spPr>
      </p:sp>
      <p:sp>
        <p:nvSpPr>
          <p:cNvPr id="102" name="ch2"/>
          <p:cNvSpPr>
            <a:spLocks noGrp="1"/>
          </p:cNvSpPr>
          <p:nvPr/>
        </p:nvSpPr>
        <p:spPr>
          <a:xfrm>
            <a:off x="5047488" y="1005840"/>
            <a:ext cx="1536192" cy="109728"/>
          </a:xfrm>
          <a:prstGeom prst="rect">
            <a:avLst/>
          </a:prstGeom>
          <a:solidFill>
            <a:srgbClr val="1A3A8F"/>
          </a:solidFill>
          <a:ln>
            <a:noFill/>
          </a:ln>
        </p:spPr>
      </p:sp>
      <p:sp>
        <p:nvSpPr>
          <p:cNvPr id="103" name="cn"/>
          <p:cNvSpPr txBox="1">
            <a:spLocks noGrp="1"/>
          </p:cNvSpPr>
          <p:nvPr/>
        </p:nvSpPr>
        <p:spPr>
          <a:xfrm>
            <a:off x="5102352" y="841248"/>
            <a:ext cx="1426464" cy="256032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840" dirty="0" b="1">
                <a:solidFill>
                  <a:srgbClr val="FFFFFF"/>
                </a:solidFill>
                <a:latin typeface="Calibri"/>
              </a:rPr>
              <a:t>SURA Canales
Masivos</a:t>
            </a:r>
          </a:p>
        </p:txBody>
      </p:sp>
      <p:sp>
        <p:nvSpPr>
          <p:cNvPr id="104" name="ci"/>
          <p:cNvSpPr txBox="1">
            <a:spLocks noGrp="1"/>
          </p:cNvSpPr>
          <p:nvPr/>
        </p:nvSpPr>
        <p:spPr>
          <a:xfrm>
            <a:off x="5102352" y="1133856"/>
            <a:ext cx="1426464" cy="182880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760" dirty="0" i="1">
                <a:solidFill>
                  <a:srgbClr val="5A6475"/>
                </a:solidFill>
                <a:latin typeface="Calibri"/>
              </a:rPr>
              <a:t>FTE:1 · BMC Remedy</a:t>
            </a:r>
          </a:p>
        </p:txBody>
      </p:sp>
      <p:sp>
        <p:nvSpPr>
          <p:cNvPr id="105" name="ca"/>
          <p:cNvSpPr txBox="1">
            <a:spLocks noGrp="1"/>
          </p:cNvSpPr>
          <p:nvPr/>
        </p:nvSpPr>
        <p:spPr>
          <a:xfrm>
            <a:off x="5102352" y="1316736"/>
            <a:ext cx="1426464" cy="164592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740" dirty="0" b="1">
                <a:solidFill>
                  <a:srgbClr val="B91C1C"/>
                </a:solidFill>
                <a:latin typeface="Calibri"/>
              </a:rPr>
              <a:t>🚨 1 FTE — bus factor critico</a:t>
            </a:r>
          </a:p>
        </p:txBody>
      </p:sp>
      <p:sp>
        <p:nvSpPr>
          <p:cNvPr id="106" name="kb"/>
          <p:cNvSpPr>
            <a:spLocks noGrp="1"/>
          </p:cNvSpPr>
          <p:nvPr/>
        </p:nvSpPr>
        <p:spPr>
          <a:xfrm>
            <a:off x="5102352" y="1536192"/>
            <a:ext cx="676656" cy="3291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D6E8FF"/>
            </a:solidFill>
          </a:ln>
        </p:spPr>
      </p:sp>
      <p:sp>
        <p:nvSpPr>
          <p:cNvPr id="107" name="kv"/>
          <p:cNvSpPr txBox="1">
            <a:spLocks noGrp="1"/>
          </p:cNvSpPr>
          <p:nvPr/>
        </p:nvSpPr>
        <p:spPr>
          <a:xfrm>
            <a:off x="5102352" y="1554480"/>
            <a:ext cx="676656" cy="201168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900" dirty="0" b="1">
                <a:solidFill>
                  <a:srgbClr val="1A3A8F"/>
                </a:solidFill>
                <a:latin typeface="Calibri"/>
              </a:rPr>
              <a:t>171</a:t>
            </a:r>
          </a:p>
        </p:txBody>
      </p:sp>
      <p:sp>
        <p:nvSpPr>
          <p:cNvPr id="108" name="kl"/>
          <p:cNvSpPr txBox="1">
            <a:spLocks noGrp="1"/>
          </p:cNvSpPr>
          <p:nvPr/>
        </p:nvSpPr>
        <p:spPr>
          <a:xfrm>
            <a:off x="5102352" y="1737360"/>
            <a:ext cx="676656" cy="128016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680" dirty="0">
                <a:solidFill>
                  <a:srgbClr val="5A6475"/>
                </a:solidFill>
                <a:latin typeface="Calibri"/>
              </a:rPr>
              <a:t>tickets/mes</a:t>
            </a:r>
          </a:p>
        </p:txBody>
      </p:sp>
      <p:sp>
        <p:nvSpPr>
          <p:cNvPr id="109" name="kb"/>
          <p:cNvSpPr>
            <a:spLocks noGrp="1"/>
          </p:cNvSpPr>
          <p:nvPr/>
        </p:nvSpPr>
        <p:spPr>
          <a:xfrm>
            <a:off x="5815584" y="1536192"/>
            <a:ext cx="676656" cy="3291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D6E8FF"/>
            </a:solidFill>
          </a:ln>
        </p:spPr>
      </p:sp>
      <p:sp>
        <p:nvSpPr>
          <p:cNvPr id="110" name="kv"/>
          <p:cNvSpPr txBox="1">
            <a:spLocks noGrp="1"/>
          </p:cNvSpPr>
          <p:nvPr/>
        </p:nvSpPr>
        <p:spPr>
          <a:xfrm>
            <a:off x="5815584" y="1554480"/>
            <a:ext cx="676656" cy="201168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900" dirty="0" b="1">
                <a:solidFill>
                  <a:srgbClr val="B91C1C"/>
                </a:solidFill>
                <a:latin typeface="Calibri"/>
              </a:rPr>
              <a:t>17.9h</a:t>
            </a:r>
          </a:p>
        </p:txBody>
      </p:sp>
      <p:sp>
        <p:nvSpPr>
          <p:cNvPr id="111" name="kl"/>
          <p:cNvSpPr txBox="1">
            <a:spLocks noGrp="1"/>
          </p:cNvSpPr>
          <p:nvPr/>
        </p:nvSpPr>
        <p:spPr>
          <a:xfrm>
            <a:off x="5815584" y="1737360"/>
            <a:ext cx="676656" cy="128016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680" dirty="0">
                <a:solidFill>
                  <a:srgbClr val="5A6475"/>
                </a:solidFill>
                <a:latin typeface="Calibri"/>
              </a:rPr>
              <a:t>MTTR</a:t>
            </a:r>
          </a:p>
        </p:txBody>
      </p:sp>
      <p:sp>
        <p:nvSpPr>
          <p:cNvPr id="112" name="kb"/>
          <p:cNvSpPr>
            <a:spLocks noGrp="1"/>
          </p:cNvSpPr>
          <p:nvPr/>
        </p:nvSpPr>
        <p:spPr>
          <a:xfrm>
            <a:off x="5102352" y="1901952"/>
            <a:ext cx="676656" cy="3291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D6E8FF"/>
            </a:solidFill>
          </a:ln>
        </p:spPr>
      </p:sp>
      <p:sp>
        <p:nvSpPr>
          <p:cNvPr id="113" name="kv"/>
          <p:cNvSpPr txBox="1">
            <a:spLocks noGrp="1"/>
          </p:cNvSpPr>
          <p:nvPr/>
        </p:nvSpPr>
        <p:spPr>
          <a:xfrm>
            <a:off x="5102352" y="1920240"/>
            <a:ext cx="676656" cy="201168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900" dirty="0" b="1">
                <a:solidFill>
                  <a:srgbClr val="B91C1C"/>
                </a:solidFill>
                <a:latin typeface="Calibri"/>
              </a:rPr>
              <a:t>72%</a:t>
            </a:r>
          </a:p>
        </p:txBody>
      </p:sp>
      <p:sp>
        <p:nvSpPr>
          <p:cNvPr id="114" name="kl"/>
          <p:cNvSpPr txBox="1">
            <a:spLocks noGrp="1"/>
          </p:cNvSpPr>
          <p:nvPr/>
        </p:nvSpPr>
        <p:spPr>
          <a:xfrm>
            <a:off x="5102352" y="2103120"/>
            <a:ext cx="676656" cy="128016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680" dirty="0">
                <a:solidFill>
                  <a:srgbClr val="5A6475"/>
                </a:solidFill>
                <a:latin typeface="Calibri"/>
              </a:rPr>
              <a:t>SLA</a:t>
            </a:r>
          </a:p>
        </p:txBody>
      </p:sp>
      <p:sp>
        <p:nvSpPr>
          <p:cNvPr id="115" name="kb"/>
          <p:cNvSpPr>
            <a:spLocks noGrp="1"/>
          </p:cNvSpPr>
          <p:nvPr/>
        </p:nvSpPr>
        <p:spPr>
          <a:xfrm>
            <a:off x="5815584" y="1901952"/>
            <a:ext cx="676656" cy="3291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D6E8FF"/>
            </a:solidFill>
          </a:ln>
        </p:spPr>
      </p:sp>
      <p:sp>
        <p:nvSpPr>
          <p:cNvPr id="116" name="kv"/>
          <p:cNvSpPr txBox="1">
            <a:spLocks noGrp="1"/>
          </p:cNvSpPr>
          <p:nvPr/>
        </p:nvSpPr>
        <p:spPr>
          <a:xfrm>
            <a:off x="5815584" y="1920240"/>
            <a:ext cx="676656" cy="201168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900" dirty="0" b="1">
                <a:solidFill>
                  <a:srgbClr val="0E6B3C"/>
                </a:solidFill>
                <a:latin typeface="Calibri"/>
              </a:rPr>
              <a:t>USD $20</a:t>
            </a:r>
          </a:p>
        </p:txBody>
      </p:sp>
      <p:sp>
        <p:nvSpPr>
          <p:cNvPr id="117" name="kl"/>
          <p:cNvSpPr txBox="1">
            <a:spLocks noGrp="1"/>
          </p:cNvSpPr>
          <p:nvPr/>
        </p:nvSpPr>
        <p:spPr>
          <a:xfrm>
            <a:off x="5815584" y="2103120"/>
            <a:ext cx="676656" cy="128016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680" dirty="0">
                <a:solidFill>
                  <a:srgbClr val="5A6475"/>
                </a:solidFill>
                <a:latin typeface="Calibri"/>
              </a:rPr>
              <a:t>costo/tix</a:t>
            </a:r>
          </a:p>
        </p:txBody>
      </p:sp>
      <p:sp>
        <p:nvSpPr>
          <p:cNvPr id="109" name="sep"/>
          <p:cNvSpPr>
            <a:spLocks noGrp="1"/>
          </p:cNvSpPr>
          <p:nvPr/>
        </p:nvSpPr>
        <p:spPr>
          <a:xfrm>
            <a:off x="5102352" y="2304288"/>
            <a:ext cx="1426464" cy="9144"/>
          </a:xfrm>
          <a:prstGeom prst="rect">
            <a:avLst/>
          </a:prstGeom>
          <a:solidFill>
            <a:srgbClr val="D6E8FF"/>
          </a:solidFill>
          <a:ln>
            <a:noFill/>
          </a:ln>
        </p:spPr>
      </p:sp>
      <p:sp>
        <p:nvSpPr>
          <p:cNvPr id="110" name="db"/>
          <p:cNvSpPr>
            <a:spLocks noGrp="1"/>
          </p:cNvSpPr>
          <p:nvPr/>
        </p:nvSpPr>
        <p:spPr>
          <a:xfrm>
            <a:off x="5102352" y="2359152"/>
            <a:ext cx="1426464" cy="4389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D6E8FF"/>
            </a:solidFill>
          </a:ln>
        </p:spPr>
      </p:sp>
      <p:sp>
        <p:nvSpPr>
          <p:cNvPr id="111" name="dbar"/>
          <p:cNvSpPr>
            <a:spLocks noGrp="1"/>
          </p:cNvSpPr>
          <p:nvPr/>
        </p:nvSpPr>
        <p:spPr>
          <a:xfrm>
            <a:off x="5102352" y="2359152"/>
            <a:ext cx="54864" cy="438912"/>
          </a:xfrm>
          <a:prstGeom prst="roundRect">
            <a:avLst>
              <a:gd name="adj" fmla="val 6000"/>
            </a:avLst>
          </a:prstGeom>
          <a:solidFill>
            <a:srgbClr val="1A3A8F"/>
          </a:solidFill>
          <a:ln>
            <a:noFill/>
          </a:ln>
        </p:spPr>
      </p:sp>
      <p:sp>
        <p:nvSpPr>
          <p:cNvPr id="112" name="dt"/>
          <p:cNvSpPr txBox="1">
            <a:spLocks noGrp="1"/>
          </p:cNvSpPr>
          <p:nvPr/>
        </p:nvSpPr>
        <p:spPr>
          <a:xfrm>
            <a:off x="5193792" y="2395728"/>
            <a:ext cx="1280160" cy="365760"/>
          </a:xfrm>
          <a:prstGeom prst="rect">
            <a:avLst/>
          </a:prstGeom>
          <a:noFill/>
          <a:ln>
            <a:noFill/>
          </a:ln>
        </p:spPr>
        <p:txBody>
          <a:bodyPr anchor="t" wrap="square" lIns="91440" rIns="91440" tIns="45720" bIns="45720">
            <a:noAutofit/>
          </a:bodyPr>
          <a:lstStyle/>
          <a:p>
            <a:pPr algn="l"/>
            <a:r>
              <a:rPr lang="es-ES" sz="780" dirty="0">
                <a:solidFill>
                  <a:srgbClr val="0D1B5E"/>
                </a:solidFill>
                <a:latin typeface="Calibri"/>
              </a:rPr>
              <a:t>SLAs incumplidos
con penalizaciones</a:t>
            </a:r>
          </a:p>
        </p:txBody>
      </p:sp>
      <p:sp>
        <p:nvSpPr>
          <p:cNvPr id="112" name="db"/>
          <p:cNvSpPr>
            <a:spLocks noGrp="1"/>
          </p:cNvSpPr>
          <p:nvPr/>
        </p:nvSpPr>
        <p:spPr>
          <a:xfrm>
            <a:off x="5102352" y="2852928"/>
            <a:ext cx="1426464" cy="4389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D6E8FF"/>
            </a:solidFill>
          </a:ln>
        </p:spPr>
      </p:sp>
      <p:sp>
        <p:nvSpPr>
          <p:cNvPr id="113" name="dbar"/>
          <p:cNvSpPr>
            <a:spLocks noGrp="1"/>
          </p:cNvSpPr>
          <p:nvPr/>
        </p:nvSpPr>
        <p:spPr>
          <a:xfrm>
            <a:off x="5102352" y="2852928"/>
            <a:ext cx="54864" cy="438912"/>
          </a:xfrm>
          <a:prstGeom prst="roundRect">
            <a:avLst>
              <a:gd name="adj" fmla="val 6000"/>
            </a:avLst>
          </a:prstGeom>
          <a:solidFill>
            <a:srgbClr val="1A3A8F"/>
          </a:solidFill>
          <a:ln>
            <a:noFill/>
          </a:ln>
        </p:spPr>
      </p:sp>
      <p:sp>
        <p:nvSpPr>
          <p:cNvPr id="114" name="dt"/>
          <p:cNvSpPr txBox="1">
            <a:spLocks noGrp="1"/>
          </p:cNvSpPr>
          <p:nvPr/>
        </p:nvSpPr>
        <p:spPr>
          <a:xfrm>
            <a:off x="5193792" y="2889504"/>
            <a:ext cx="1280160" cy="365760"/>
          </a:xfrm>
          <a:prstGeom prst="rect">
            <a:avLst/>
          </a:prstGeom>
          <a:noFill/>
          <a:ln>
            <a:noFill/>
          </a:ln>
        </p:spPr>
        <p:txBody>
          <a:bodyPr anchor="t" wrap="square" lIns="91440" rIns="91440" tIns="45720" bIns="45720">
            <a:noAutofit/>
          </a:bodyPr>
          <a:lstStyle/>
          <a:p>
            <a:pPr algn="l"/>
            <a:r>
              <a:rPr lang="es-ES" sz="780" dirty="0">
                <a:solidFill>
                  <a:srgbClr val="0D1B5E"/>
                </a:solidFill>
                <a:latin typeface="Calibri"/>
              </a:rPr>
              <a:t>1 FTE solo
riesgo operacional</a:t>
            </a:r>
          </a:p>
        </p:txBody>
      </p:sp>
      <p:sp>
        <p:nvSpPr>
          <p:cNvPr id="114" name="db"/>
          <p:cNvSpPr>
            <a:spLocks noGrp="1"/>
          </p:cNvSpPr>
          <p:nvPr/>
        </p:nvSpPr>
        <p:spPr>
          <a:xfrm>
            <a:off x="5102352" y="3346704"/>
            <a:ext cx="1426464" cy="4389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D6E8FF"/>
            </a:solidFill>
          </a:ln>
        </p:spPr>
      </p:sp>
      <p:sp>
        <p:nvSpPr>
          <p:cNvPr id="115" name="dbar"/>
          <p:cNvSpPr>
            <a:spLocks noGrp="1"/>
          </p:cNvSpPr>
          <p:nvPr/>
        </p:nvSpPr>
        <p:spPr>
          <a:xfrm>
            <a:off x="5102352" y="3346704"/>
            <a:ext cx="54864" cy="438912"/>
          </a:xfrm>
          <a:prstGeom prst="roundRect">
            <a:avLst>
              <a:gd name="adj" fmla="val 6000"/>
            </a:avLst>
          </a:prstGeom>
          <a:solidFill>
            <a:srgbClr val="1A3A8F"/>
          </a:solidFill>
          <a:ln>
            <a:noFill/>
          </a:ln>
        </p:spPr>
      </p:sp>
      <p:sp>
        <p:nvSpPr>
          <p:cNvPr id="116" name="dt"/>
          <p:cNvSpPr txBox="1">
            <a:spLocks noGrp="1"/>
          </p:cNvSpPr>
          <p:nvPr/>
        </p:nvSpPr>
        <p:spPr>
          <a:xfrm>
            <a:off x="5193792" y="3383280"/>
            <a:ext cx="1280160" cy="365760"/>
          </a:xfrm>
          <a:prstGeom prst="rect">
            <a:avLst/>
          </a:prstGeom>
          <a:noFill/>
          <a:ln>
            <a:noFill/>
          </a:ln>
        </p:spPr>
        <p:txBody>
          <a:bodyPr anchor="t" wrap="square" lIns="91440" rIns="91440" tIns="45720" bIns="45720">
            <a:noAutofit/>
          </a:bodyPr>
          <a:lstStyle/>
          <a:p>
            <a:pPr algn="l"/>
            <a:r>
              <a:rPr lang="es-ES" sz="780" dirty="0">
                <a:solidFill>
                  <a:srgbClr val="0D1B5E"/>
                </a:solidFill>
                <a:latin typeface="Calibri"/>
              </a:rPr>
              <a:t>Sin metricas
ni visibilidad</a:t>
            </a:r>
          </a:p>
        </p:txBody>
      </p:sp>
      <p:sp>
        <p:nvSpPr>
          <p:cNvPr id="116" name="db"/>
          <p:cNvSpPr>
            <a:spLocks noGrp="1"/>
          </p:cNvSpPr>
          <p:nvPr/>
        </p:nvSpPr>
        <p:spPr>
          <a:xfrm>
            <a:off x="5102352" y="3840480"/>
            <a:ext cx="1426464" cy="4389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D6E8FF"/>
            </a:solidFill>
          </a:ln>
        </p:spPr>
      </p:sp>
      <p:sp>
        <p:nvSpPr>
          <p:cNvPr id="117" name="dbar"/>
          <p:cNvSpPr>
            <a:spLocks noGrp="1"/>
          </p:cNvSpPr>
          <p:nvPr/>
        </p:nvSpPr>
        <p:spPr>
          <a:xfrm>
            <a:off x="5102352" y="3840480"/>
            <a:ext cx="54864" cy="438912"/>
          </a:xfrm>
          <a:prstGeom prst="roundRect">
            <a:avLst>
              <a:gd name="adj" fmla="val 6000"/>
            </a:avLst>
          </a:prstGeom>
          <a:solidFill>
            <a:srgbClr val="1A3A8F"/>
          </a:solidFill>
          <a:ln>
            <a:noFill/>
          </a:ln>
        </p:spPr>
      </p:sp>
      <p:sp>
        <p:nvSpPr>
          <p:cNvPr id="118" name="dt"/>
          <p:cNvSpPr txBox="1">
            <a:spLocks noGrp="1"/>
          </p:cNvSpPr>
          <p:nvPr/>
        </p:nvSpPr>
        <p:spPr>
          <a:xfrm>
            <a:off x="5193792" y="3877056"/>
            <a:ext cx="1280160" cy="365760"/>
          </a:xfrm>
          <a:prstGeom prst="rect">
            <a:avLst/>
          </a:prstGeom>
          <a:noFill/>
          <a:ln>
            <a:noFill/>
          </a:ln>
        </p:spPr>
        <p:txBody>
          <a:bodyPr anchor="t" wrap="square" lIns="91440" rIns="91440" tIns="45720" bIns="45720">
            <a:noAutofit/>
          </a:bodyPr>
          <a:lstStyle/>
          <a:p>
            <a:pPr algn="l"/>
            <a:r>
              <a:rPr lang="es-ES" sz="780" dirty="0">
                <a:solidFill>
                  <a:srgbClr val="0D1B5E"/>
                </a:solidFill>
                <a:latin typeface="Calibri"/>
              </a:rPr>
              <a:t>Scope creep
equipo absorbe todo</a:t>
            </a:r>
          </a:p>
        </p:txBody>
      </p:sp>
      <p:sp>
        <p:nvSpPr>
          <p:cNvPr id="130" name="card"/>
          <p:cNvSpPr>
            <a:spLocks noGrp="1"/>
          </p:cNvSpPr>
          <p:nvPr/>
        </p:nvSpPr>
        <p:spPr>
          <a:xfrm>
            <a:off x="6638544" y="804672"/>
            <a:ext cx="1536192" cy="3657600"/>
          </a:xfrm>
          <a:prstGeom prst="roundRect">
            <a:avLst>
              <a:gd name="adj" fmla="val 10000"/>
            </a:avLst>
          </a:prstGeom>
          <a:solidFill>
            <a:srgbClr val="EBF4FF"/>
          </a:solidFill>
          <a:ln w="12700">
            <a:solidFill>
              <a:srgbClr val="1A3A8F"/>
            </a:solidFill>
          </a:ln>
        </p:spPr>
      </p:sp>
      <p:sp>
        <p:nvSpPr>
          <p:cNvPr id="131" name="ch"/>
          <p:cNvSpPr>
            <a:spLocks noGrp="1"/>
          </p:cNvSpPr>
          <p:nvPr/>
        </p:nvSpPr>
        <p:spPr>
          <a:xfrm>
            <a:off x="6638544" y="804672"/>
            <a:ext cx="1536192" cy="310896"/>
          </a:xfrm>
          <a:prstGeom prst="roundRect">
            <a:avLst>
              <a:gd name="adj" fmla="val 10000"/>
            </a:avLst>
          </a:prstGeom>
          <a:solidFill>
            <a:srgbClr val="1A3A8F"/>
          </a:solidFill>
          <a:ln>
            <a:noFill/>
          </a:ln>
        </p:spPr>
      </p:sp>
      <p:sp>
        <p:nvSpPr>
          <p:cNvPr id="132" name="ch2"/>
          <p:cNvSpPr>
            <a:spLocks noGrp="1"/>
          </p:cNvSpPr>
          <p:nvPr/>
        </p:nvSpPr>
        <p:spPr>
          <a:xfrm>
            <a:off x="6638544" y="1005840"/>
            <a:ext cx="1536192" cy="109728"/>
          </a:xfrm>
          <a:prstGeom prst="rect">
            <a:avLst/>
          </a:prstGeom>
          <a:solidFill>
            <a:srgbClr val="1A3A8F"/>
          </a:solidFill>
          <a:ln>
            <a:noFill/>
          </a:ln>
        </p:spPr>
      </p:sp>
      <p:sp>
        <p:nvSpPr>
          <p:cNvPr id="133" name="cn"/>
          <p:cNvSpPr txBox="1">
            <a:spLocks noGrp="1"/>
          </p:cNvSpPr>
          <p:nvPr/>
        </p:nvSpPr>
        <p:spPr>
          <a:xfrm>
            <a:off x="6693408" y="841248"/>
            <a:ext cx="1426464" cy="256032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840" dirty="0" b="1">
                <a:solidFill>
                  <a:srgbClr val="FFFFFF"/>
                </a:solidFill>
                <a:latin typeface="Calibri"/>
              </a:rPr>
              <a:t>XM
Apps Criticas</a:t>
            </a:r>
          </a:p>
        </p:txBody>
      </p:sp>
      <p:sp>
        <p:nvSpPr>
          <p:cNvPr id="134" name="ci"/>
          <p:cNvSpPr txBox="1">
            <a:spLocks noGrp="1"/>
          </p:cNvSpPr>
          <p:nvPr/>
        </p:nvSpPr>
        <p:spPr>
          <a:xfrm>
            <a:off x="6693408" y="1133856"/>
            <a:ext cx="1426464" cy="182880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760" dirty="0" i="1">
                <a:solidFill>
                  <a:srgbClr val="5A6475"/>
                </a:solidFill>
                <a:latin typeface="Calibri"/>
              </a:rPr>
              <a:t>FTE:4 · ServiceNow</a:t>
            </a:r>
          </a:p>
        </p:txBody>
      </p:sp>
      <p:sp>
        <p:nvSpPr>
          <p:cNvPr id="135" name="ca"/>
          <p:cNvSpPr txBox="1">
            <a:spLocks noGrp="1"/>
          </p:cNvSpPr>
          <p:nvPr/>
        </p:nvSpPr>
        <p:spPr>
          <a:xfrm>
            <a:off x="6693408" y="1316736"/>
            <a:ext cx="1426464" cy="164592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740" dirty="0" b="1">
                <a:solidFill>
                  <a:srgbClr val="1A3A8F"/>
                </a:solidFill>
                <a:latin typeface="Calibri"/>
              </a:rPr>
              <a:t>Vigente jul 2027 · 24x7 · 14 comps.</a:t>
            </a:r>
          </a:p>
        </p:txBody>
      </p:sp>
      <p:sp>
        <p:nvSpPr>
          <p:cNvPr id="136" name="kb"/>
          <p:cNvSpPr>
            <a:spLocks noGrp="1"/>
          </p:cNvSpPr>
          <p:nvPr/>
        </p:nvSpPr>
        <p:spPr>
          <a:xfrm>
            <a:off x="6693408" y="1536192"/>
            <a:ext cx="676656" cy="3291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D6E8FF"/>
            </a:solidFill>
          </a:ln>
        </p:spPr>
      </p:sp>
      <p:sp>
        <p:nvSpPr>
          <p:cNvPr id="137" name="kv"/>
          <p:cNvSpPr txBox="1">
            <a:spLocks noGrp="1"/>
          </p:cNvSpPr>
          <p:nvPr/>
        </p:nvSpPr>
        <p:spPr>
          <a:xfrm>
            <a:off x="6693408" y="1554480"/>
            <a:ext cx="676656" cy="201168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900" dirty="0" b="1">
                <a:solidFill>
                  <a:srgbClr val="1A3A8F"/>
                </a:solidFill>
                <a:latin typeface="Calibri"/>
              </a:rPr>
              <a:t>90</a:t>
            </a:r>
          </a:p>
        </p:txBody>
      </p:sp>
      <p:sp>
        <p:nvSpPr>
          <p:cNvPr id="138" name="kl"/>
          <p:cNvSpPr txBox="1">
            <a:spLocks noGrp="1"/>
          </p:cNvSpPr>
          <p:nvPr/>
        </p:nvSpPr>
        <p:spPr>
          <a:xfrm>
            <a:off x="6693408" y="1737360"/>
            <a:ext cx="676656" cy="128016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680" dirty="0">
                <a:solidFill>
                  <a:srgbClr val="5A6475"/>
                </a:solidFill>
                <a:latin typeface="Calibri"/>
              </a:rPr>
              <a:t>tickets/mes</a:t>
            </a:r>
          </a:p>
        </p:txBody>
      </p:sp>
      <p:sp>
        <p:nvSpPr>
          <p:cNvPr id="139" name="kb"/>
          <p:cNvSpPr>
            <a:spLocks noGrp="1"/>
          </p:cNvSpPr>
          <p:nvPr/>
        </p:nvSpPr>
        <p:spPr>
          <a:xfrm>
            <a:off x="7406640" y="1536192"/>
            <a:ext cx="676656" cy="3291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D6E8FF"/>
            </a:solidFill>
          </a:ln>
        </p:spPr>
      </p:sp>
      <p:sp>
        <p:nvSpPr>
          <p:cNvPr id="140" name="kv"/>
          <p:cNvSpPr txBox="1">
            <a:spLocks noGrp="1"/>
          </p:cNvSpPr>
          <p:nvPr/>
        </p:nvSpPr>
        <p:spPr>
          <a:xfrm>
            <a:off x="7406640" y="1554480"/>
            <a:ext cx="676656" cy="201168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900" dirty="0" b="1">
                <a:solidFill>
                  <a:srgbClr val="5A6475"/>
                </a:solidFill>
                <a:latin typeface="Calibri"/>
              </a:rPr>
              <a:t>N/D</a:t>
            </a:r>
          </a:p>
        </p:txBody>
      </p:sp>
      <p:sp>
        <p:nvSpPr>
          <p:cNvPr id="141" name="kl"/>
          <p:cNvSpPr txBox="1">
            <a:spLocks noGrp="1"/>
          </p:cNvSpPr>
          <p:nvPr/>
        </p:nvSpPr>
        <p:spPr>
          <a:xfrm>
            <a:off x="7406640" y="1737360"/>
            <a:ext cx="676656" cy="128016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680" dirty="0">
                <a:solidFill>
                  <a:srgbClr val="5A6475"/>
                </a:solidFill>
                <a:latin typeface="Calibri"/>
              </a:rPr>
              <a:t>MTTR</a:t>
            </a:r>
          </a:p>
        </p:txBody>
      </p:sp>
      <p:sp>
        <p:nvSpPr>
          <p:cNvPr id="142" name="kb"/>
          <p:cNvSpPr>
            <a:spLocks noGrp="1"/>
          </p:cNvSpPr>
          <p:nvPr/>
        </p:nvSpPr>
        <p:spPr>
          <a:xfrm>
            <a:off x="6693408" y="1901952"/>
            <a:ext cx="676656" cy="3291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D6E8FF"/>
            </a:solidFill>
          </a:ln>
        </p:spPr>
      </p:sp>
      <p:sp>
        <p:nvSpPr>
          <p:cNvPr id="143" name="kv"/>
          <p:cNvSpPr txBox="1">
            <a:spLocks noGrp="1"/>
          </p:cNvSpPr>
          <p:nvPr/>
        </p:nvSpPr>
        <p:spPr>
          <a:xfrm>
            <a:off x="6693408" y="1920240"/>
            <a:ext cx="676656" cy="201168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900" dirty="0" b="1">
                <a:solidFill>
                  <a:srgbClr val="5A6475"/>
                </a:solidFill>
                <a:latin typeface="Calibri"/>
              </a:rPr>
              <a:t>N/D</a:t>
            </a:r>
          </a:p>
        </p:txBody>
      </p:sp>
      <p:sp>
        <p:nvSpPr>
          <p:cNvPr id="144" name="kl"/>
          <p:cNvSpPr txBox="1">
            <a:spLocks noGrp="1"/>
          </p:cNvSpPr>
          <p:nvPr/>
        </p:nvSpPr>
        <p:spPr>
          <a:xfrm>
            <a:off x="6693408" y="2103120"/>
            <a:ext cx="676656" cy="128016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680" dirty="0">
                <a:solidFill>
                  <a:srgbClr val="5A6475"/>
                </a:solidFill>
                <a:latin typeface="Calibri"/>
              </a:rPr>
              <a:t>SLA</a:t>
            </a:r>
          </a:p>
        </p:txBody>
      </p:sp>
      <p:sp>
        <p:nvSpPr>
          <p:cNvPr id="145" name="kb"/>
          <p:cNvSpPr>
            <a:spLocks noGrp="1"/>
          </p:cNvSpPr>
          <p:nvPr/>
        </p:nvSpPr>
        <p:spPr>
          <a:xfrm>
            <a:off x="7406640" y="1901952"/>
            <a:ext cx="676656" cy="3291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D6E8FF"/>
            </a:solidFill>
          </a:ln>
        </p:spPr>
      </p:sp>
      <p:sp>
        <p:nvSpPr>
          <p:cNvPr id="146" name="kv"/>
          <p:cNvSpPr txBox="1">
            <a:spLocks noGrp="1"/>
          </p:cNvSpPr>
          <p:nvPr/>
        </p:nvSpPr>
        <p:spPr>
          <a:xfrm>
            <a:off x="7406640" y="1920240"/>
            <a:ext cx="676656" cy="201168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900" dirty="0" b="1">
                <a:solidFill>
                  <a:srgbClr val="B91C1C"/>
                </a:solidFill>
                <a:latin typeface="Calibri"/>
              </a:rPr>
              <a:t>USD $149</a:t>
            </a:r>
          </a:p>
        </p:txBody>
      </p:sp>
      <p:sp>
        <p:nvSpPr>
          <p:cNvPr id="147" name="kl"/>
          <p:cNvSpPr txBox="1">
            <a:spLocks noGrp="1"/>
          </p:cNvSpPr>
          <p:nvPr/>
        </p:nvSpPr>
        <p:spPr>
          <a:xfrm>
            <a:off x="7406640" y="2103120"/>
            <a:ext cx="676656" cy="128016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680" dirty="0">
                <a:solidFill>
                  <a:srgbClr val="5A6475"/>
                </a:solidFill>
                <a:latin typeface="Calibri"/>
              </a:rPr>
              <a:t>costo/tix</a:t>
            </a:r>
          </a:p>
        </p:txBody>
      </p:sp>
      <p:sp>
        <p:nvSpPr>
          <p:cNvPr id="139" name="sep"/>
          <p:cNvSpPr>
            <a:spLocks noGrp="1"/>
          </p:cNvSpPr>
          <p:nvPr/>
        </p:nvSpPr>
        <p:spPr>
          <a:xfrm>
            <a:off x="6693408" y="2304288"/>
            <a:ext cx="1426464" cy="9144"/>
          </a:xfrm>
          <a:prstGeom prst="rect">
            <a:avLst/>
          </a:prstGeom>
          <a:solidFill>
            <a:srgbClr val="D6E8FF"/>
          </a:solidFill>
          <a:ln>
            <a:noFill/>
          </a:ln>
        </p:spPr>
      </p:sp>
      <p:sp>
        <p:nvSpPr>
          <p:cNvPr id="140" name="db"/>
          <p:cNvSpPr>
            <a:spLocks noGrp="1"/>
          </p:cNvSpPr>
          <p:nvPr/>
        </p:nvSpPr>
        <p:spPr>
          <a:xfrm>
            <a:off x="6693408" y="2359152"/>
            <a:ext cx="1426464" cy="4389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D6E8FF"/>
            </a:solidFill>
          </a:ln>
        </p:spPr>
      </p:sp>
      <p:sp>
        <p:nvSpPr>
          <p:cNvPr id="141" name="dbar"/>
          <p:cNvSpPr>
            <a:spLocks noGrp="1"/>
          </p:cNvSpPr>
          <p:nvPr/>
        </p:nvSpPr>
        <p:spPr>
          <a:xfrm>
            <a:off x="6693408" y="2359152"/>
            <a:ext cx="54864" cy="438912"/>
          </a:xfrm>
          <a:prstGeom prst="roundRect">
            <a:avLst>
              <a:gd name="adj" fmla="val 6000"/>
            </a:avLst>
          </a:prstGeom>
          <a:solidFill>
            <a:srgbClr val="1A3A8F"/>
          </a:solidFill>
          <a:ln>
            <a:noFill/>
          </a:ln>
        </p:spPr>
      </p:sp>
      <p:sp>
        <p:nvSpPr>
          <p:cNvPr id="142" name="dt"/>
          <p:cNvSpPr txBox="1">
            <a:spLocks noGrp="1"/>
          </p:cNvSpPr>
          <p:nvPr/>
        </p:nvSpPr>
        <p:spPr>
          <a:xfrm>
            <a:off x="6784848" y="2395728"/>
            <a:ext cx="1280160" cy="365760"/>
          </a:xfrm>
          <a:prstGeom prst="rect">
            <a:avLst/>
          </a:prstGeom>
          <a:noFill/>
          <a:ln>
            <a:noFill/>
          </a:ln>
        </p:spPr>
        <p:txBody>
          <a:bodyPr anchor="t" wrap="square" lIns="91440" rIns="91440" tIns="45720" bIns="45720">
            <a:noAutofit/>
          </a:bodyPr>
          <a:lstStyle/>
          <a:p>
            <a:pPr algn="l"/>
            <a:r>
              <a:rPr lang="es-ES" sz="780" dirty="0">
                <a:solidFill>
                  <a:srgbClr val="0D1B5E"/>
                </a:solidFill>
                <a:latin typeface="Calibri"/>
              </a:rPr>
              <a:t>Sin KEDB
gestion informal</a:t>
            </a:r>
          </a:p>
        </p:txBody>
      </p:sp>
      <p:sp>
        <p:nvSpPr>
          <p:cNvPr id="142" name="db"/>
          <p:cNvSpPr>
            <a:spLocks noGrp="1"/>
          </p:cNvSpPr>
          <p:nvPr/>
        </p:nvSpPr>
        <p:spPr>
          <a:xfrm>
            <a:off x="6693408" y="2852928"/>
            <a:ext cx="1426464" cy="4389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D6E8FF"/>
            </a:solidFill>
          </a:ln>
        </p:spPr>
      </p:sp>
      <p:sp>
        <p:nvSpPr>
          <p:cNvPr id="143" name="dbar"/>
          <p:cNvSpPr>
            <a:spLocks noGrp="1"/>
          </p:cNvSpPr>
          <p:nvPr/>
        </p:nvSpPr>
        <p:spPr>
          <a:xfrm>
            <a:off x="6693408" y="2852928"/>
            <a:ext cx="54864" cy="438912"/>
          </a:xfrm>
          <a:prstGeom prst="roundRect">
            <a:avLst>
              <a:gd name="adj" fmla="val 6000"/>
            </a:avLst>
          </a:prstGeom>
          <a:solidFill>
            <a:srgbClr val="1A3A8F"/>
          </a:solidFill>
          <a:ln>
            <a:noFill/>
          </a:ln>
        </p:spPr>
      </p:sp>
      <p:sp>
        <p:nvSpPr>
          <p:cNvPr id="144" name="dt"/>
          <p:cNvSpPr txBox="1">
            <a:spLocks noGrp="1"/>
          </p:cNvSpPr>
          <p:nvPr/>
        </p:nvSpPr>
        <p:spPr>
          <a:xfrm>
            <a:off x="6784848" y="2889504"/>
            <a:ext cx="1280160" cy="365760"/>
          </a:xfrm>
          <a:prstGeom prst="rect">
            <a:avLst/>
          </a:prstGeom>
          <a:noFill/>
          <a:ln>
            <a:noFill/>
          </a:ln>
        </p:spPr>
        <p:txBody>
          <a:bodyPr anchor="t" wrap="square" lIns="91440" rIns="91440" tIns="45720" bIns="45720">
            <a:noAutofit/>
          </a:bodyPr>
          <a:lstStyle/>
          <a:p>
            <a:pPr algn="l"/>
            <a:r>
              <a:rPr lang="es-ES" sz="780" dirty="0">
                <a:solidFill>
                  <a:srgbClr val="0D1B5E"/>
                </a:solidFill>
                <a:latin typeface="Calibri"/>
              </a:rPr>
              <a:t>4 FTE para 24x7
muy justo</a:t>
            </a:r>
          </a:p>
        </p:txBody>
      </p:sp>
      <p:sp>
        <p:nvSpPr>
          <p:cNvPr id="144" name="db"/>
          <p:cNvSpPr>
            <a:spLocks noGrp="1"/>
          </p:cNvSpPr>
          <p:nvPr/>
        </p:nvSpPr>
        <p:spPr>
          <a:xfrm>
            <a:off x="6693408" y="3346704"/>
            <a:ext cx="1426464" cy="4389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D6E8FF"/>
            </a:solidFill>
          </a:ln>
        </p:spPr>
      </p:sp>
      <p:sp>
        <p:nvSpPr>
          <p:cNvPr id="145" name="dbar"/>
          <p:cNvSpPr>
            <a:spLocks noGrp="1"/>
          </p:cNvSpPr>
          <p:nvPr/>
        </p:nvSpPr>
        <p:spPr>
          <a:xfrm>
            <a:off x="6693408" y="3346704"/>
            <a:ext cx="54864" cy="438912"/>
          </a:xfrm>
          <a:prstGeom prst="roundRect">
            <a:avLst>
              <a:gd name="adj" fmla="val 6000"/>
            </a:avLst>
          </a:prstGeom>
          <a:solidFill>
            <a:srgbClr val="1A3A8F"/>
          </a:solidFill>
          <a:ln>
            <a:noFill/>
          </a:ln>
        </p:spPr>
      </p:sp>
      <p:sp>
        <p:nvSpPr>
          <p:cNvPr id="146" name="dt"/>
          <p:cNvSpPr txBox="1">
            <a:spLocks noGrp="1"/>
          </p:cNvSpPr>
          <p:nvPr/>
        </p:nvSpPr>
        <p:spPr>
          <a:xfrm>
            <a:off x="6784848" y="3383280"/>
            <a:ext cx="1280160" cy="365760"/>
          </a:xfrm>
          <a:prstGeom prst="rect">
            <a:avLst/>
          </a:prstGeom>
          <a:noFill/>
          <a:ln>
            <a:noFill/>
          </a:ln>
        </p:spPr>
        <p:txBody>
          <a:bodyPr anchor="t" wrap="square" lIns="91440" rIns="91440" tIns="45720" bIns="45720">
            <a:noAutofit/>
          </a:bodyPr>
          <a:lstStyle/>
          <a:p>
            <a:pPr algn="l"/>
            <a:r>
              <a:rPr lang="es-ES" sz="780" dirty="0">
                <a:solidFill>
                  <a:srgbClr val="0D1B5E"/>
                </a:solidFill>
                <a:latin typeface="Calibri"/>
              </a:rPr>
              <a:t>Sin metricas
ni CSAT formal</a:t>
            </a:r>
          </a:p>
        </p:txBody>
      </p:sp>
      <p:sp>
        <p:nvSpPr>
          <p:cNvPr id="146" name="db"/>
          <p:cNvSpPr>
            <a:spLocks noGrp="1"/>
          </p:cNvSpPr>
          <p:nvPr/>
        </p:nvSpPr>
        <p:spPr>
          <a:xfrm>
            <a:off x="6693408" y="3840480"/>
            <a:ext cx="1426464" cy="4389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D6E8FF"/>
            </a:solidFill>
          </a:ln>
        </p:spPr>
      </p:sp>
      <p:sp>
        <p:nvSpPr>
          <p:cNvPr id="147" name="dbar"/>
          <p:cNvSpPr>
            <a:spLocks noGrp="1"/>
          </p:cNvSpPr>
          <p:nvPr/>
        </p:nvSpPr>
        <p:spPr>
          <a:xfrm>
            <a:off x="6693408" y="3840480"/>
            <a:ext cx="54864" cy="438912"/>
          </a:xfrm>
          <a:prstGeom prst="roundRect">
            <a:avLst>
              <a:gd name="adj" fmla="val 6000"/>
            </a:avLst>
          </a:prstGeom>
          <a:solidFill>
            <a:srgbClr val="1A3A8F"/>
          </a:solidFill>
          <a:ln>
            <a:noFill/>
          </a:ln>
        </p:spPr>
      </p:sp>
      <p:sp>
        <p:nvSpPr>
          <p:cNvPr id="148" name="dt"/>
          <p:cNvSpPr txBox="1">
            <a:spLocks noGrp="1"/>
          </p:cNvSpPr>
          <p:nvPr/>
        </p:nvSpPr>
        <p:spPr>
          <a:xfrm>
            <a:off x="6784848" y="3877056"/>
            <a:ext cx="1280160" cy="365760"/>
          </a:xfrm>
          <a:prstGeom prst="rect">
            <a:avLst/>
          </a:prstGeom>
          <a:noFill/>
          <a:ln>
            <a:noFill/>
          </a:ln>
        </p:spPr>
        <p:txBody>
          <a:bodyPr anchor="t" wrap="square" lIns="91440" rIns="91440" tIns="45720" bIns="45720">
            <a:noAutofit/>
          </a:bodyPr>
          <a:lstStyle/>
          <a:p>
            <a:pPr algn="l"/>
            <a:r>
              <a:rPr lang="es-ES" sz="780" dirty="0">
                <a:solidFill>
                  <a:srgbClr val="0D1B5E"/>
                </a:solidFill>
                <a:latin typeface="Calibri"/>
              </a:rPr>
              <a:t>Licencia SN
paga PersonalSoft</a:t>
            </a:r>
          </a:p>
        </p:txBody>
      </p:sp>
      <p:sp>
        <p:nvSpPr>
          <p:cNvPr id="200" name="src"/>
          <p:cNvSpPr txBox="1">
            <a:spLocks noGrp="1"/>
          </p:cNvSpPr>
          <p:nvPr/>
        </p:nvSpPr>
        <p:spPr>
          <a:xfrm>
            <a:off x="320040" y="4453128"/>
            <a:ext cx="7717536" cy="164592"/>
          </a:xfrm>
          <a:prstGeom prst="rect">
            <a:avLst/>
          </a:prstGeom>
          <a:noFill/>
          <a:ln>
            <a:noFill/>
          </a:ln>
        </p:spPr>
        <p:txBody>
          <a:bodyPr anchor="t" wrap="square" lIns="91440" rIns="91440" tIns="45720" bIns="45720">
            <a:noAutofit/>
          </a:bodyPr>
          <a:lstStyle/>
          <a:p>
            <a:pPr algn="l"/>
            <a:r>
              <a:rPr lang="es-ES" sz="780" dirty="0" i="1">
                <a:solidFill>
                  <a:srgbClr val="5A6475"/>
                </a:solidFill>
                <a:latin typeface="Calibri"/>
              </a:rPr>
              <a:t>Fuente: Levantamiento interno PS · Julio 2026 · Reunion Elsy Marin (SURA) · Diego Serna (XM) · Excel Levantamiento_Mesas_Julio_2026</a:t>
            </a:r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bg"/>
          <p:cNvSpPr>
            <a:spLocks noGrp="1"/>
          </p:cNvSpPr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hdr"/>
          <p:cNvSpPr>
            <a:spLocks noGrp="1"/>
          </p:cNvSpPr>
          <p:nvPr/>
        </p:nvSpPr>
        <p:spPr>
          <a:xfrm>
            <a:off x="0" y="0"/>
            <a:ext cx="9144000" cy="694944"/>
          </a:xfrm>
          <a:prstGeom prst="rect">
            <a:avLst/>
          </a:prstGeom>
          <a:solidFill>
            <a:srgbClr val="0D1B5E"/>
          </a:solidFill>
          <a:ln>
            <a:noFill/>
          </a:ln>
        </p:spPr>
      </p:sp>
      <p:sp>
        <p:nvSpPr>
          <p:cNvPr id="4" name="ttl"/>
          <p:cNvSpPr txBox="1">
            <a:spLocks noGrp="1"/>
          </p:cNvSpPr>
          <p:nvPr/>
        </p:nvSpPr>
        <p:spPr>
          <a:xfrm>
            <a:off x="347472" y="100584"/>
            <a:ext cx="7717536" cy="493776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l"/>
            <a:r>
              <a:rPr lang="es-ES" sz="2000" dirty="0" b="1">
                <a:solidFill>
                  <a:srgbClr val="FFFFFF"/>
                </a:solidFill>
                <a:latin typeface="Calibri"/>
              </a:rPr>
              <a:t>Mapa de Dolores Criticos — Las 12 Mesas</a:t>
            </a:r>
          </a:p>
        </p:txBody>
      </p:sp>
      <p:sp>
        <p:nvSpPr>
          <p:cNvPr id="5" name="sub"/>
          <p:cNvSpPr txBox="1">
            <a:spLocks noGrp="1"/>
          </p:cNvSpPr>
          <p:nvPr/>
        </p:nvSpPr>
        <p:spPr>
          <a:xfrm>
            <a:off x="347472" y="585216"/>
            <a:ext cx="7717536" cy="219456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l"/>
            <a:r>
              <a:rPr lang="es-ES" sz="960" dirty="0">
                <a:solidFill>
                  <a:srgbClr val="D6E8FF"/>
                </a:solidFill>
                <a:latin typeface="Calibri"/>
              </a:rPr>
              <a:t>● Confirmado · ◐ Parcial · ○ No identificado · Agrupado por categoria</a:t>
            </a:r>
          </a:p>
        </p:txBody>
      </p:sp>
      <p:sp>
        <p:nvSpPr>
          <p:cNvPr id="10" name="dhdr"/>
          <p:cNvSpPr>
            <a:spLocks noGrp="1"/>
          </p:cNvSpPr>
          <p:nvPr/>
        </p:nvSpPr>
        <p:spPr>
          <a:xfrm>
            <a:off x="320040" y="768096"/>
            <a:ext cx="2560320" cy="438912"/>
          </a:xfrm>
          <a:prstGeom prst="rect">
            <a:avLst/>
          </a:prstGeom>
          <a:solidFill>
            <a:srgbClr val="0D1B5E"/>
          </a:solidFill>
          <a:ln>
            <a:noFill/>
          </a:ln>
        </p:spPr>
      </p:sp>
      <p:sp>
        <p:nvSpPr>
          <p:cNvPr id="11" name="dht"/>
          <p:cNvSpPr txBox="1">
            <a:spLocks noGrp="1"/>
          </p:cNvSpPr>
          <p:nvPr/>
        </p:nvSpPr>
        <p:spPr>
          <a:xfrm>
            <a:off x="320040" y="768096"/>
            <a:ext cx="2560320" cy="438912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880" dirty="0" b="1">
                <a:solidFill>
                  <a:srgbClr val="FFFFFF"/>
                </a:solidFill>
                <a:latin typeface="Calibri"/>
              </a:rPr>
              <a:t>DOLOR CRITICO</a:t>
            </a:r>
          </a:p>
        </p:txBody>
      </p:sp>
      <p:sp>
        <p:nvSpPr>
          <p:cNvPr id="12" name="sura_hdr"/>
          <p:cNvSpPr>
            <a:spLocks noGrp="1"/>
          </p:cNvSpPr>
          <p:nvPr/>
        </p:nvSpPr>
        <p:spPr>
          <a:xfrm>
            <a:off x="2880360" y="768096"/>
            <a:ext cx="1645920" cy="219456"/>
          </a:xfrm>
          <a:prstGeom prst="rect">
            <a:avLst/>
          </a:prstGeom>
          <a:solidFill>
            <a:srgbClr val="1E2F80"/>
          </a:solidFill>
          <a:ln>
            <a:noFill/>
          </a:ln>
        </p:spPr>
      </p:sp>
      <p:sp>
        <p:nvSpPr>
          <p:cNvPr id="13" name="sura_ht"/>
          <p:cNvSpPr txBox="1">
            <a:spLocks noGrp="1"/>
          </p:cNvSpPr>
          <p:nvPr/>
        </p:nvSpPr>
        <p:spPr>
          <a:xfrm>
            <a:off x="2880360" y="768096"/>
            <a:ext cx="1645920" cy="219456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780" dirty="0" b="1">
                <a:solidFill>
                  <a:srgbClr val="FFFFFF"/>
                </a:solidFill>
                <a:latin typeface="Calibri"/>
              </a:rPr>
              <a:t>SURA</a:t>
            </a:r>
          </a:p>
        </p:txBody>
      </p:sp>
      <p:sp>
        <p:nvSpPr>
          <p:cNvPr id="20" name="ch"/>
          <p:cNvSpPr>
            <a:spLocks noGrp="1"/>
          </p:cNvSpPr>
          <p:nvPr/>
        </p:nvSpPr>
        <p:spPr>
          <a:xfrm>
            <a:off x="2880360" y="987552"/>
            <a:ext cx="411480" cy="219456"/>
          </a:xfrm>
          <a:prstGeom prst="rect">
            <a:avLst/>
          </a:prstGeom>
          <a:solidFill>
            <a:srgbClr val="1A3A8F"/>
          </a:solidFill>
          <a:ln>
            <a:noFill/>
          </a:ln>
        </p:spPr>
      </p:sp>
      <p:sp>
        <p:nvSpPr>
          <p:cNvPr id="21" name="cht"/>
          <p:cNvSpPr txBox="1">
            <a:spLocks noGrp="1"/>
          </p:cNvSpPr>
          <p:nvPr/>
        </p:nvSpPr>
        <p:spPr>
          <a:xfrm>
            <a:off x="2880360" y="98755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580" dirty="0" b="1">
                <a:solidFill>
                  <a:srgbClr val="FFFFFF"/>
                </a:solidFill>
                <a:latin typeface="Calibri"/>
              </a:rPr>
              <a:t>SURA
Cotiz.</a:t>
            </a:r>
          </a:p>
        </p:txBody>
      </p:sp>
      <p:sp>
        <p:nvSpPr>
          <p:cNvPr id="22" name="ch"/>
          <p:cNvSpPr>
            <a:spLocks noGrp="1"/>
          </p:cNvSpPr>
          <p:nvPr/>
        </p:nvSpPr>
        <p:spPr>
          <a:xfrm>
            <a:off x="3291840" y="987552"/>
            <a:ext cx="411480" cy="219456"/>
          </a:xfrm>
          <a:prstGeom prst="rect">
            <a:avLst/>
          </a:prstGeom>
          <a:solidFill>
            <a:srgbClr val="1A3A8F"/>
          </a:solidFill>
          <a:ln>
            <a:noFill/>
          </a:ln>
        </p:spPr>
      </p:sp>
      <p:sp>
        <p:nvSpPr>
          <p:cNvPr id="23" name="cht"/>
          <p:cNvSpPr txBox="1">
            <a:spLocks noGrp="1"/>
          </p:cNvSpPr>
          <p:nvPr/>
        </p:nvSpPr>
        <p:spPr>
          <a:xfrm>
            <a:off x="3291840" y="98755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580" dirty="0" b="1">
                <a:solidFill>
                  <a:srgbClr val="FFFFFF"/>
                </a:solidFill>
                <a:latin typeface="Calibri"/>
              </a:rPr>
              <a:t>SURA
V.Dig.</a:t>
            </a:r>
          </a:p>
        </p:txBody>
      </p:sp>
      <p:sp>
        <p:nvSpPr>
          <p:cNvPr id="24" name="ch"/>
          <p:cNvSpPr>
            <a:spLocks noGrp="1"/>
          </p:cNvSpPr>
          <p:nvPr/>
        </p:nvSpPr>
        <p:spPr>
          <a:xfrm>
            <a:off x="3703320" y="987552"/>
            <a:ext cx="411480" cy="219456"/>
          </a:xfrm>
          <a:prstGeom prst="rect">
            <a:avLst/>
          </a:prstGeom>
          <a:solidFill>
            <a:srgbClr val="1A3A8F"/>
          </a:solidFill>
          <a:ln>
            <a:noFill/>
          </a:ln>
        </p:spPr>
      </p:sp>
      <p:sp>
        <p:nvSpPr>
          <p:cNvPr id="25" name="cht"/>
          <p:cNvSpPr txBox="1">
            <a:spLocks noGrp="1"/>
          </p:cNvSpPr>
          <p:nvPr/>
        </p:nvSpPr>
        <p:spPr>
          <a:xfrm>
            <a:off x="3703320" y="98755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580" dirty="0" b="1">
                <a:solidFill>
                  <a:srgbClr val="FFFFFF"/>
                </a:solidFill>
                <a:latin typeface="Calibri"/>
              </a:rPr>
              <a:t>SURA
Auto.</a:t>
            </a:r>
          </a:p>
        </p:txBody>
      </p:sp>
      <p:sp>
        <p:nvSpPr>
          <p:cNvPr id="26" name="ch"/>
          <p:cNvSpPr>
            <a:spLocks noGrp="1"/>
          </p:cNvSpPr>
          <p:nvPr/>
        </p:nvSpPr>
        <p:spPr>
          <a:xfrm>
            <a:off x="4114800" y="987552"/>
            <a:ext cx="411480" cy="219456"/>
          </a:xfrm>
          <a:prstGeom prst="rect">
            <a:avLst/>
          </a:prstGeom>
          <a:solidFill>
            <a:srgbClr val="1A3A8F"/>
          </a:solidFill>
          <a:ln>
            <a:noFill/>
          </a:ln>
        </p:spPr>
      </p:sp>
      <p:sp>
        <p:nvSpPr>
          <p:cNvPr id="27" name="cht"/>
          <p:cNvSpPr txBox="1">
            <a:spLocks noGrp="1"/>
          </p:cNvSpPr>
          <p:nvPr/>
        </p:nvSpPr>
        <p:spPr>
          <a:xfrm>
            <a:off x="4114800" y="98755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580" dirty="0" b="1">
                <a:solidFill>
                  <a:srgbClr val="FFFFFF"/>
                </a:solidFill>
                <a:latin typeface="Calibri"/>
              </a:rPr>
              <a:t>SURA
Canales</a:t>
            </a:r>
          </a:p>
        </p:txBody>
      </p:sp>
      <p:sp>
        <p:nvSpPr>
          <p:cNvPr id="28" name="ch"/>
          <p:cNvSpPr>
            <a:spLocks noGrp="1"/>
          </p:cNvSpPr>
          <p:nvPr/>
        </p:nvSpPr>
        <p:spPr>
          <a:xfrm>
            <a:off x="4526280" y="987552"/>
            <a:ext cx="411480" cy="219456"/>
          </a:xfrm>
          <a:prstGeom prst="rect">
            <a:avLst/>
          </a:prstGeom>
          <a:solidFill>
            <a:srgbClr val="1B7B85"/>
          </a:solidFill>
          <a:ln>
            <a:noFill/>
          </a:ln>
        </p:spPr>
      </p:sp>
      <p:sp>
        <p:nvSpPr>
          <p:cNvPr id="29" name="cht"/>
          <p:cNvSpPr txBox="1">
            <a:spLocks noGrp="1"/>
          </p:cNvSpPr>
          <p:nvPr/>
        </p:nvSpPr>
        <p:spPr>
          <a:xfrm>
            <a:off x="4526280" y="98755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580" dirty="0" b="1">
                <a:solidFill>
                  <a:srgbClr val="FFFFFF"/>
                </a:solidFill>
                <a:latin typeface="Calibri"/>
              </a:rPr>
              <a:t>XM</a:t>
            </a:r>
          </a:p>
        </p:txBody>
      </p:sp>
      <p:sp>
        <p:nvSpPr>
          <p:cNvPr id="30" name="ch"/>
          <p:cNvSpPr>
            <a:spLocks noGrp="1"/>
          </p:cNvSpPr>
          <p:nvPr/>
        </p:nvSpPr>
        <p:spPr>
          <a:xfrm>
            <a:off x="4937760" y="987552"/>
            <a:ext cx="411480" cy="219456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31" name="cht"/>
          <p:cNvSpPr txBox="1">
            <a:spLocks noGrp="1"/>
          </p:cNvSpPr>
          <p:nvPr/>
        </p:nvSpPr>
        <p:spPr>
          <a:xfrm>
            <a:off x="4937760" y="98755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580" dirty="0" b="1">
                <a:solidFill>
                  <a:srgbClr val="FFFFFF"/>
                </a:solidFill>
                <a:latin typeface="Calibri"/>
              </a:rPr>
              <a:t>AES</a:t>
            </a:r>
          </a:p>
        </p:txBody>
      </p:sp>
      <p:sp>
        <p:nvSpPr>
          <p:cNvPr id="32" name="ch"/>
          <p:cNvSpPr>
            <a:spLocks noGrp="1"/>
          </p:cNvSpPr>
          <p:nvPr/>
        </p:nvSpPr>
        <p:spPr>
          <a:xfrm>
            <a:off x="5349240" y="987552"/>
            <a:ext cx="411480" cy="219456"/>
          </a:xfrm>
          <a:prstGeom prst="rect">
            <a:avLst/>
          </a:prstGeom>
          <a:solidFill>
            <a:srgbClr val="0D1B5E"/>
          </a:solidFill>
          <a:ln>
            <a:noFill/>
          </a:ln>
        </p:spPr>
      </p:sp>
      <p:sp>
        <p:nvSpPr>
          <p:cNvPr id="33" name="cht"/>
          <p:cNvSpPr txBox="1">
            <a:spLocks noGrp="1"/>
          </p:cNvSpPr>
          <p:nvPr/>
        </p:nvSpPr>
        <p:spPr>
          <a:xfrm>
            <a:off x="5349240" y="98755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580" dirty="0" b="1">
                <a:solidFill>
                  <a:srgbClr val="FFFFFF"/>
                </a:solidFill>
                <a:latin typeface="Calibri"/>
              </a:rPr>
              <a:t>BCO
COES-I</a:t>
            </a:r>
          </a:p>
        </p:txBody>
      </p:sp>
      <p:sp>
        <p:nvSpPr>
          <p:cNvPr id="34" name="ch"/>
          <p:cNvSpPr>
            <a:spLocks noGrp="1"/>
          </p:cNvSpPr>
          <p:nvPr/>
        </p:nvSpPr>
        <p:spPr>
          <a:xfrm>
            <a:off x="5760720" y="987552"/>
            <a:ext cx="411480" cy="219456"/>
          </a:xfrm>
          <a:prstGeom prst="rect">
            <a:avLst/>
          </a:prstGeom>
          <a:solidFill>
            <a:srgbClr val="0D1B5E"/>
          </a:solidFill>
          <a:ln>
            <a:noFill/>
          </a:ln>
        </p:spPr>
      </p:sp>
      <p:sp>
        <p:nvSpPr>
          <p:cNvPr id="35" name="cht"/>
          <p:cNvSpPr txBox="1">
            <a:spLocks noGrp="1"/>
          </p:cNvSpPr>
          <p:nvPr/>
        </p:nvSpPr>
        <p:spPr>
          <a:xfrm>
            <a:off x="5760720" y="98755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580" dirty="0" b="1">
                <a:solidFill>
                  <a:srgbClr val="FFFFFF"/>
                </a:solidFill>
                <a:latin typeface="Calibri"/>
              </a:rPr>
              <a:t>BCO
COES-D</a:t>
            </a:r>
          </a:p>
        </p:txBody>
      </p:sp>
      <p:sp>
        <p:nvSpPr>
          <p:cNvPr id="36" name="ch"/>
          <p:cNvSpPr>
            <a:spLocks noGrp="1"/>
          </p:cNvSpPr>
          <p:nvPr/>
        </p:nvSpPr>
        <p:spPr>
          <a:xfrm>
            <a:off x="6172200" y="987552"/>
            <a:ext cx="411480" cy="219456"/>
          </a:xfrm>
          <a:prstGeom prst="rect">
            <a:avLst/>
          </a:prstGeom>
          <a:solidFill>
            <a:srgbClr val="0D1B5E"/>
          </a:solidFill>
          <a:ln>
            <a:noFill/>
          </a:ln>
        </p:spPr>
      </p:sp>
      <p:sp>
        <p:nvSpPr>
          <p:cNvPr id="37" name="cht"/>
          <p:cNvSpPr txBox="1">
            <a:spLocks noGrp="1"/>
          </p:cNvSpPr>
          <p:nvPr/>
        </p:nvSpPr>
        <p:spPr>
          <a:xfrm>
            <a:off x="6172200" y="98755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580" dirty="0" b="1">
                <a:solidFill>
                  <a:srgbClr val="FFFFFF"/>
                </a:solidFill>
                <a:latin typeface="Calibri"/>
              </a:rPr>
              <a:t>BCO
Sop.</a:t>
            </a:r>
          </a:p>
        </p:txBody>
      </p:sp>
      <p:sp>
        <p:nvSpPr>
          <p:cNvPr id="38" name="ch"/>
          <p:cNvSpPr>
            <a:spLocks noGrp="1"/>
          </p:cNvSpPr>
          <p:nvPr/>
        </p:nvSpPr>
        <p:spPr>
          <a:xfrm>
            <a:off x="6583680" y="987552"/>
            <a:ext cx="411480" cy="219456"/>
          </a:xfrm>
          <a:prstGeom prst="rect">
            <a:avLst/>
          </a:prstGeom>
          <a:solidFill>
            <a:srgbClr val="0D1B5E"/>
          </a:solidFill>
          <a:ln>
            <a:noFill/>
          </a:ln>
        </p:spPr>
      </p:sp>
      <p:sp>
        <p:nvSpPr>
          <p:cNvPr id="39" name="cht"/>
          <p:cNvSpPr txBox="1">
            <a:spLocks noGrp="1"/>
          </p:cNvSpPr>
          <p:nvPr/>
        </p:nvSpPr>
        <p:spPr>
          <a:xfrm>
            <a:off x="6583680" y="98755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580" dirty="0" b="1">
                <a:solidFill>
                  <a:srgbClr val="FFFFFF"/>
                </a:solidFill>
                <a:latin typeface="Calibri"/>
              </a:rPr>
              <a:t>BCO
Emma</a:t>
            </a:r>
          </a:p>
        </p:txBody>
      </p:sp>
      <p:sp>
        <p:nvSpPr>
          <p:cNvPr id="40" name="ch"/>
          <p:cNvSpPr>
            <a:spLocks noGrp="1"/>
          </p:cNvSpPr>
          <p:nvPr/>
        </p:nvSpPr>
        <p:spPr>
          <a:xfrm>
            <a:off x="6995160" y="987552"/>
            <a:ext cx="411480" cy="219456"/>
          </a:xfrm>
          <a:prstGeom prst="rect">
            <a:avLst/>
          </a:prstGeom>
          <a:solidFill>
            <a:srgbClr val="0D1B5E"/>
          </a:solidFill>
          <a:ln>
            <a:noFill/>
          </a:ln>
        </p:spPr>
      </p:sp>
      <p:sp>
        <p:nvSpPr>
          <p:cNvPr id="41" name="cht"/>
          <p:cNvSpPr txBox="1">
            <a:spLocks noGrp="1"/>
          </p:cNvSpPr>
          <p:nvPr/>
        </p:nvSpPr>
        <p:spPr>
          <a:xfrm>
            <a:off x="6995160" y="98755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580" dirty="0" b="1">
                <a:solidFill>
                  <a:srgbClr val="FFFFFF"/>
                </a:solidFill>
                <a:latin typeface="Calibri"/>
              </a:rPr>
              <a:t>BCO
iSeries</a:t>
            </a:r>
          </a:p>
        </p:txBody>
      </p:sp>
      <p:sp>
        <p:nvSpPr>
          <p:cNvPr id="42" name="ch"/>
          <p:cNvSpPr>
            <a:spLocks noGrp="1"/>
          </p:cNvSpPr>
          <p:nvPr/>
        </p:nvSpPr>
        <p:spPr>
          <a:xfrm>
            <a:off x="7406640" y="987552"/>
            <a:ext cx="411480" cy="219456"/>
          </a:xfrm>
          <a:prstGeom prst="rect">
            <a:avLst/>
          </a:prstGeom>
          <a:solidFill>
            <a:srgbClr val="0E6B3C"/>
          </a:solidFill>
          <a:ln>
            <a:noFill/>
          </a:ln>
        </p:spPr>
      </p:sp>
      <p:sp>
        <p:nvSpPr>
          <p:cNvPr id="43" name="cht"/>
          <p:cNvSpPr txBox="1">
            <a:spLocks noGrp="1"/>
          </p:cNvSpPr>
          <p:nvPr/>
        </p:nvSpPr>
        <p:spPr>
          <a:xfrm>
            <a:off x="7406640" y="98755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580" dirty="0" b="1">
                <a:solidFill>
                  <a:srgbClr val="FFFFFF"/>
                </a:solidFill>
                <a:latin typeface="Calibri"/>
              </a:rPr>
              <a:t>MEDI-
CAR</a:t>
            </a:r>
          </a:p>
        </p:txBody>
      </p:sp>
      <p:sp>
        <p:nvSpPr>
          <p:cNvPr id="100" name="cb"/>
          <p:cNvSpPr>
            <a:spLocks noGrp="1"/>
          </p:cNvSpPr>
          <p:nvPr/>
        </p:nvSpPr>
        <p:spPr>
          <a:xfrm>
            <a:off x="320040" y="1207008"/>
            <a:ext cx="402336" cy="219456"/>
          </a:xfrm>
          <a:prstGeom prst="rect">
            <a:avLst/>
          </a:prstGeom>
          <a:solidFill>
            <a:srgbClr val="EEF2FF"/>
          </a:solidFill>
          <a:ln w="6350">
            <a:solidFill>
              <a:srgbClr val="C8D6E8"/>
            </a:solidFill>
          </a:ln>
        </p:spPr>
      </p:sp>
      <p:sp>
        <p:nvSpPr>
          <p:cNvPr id="101" name="ct"/>
          <p:cNvSpPr txBox="1">
            <a:spLocks noGrp="1"/>
          </p:cNvSpPr>
          <p:nvPr/>
        </p:nvSpPr>
        <p:spPr>
          <a:xfrm>
            <a:off x="320040" y="1207008"/>
            <a:ext cx="402336" cy="219456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580" dirty="0" b="1">
                <a:solidFill>
                  <a:srgbClr val="0D1B5E"/>
                </a:solidFill>
                <a:latin typeface="Calibri"/>
              </a:rPr>
              <a:t>GOB</a:t>
            </a:r>
          </a:p>
        </p:txBody>
      </p:sp>
      <p:sp>
        <p:nvSpPr>
          <p:cNvPr id="102" name="db"/>
          <p:cNvSpPr>
            <a:spLocks noGrp="1"/>
          </p:cNvSpPr>
          <p:nvPr/>
        </p:nvSpPr>
        <p:spPr>
          <a:xfrm>
            <a:off x="722376" y="1207008"/>
            <a:ext cx="2157984" cy="219456"/>
          </a:xfrm>
          <a:prstGeom prst="rect">
            <a:avLst/>
          </a:prstGeom>
          <a:solidFill>
            <a:srgbClr val="EEF2FF"/>
          </a:solidFill>
          <a:ln w="6350">
            <a:solidFill>
              <a:srgbClr val="C8D6E8"/>
            </a:solidFill>
          </a:ln>
        </p:spPr>
      </p:sp>
      <p:sp>
        <p:nvSpPr>
          <p:cNvPr id="103" name="dt"/>
          <p:cNvSpPr txBox="1">
            <a:spLocks noGrp="1"/>
          </p:cNvSpPr>
          <p:nvPr/>
        </p:nvSpPr>
        <p:spPr>
          <a:xfrm>
            <a:off x="777240" y="1207008"/>
            <a:ext cx="2048256" cy="219456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l"/>
            <a:r>
              <a:rPr lang="es-ES" sz="760" dirty="0">
                <a:solidFill>
                  <a:srgbClr val="0D1B5E"/>
                </a:solidFill>
                <a:latin typeface="Calibri"/>
              </a:rPr>
              <a:t>Sin RACI ni roles definidos</a:t>
            </a:r>
          </a:p>
        </p:txBody>
      </p:sp>
      <p:sp>
        <p:nvSpPr>
          <p:cNvPr id="104" name="c"/>
          <p:cNvSpPr>
            <a:spLocks noGrp="1"/>
          </p:cNvSpPr>
          <p:nvPr/>
        </p:nvSpPr>
        <p:spPr>
          <a:xfrm>
            <a:off x="2880360" y="1207008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105" name="ct2"/>
          <p:cNvSpPr txBox="1">
            <a:spLocks noGrp="1"/>
          </p:cNvSpPr>
          <p:nvPr/>
        </p:nvSpPr>
        <p:spPr>
          <a:xfrm>
            <a:off x="2880360" y="1207008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1000" dirty="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105" name="c"/>
          <p:cNvSpPr>
            <a:spLocks noGrp="1"/>
          </p:cNvSpPr>
          <p:nvPr/>
        </p:nvSpPr>
        <p:spPr>
          <a:xfrm>
            <a:off x="3291840" y="1207008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106" name="ct2"/>
          <p:cNvSpPr txBox="1">
            <a:spLocks noGrp="1"/>
          </p:cNvSpPr>
          <p:nvPr/>
        </p:nvSpPr>
        <p:spPr>
          <a:xfrm>
            <a:off x="3291840" y="1207008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1000" dirty="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106" name="c"/>
          <p:cNvSpPr>
            <a:spLocks noGrp="1"/>
          </p:cNvSpPr>
          <p:nvPr/>
        </p:nvSpPr>
        <p:spPr>
          <a:xfrm>
            <a:off x="3703320" y="1207008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107" name="ct2"/>
          <p:cNvSpPr txBox="1">
            <a:spLocks noGrp="1"/>
          </p:cNvSpPr>
          <p:nvPr/>
        </p:nvSpPr>
        <p:spPr>
          <a:xfrm>
            <a:off x="3703320" y="1207008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1000" dirty="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107" name="c"/>
          <p:cNvSpPr>
            <a:spLocks noGrp="1"/>
          </p:cNvSpPr>
          <p:nvPr/>
        </p:nvSpPr>
        <p:spPr>
          <a:xfrm>
            <a:off x="4114800" y="1207008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108" name="ct2"/>
          <p:cNvSpPr txBox="1">
            <a:spLocks noGrp="1"/>
          </p:cNvSpPr>
          <p:nvPr/>
        </p:nvSpPr>
        <p:spPr>
          <a:xfrm>
            <a:off x="4114800" y="1207008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1000" dirty="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108" name="c"/>
          <p:cNvSpPr>
            <a:spLocks noGrp="1"/>
          </p:cNvSpPr>
          <p:nvPr/>
        </p:nvSpPr>
        <p:spPr>
          <a:xfrm>
            <a:off x="4526280" y="1207008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109" name="ct2"/>
          <p:cNvSpPr txBox="1">
            <a:spLocks noGrp="1"/>
          </p:cNvSpPr>
          <p:nvPr/>
        </p:nvSpPr>
        <p:spPr>
          <a:xfrm>
            <a:off x="4526280" y="1207008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1000" dirty="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109" name="c"/>
          <p:cNvSpPr>
            <a:spLocks noGrp="1"/>
          </p:cNvSpPr>
          <p:nvPr/>
        </p:nvSpPr>
        <p:spPr>
          <a:xfrm>
            <a:off x="4937760" y="1207008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110" name="ct2"/>
          <p:cNvSpPr txBox="1">
            <a:spLocks noGrp="1"/>
          </p:cNvSpPr>
          <p:nvPr/>
        </p:nvSpPr>
        <p:spPr>
          <a:xfrm>
            <a:off x="4937760" y="1207008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1000" dirty="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110" name="c"/>
          <p:cNvSpPr>
            <a:spLocks noGrp="1"/>
          </p:cNvSpPr>
          <p:nvPr/>
        </p:nvSpPr>
        <p:spPr>
          <a:xfrm>
            <a:off x="5349240" y="1207008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111" name="ct2"/>
          <p:cNvSpPr txBox="1">
            <a:spLocks noGrp="1"/>
          </p:cNvSpPr>
          <p:nvPr/>
        </p:nvSpPr>
        <p:spPr>
          <a:xfrm>
            <a:off x="5349240" y="1207008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1000" dirty="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111" name="c"/>
          <p:cNvSpPr>
            <a:spLocks noGrp="1"/>
          </p:cNvSpPr>
          <p:nvPr/>
        </p:nvSpPr>
        <p:spPr>
          <a:xfrm>
            <a:off x="5760720" y="1207008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112" name="ct2"/>
          <p:cNvSpPr txBox="1">
            <a:spLocks noGrp="1"/>
          </p:cNvSpPr>
          <p:nvPr/>
        </p:nvSpPr>
        <p:spPr>
          <a:xfrm>
            <a:off x="5760720" y="1207008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1000" dirty="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112" name="c"/>
          <p:cNvSpPr>
            <a:spLocks noGrp="1"/>
          </p:cNvSpPr>
          <p:nvPr/>
        </p:nvSpPr>
        <p:spPr>
          <a:xfrm>
            <a:off x="6172200" y="1207008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113" name="ct2"/>
          <p:cNvSpPr txBox="1">
            <a:spLocks noGrp="1"/>
          </p:cNvSpPr>
          <p:nvPr/>
        </p:nvSpPr>
        <p:spPr>
          <a:xfrm>
            <a:off x="6172200" y="1207008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1000" dirty="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113" name="c"/>
          <p:cNvSpPr>
            <a:spLocks noGrp="1"/>
          </p:cNvSpPr>
          <p:nvPr/>
        </p:nvSpPr>
        <p:spPr>
          <a:xfrm>
            <a:off x="6583680" y="1207008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114" name="ct2"/>
          <p:cNvSpPr txBox="1">
            <a:spLocks noGrp="1"/>
          </p:cNvSpPr>
          <p:nvPr/>
        </p:nvSpPr>
        <p:spPr>
          <a:xfrm>
            <a:off x="6583680" y="1207008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1000" dirty="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114" name="c"/>
          <p:cNvSpPr>
            <a:spLocks noGrp="1"/>
          </p:cNvSpPr>
          <p:nvPr/>
        </p:nvSpPr>
        <p:spPr>
          <a:xfrm>
            <a:off x="6995160" y="1207008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115" name="ct2"/>
          <p:cNvSpPr txBox="1">
            <a:spLocks noGrp="1"/>
          </p:cNvSpPr>
          <p:nvPr/>
        </p:nvSpPr>
        <p:spPr>
          <a:xfrm>
            <a:off x="6995160" y="1207008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1000" dirty="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115" name="c"/>
          <p:cNvSpPr>
            <a:spLocks noGrp="1"/>
          </p:cNvSpPr>
          <p:nvPr/>
        </p:nvSpPr>
        <p:spPr>
          <a:xfrm>
            <a:off x="7406640" y="1207008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116" name="ct2"/>
          <p:cNvSpPr txBox="1">
            <a:spLocks noGrp="1"/>
          </p:cNvSpPr>
          <p:nvPr/>
        </p:nvSpPr>
        <p:spPr>
          <a:xfrm>
            <a:off x="7406640" y="1207008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1000" dirty="0" b="1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112" name="db"/>
          <p:cNvSpPr>
            <a:spLocks noGrp="1"/>
          </p:cNvSpPr>
          <p:nvPr/>
        </p:nvSpPr>
        <p:spPr>
          <a:xfrm>
            <a:off x="722376" y="1426464"/>
            <a:ext cx="2157984" cy="219456"/>
          </a:xfrm>
          <a:prstGeom prst="rect">
            <a:avLst/>
          </a:prstGeom>
          <a:solidFill>
            <a:srgbClr val="EEF2FF"/>
          </a:solidFill>
          <a:ln w="6350">
            <a:solidFill>
              <a:srgbClr val="C8D6E8"/>
            </a:solidFill>
          </a:ln>
        </p:spPr>
      </p:sp>
      <p:sp>
        <p:nvSpPr>
          <p:cNvPr id="113" name="dt"/>
          <p:cNvSpPr txBox="1">
            <a:spLocks noGrp="1"/>
          </p:cNvSpPr>
          <p:nvPr/>
        </p:nvSpPr>
        <p:spPr>
          <a:xfrm>
            <a:off x="777240" y="1426464"/>
            <a:ext cx="2048256" cy="219456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l"/>
            <a:r>
              <a:rPr lang="es-ES" sz="760" dirty="0">
                <a:solidFill>
                  <a:srgbClr val="0D1B5E"/>
                </a:solidFill>
                <a:latin typeface="Calibri"/>
              </a:rPr>
              <a:t>Sin gobierno — sin ANS formales</a:t>
            </a:r>
          </a:p>
        </p:txBody>
      </p:sp>
      <p:sp>
        <p:nvSpPr>
          <p:cNvPr id="114" name="c"/>
          <p:cNvSpPr>
            <a:spLocks noGrp="1"/>
          </p:cNvSpPr>
          <p:nvPr/>
        </p:nvSpPr>
        <p:spPr>
          <a:xfrm>
            <a:off x="2880360" y="1426464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115" name="ct2"/>
          <p:cNvSpPr txBox="1">
            <a:spLocks noGrp="1"/>
          </p:cNvSpPr>
          <p:nvPr/>
        </p:nvSpPr>
        <p:spPr>
          <a:xfrm>
            <a:off x="2880360" y="1426464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1000" dirty="0" b="1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115" name="c"/>
          <p:cNvSpPr>
            <a:spLocks noGrp="1"/>
          </p:cNvSpPr>
          <p:nvPr/>
        </p:nvSpPr>
        <p:spPr>
          <a:xfrm>
            <a:off x="3291840" y="1426464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116" name="ct2"/>
          <p:cNvSpPr txBox="1">
            <a:spLocks noGrp="1"/>
          </p:cNvSpPr>
          <p:nvPr/>
        </p:nvSpPr>
        <p:spPr>
          <a:xfrm>
            <a:off x="3291840" y="1426464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1000" dirty="0" b="1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116" name="c"/>
          <p:cNvSpPr>
            <a:spLocks noGrp="1"/>
          </p:cNvSpPr>
          <p:nvPr/>
        </p:nvSpPr>
        <p:spPr>
          <a:xfrm>
            <a:off x="3703320" y="1426464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117" name="ct2"/>
          <p:cNvSpPr txBox="1">
            <a:spLocks noGrp="1"/>
          </p:cNvSpPr>
          <p:nvPr/>
        </p:nvSpPr>
        <p:spPr>
          <a:xfrm>
            <a:off x="3703320" y="1426464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1000" dirty="0" b="1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117" name="c"/>
          <p:cNvSpPr>
            <a:spLocks noGrp="1"/>
          </p:cNvSpPr>
          <p:nvPr/>
        </p:nvSpPr>
        <p:spPr>
          <a:xfrm>
            <a:off x="4114800" y="1426464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118" name="ct2"/>
          <p:cNvSpPr txBox="1">
            <a:spLocks noGrp="1"/>
          </p:cNvSpPr>
          <p:nvPr/>
        </p:nvSpPr>
        <p:spPr>
          <a:xfrm>
            <a:off x="4114800" y="1426464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1000" dirty="0" b="1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118" name="c"/>
          <p:cNvSpPr>
            <a:spLocks noGrp="1"/>
          </p:cNvSpPr>
          <p:nvPr/>
        </p:nvSpPr>
        <p:spPr>
          <a:xfrm>
            <a:off x="4526280" y="1426464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119" name="ct2"/>
          <p:cNvSpPr txBox="1">
            <a:spLocks noGrp="1"/>
          </p:cNvSpPr>
          <p:nvPr/>
        </p:nvSpPr>
        <p:spPr>
          <a:xfrm>
            <a:off x="4526280" y="1426464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1000" dirty="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119" name="c"/>
          <p:cNvSpPr>
            <a:spLocks noGrp="1"/>
          </p:cNvSpPr>
          <p:nvPr/>
        </p:nvSpPr>
        <p:spPr>
          <a:xfrm>
            <a:off x="4937760" y="1426464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120" name="ct2"/>
          <p:cNvSpPr txBox="1">
            <a:spLocks noGrp="1"/>
          </p:cNvSpPr>
          <p:nvPr/>
        </p:nvSpPr>
        <p:spPr>
          <a:xfrm>
            <a:off x="4937760" y="1426464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1000" dirty="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120" name="c"/>
          <p:cNvSpPr>
            <a:spLocks noGrp="1"/>
          </p:cNvSpPr>
          <p:nvPr/>
        </p:nvSpPr>
        <p:spPr>
          <a:xfrm>
            <a:off x="5349240" y="1426464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121" name="ct2"/>
          <p:cNvSpPr txBox="1">
            <a:spLocks noGrp="1"/>
          </p:cNvSpPr>
          <p:nvPr/>
        </p:nvSpPr>
        <p:spPr>
          <a:xfrm>
            <a:off x="5349240" y="1426464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1000" dirty="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121" name="c"/>
          <p:cNvSpPr>
            <a:spLocks noGrp="1"/>
          </p:cNvSpPr>
          <p:nvPr/>
        </p:nvSpPr>
        <p:spPr>
          <a:xfrm>
            <a:off x="5760720" y="1426464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122" name="ct2"/>
          <p:cNvSpPr txBox="1">
            <a:spLocks noGrp="1"/>
          </p:cNvSpPr>
          <p:nvPr/>
        </p:nvSpPr>
        <p:spPr>
          <a:xfrm>
            <a:off x="5760720" y="1426464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1000" dirty="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122" name="c"/>
          <p:cNvSpPr>
            <a:spLocks noGrp="1"/>
          </p:cNvSpPr>
          <p:nvPr/>
        </p:nvSpPr>
        <p:spPr>
          <a:xfrm>
            <a:off x="6172200" y="1426464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123" name="ct2"/>
          <p:cNvSpPr txBox="1">
            <a:spLocks noGrp="1"/>
          </p:cNvSpPr>
          <p:nvPr/>
        </p:nvSpPr>
        <p:spPr>
          <a:xfrm>
            <a:off x="6172200" y="1426464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1000" dirty="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123" name="c"/>
          <p:cNvSpPr>
            <a:spLocks noGrp="1"/>
          </p:cNvSpPr>
          <p:nvPr/>
        </p:nvSpPr>
        <p:spPr>
          <a:xfrm>
            <a:off x="6583680" y="1426464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124" name="ct2"/>
          <p:cNvSpPr txBox="1">
            <a:spLocks noGrp="1"/>
          </p:cNvSpPr>
          <p:nvPr/>
        </p:nvSpPr>
        <p:spPr>
          <a:xfrm>
            <a:off x="6583680" y="1426464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1000" dirty="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124" name="c"/>
          <p:cNvSpPr>
            <a:spLocks noGrp="1"/>
          </p:cNvSpPr>
          <p:nvPr/>
        </p:nvSpPr>
        <p:spPr>
          <a:xfrm>
            <a:off x="6995160" y="1426464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125" name="ct2"/>
          <p:cNvSpPr txBox="1">
            <a:spLocks noGrp="1"/>
          </p:cNvSpPr>
          <p:nvPr/>
        </p:nvSpPr>
        <p:spPr>
          <a:xfrm>
            <a:off x="6995160" y="1426464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1000" dirty="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125" name="c"/>
          <p:cNvSpPr>
            <a:spLocks noGrp="1"/>
          </p:cNvSpPr>
          <p:nvPr/>
        </p:nvSpPr>
        <p:spPr>
          <a:xfrm>
            <a:off x="7406640" y="1426464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126" name="ct2"/>
          <p:cNvSpPr txBox="1">
            <a:spLocks noGrp="1"/>
          </p:cNvSpPr>
          <p:nvPr/>
        </p:nvSpPr>
        <p:spPr>
          <a:xfrm>
            <a:off x="7406640" y="1426464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1000" dirty="0" b="1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122" name="db"/>
          <p:cNvSpPr>
            <a:spLocks noGrp="1"/>
          </p:cNvSpPr>
          <p:nvPr/>
        </p:nvSpPr>
        <p:spPr>
          <a:xfrm>
            <a:off x="722376" y="1645920"/>
            <a:ext cx="2157984" cy="219456"/>
          </a:xfrm>
          <a:prstGeom prst="rect">
            <a:avLst/>
          </a:prstGeom>
          <a:solidFill>
            <a:srgbClr val="EEF2FF"/>
          </a:solidFill>
          <a:ln w="6350">
            <a:solidFill>
              <a:srgbClr val="C8D6E8"/>
            </a:solidFill>
          </a:ln>
        </p:spPr>
      </p:sp>
      <p:sp>
        <p:nvSpPr>
          <p:cNvPr id="123" name="dt"/>
          <p:cNvSpPr txBox="1">
            <a:spLocks noGrp="1"/>
          </p:cNvSpPr>
          <p:nvPr/>
        </p:nvSpPr>
        <p:spPr>
          <a:xfrm>
            <a:off x="777240" y="1645920"/>
            <a:ext cx="2048256" cy="219456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l"/>
            <a:r>
              <a:rPr lang="es-ES" sz="760" dirty="0">
                <a:solidFill>
                  <a:srgbClr val="0D1B5E"/>
                </a:solidFill>
                <a:latin typeface="Calibri"/>
              </a:rPr>
              <a:t>Catalogo de servicios desactualizado</a:t>
            </a:r>
          </a:p>
        </p:txBody>
      </p:sp>
      <p:sp>
        <p:nvSpPr>
          <p:cNvPr id="124" name="c"/>
          <p:cNvSpPr>
            <a:spLocks noGrp="1"/>
          </p:cNvSpPr>
          <p:nvPr/>
        </p:nvSpPr>
        <p:spPr>
          <a:xfrm>
            <a:off x="2880360" y="1645920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125" name="ct2"/>
          <p:cNvSpPr txBox="1">
            <a:spLocks noGrp="1"/>
          </p:cNvSpPr>
          <p:nvPr/>
        </p:nvSpPr>
        <p:spPr>
          <a:xfrm>
            <a:off x="2880360" y="1645920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1000" dirty="0" b="1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125" name="c"/>
          <p:cNvSpPr>
            <a:spLocks noGrp="1"/>
          </p:cNvSpPr>
          <p:nvPr/>
        </p:nvSpPr>
        <p:spPr>
          <a:xfrm>
            <a:off x="3291840" y="1645920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126" name="ct2"/>
          <p:cNvSpPr txBox="1">
            <a:spLocks noGrp="1"/>
          </p:cNvSpPr>
          <p:nvPr/>
        </p:nvSpPr>
        <p:spPr>
          <a:xfrm>
            <a:off x="3291840" y="1645920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1000" dirty="0" b="1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126" name="c"/>
          <p:cNvSpPr>
            <a:spLocks noGrp="1"/>
          </p:cNvSpPr>
          <p:nvPr/>
        </p:nvSpPr>
        <p:spPr>
          <a:xfrm>
            <a:off x="3703320" y="1645920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127" name="ct2"/>
          <p:cNvSpPr txBox="1">
            <a:spLocks noGrp="1"/>
          </p:cNvSpPr>
          <p:nvPr/>
        </p:nvSpPr>
        <p:spPr>
          <a:xfrm>
            <a:off x="3703320" y="1645920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1000" dirty="0" b="1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127" name="c"/>
          <p:cNvSpPr>
            <a:spLocks noGrp="1"/>
          </p:cNvSpPr>
          <p:nvPr/>
        </p:nvSpPr>
        <p:spPr>
          <a:xfrm>
            <a:off x="4114800" y="1645920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128" name="ct2"/>
          <p:cNvSpPr txBox="1">
            <a:spLocks noGrp="1"/>
          </p:cNvSpPr>
          <p:nvPr/>
        </p:nvSpPr>
        <p:spPr>
          <a:xfrm>
            <a:off x="4114800" y="1645920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1000" dirty="0" b="1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128" name="c"/>
          <p:cNvSpPr>
            <a:spLocks noGrp="1"/>
          </p:cNvSpPr>
          <p:nvPr/>
        </p:nvSpPr>
        <p:spPr>
          <a:xfrm>
            <a:off x="4526280" y="1645920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129" name="ct2"/>
          <p:cNvSpPr txBox="1">
            <a:spLocks noGrp="1"/>
          </p:cNvSpPr>
          <p:nvPr/>
        </p:nvSpPr>
        <p:spPr>
          <a:xfrm>
            <a:off x="4526280" y="1645920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1000" dirty="0" b="1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129" name="c"/>
          <p:cNvSpPr>
            <a:spLocks noGrp="1"/>
          </p:cNvSpPr>
          <p:nvPr/>
        </p:nvSpPr>
        <p:spPr>
          <a:xfrm>
            <a:off x="4937760" y="1645920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130" name="ct2"/>
          <p:cNvSpPr txBox="1">
            <a:spLocks noGrp="1"/>
          </p:cNvSpPr>
          <p:nvPr/>
        </p:nvSpPr>
        <p:spPr>
          <a:xfrm>
            <a:off x="4937760" y="1645920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1000" dirty="0" b="1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130" name="c"/>
          <p:cNvSpPr>
            <a:spLocks noGrp="1"/>
          </p:cNvSpPr>
          <p:nvPr/>
        </p:nvSpPr>
        <p:spPr>
          <a:xfrm>
            <a:off x="5349240" y="1645920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131" name="ct2"/>
          <p:cNvSpPr txBox="1">
            <a:spLocks noGrp="1"/>
          </p:cNvSpPr>
          <p:nvPr/>
        </p:nvSpPr>
        <p:spPr>
          <a:xfrm>
            <a:off x="5349240" y="1645920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1000" dirty="0" b="1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131" name="c"/>
          <p:cNvSpPr>
            <a:spLocks noGrp="1"/>
          </p:cNvSpPr>
          <p:nvPr/>
        </p:nvSpPr>
        <p:spPr>
          <a:xfrm>
            <a:off x="5760720" y="1645920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132" name="ct2"/>
          <p:cNvSpPr txBox="1">
            <a:spLocks noGrp="1"/>
          </p:cNvSpPr>
          <p:nvPr/>
        </p:nvSpPr>
        <p:spPr>
          <a:xfrm>
            <a:off x="5760720" y="1645920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1000" dirty="0" b="1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132" name="c"/>
          <p:cNvSpPr>
            <a:spLocks noGrp="1"/>
          </p:cNvSpPr>
          <p:nvPr/>
        </p:nvSpPr>
        <p:spPr>
          <a:xfrm>
            <a:off x="6172200" y="1645920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133" name="ct2"/>
          <p:cNvSpPr txBox="1">
            <a:spLocks noGrp="1"/>
          </p:cNvSpPr>
          <p:nvPr/>
        </p:nvSpPr>
        <p:spPr>
          <a:xfrm>
            <a:off x="6172200" y="1645920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1000" dirty="0" b="1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133" name="c"/>
          <p:cNvSpPr>
            <a:spLocks noGrp="1"/>
          </p:cNvSpPr>
          <p:nvPr/>
        </p:nvSpPr>
        <p:spPr>
          <a:xfrm>
            <a:off x="6583680" y="1645920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134" name="ct2"/>
          <p:cNvSpPr txBox="1">
            <a:spLocks noGrp="1"/>
          </p:cNvSpPr>
          <p:nvPr/>
        </p:nvSpPr>
        <p:spPr>
          <a:xfrm>
            <a:off x="6583680" y="1645920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1000" dirty="0" b="1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134" name="c"/>
          <p:cNvSpPr>
            <a:spLocks noGrp="1"/>
          </p:cNvSpPr>
          <p:nvPr/>
        </p:nvSpPr>
        <p:spPr>
          <a:xfrm>
            <a:off x="6995160" y="1645920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135" name="ct2"/>
          <p:cNvSpPr txBox="1">
            <a:spLocks noGrp="1"/>
          </p:cNvSpPr>
          <p:nvPr/>
        </p:nvSpPr>
        <p:spPr>
          <a:xfrm>
            <a:off x="6995160" y="1645920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1000" dirty="0" b="1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135" name="c"/>
          <p:cNvSpPr>
            <a:spLocks noGrp="1"/>
          </p:cNvSpPr>
          <p:nvPr/>
        </p:nvSpPr>
        <p:spPr>
          <a:xfrm>
            <a:off x="7406640" y="1645920"/>
            <a:ext cx="411480" cy="219456"/>
          </a:xfrm>
          <a:prstGeom prst="rect">
            <a:avLst/>
          </a:prstGeom>
          <a:solidFill>
            <a:srgbClr val="F0F4FA"/>
          </a:solidFill>
          <a:ln w="6350">
            <a:solidFill>
              <a:srgbClr val="C8D6E8"/>
            </a:solidFill>
          </a:ln>
        </p:spPr>
      </p:sp>
      <p:sp>
        <p:nvSpPr>
          <p:cNvPr id="136" name="ct2"/>
          <p:cNvSpPr txBox="1">
            <a:spLocks noGrp="1"/>
          </p:cNvSpPr>
          <p:nvPr/>
        </p:nvSpPr>
        <p:spPr>
          <a:xfrm>
            <a:off x="7406640" y="1645920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1000" dirty="0" b="1">
                <a:solidFill>
                  <a:srgbClr val="5A6475"/>
                </a:solidFill>
                <a:latin typeface="Calibri"/>
              </a:rPr>
              <a:t>○</a:t>
            </a:r>
          </a:p>
        </p:txBody>
      </p:sp>
      <p:sp>
        <p:nvSpPr>
          <p:cNvPr id="130" name="cb"/>
          <p:cNvSpPr>
            <a:spLocks noGrp="1"/>
          </p:cNvSpPr>
          <p:nvPr/>
        </p:nvSpPr>
        <p:spPr>
          <a:xfrm>
            <a:off x="320040" y="1865376"/>
            <a:ext cx="402336" cy="219456"/>
          </a:xfrm>
          <a:prstGeom prst="rect">
            <a:avLst/>
          </a:prstGeom>
          <a:solidFill>
            <a:srgbClr val="EBF4FF"/>
          </a:solidFill>
          <a:ln w="6350">
            <a:solidFill>
              <a:srgbClr val="C8D6E8"/>
            </a:solidFill>
          </a:ln>
        </p:spPr>
      </p:sp>
      <p:sp>
        <p:nvSpPr>
          <p:cNvPr id="131" name="ct"/>
          <p:cNvSpPr txBox="1">
            <a:spLocks noGrp="1"/>
          </p:cNvSpPr>
          <p:nvPr/>
        </p:nvSpPr>
        <p:spPr>
          <a:xfrm>
            <a:off x="320040" y="1865376"/>
            <a:ext cx="402336" cy="219456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580" dirty="0" b="1">
                <a:solidFill>
                  <a:srgbClr val="1A3A8F"/>
                </a:solidFill>
                <a:latin typeface="Calibri"/>
              </a:rPr>
              <a:t>OPS</a:t>
            </a:r>
          </a:p>
        </p:txBody>
      </p:sp>
      <p:sp>
        <p:nvSpPr>
          <p:cNvPr id="132" name="db"/>
          <p:cNvSpPr>
            <a:spLocks noGrp="1"/>
          </p:cNvSpPr>
          <p:nvPr/>
        </p:nvSpPr>
        <p:spPr>
          <a:xfrm>
            <a:off x="722376" y="1865376"/>
            <a:ext cx="2157984" cy="219456"/>
          </a:xfrm>
          <a:prstGeom prst="rect">
            <a:avLst/>
          </a:prstGeom>
          <a:solidFill>
            <a:srgbClr val="EBF4FF"/>
          </a:solidFill>
          <a:ln w="6350">
            <a:solidFill>
              <a:srgbClr val="C8D6E8"/>
            </a:solidFill>
          </a:ln>
        </p:spPr>
      </p:sp>
      <p:sp>
        <p:nvSpPr>
          <p:cNvPr id="133" name="dt"/>
          <p:cNvSpPr txBox="1">
            <a:spLocks noGrp="1"/>
          </p:cNvSpPr>
          <p:nvPr/>
        </p:nvSpPr>
        <p:spPr>
          <a:xfrm>
            <a:off x="777240" y="1865376"/>
            <a:ext cx="2048256" cy="219456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l"/>
            <a:r>
              <a:rPr lang="es-ES" sz="760" dirty="0">
                <a:solidFill>
                  <a:srgbClr val="0D1B5E"/>
                </a:solidFill>
                <a:latin typeface="Calibri"/>
              </a:rPr>
              <a:t>Postura 100% reactiva</a:t>
            </a:r>
          </a:p>
        </p:txBody>
      </p:sp>
      <p:sp>
        <p:nvSpPr>
          <p:cNvPr id="134" name="c"/>
          <p:cNvSpPr>
            <a:spLocks noGrp="1"/>
          </p:cNvSpPr>
          <p:nvPr/>
        </p:nvSpPr>
        <p:spPr>
          <a:xfrm>
            <a:off x="2880360" y="1865376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135" name="ct2"/>
          <p:cNvSpPr txBox="1">
            <a:spLocks noGrp="1"/>
          </p:cNvSpPr>
          <p:nvPr/>
        </p:nvSpPr>
        <p:spPr>
          <a:xfrm>
            <a:off x="2880360" y="1865376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1000" dirty="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135" name="c"/>
          <p:cNvSpPr>
            <a:spLocks noGrp="1"/>
          </p:cNvSpPr>
          <p:nvPr/>
        </p:nvSpPr>
        <p:spPr>
          <a:xfrm>
            <a:off x="3291840" y="1865376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136" name="ct2"/>
          <p:cNvSpPr txBox="1">
            <a:spLocks noGrp="1"/>
          </p:cNvSpPr>
          <p:nvPr/>
        </p:nvSpPr>
        <p:spPr>
          <a:xfrm>
            <a:off x="3291840" y="1865376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1000" dirty="0" b="1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136" name="c"/>
          <p:cNvSpPr>
            <a:spLocks noGrp="1"/>
          </p:cNvSpPr>
          <p:nvPr/>
        </p:nvSpPr>
        <p:spPr>
          <a:xfrm>
            <a:off x="3703320" y="1865376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137" name="ct2"/>
          <p:cNvSpPr txBox="1">
            <a:spLocks noGrp="1"/>
          </p:cNvSpPr>
          <p:nvPr/>
        </p:nvSpPr>
        <p:spPr>
          <a:xfrm>
            <a:off x="3703320" y="1865376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1000" dirty="0" b="1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137" name="c"/>
          <p:cNvSpPr>
            <a:spLocks noGrp="1"/>
          </p:cNvSpPr>
          <p:nvPr/>
        </p:nvSpPr>
        <p:spPr>
          <a:xfrm>
            <a:off x="4114800" y="1865376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138" name="ct2"/>
          <p:cNvSpPr txBox="1">
            <a:spLocks noGrp="1"/>
          </p:cNvSpPr>
          <p:nvPr/>
        </p:nvSpPr>
        <p:spPr>
          <a:xfrm>
            <a:off x="4114800" y="1865376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1000" dirty="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138" name="c"/>
          <p:cNvSpPr>
            <a:spLocks noGrp="1"/>
          </p:cNvSpPr>
          <p:nvPr/>
        </p:nvSpPr>
        <p:spPr>
          <a:xfrm>
            <a:off x="4526280" y="1865376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139" name="ct2"/>
          <p:cNvSpPr txBox="1">
            <a:spLocks noGrp="1"/>
          </p:cNvSpPr>
          <p:nvPr/>
        </p:nvSpPr>
        <p:spPr>
          <a:xfrm>
            <a:off x="4526280" y="1865376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1000" dirty="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139" name="c"/>
          <p:cNvSpPr>
            <a:spLocks noGrp="1"/>
          </p:cNvSpPr>
          <p:nvPr/>
        </p:nvSpPr>
        <p:spPr>
          <a:xfrm>
            <a:off x="4937760" y="1865376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140" name="ct2"/>
          <p:cNvSpPr txBox="1">
            <a:spLocks noGrp="1"/>
          </p:cNvSpPr>
          <p:nvPr/>
        </p:nvSpPr>
        <p:spPr>
          <a:xfrm>
            <a:off x="4937760" y="1865376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1000" dirty="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140" name="c"/>
          <p:cNvSpPr>
            <a:spLocks noGrp="1"/>
          </p:cNvSpPr>
          <p:nvPr/>
        </p:nvSpPr>
        <p:spPr>
          <a:xfrm>
            <a:off x="5349240" y="1865376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141" name="ct2"/>
          <p:cNvSpPr txBox="1">
            <a:spLocks noGrp="1"/>
          </p:cNvSpPr>
          <p:nvPr/>
        </p:nvSpPr>
        <p:spPr>
          <a:xfrm>
            <a:off x="5349240" y="1865376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1000" dirty="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141" name="c"/>
          <p:cNvSpPr>
            <a:spLocks noGrp="1"/>
          </p:cNvSpPr>
          <p:nvPr/>
        </p:nvSpPr>
        <p:spPr>
          <a:xfrm>
            <a:off x="5760720" y="1865376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142" name="ct2"/>
          <p:cNvSpPr txBox="1">
            <a:spLocks noGrp="1"/>
          </p:cNvSpPr>
          <p:nvPr/>
        </p:nvSpPr>
        <p:spPr>
          <a:xfrm>
            <a:off x="5760720" y="1865376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1000" dirty="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142" name="c"/>
          <p:cNvSpPr>
            <a:spLocks noGrp="1"/>
          </p:cNvSpPr>
          <p:nvPr/>
        </p:nvSpPr>
        <p:spPr>
          <a:xfrm>
            <a:off x="6172200" y="1865376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143" name="ct2"/>
          <p:cNvSpPr txBox="1">
            <a:spLocks noGrp="1"/>
          </p:cNvSpPr>
          <p:nvPr/>
        </p:nvSpPr>
        <p:spPr>
          <a:xfrm>
            <a:off x="6172200" y="1865376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1000" dirty="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143" name="c"/>
          <p:cNvSpPr>
            <a:spLocks noGrp="1"/>
          </p:cNvSpPr>
          <p:nvPr/>
        </p:nvSpPr>
        <p:spPr>
          <a:xfrm>
            <a:off x="6583680" y="1865376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144" name="ct2"/>
          <p:cNvSpPr txBox="1">
            <a:spLocks noGrp="1"/>
          </p:cNvSpPr>
          <p:nvPr/>
        </p:nvSpPr>
        <p:spPr>
          <a:xfrm>
            <a:off x="6583680" y="1865376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1000" dirty="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144" name="c"/>
          <p:cNvSpPr>
            <a:spLocks noGrp="1"/>
          </p:cNvSpPr>
          <p:nvPr/>
        </p:nvSpPr>
        <p:spPr>
          <a:xfrm>
            <a:off x="6995160" y="1865376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145" name="ct2"/>
          <p:cNvSpPr txBox="1">
            <a:spLocks noGrp="1"/>
          </p:cNvSpPr>
          <p:nvPr/>
        </p:nvSpPr>
        <p:spPr>
          <a:xfrm>
            <a:off x="6995160" y="1865376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1000" dirty="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145" name="c"/>
          <p:cNvSpPr>
            <a:spLocks noGrp="1"/>
          </p:cNvSpPr>
          <p:nvPr/>
        </p:nvSpPr>
        <p:spPr>
          <a:xfrm>
            <a:off x="7406640" y="1865376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146" name="ct2"/>
          <p:cNvSpPr txBox="1">
            <a:spLocks noGrp="1"/>
          </p:cNvSpPr>
          <p:nvPr/>
        </p:nvSpPr>
        <p:spPr>
          <a:xfrm>
            <a:off x="7406640" y="1865376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1000" dirty="0" b="1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142" name="db"/>
          <p:cNvSpPr>
            <a:spLocks noGrp="1"/>
          </p:cNvSpPr>
          <p:nvPr/>
        </p:nvSpPr>
        <p:spPr>
          <a:xfrm>
            <a:off x="722376" y="2084832"/>
            <a:ext cx="2157984" cy="219456"/>
          </a:xfrm>
          <a:prstGeom prst="rect">
            <a:avLst/>
          </a:prstGeom>
          <a:solidFill>
            <a:srgbClr val="EBF4FF"/>
          </a:solidFill>
          <a:ln w="6350">
            <a:solidFill>
              <a:srgbClr val="C8D6E8"/>
            </a:solidFill>
          </a:ln>
        </p:spPr>
      </p:sp>
      <p:sp>
        <p:nvSpPr>
          <p:cNvPr id="143" name="dt"/>
          <p:cNvSpPr txBox="1">
            <a:spLocks noGrp="1"/>
          </p:cNvSpPr>
          <p:nvPr/>
        </p:nvSpPr>
        <p:spPr>
          <a:xfrm>
            <a:off x="777240" y="2084832"/>
            <a:ext cx="2048256" cy="219456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l"/>
            <a:r>
              <a:rPr lang="es-ES" sz="760" dirty="0">
                <a:solidFill>
                  <a:srgbClr val="0D1B5E"/>
                </a:solidFill>
                <a:latin typeface="Calibri"/>
              </a:rPr>
              <a:t>Sin autoservicio — todo por call</a:t>
            </a:r>
          </a:p>
        </p:txBody>
      </p:sp>
      <p:sp>
        <p:nvSpPr>
          <p:cNvPr id="144" name="c"/>
          <p:cNvSpPr>
            <a:spLocks noGrp="1"/>
          </p:cNvSpPr>
          <p:nvPr/>
        </p:nvSpPr>
        <p:spPr>
          <a:xfrm>
            <a:off x="2880360" y="2084832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145" name="ct2"/>
          <p:cNvSpPr txBox="1">
            <a:spLocks noGrp="1"/>
          </p:cNvSpPr>
          <p:nvPr/>
        </p:nvSpPr>
        <p:spPr>
          <a:xfrm>
            <a:off x="2880360" y="208483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1000" dirty="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145" name="c"/>
          <p:cNvSpPr>
            <a:spLocks noGrp="1"/>
          </p:cNvSpPr>
          <p:nvPr/>
        </p:nvSpPr>
        <p:spPr>
          <a:xfrm>
            <a:off x="3291840" y="2084832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146" name="ct2"/>
          <p:cNvSpPr txBox="1">
            <a:spLocks noGrp="1"/>
          </p:cNvSpPr>
          <p:nvPr/>
        </p:nvSpPr>
        <p:spPr>
          <a:xfrm>
            <a:off x="3291840" y="208483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1000" dirty="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146" name="c"/>
          <p:cNvSpPr>
            <a:spLocks noGrp="1"/>
          </p:cNvSpPr>
          <p:nvPr/>
        </p:nvSpPr>
        <p:spPr>
          <a:xfrm>
            <a:off x="3703320" y="2084832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147" name="ct2"/>
          <p:cNvSpPr txBox="1">
            <a:spLocks noGrp="1"/>
          </p:cNvSpPr>
          <p:nvPr/>
        </p:nvSpPr>
        <p:spPr>
          <a:xfrm>
            <a:off x="3703320" y="208483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1000" dirty="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147" name="c"/>
          <p:cNvSpPr>
            <a:spLocks noGrp="1"/>
          </p:cNvSpPr>
          <p:nvPr/>
        </p:nvSpPr>
        <p:spPr>
          <a:xfrm>
            <a:off x="4114800" y="2084832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148" name="ct2"/>
          <p:cNvSpPr txBox="1">
            <a:spLocks noGrp="1"/>
          </p:cNvSpPr>
          <p:nvPr/>
        </p:nvSpPr>
        <p:spPr>
          <a:xfrm>
            <a:off x="4114800" y="208483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1000" dirty="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148" name="c"/>
          <p:cNvSpPr>
            <a:spLocks noGrp="1"/>
          </p:cNvSpPr>
          <p:nvPr/>
        </p:nvSpPr>
        <p:spPr>
          <a:xfrm>
            <a:off x="4526280" y="2084832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149" name="ct2"/>
          <p:cNvSpPr txBox="1">
            <a:spLocks noGrp="1"/>
          </p:cNvSpPr>
          <p:nvPr/>
        </p:nvSpPr>
        <p:spPr>
          <a:xfrm>
            <a:off x="4526280" y="208483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1000" dirty="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149" name="c"/>
          <p:cNvSpPr>
            <a:spLocks noGrp="1"/>
          </p:cNvSpPr>
          <p:nvPr/>
        </p:nvSpPr>
        <p:spPr>
          <a:xfrm>
            <a:off x="4937760" y="2084832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150" name="ct2"/>
          <p:cNvSpPr txBox="1">
            <a:spLocks noGrp="1"/>
          </p:cNvSpPr>
          <p:nvPr/>
        </p:nvSpPr>
        <p:spPr>
          <a:xfrm>
            <a:off x="4937760" y="208483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1000" dirty="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150" name="c"/>
          <p:cNvSpPr>
            <a:spLocks noGrp="1"/>
          </p:cNvSpPr>
          <p:nvPr/>
        </p:nvSpPr>
        <p:spPr>
          <a:xfrm>
            <a:off x="5349240" y="2084832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151" name="ct2"/>
          <p:cNvSpPr txBox="1">
            <a:spLocks noGrp="1"/>
          </p:cNvSpPr>
          <p:nvPr/>
        </p:nvSpPr>
        <p:spPr>
          <a:xfrm>
            <a:off x="5349240" y="208483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1000" dirty="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151" name="c"/>
          <p:cNvSpPr>
            <a:spLocks noGrp="1"/>
          </p:cNvSpPr>
          <p:nvPr/>
        </p:nvSpPr>
        <p:spPr>
          <a:xfrm>
            <a:off x="5760720" y="2084832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152" name="ct2"/>
          <p:cNvSpPr txBox="1">
            <a:spLocks noGrp="1"/>
          </p:cNvSpPr>
          <p:nvPr/>
        </p:nvSpPr>
        <p:spPr>
          <a:xfrm>
            <a:off x="5760720" y="208483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1000" dirty="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152" name="c"/>
          <p:cNvSpPr>
            <a:spLocks noGrp="1"/>
          </p:cNvSpPr>
          <p:nvPr/>
        </p:nvSpPr>
        <p:spPr>
          <a:xfrm>
            <a:off x="6172200" y="2084832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153" name="ct2"/>
          <p:cNvSpPr txBox="1">
            <a:spLocks noGrp="1"/>
          </p:cNvSpPr>
          <p:nvPr/>
        </p:nvSpPr>
        <p:spPr>
          <a:xfrm>
            <a:off x="6172200" y="208483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1000" dirty="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153" name="c"/>
          <p:cNvSpPr>
            <a:spLocks noGrp="1"/>
          </p:cNvSpPr>
          <p:nvPr/>
        </p:nvSpPr>
        <p:spPr>
          <a:xfrm>
            <a:off x="6583680" y="2084832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154" name="ct2"/>
          <p:cNvSpPr txBox="1">
            <a:spLocks noGrp="1"/>
          </p:cNvSpPr>
          <p:nvPr/>
        </p:nvSpPr>
        <p:spPr>
          <a:xfrm>
            <a:off x="6583680" y="208483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1000" dirty="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154" name="c"/>
          <p:cNvSpPr>
            <a:spLocks noGrp="1"/>
          </p:cNvSpPr>
          <p:nvPr/>
        </p:nvSpPr>
        <p:spPr>
          <a:xfrm>
            <a:off x="6995160" y="2084832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155" name="ct2"/>
          <p:cNvSpPr txBox="1">
            <a:spLocks noGrp="1"/>
          </p:cNvSpPr>
          <p:nvPr/>
        </p:nvSpPr>
        <p:spPr>
          <a:xfrm>
            <a:off x="6995160" y="208483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1000" dirty="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155" name="c"/>
          <p:cNvSpPr>
            <a:spLocks noGrp="1"/>
          </p:cNvSpPr>
          <p:nvPr/>
        </p:nvSpPr>
        <p:spPr>
          <a:xfrm>
            <a:off x="7406640" y="2084832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156" name="ct2"/>
          <p:cNvSpPr txBox="1">
            <a:spLocks noGrp="1"/>
          </p:cNvSpPr>
          <p:nvPr/>
        </p:nvSpPr>
        <p:spPr>
          <a:xfrm>
            <a:off x="7406640" y="208483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1000" dirty="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152" name="db"/>
          <p:cNvSpPr>
            <a:spLocks noGrp="1"/>
          </p:cNvSpPr>
          <p:nvPr/>
        </p:nvSpPr>
        <p:spPr>
          <a:xfrm>
            <a:off x="722376" y="2304288"/>
            <a:ext cx="2157984" cy="219456"/>
          </a:xfrm>
          <a:prstGeom prst="rect">
            <a:avLst/>
          </a:prstGeom>
          <a:solidFill>
            <a:srgbClr val="EBF4FF"/>
          </a:solidFill>
          <a:ln w="6350">
            <a:solidFill>
              <a:srgbClr val="C8D6E8"/>
            </a:solidFill>
          </a:ln>
        </p:spPr>
      </p:sp>
      <p:sp>
        <p:nvSpPr>
          <p:cNvPr id="153" name="dt"/>
          <p:cNvSpPr txBox="1">
            <a:spLocks noGrp="1"/>
          </p:cNvSpPr>
          <p:nvPr/>
        </p:nvSpPr>
        <p:spPr>
          <a:xfrm>
            <a:off x="777240" y="2304288"/>
            <a:ext cx="2048256" cy="219456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l"/>
            <a:r>
              <a:rPr lang="es-ES" sz="760" dirty="0">
                <a:solidFill>
                  <a:srgbClr val="0D1B5E"/>
                </a:solidFill>
                <a:latin typeface="Calibri"/>
              </a:rPr>
              <a:t>Scope creep — alcance no controlado</a:t>
            </a:r>
          </a:p>
        </p:txBody>
      </p:sp>
      <p:sp>
        <p:nvSpPr>
          <p:cNvPr id="154" name="c"/>
          <p:cNvSpPr>
            <a:spLocks noGrp="1"/>
          </p:cNvSpPr>
          <p:nvPr/>
        </p:nvSpPr>
        <p:spPr>
          <a:xfrm>
            <a:off x="2880360" y="2304288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155" name="ct2"/>
          <p:cNvSpPr txBox="1">
            <a:spLocks noGrp="1"/>
          </p:cNvSpPr>
          <p:nvPr/>
        </p:nvSpPr>
        <p:spPr>
          <a:xfrm>
            <a:off x="2880360" y="2304288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1000" dirty="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155" name="c"/>
          <p:cNvSpPr>
            <a:spLocks noGrp="1"/>
          </p:cNvSpPr>
          <p:nvPr/>
        </p:nvSpPr>
        <p:spPr>
          <a:xfrm>
            <a:off x="3291840" y="2304288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156" name="ct2"/>
          <p:cNvSpPr txBox="1">
            <a:spLocks noGrp="1"/>
          </p:cNvSpPr>
          <p:nvPr/>
        </p:nvSpPr>
        <p:spPr>
          <a:xfrm>
            <a:off x="3291840" y="2304288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1000" dirty="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156" name="c"/>
          <p:cNvSpPr>
            <a:spLocks noGrp="1"/>
          </p:cNvSpPr>
          <p:nvPr/>
        </p:nvSpPr>
        <p:spPr>
          <a:xfrm>
            <a:off x="3703320" y="2304288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157" name="ct2"/>
          <p:cNvSpPr txBox="1">
            <a:spLocks noGrp="1"/>
          </p:cNvSpPr>
          <p:nvPr/>
        </p:nvSpPr>
        <p:spPr>
          <a:xfrm>
            <a:off x="3703320" y="2304288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1000" dirty="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157" name="c"/>
          <p:cNvSpPr>
            <a:spLocks noGrp="1"/>
          </p:cNvSpPr>
          <p:nvPr/>
        </p:nvSpPr>
        <p:spPr>
          <a:xfrm>
            <a:off x="4114800" y="2304288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158" name="ct2"/>
          <p:cNvSpPr txBox="1">
            <a:spLocks noGrp="1"/>
          </p:cNvSpPr>
          <p:nvPr/>
        </p:nvSpPr>
        <p:spPr>
          <a:xfrm>
            <a:off x="4114800" y="2304288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1000" dirty="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158" name="c"/>
          <p:cNvSpPr>
            <a:spLocks noGrp="1"/>
          </p:cNvSpPr>
          <p:nvPr/>
        </p:nvSpPr>
        <p:spPr>
          <a:xfrm>
            <a:off x="4526280" y="2304288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159" name="ct2"/>
          <p:cNvSpPr txBox="1">
            <a:spLocks noGrp="1"/>
          </p:cNvSpPr>
          <p:nvPr/>
        </p:nvSpPr>
        <p:spPr>
          <a:xfrm>
            <a:off x="4526280" y="2304288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1000" dirty="0" b="1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159" name="c"/>
          <p:cNvSpPr>
            <a:spLocks noGrp="1"/>
          </p:cNvSpPr>
          <p:nvPr/>
        </p:nvSpPr>
        <p:spPr>
          <a:xfrm>
            <a:off x="4937760" y="2304288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160" name="ct2"/>
          <p:cNvSpPr txBox="1">
            <a:spLocks noGrp="1"/>
          </p:cNvSpPr>
          <p:nvPr/>
        </p:nvSpPr>
        <p:spPr>
          <a:xfrm>
            <a:off x="4937760" y="2304288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1000" dirty="0" b="1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160" name="c"/>
          <p:cNvSpPr>
            <a:spLocks noGrp="1"/>
          </p:cNvSpPr>
          <p:nvPr/>
        </p:nvSpPr>
        <p:spPr>
          <a:xfrm>
            <a:off x="5349240" y="2304288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161" name="ct2"/>
          <p:cNvSpPr txBox="1">
            <a:spLocks noGrp="1"/>
          </p:cNvSpPr>
          <p:nvPr/>
        </p:nvSpPr>
        <p:spPr>
          <a:xfrm>
            <a:off x="5349240" y="2304288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1000" dirty="0" b="1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161" name="c"/>
          <p:cNvSpPr>
            <a:spLocks noGrp="1"/>
          </p:cNvSpPr>
          <p:nvPr/>
        </p:nvSpPr>
        <p:spPr>
          <a:xfrm>
            <a:off x="5760720" y="2304288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162" name="ct2"/>
          <p:cNvSpPr txBox="1">
            <a:spLocks noGrp="1"/>
          </p:cNvSpPr>
          <p:nvPr/>
        </p:nvSpPr>
        <p:spPr>
          <a:xfrm>
            <a:off x="5760720" y="2304288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1000" dirty="0" b="1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162" name="c"/>
          <p:cNvSpPr>
            <a:spLocks noGrp="1"/>
          </p:cNvSpPr>
          <p:nvPr/>
        </p:nvSpPr>
        <p:spPr>
          <a:xfrm>
            <a:off x="6172200" y="2304288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163" name="ct2"/>
          <p:cNvSpPr txBox="1">
            <a:spLocks noGrp="1"/>
          </p:cNvSpPr>
          <p:nvPr/>
        </p:nvSpPr>
        <p:spPr>
          <a:xfrm>
            <a:off x="6172200" y="2304288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1000" dirty="0" b="1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163" name="c"/>
          <p:cNvSpPr>
            <a:spLocks noGrp="1"/>
          </p:cNvSpPr>
          <p:nvPr/>
        </p:nvSpPr>
        <p:spPr>
          <a:xfrm>
            <a:off x="6583680" y="2304288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164" name="ct2"/>
          <p:cNvSpPr txBox="1">
            <a:spLocks noGrp="1"/>
          </p:cNvSpPr>
          <p:nvPr/>
        </p:nvSpPr>
        <p:spPr>
          <a:xfrm>
            <a:off x="6583680" y="2304288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1000" dirty="0" b="1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164" name="c"/>
          <p:cNvSpPr>
            <a:spLocks noGrp="1"/>
          </p:cNvSpPr>
          <p:nvPr/>
        </p:nvSpPr>
        <p:spPr>
          <a:xfrm>
            <a:off x="6995160" y="2304288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165" name="ct2"/>
          <p:cNvSpPr txBox="1">
            <a:spLocks noGrp="1"/>
          </p:cNvSpPr>
          <p:nvPr/>
        </p:nvSpPr>
        <p:spPr>
          <a:xfrm>
            <a:off x="6995160" y="2304288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1000" dirty="0" b="1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165" name="c"/>
          <p:cNvSpPr>
            <a:spLocks noGrp="1"/>
          </p:cNvSpPr>
          <p:nvPr/>
        </p:nvSpPr>
        <p:spPr>
          <a:xfrm>
            <a:off x="7406640" y="2304288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166" name="ct2"/>
          <p:cNvSpPr txBox="1">
            <a:spLocks noGrp="1"/>
          </p:cNvSpPr>
          <p:nvPr/>
        </p:nvSpPr>
        <p:spPr>
          <a:xfrm>
            <a:off x="7406640" y="2304288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1000" dirty="0" b="1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162" name="db"/>
          <p:cNvSpPr>
            <a:spLocks noGrp="1"/>
          </p:cNvSpPr>
          <p:nvPr/>
        </p:nvSpPr>
        <p:spPr>
          <a:xfrm>
            <a:off x="722376" y="2523744"/>
            <a:ext cx="2157984" cy="219456"/>
          </a:xfrm>
          <a:prstGeom prst="rect">
            <a:avLst/>
          </a:prstGeom>
          <a:solidFill>
            <a:srgbClr val="EBF4FF"/>
          </a:solidFill>
          <a:ln w="6350">
            <a:solidFill>
              <a:srgbClr val="C8D6E8"/>
            </a:solidFill>
          </a:ln>
        </p:spPr>
      </p:sp>
      <p:sp>
        <p:nvSpPr>
          <p:cNvPr id="163" name="dt"/>
          <p:cNvSpPr txBox="1">
            <a:spLocks noGrp="1"/>
          </p:cNvSpPr>
          <p:nvPr/>
        </p:nvSpPr>
        <p:spPr>
          <a:xfrm>
            <a:off x="777240" y="2523744"/>
            <a:ext cx="2048256" cy="219456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l"/>
            <a:r>
              <a:rPr lang="es-ES" sz="760" dirty="0">
                <a:solidFill>
                  <a:srgbClr val="0D1B5E"/>
                </a:solidFill>
                <a:latin typeface="Calibri"/>
              </a:rPr>
              <a:t>SLAs incumplidos / penalizaciones</a:t>
            </a:r>
          </a:p>
        </p:txBody>
      </p:sp>
      <p:sp>
        <p:nvSpPr>
          <p:cNvPr id="164" name="c"/>
          <p:cNvSpPr>
            <a:spLocks noGrp="1"/>
          </p:cNvSpPr>
          <p:nvPr/>
        </p:nvSpPr>
        <p:spPr>
          <a:xfrm>
            <a:off x="2880360" y="2523744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165" name="ct2"/>
          <p:cNvSpPr txBox="1">
            <a:spLocks noGrp="1"/>
          </p:cNvSpPr>
          <p:nvPr/>
        </p:nvSpPr>
        <p:spPr>
          <a:xfrm>
            <a:off x="2880360" y="2523744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1000" dirty="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165" name="c"/>
          <p:cNvSpPr>
            <a:spLocks noGrp="1"/>
          </p:cNvSpPr>
          <p:nvPr/>
        </p:nvSpPr>
        <p:spPr>
          <a:xfrm>
            <a:off x="3291840" y="2523744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166" name="ct2"/>
          <p:cNvSpPr txBox="1">
            <a:spLocks noGrp="1"/>
          </p:cNvSpPr>
          <p:nvPr/>
        </p:nvSpPr>
        <p:spPr>
          <a:xfrm>
            <a:off x="3291840" y="2523744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1000" dirty="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166" name="c"/>
          <p:cNvSpPr>
            <a:spLocks noGrp="1"/>
          </p:cNvSpPr>
          <p:nvPr/>
        </p:nvSpPr>
        <p:spPr>
          <a:xfrm>
            <a:off x="3703320" y="2523744"/>
            <a:ext cx="411480" cy="219456"/>
          </a:xfrm>
          <a:prstGeom prst="rect">
            <a:avLst/>
          </a:prstGeom>
          <a:solidFill>
            <a:srgbClr val="EBF4FF"/>
          </a:solidFill>
          <a:ln w="6350">
            <a:solidFill>
              <a:srgbClr val="C8D6E8"/>
            </a:solidFill>
          </a:ln>
        </p:spPr>
      </p:sp>
      <p:sp>
        <p:nvSpPr>
          <p:cNvPr id="167" name="ct2"/>
          <p:cNvSpPr txBox="1">
            <a:spLocks noGrp="1"/>
          </p:cNvSpPr>
          <p:nvPr/>
        </p:nvSpPr>
        <p:spPr>
          <a:xfrm>
            <a:off x="3703320" y="2523744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1000" dirty="0" b="1">
                <a:solidFill>
                  <a:srgbClr val="C8D6E8"/>
                </a:solidFill>
                <a:latin typeface="Calibri"/>
              </a:rPr>
              <a:t>○</a:t>
            </a:r>
          </a:p>
        </p:txBody>
      </p:sp>
      <p:sp>
        <p:nvSpPr>
          <p:cNvPr id="167" name="c"/>
          <p:cNvSpPr>
            <a:spLocks noGrp="1"/>
          </p:cNvSpPr>
          <p:nvPr/>
        </p:nvSpPr>
        <p:spPr>
          <a:xfrm>
            <a:off x="4114800" y="2523744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168" name="ct2"/>
          <p:cNvSpPr txBox="1">
            <a:spLocks noGrp="1"/>
          </p:cNvSpPr>
          <p:nvPr/>
        </p:nvSpPr>
        <p:spPr>
          <a:xfrm>
            <a:off x="4114800" y="2523744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1000" dirty="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168" name="c"/>
          <p:cNvSpPr>
            <a:spLocks noGrp="1"/>
          </p:cNvSpPr>
          <p:nvPr/>
        </p:nvSpPr>
        <p:spPr>
          <a:xfrm>
            <a:off x="4526280" y="2523744"/>
            <a:ext cx="411480" cy="219456"/>
          </a:xfrm>
          <a:prstGeom prst="rect">
            <a:avLst/>
          </a:prstGeom>
          <a:solidFill>
            <a:srgbClr val="EBF4FF"/>
          </a:solidFill>
          <a:ln w="6350">
            <a:solidFill>
              <a:srgbClr val="C8D6E8"/>
            </a:solidFill>
          </a:ln>
        </p:spPr>
      </p:sp>
      <p:sp>
        <p:nvSpPr>
          <p:cNvPr id="169" name="ct2"/>
          <p:cNvSpPr txBox="1">
            <a:spLocks noGrp="1"/>
          </p:cNvSpPr>
          <p:nvPr/>
        </p:nvSpPr>
        <p:spPr>
          <a:xfrm>
            <a:off x="4526280" y="2523744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1000" dirty="0" b="1">
                <a:solidFill>
                  <a:srgbClr val="C8D6E8"/>
                </a:solidFill>
                <a:latin typeface="Calibri"/>
              </a:rPr>
              <a:t>○</a:t>
            </a:r>
          </a:p>
        </p:txBody>
      </p:sp>
      <p:sp>
        <p:nvSpPr>
          <p:cNvPr id="169" name="c"/>
          <p:cNvSpPr>
            <a:spLocks noGrp="1"/>
          </p:cNvSpPr>
          <p:nvPr/>
        </p:nvSpPr>
        <p:spPr>
          <a:xfrm>
            <a:off x="4937760" y="2523744"/>
            <a:ext cx="411480" cy="219456"/>
          </a:xfrm>
          <a:prstGeom prst="rect">
            <a:avLst/>
          </a:prstGeom>
          <a:solidFill>
            <a:srgbClr val="EBF4FF"/>
          </a:solidFill>
          <a:ln w="6350">
            <a:solidFill>
              <a:srgbClr val="C8D6E8"/>
            </a:solidFill>
          </a:ln>
        </p:spPr>
      </p:sp>
      <p:sp>
        <p:nvSpPr>
          <p:cNvPr id="170" name="ct2"/>
          <p:cNvSpPr txBox="1">
            <a:spLocks noGrp="1"/>
          </p:cNvSpPr>
          <p:nvPr/>
        </p:nvSpPr>
        <p:spPr>
          <a:xfrm>
            <a:off x="4937760" y="2523744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1000" dirty="0" b="1">
                <a:solidFill>
                  <a:srgbClr val="C8D6E8"/>
                </a:solidFill>
                <a:latin typeface="Calibri"/>
              </a:rPr>
              <a:t>○</a:t>
            </a:r>
          </a:p>
        </p:txBody>
      </p:sp>
      <p:sp>
        <p:nvSpPr>
          <p:cNvPr id="170" name="c"/>
          <p:cNvSpPr>
            <a:spLocks noGrp="1"/>
          </p:cNvSpPr>
          <p:nvPr/>
        </p:nvSpPr>
        <p:spPr>
          <a:xfrm>
            <a:off x="5349240" y="2523744"/>
            <a:ext cx="411480" cy="219456"/>
          </a:xfrm>
          <a:prstGeom prst="rect">
            <a:avLst/>
          </a:prstGeom>
          <a:solidFill>
            <a:srgbClr val="EBF4FF"/>
          </a:solidFill>
          <a:ln w="6350">
            <a:solidFill>
              <a:srgbClr val="C8D6E8"/>
            </a:solidFill>
          </a:ln>
        </p:spPr>
      </p:sp>
      <p:sp>
        <p:nvSpPr>
          <p:cNvPr id="171" name="ct2"/>
          <p:cNvSpPr txBox="1">
            <a:spLocks noGrp="1"/>
          </p:cNvSpPr>
          <p:nvPr/>
        </p:nvSpPr>
        <p:spPr>
          <a:xfrm>
            <a:off x="5349240" y="2523744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1000" dirty="0" b="1">
                <a:solidFill>
                  <a:srgbClr val="C8D6E8"/>
                </a:solidFill>
                <a:latin typeface="Calibri"/>
              </a:rPr>
              <a:t>○</a:t>
            </a:r>
          </a:p>
        </p:txBody>
      </p:sp>
      <p:sp>
        <p:nvSpPr>
          <p:cNvPr id="171" name="c"/>
          <p:cNvSpPr>
            <a:spLocks noGrp="1"/>
          </p:cNvSpPr>
          <p:nvPr/>
        </p:nvSpPr>
        <p:spPr>
          <a:xfrm>
            <a:off x="5760720" y="2523744"/>
            <a:ext cx="411480" cy="219456"/>
          </a:xfrm>
          <a:prstGeom prst="rect">
            <a:avLst/>
          </a:prstGeom>
          <a:solidFill>
            <a:srgbClr val="EBF4FF"/>
          </a:solidFill>
          <a:ln w="6350">
            <a:solidFill>
              <a:srgbClr val="C8D6E8"/>
            </a:solidFill>
          </a:ln>
        </p:spPr>
      </p:sp>
      <p:sp>
        <p:nvSpPr>
          <p:cNvPr id="172" name="ct2"/>
          <p:cNvSpPr txBox="1">
            <a:spLocks noGrp="1"/>
          </p:cNvSpPr>
          <p:nvPr/>
        </p:nvSpPr>
        <p:spPr>
          <a:xfrm>
            <a:off x="5760720" y="2523744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1000" dirty="0" b="1">
                <a:solidFill>
                  <a:srgbClr val="C8D6E8"/>
                </a:solidFill>
                <a:latin typeface="Calibri"/>
              </a:rPr>
              <a:t>○</a:t>
            </a:r>
          </a:p>
        </p:txBody>
      </p:sp>
      <p:sp>
        <p:nvSpPr>
          <p:cNvPr id="172" name="c"/>
          <p:cNvSpPr>
            <a:spLocks noGrp="1"/>
          </p:cNvSpPr>
          <p:nvPr/>
        </p:nvSpPr>
        <p:spPr>
          <a:xfrm>
            <a:off x="6172200" y="2523744"/>
            <a:ext cx="411480" cy="219456"/>
          </a:xfrm>
          <a:prstGeom prst="rect">
            <a:avLst/>
          </a:prstGeom>
          <a:solidFill>
            <a:srgbClr val="EBF4FF"/>
          </a:solidFill>
          <a:ln w="6350">
            <a:solidFill>
              <a:srgbClr val="C8D6E8"/>
            </a:solidFill>
          </a:ln>
        </p:spPr>
      </p:sp>
      <p:sp>
        <p:nvSpPr>
          <p:cNvPr id="173" name="ct2"/>
          <p:cNvSpPr txBox="1">
            <a:spLocks noGrp="1"/>
          </p:cNvSpPr>
          <p:nvPr/>
        </p:nvSpPr>
        <p:spPr>
          <a:xfrm>
            <a:off x="6172200" y="2523744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1000" dirty="0" b="1">
                <a:solidFill>
                  <a:srgbClr val="C8D6E8"/>
                </a:solidFill>
                <a:latin typeface="Calibri"/>
              </a:rPr>
              <a:t>○</a:t>
            </a:r>
          </a:p>
        </p:txBody>
      </p:sp>
      <p:sp>
        <p:nvSpPr>
          <p:cNvPr id="173" name="c"/>
          <p:cNvSpPr>
            <a:spLocks noGrp="1"/>
          </p:cNvSpPr>
          <p:nvPr/>
        </p:nvSpPr>
        <p:spPr>
          <a:xfrm>
            <a:off x="6583680" y="2523744"/>
            <a:ext cx="411480" cy="219456"/>
          </a:xfrm>
          <a:prstGeom prst="rect">
            <a:avLst/>
          </a:prstGeom>
          <a:solidFill>
            <a:srgbClr val="EBF4FF"/>
          </a:solidFill>
          <a:ln w="6350">
            <a:solidFill>
              <a:srgbClr val="C8D6E8"/>
            </a:solidFill>
          </a:ln>
        </p:spPr>
      </p:sp>
      <p:sp>
        <p:nvSpPr>
          <p:cNvPr id="174" name="ct2"/>
          <p:cNvSpPr txBox="1">
            <a:spLocks noGrp="1"/>
          </p:cNvSpPr>
          <p:nvPr/>
        </p:nvSpPr>
        <p:spPr>
          <a:xfrm>
            <a:off x="6583680" y="2523744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1000" dirty="0" b="1">
                <a:solidFill>
                  <a:srgbClr val="C8D6E8"/>
                </a:solidFill>
                <a:latin typeface="Calibri"/>
              </a:rPr>
              <a:t>○</a:t>
            </a:r>
          </a:p>
        </p:txBody>
      </p:sp>
      <p:sp>
        <p:nvSpPr>
          <p:cNvPr id="174" name="c"/>
          <p:cNvSpPr>
            <a:spLocks noGrp="1"/>
          </p:cNvSpPr>
          <p:nvPr/>
        </p:nvSpPr>
        <p:spPr>
          <a:xfrm>
            <a:off x="6995160" y="2523744"/>
            <a:ext cx="411480" cy="219456"/>
          </a:xfrm>
          <a:prstGeom prst="rect">
            <a:avLst/>
          </a:prstGeom>
          <a:solidFill>
            <a:srgbClr val="EBF4FF"/>
          </a:solidFill>
          <a:ln w="6350">
            <a:solidFill>
              <a:srgbClr val="C8D6E8"/>
            </a:solidFill>
          </a:ln>
        </p:spPr>
      </p:sp>
      <p:sp>
        <p:nvSpPr>
          <p:cNvPr id="175" name="ct2"/>
          <p:cNvSpPr txBox="1">
            <a:spLocks noGrp="1"/>
          </p:cNvSpPr>
          <p:nvPr/>
        </p:nvSpPr>
        <p:spPr>
          <a:xfrm>
            <a:off x="6995160" y="2523744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1000" dirty="0" b="1">
                <a:solidFill>
                  <a:srgbClr val="C8D6E8"/>
                </a:solidFill>
                <a:latin typeface="Calibri"/>
              </a:rPr>
              <a:t>○</a:t>
            </a:r>
          </a:p>
        </p:txBody>
      </p:sp>
      <p:sp>
        <p:nvSpPr>
          <p:cNvPr id="175" name="c"/>
          <p:cNvSpPr>
            <a:spLocks noGrp="1"/>
          </p:cNvSpPr>
          <p:nvPr/>
        </p:nvSpPr>
        <p:spPr>
          <a:xfrm>
            <a:off x="7406640" y="2523744"/>
            <a:ext cx="411480" cy="219456"/>
          </a:xfrm>
          <a:prstGeom prst="rect">
            <a:avLst/>
          </a:prstGeom>
          <a:solidFill>
            <a:srgbClr val="EBF4FF"/>
          </a:solidFill>
          <a:ln w="6350">
            <a:solidFill>
              <a:srgbClr val="C8D6E8"/>
            </a:solidFill>
          </a:ln>
        </p:spPr>
      </p:sp>
      <p:sp>
        <p:nvSpPr>
          <p:cNvPr id="176" name="ct2"/>
          <p:cNvSpPr txBox="1">
            <a:spLocks noGrp="1"/>
          </p:cNvSpPr>
          <p:nvPr/>
        </p:nvSpPr>
        <p:spPr>
          <a:xfrm>
            <a:off x="7406640" y="2523744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1000" dirty="0" b="1">
                <a:solidFill>
                  <a:srgbClr val="C8D6E8"/>
                </a:solidFill>
                <a:latin typeface="Calibri"/>
              </a:rPr>
              <a:t>○</a:t>
            </a:r>
          </a:p>
        </p:txBody>
      </p:sp>
      <p:sp>
        <p:nvSpPr>
          <p:cNvPr id="170" name="cb"/>
          <p:cNvSpPr>
            <a:spLocks noGrp="1"/>
          </p:cNvSpPr>
          <p:nvPr/>
        </p:nvSpPr>
        <p:spPr>
          <a:xfrm>
            <a:off x="320040" y="2743200"/>
            <a:ext cx="402336" cy="219456"/>
          </a:xfrm>
          <a:prstGeom prst="rect">
            <a:avLst/>
          </a:prstGeom>
          <a:solidFill>
            <a:srgbClr val="E4F4F6"/>
          </a:solidFill>
          <a:ln w="6350">
            <a:solidFill>
              <a:srgbClr val="C8D6E8"/>
            </a:solidFill>
          </a:ln>
        </p:spPr>
      </p:sp>
      <p:sp>
        <p:nvSpPr>
          <p:cNvPr id="171" name="ct"/>
          <p:cNvSpPr txBox="1">
            <a:spLocks noGrp="1"/>
          </p:cNvSpPr>
          <p:nvPr/>
        </p:nvSpPr>
        <p:spPr>
          <a:xfrm>
            <a:off x="320040" y="2743200"/>
            <a:ext cx="402336" cy="219456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580" dirty="0" b="1">
                <a:solidFill>
                  <a:srgbClr val="1B7B85"/>
                </a:solidFill>
                <a:latin typeface="Calibri"/>
              </a:rPr>
              <a:t>MET</a:t>
            </a:r>
          </a:p>
        </p:txBody>
      </p:sp>
      <p:sp>
        <p:nvSpPr>
          <p:cNvPr id="172" name="db"/>
          <p:cNvSpPr>
            <a:spLocks noGrp="1"/>
          </p:cNvSpPr>
          <p:nvPr/>
        </p:nvSpPr>
        <p:spPr>
          <a:xfrm>
            <a:off x="722376" y="2743200"/>
            <a:ext cx="2157984" cy="219456"/>
          </a:xfrm>
          <a:prstGeom prst="rect">
            <a:avLst/>
          </a:prstGeom>
          <a:solidFill>
            <a:srgbClr val="E4F4F6"/>
          </a:solidFill>
          <a:ln w="6350">
            <a:solidFill>
              <a:srgbClr val="C8D6E8"/>
            </a:solidFill>
          </a:ln>
        </p:spPr>
      </p:sp>
      <p:sp>
        <p:nvSpPr>
          <p:cNvPr id="173" name="dt"/>
          <p:cNvSpPr txBox="1">
            <a:spLocks noGrp="1"/>
          </p:cNvSpPr>
          <p:nvPr/>
        </p:nvSpPr>
        <p:spPr>
          <a:xfrm>
            <a:off x="777240" y="2743200"/>
            <a:ext cx="2048256" cy="219456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l"/>
            <a:r>
              <a:rPr lang="es-ES" sz="760" dirty="0">
                <a:solidFill>
                  <a:srgbClr val="0D1B5E"/>
                </a:solidFill>
                <a:latin typeface="Calibri"/>
              </a:rPr>
              <a:t>Sin metricas ni KPIs</a:t>
            </a:r>
          </a:p>
        </p:txBody>
      </p:sp>
      <p:sp>
        <p:nvSpPr>
          <p:cNvPr id="174" name="c"/>
          <p:cNvSpPr>
            <a:spLocks noGrp="1"/>
          </p:cNvSpPr>
          <p:nvPr/>
        </p:nvSpPr>
        <p:spPr>
          <a:xfrm>
            <a:off x="2880360" y="2743200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175" name="ct2"/>
          <p:cNvSpPr txBox="1">
            <a:spLocks noGrp="1"/>
          </p:cNvSpPr>
          <p:nvPr/>
        </p:nvSpPr>
        <p:spPr>
          <a:xfrm>
            <a:off x="2880360" y="2743200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1000" dirty="0" b="1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175" name="c"/>
          <p:cNvSpPr>
            <a:spLocks noGrp="1"/>
          </p:cNvSpPr>
          <p:nvPr/>
        </p:nvSpPr>
        <p:spPr>
          <a:xfrm>
            <a:off x="3291840" y="2743200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176" name="ct2"/>
          <p:cNvSpPr txBox="1">
            <a:spLocks noGrp="1"/>
          </p:cNvSpPr>
          <p:nvPr/>
        </p:nvSpPr>
        <p:spPr>
          <a:xfrm>
            <a:off x="3291840" y="2743200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1000" dirty="0" b="1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176" name="c"/>
          <p:cNvSpPr>
            <a:spLocks noGrp="1"/>
          </p:cNvSpPr>
          <p:nvPr/>
        </p:nvSpPr>
        <p:spPr>
          <a:xfrm>
            <a:off x="3703320" y="2743200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177" name="ct2"/>
          <p:cNvSpPr txBox="1">
            <a:spLocks noGrp="1"/>
          </p:cNvSpPr>
          <p:nvPr/>
        </p:nvSpPr>
        <p:spPr>
          <a:xfrm>
            <a:off x="3703320" y="2743200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1000" dirty="0" b="1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177" name="c"/>
          <p:cNvSpPr>
            <a:spLocks noGrp="1"/>
          </p:cNvSpPr>
          <p:nvPr/>
        </p:nvSpPr>
        <p:spPr>
          <a:xfrm>
            <a:off x="4114800" y="2743200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178" name="ct2"/>
          <p:cNvSpPr txBox="1">
            <a:spLocks noGrp="1"/>
          </p:cNvSpPr>
          <p:nvPr/>
        </p:nvSpPr>
        <p:spPr>
          <a:xfrm>
            <a:off x="4114800" y="2743200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1000" dirty="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178" name="c"/>
          <p:cNvSpPr>
            <a:spLocks noGrp="1"/>
          </p:cNvSpPr>
          <p:nvPr/>
        </p:nvSpPr>
        <p:spPr>
          <a:xfrm>
            <a:off x="4526280" y="2743200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179" name="ct2"/>
          <p:cNvSpPr txBox="1">
            <a:spLocks noGrp="1"/>
          </p:cNvSpPr>
          <p:nvPr/>
        </p:nvSpPr>
        <p:spPr>
          <a:xfrm>
            <a:off x="4526280" y="2743200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1000" dirty="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179" name="c"/>
          <p:cNvSpPr>
            <a:spLocks noGrp="1"/>
          </p:cNvSpPr>
          <p:nvPr/>
        </p:nvSpPr>
        <p:spPr>
          <a:xfrm>
            <a:off x="4937760" y="2743200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180" name="ct2"/>
          <p:cNvSpPr txBox="1">
            <a:spLocks noGrp="1"/>
          </p:cNvSpPr>
          <p:nvPr/>
        </p:nvSpPr>
        <p:spPr>
          <a:xfrm>
            <a:off x="4937760" y="2743200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1000" dirty="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180" name="c"/>
          <p:cNvSpPr>
            <a:spLocks noGrp="1"/>
          </p:cNvSpPr>
          <p:nvPr/>
        </p:nvSpPr>
        <p:spPr>
          <a:xfrm>
            <a:off x="5349240" y="2743200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181" name="ct2"/>
          <p:cNvSpPr txBox="1">
            <a:spLocks noGrp="1"/>
          </p:cNvSpPr>
          <p:nvPr/>
        </p:nvSpPr>
        <p:spPr>
          <a:xfrm>
            <a:off x="5349240" y="2743200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1000" dirty="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181" name="c"/>
          <p:cNvSpPr>
            <a:spLocks noGrp="1"/>
          </p:cNvSpPr>
          <p:nvPr/>
        </p:nvSpPr>
        <p:spPr>
          <a:xfrm>
            <a:off x="5760720" y="2743200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182" name="ct2"/>
          <p:cNvSpPr txBox="1">
            <a:spLocks noGrp="1"/>
          </p:cNvSpPr>
          <p:nvPr/>
        </p:nvSpPr>
        <p:spPr>
          <a:xfrm>
            <a:off x="5760720" y="2743200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1000" dirty="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182" name="c"/>
          <p:cNvSpPr>
            <a:spLocks noGrp="1"/>
          </p:cNvSpPr>
          <p:nvPr/>
        </p:nvSpPr>
        <p:spPr>
          <a:xfrm>
            <a:off x="6172200" y="2743200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183" name="ct2"/>
          <p:cNvSpPr txBox="1">
            <a:spLocks noGrp="1"/>
          </p:cNvSpPr>
          <p:nvPr/>
        </p:nvSpPr>
        <p:spPr>
          <a:xfrm>
            <a:off x="6172200" y="2743200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1000" dirty="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183" name="c"/>
          <p:cNvSpPr>
            <a:spLocks noGrp="1"/>
          </p:cNvSpPr>
          <p:nvPr/>
        </p:nvSpPr>
        <p:spPr>
          <a:xfrm>
            <a:off x="6583680" y="2743200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184" name="ct2"/>
          <p:cNvSpPr txBox="1">
            <a:spLocks noGrp="1"/>
          </p:cNvSpPr>
          <p:nvPr/>
        </p:nvSpPr>
        <p:spPr>
          <a:xfrm>
            <a:off x="6583680" y="2743200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1000" dirty="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184" name="c"/>
          <p:cNvSpPr>
            <a:spLocks noGrp="1"/>
          </p:cNvSpPr>
          <p:nvPr/>
        </p:nvSpPr>
        <p:spPr>
          <a:xfrm>
            <a:off x="6995160" y="2743200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185" name="ct2"/>
          <p:cNvSpPr txBox="1">
            <a:spLocks noGrp="1"/>
          </p:cNvSpPr>
          <p:nvPr/>
        </p:nvSpPr>
        <p:spPr>
          <a:xfrm>
            <a:off x="6995160" y="2743200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1000" dirty="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185" name="c"/>
          <p:cNvSpPr>
            <a:spLocks noGrp="1"/>
          </p:cNvSpPr>
          <p:nvPr/>
        </p:nvSpPr>
        <p:spPr>
          <a:xfrm>
            <a:off x="7406640" y="2743200"/>
            <a:ext cx="411480" cy="219456"/>
          </a:xfrm>
          <a:prstGeom prst="rect">
            <a:avLst/>
          </a:prstGeom>
          <a:solidFill>
            <a:srgbClr val="EBF4FF"/>
          </a:solidFill>
          <a:ln w="6350">
            <a:solidFill>
              <a:srgbClr val="C8D6E8"/>
            </a:solidFill>
          </a:ln>
        </p:spPr>
      </p:sp>
      <p:sp>
        <p:nvSpPr>
          <p:cNvPr id="186" name="ct2"/>
          <p:cNvSpPr txBox="1">
            <a:spLocks noGrp="1"/>
          </p:cNvSpPr>
          <p:nvPr/>
        </p:nvSpPr>
        <p:spPr>
          <a:xfrm>
            <a:off x="7406640" y="2743200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1000" dirty="0" b="1">
                <a:solidFill>
                  <a:srgbClr val="C8D6E8"/>
                </a:solidFill>
                <a:latin typeface="Calibri"/>
              </a:rPr>
              <a:t>○</a:t>
            </a:r>
          </a:p>
        </p:txBody>
      </p:sp>
      <p:sp>
        <p:nvSpPr>
          <p:cNvPr id="182" name="db"/>
          <p:cNvSpPr>
            <a:spLocks noGrp="1"/>
          </p:cNvSpPr>
          <p:nvPr/>
        </p:nvSpPr>
        <p:spPr>
          <a:xfrm>
            <a:off x="722376" y="2962656"/>
            <a:ext cx="2157984" cy="219456"/>
          </a:xfrm>
          <a:prstGeom prst="rect">
            <a:avLst/>
          </a:prstGeom>
          <a:solidFill>
            <a:srgbClr val="E4F4F6"/>
          </a:solidFill>
          <a:ln w="6350">
            <a:solidFill>
              <a:srgbClr val="C8D6E8"/>
            </a:solidFill>
          </a:ln>
        </p:spPr>
      </p:sp>
      <p:sp>
        <p:nvSpPr>
          <p:cNvPr id="183" name="dt"/>
          <p:cNvSpPr txBox="1">
            <a:spLocks noGrp="1"/>
          </p:cNvSpPr>
          <p:nvPr/>
        </p:nvSpPr>
        <p:spPr>
          <a:xfrm>
            <a:off x="777240" y="2962656"/>
            <a:ext cx="2048256" cy="219456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l"/>
            <a:r>
              <a:rPr lang="es-ES" sz="760" dirty="0">
                <a:solidFill>
                  <a:srgbClr val="0D1B5E"/>
                </a:solidFill>
                <a:latin typeface="Calibri"/>
              </a:rPr>
              <a:t>Sin dashboard ejecutivo</a:t>
            </a:r>
          </a:p>
        </p:txBody>
      </p:sp>
      <p:sp>
        <p:nvSpPr>
          <p:cNvPr id="184" name="c"/>
          <p:cNvSpPr>
            <a:spLocks noGrp="1"/>
          </p:cNvSpPr>
          <p:nvPr/>
        </p:nvSpPr>
        <p:spPr>
          <a:xfrm>
            <a:off x="2880360" y="2962656"/>
            <a:ext cx="411480" cy="219456"/>
          </a:xfrm>
          <a:prstGeom prst="rect">
            <a:avLst/>
          </a:prstGeom>
          <a:solidFill>
            <a:srgbClr val="EBF4FF"/>
          </a:solidFill>
          <a:ln w="6350">
            <a:solidFill>
              <a:srgbClr val="C8D6E8"/>
            </a:solidFill>
          </a:ln>
        </p:spPr>
      </p:sp>
      <p:sp>
        <p:nvSpPr>
          <p:cNvPr id="185" name="ct2"/>
          <p:cNvSpPr txBox="1">
            <a:spLocks noGrp="1"/>
          </p:cNvSpPr>
          <p:nvPr/>
        </p:nvSpPr>
        <p:spPr>
          <a:xfrm>
            <a:off x="2880360" y="2962656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1000" dirty="0" b="1">
                <a:solidFill>
                  <a:srgbClr val="C8D6E8"/>
                </a:solidFill>
                <a:latin typeface="Calibri"/>
              </a:rPr>
              <a:t>○</a:t>
            </a:r>
          </a:p>
        </p:txBody>
      </p:sp>
      <p:sp>
        <p:nvSpPr>
          <p:cNvPr id="185" name="c"/>
          <p:cNvSpPr>
            <a:spLocks noGrp="1"/>
          </p:cNvSpPr>
          <p:nvPr/>
        </p:nvSpPr>
        <p:spPr>
          <a:xfrm>
            <a:off x="3291840" y="2962656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186" name="ct2"/>
          <p:cNvSpPr txBox="1">
            <a:spLocks noGrp="1"/>
          </p:cNvSpPr>
          <p:nvPr/>
        </p:nvSpPr>
        <p:spPr>
          <a:xfrm>
            <a:off x="3291840" y="2962656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1000" dirty="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186" name="c"/>
          <p:cNvSpPr>
            <a:spLocks noGrp="1"/>
          </p:cNvSpPr>
          <p:nvPr/>
        </p:nvSpPr>
        <p:spPr>
          <a:xfrm>
            <a:off x="3703320" y="2962656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187" name="ct2"/>
          <p:cNvSpPr txBox="1">
            <a:spLocks noGrp="1"/>
          </p:cNvSpPr>
          <p:nvPr/>
        </p:nvSpPr>
        <p:spPr>
          <a:xfrm>
            <a:off x="3703320" y="2962656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1000" dirty="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187" name="c"/>
          <p:cNvSpPr>
            <a:spLocks noGrp="1"/>
          </p:cNvSpPr>
          <p:nvPr/>
        </p:nvSpPr>
        <p:spPr>
          <a:xfrm>
            <a:off x="4114800" y="2962656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188" name="ct2"/>
          <p:cNvSpPr txBox="1">
            <a:spLocks noGrp="1"/>
          </p:cNvSpPr>
          <p:nvPr/>
        </p:nvSpPr>
        <p:spPr>
          <a:xfrm>
            <a:off x="4114800" y="2962656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1000" dirty="0" b="1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188" name="c"/>
          <p:cNvSpPr>
            <a:spLocks noGrp="1"/>
          </p:cNvSpPr>
          <p:nvPr/>
        </p:nvSpPr>
        <p:spPr>
          <a:xfrm>
            <a:off x="4526280" y="2962656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189" name="ct2"/>
          <p:cNvSpPr txBox="1">
            <a:spLocks noGrp="1"/>
          </p:cNvSpPr>
          <p:nvPr/>
        </p:nvSpPr>
        <p:spPr>
          <a:xfrm>
            <a:off x="4526280" y="2962656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1000" dirty="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189" name="c"/>
          <p:cNvSpPr>
            <a:spLocks noGrp="1"/>
          </p:cNvSpPr>
          <p:nvPr/>
        </p:nvSpPr>
        <p:spPr>
          <a:xfrm>
            <a:off x="4937760" y="2962656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190" name="ct2"/>
          <p:cNvSpPr txBox="1">
            <a:spLocks noGrp="1"/>
          </p:cNvSpPr>
          <p:nvPr/>
        </p:nvSpPr>
        <p:spPr>
          <a:xfrm>
            <a:off x="4937760" y="2962656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1000" dirty="0" b="1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190" name="c"/>
          <p:cNvSpPr>
            <a:spLocks noGrp="1"/>
          </p:cNvSpPr>
          <p:nvPr/>
        </p:nvSpPr>
        <p:spPr>
          <a:xfrm>
            <a:off x="5349240" y="2962656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191" name="ct2"/>
          <p:cNvSpPr txBox="1">
            <a:spLocks noGrp="1"/>
          </p:cNvSpPr>
          <p:nvPr/>
        </p:nvSpPr>
        <p:spPr>
          <a:xfrm>
            <a:off x="5349240" y="2962656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1000" dirty="0" b="1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191" name="c"/>
          <p:cNvSpPr>
            <a:spLocks noGrp="1"/>
          </p:cNvSpPr>
          <p:nvPr/>
        </p:nvSpPr>
        <p:spPr>
          <a:xfrm>
            <a:off x="5760720" y="2962656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192" name="ct2"/>
          <p:cNvSpPr txBox="1">
            <a:spLocks noGrp="1"/>
          </p:cNvSpPr>
          <p:nvPr/>
        </p:nvSpPr>
        <p:spPr>
          <a:xfrm>
            <a:off x="5760720" y="2962656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1000" dirty="0" b="1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192" name="c"/>
          <p:cNvSpPr>
            <a:spLocks noGrp="1"/>
          </p:cNvSpPr>
          <p:nvPr/>
        </p:nvSpPr>
        <p:spPr>
          <a:xfrm>
            <a:off x="6172200" y="2962656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193" name="ct2"/>
          <p:cNvSpPr txBox="1">
            <a:spLocks noGrp="1"/>
          </p:cNvSpPr>
          <p:nvPr/>
        </p:nvSpPr>
        <p:spPr>
          <a:xfrm>
            <a:off x="6172200" y="2962656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1000" dirty="0" b="1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193" name="c"/>
          <p:cNvSpPr>
            <a:spLocks noGrp="1"/>
          </p:cNvSpPr>
          <p:nvPr/>
        </p:nvSpPr>
        <p:spPr>
          <a:xfrm>
            <a:off x="6583680" y="2962656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194" name="ct2"/>
          <p:cNvSpPr txBox="1">
            <a:spLocks noGrp="1"/>
          </p:cNvSpPr>
          <p:nvPr/>
        </p:nvSpPr>
        <p:spPr>
          <a:xfrm>
            <a:off x="6583680" y="2962656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1000" dirty="0" b="1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194" name="c"/>
          <p:cNvSpPr>
            <a:spLocks noGrp="1"/>
          </p:cNvSpPr>
          <p:nvPr/>
        </p:nvSpPr>
        <p:spPr>
          <a:xfrm>
            <a:off x="6995160" y="2962656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195" name="ct2"/>
          <p:cNvSpPr txBox="1">
            <a:spLocks noGrp="1"/>
          </p:cNvSpPr>
          <p:nvPr/>
        </p:nvSpPr>
        <p:spPr>
          <a:xfrm>
            <a:off x="6995160" y="2962656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1000" dirty="0" b="1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195" name="c"/>
          <p:cNvSpPr>
            <a:spLocks noGrp="1"/>
          </p:cNvSpPr>
          <p:nvPr/>
        </p:nvSpPr>
        <p:spPr>
          <a:xfrm>
            <a:off x="7406640" y="2962656"/>
            <a:ext cx="411480" cy="219456"/>
          </a:xfrm>
          <a:prstGeom prst="rect">
            <a:avLst/>
          </a:prstGeom>
          <a:solidFill>
            <a:srgbClr val="EBF4FF"/>
          </a:solidFill>
          <a:ln w="6350">
            <a:solidFill>
              <a:srgbClr val="C8D6E8"/>
            </a:solidFill>
          </a:ln>
        </p:spPr>
      </p:sp>
      <p:sp>
        <p:nvSpPr>
          <p:cNvPr id="196" name="ct2"/>
          <p:cNvSpPr txBox="1">
            <a:spLocks noGrp="1"/>
          </p:cNvSpPr>
          <p:nvPr/>
        </p:nvSpPr>
        <p:spPr>
          <a:xfrm>
            <a:off x="7406640" y="2962656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1000" dirty="0" b="1">
                <a:solidFill>
                  <a:srgbClr val="C8D6E8"/>
                </a:solidFill>
                <a:latin typeface="Calibri"/>
              </a:rPr>
              <a:t>○</a:t>
            </a:r>
          </a:p>
        </p:txBody>
      </p:sp>
      <p:sp>
        <p:nvSpPr>
          <p:cNvPr id="190" name="cb"/>
          <p:cNvSpPr>
            <a:spLocks noGrp="1"/>
          </p:cNvSpPr>
          <p:nvPr/>
        </p:nvSpPr>
        <p:spPr>
          <a:xfrm>
            <a:off x="320040" y="3182112"/>
            <a:ext cx="402336" cy="219456"/>
          </a:xfrm>
          <a:prstGeom prst="rect">
            <a:avLst/>
          </a:prstGeom>
          <a:solidFill>
            <a:srgbClr val="F3F0FF"/>
          </a:solidFill>
          <a:ln w="6350">
            <a:solidFill>
              <a:srgbClr val="C8D6E8"/>
            </a:solidFill>
          </a:ln>
        </p:spPr>
      </p:sp>
      <p:sp>
        <p:nvSpPr>
          <p:cNvPr id="191" name="ct"/>
          <p:cNvSpPr txBox="1">
            <a:spLocks noGrp="1"/>
          </p:cNvSpPr>
          <p:nvPr/>
        </p:nvSpPr>
        <p:spPr>
          <a:xfrm>
            <a:off x="320040" y="3182112"/>
            <a:ext cx="402336" cy="219456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580" dirty="0" b="1">
                <a:solidFill>
                  <a:srgbClr val="5B21B6"/>
                </a:solidFill>
                <a:latin typeface="Calibri"/>
              </a:rPr>
              <a:t>TAL</a:t>
            </a:r>
          </a:p>
        </p:txBody>
      </p:sp>
      <p:sp>
        <p:nvSpPr>
          <p:cNvPr id="192" name="db"/>
          <p:cNvSpPr>
            <a:spLocks noGrp="1"/>
          </p:cNvSpPr>
          <p:nvPr/>
        </p:nvSpPr>
        <p:spPr>
          <a:xfrm>
            <a:off x="722376" y="3182112"/>
            <a:ext cx="2157984" cy="219456"/>
          </a:xfrm>
          <a:prstGeom prst="rect">
            <a:avLst/>
          </a:prstGeom>
          <a:solidFill>
            <a:srgbClr val="F3F0FF"/>
          </a:solidFill>
          <a:ln w="6350">
            <a:solidFill>
              <a:srgbClr val="C8D6E8"/>
            </a:solidFill>
          </a:ln>
        </p:spPr>
      </p:sp>
      <p:sp>
        <p:nvSpPr>
          <p:cNvPr id="193" name="dt"/>
          <p:cNvSpPr txBox="1">
            <a:spLocks noGrp="1"/>
          </p:cNvSpPr>
          <p:nvPr/>
        </p:nvSpPr>
        <p:spPr>
          <a:xfrm>
            <a:off x="777240" y="3182112"/>
            <a:ext cx="2048256" cy="219456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l"/>
            <a:r>
              <a:rPr lang="es-ES" sz="760" dirty="0">
                <a:solidFill>
                  <a:srgbClr val="0D1B5E"/>
                </a:solidFill>
                <a:latin typeface="Calibri"/>
              </a:rPr>
              <a:t>Rotacion — perdida conocimiento</a:t>
            </a:r>
          </a:p>
        </p:txBody>
      </p:sp>
      <p:sp>
        <p:nvSpPr>
          <p:cNvPr id="194" name="c"/>
          <p:cNvSpPr>
            <a:spLocks noGrp="1"/>
          </p:cNvSpPr>
          <p:nvPr/>
        </p:nvSpPr>
        <p:spPr>
          <a:xfrm>
            <a:off x="2880360" y="3182112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195" name="ct2"/>
          <p:cNvSpPr txBox="1">
            <a:spLocks noGrp="1"/>
          </p:cNvSpPr>
          <p:nvPr/>
        </p:nvSpPr>
        <p:spPr>
          <a:xfrm>
            <a:off x="2880360" y="318211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1000" dirty="0" b="1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195" name="c"/>
          <p:cNvSpPr>
            <a:spLocks noGrp="1"/>
          </p:cNvSpPr>
          <p:nvPr/>
        </p:nvSpPr>
        <p:spPr>
          <a:xfrm>
            <a:off x="3291840" y="3182112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196" name="ct2"/>
          <p:cNvSpPr txBox="1">
            <a:spLocks noGrp="1"/>
          </p:cNvSpPr>
          <p:nvPr/>
        </p:nvSpPr>
        <p:spPr>
          <a:xfrm>
            <a:off x="3291840" y="318211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1000" dirty="0" b="1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196" name="c"/>
          <p:cNvSpPr>
            <a:spLocks noGrp="1"/>
          </p:cNvSpPr>
          <p:nvPr/>
        </p:nvSpPr>
        <p:spPr>
          <a:xfrm>
            <a:off x="3703320" y="3182112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197" name="ct2"/>
          <p:cNvSpPr txBox="1">
            <a:spLocks noGrp="1"/>
          </p:cNvSpPr>
          <p:nvPr/>
        </p:nvSpPr>
        <p:spPr>
          <a:xfrm>
            <a:off x="3703320" y="318211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1000" dirty="0" b="1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197" name="c"/>
          <p:cNvSpPr>
            <a:spLocks noGrp="1"/>
          </p:cNvSpPr>
          <p:nvPr/>
        </p:nvSpPr>
        <p:spPr>
          <a:xfrm>
            <a:off x="4114800" y="3182112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198" name="ct2"/>
          <p:cNvSpPr txBox="1">
            <a:spLocks noGrp="1"/>
          </p:cNvSpPr>
          <p:nvPr/>
        </p:nvSpPr>
        <p:spPr>
          <a:xfrm>
            <a:off x="4114800" y="318211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1000" dirty="0" b="1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198" name="c"/>
          <p:cNvSpPr>
            <a:spLocks noGrp="1"/>
          </p:cNvSpPr>
          <p:nvPr/>
        </p:nvSpPr>
        <p:spPr>
          <a:xfrm>
            <a:off x="4526280" y="3182112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199" name="ct2"/>
          <p:cNvSpPr txBox="1">
            <a:spLocks noGrp="1"/>
          </p:cNvSpPr>
          <p:nvPr/>
        </p:nvSpPr>
        <p:spPr>
          <a:xfrm>
            <a:off x="4526280" y="318211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1000" dirty="0" b="1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199" name="c"/>
          <p:cNvSpPr>
            <a:spLocks noGrp="1"/>
          </p:cNvSpPr>
          <p:nvPr/>
        </p:nvSpPr>
        <p:spPr>
          <a:xfrm>
            <a:off x="4937760" y="3182112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200" name="ct2"/>
          <p:cNvSpPr txBox="1">
            <a:spLocks noGrp="1"/>
          </p:cNvSpPr>
          <p:nvPr/>
        </p:nvSpPr>
        <p:spPr>
          <a:xfrm>
            <a:off x="4937760" y="318211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1000" dirty="0" b="1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200" name="c"/>
          <p:cNvSpPr>
            <a:spLocks noGrp="1"/>
          </p:cNvSpPr>
          <p:nvPr/>
        </p:nvSpPr>
        <p:spPr>
          <a:xfrm>
            <a:off x="5349240" y="3182112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201" name="ct2"/>
          <p:cNvSpPr txBox="1">
            <a:spLocks noGrp="1"/>
          </p:cNvSpPr>
          <p:nvPr/>
        </p:nvSpPr>
        <p:spPr>
          <a:xfrm>
            <a:off x="5349240" y="318211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1000" dirty="0" b="1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201" name="c"/>
          <p:cNvSpPr>
            <a:spLocks noGrp="1"/>
          </p:cNvSpPr>
          <p:nvPr/>
        </p:nvSpPr>
        <p:spPr>
          <a:xfrm>
            <a:off x="5760720" y="3182112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202" name="ct2"/>
          <p:cNvSpPr txBox="1">
            <a:spLocks noGrp="1"/>
          </p:cNvSpPr>
          <p:nvPr/>
        </p:nvSpPr>
        <p:spPr>
          <a:xfrm>
            <a:off x="5760720" y="318211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1000" dirty="0" b="1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202" name="c"/>
          <p:cNvSpPr>
            <a:spLocks noGrp="1"/>
          </p:cNvSpPr>
          <p:nvPr/>
        </p:nvSpPr>
        <p:spPr>
          <a:xfrm>
            <a:off x="6172200" y="3182112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203" name="ct2"/>
          <p:cNvSpPr txBox="1">
            <a:spLocks noGrp="1"/>
          </p:cNvSpPr>
          <p:nvPr/>
        </p:nvSpPr>
        <p:spPr>
          <a:xfrm>
            <a:off x="6172200" y="318211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1000" dirty="0" b="1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203" name="c"/>
          <p:cNvSpPr>
            <a:spLocks noGrp="1"/>
          </p:cNvSpPr>
          <p:nvPr/>
        </p:nvSpPr>
        <p:spPr>
          <a:xfrm>
            <a:off x="6583680" y="3182112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204" name="ct2"/>
          <p:cNvSpPr txBox="1">
            <a:spLocks noGrp="1"/>
          </p:cNvSpPr>
          <p:nvPr/>
        </p:nvSpPr>
        <p:spPr>
          <a:xfrm>
            <a:off x="6583680" y="318211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1000" dirty="0" b="1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204" name="c"/>
          <p:cNvSpPr>
            <a:spLocks noGrp="1"/>
          </p:cNvSpPr>
          <p:nvPr/>
        </p:nvSpPr>
        <p:spPr>
          <a:xfrm>
            <a:off x="6995160" y="3182112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205" name="ct2"/>
          <p:cNvSpPr txBox="1">
            <a:spLocks noGrp="1"/>
          </p:cNvSpPr>
          <p:nvPr/>
        </p:nvSpPr>
        <p:spPr>
          <a:xfrm>
            <a:off x="6995160" y="318211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1000" dirty="0" b="1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205" name="c"/>
          <p:cNvSpPr>
            <a:spLocks noGrp="1"/>
          </p:cNvSpPr>
          <p:nvPr/>
        </p:nvSpPr>
        <p:spPr>
          <a:xfrm>
            <a:off x="7406640" y="3182112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206" name="ct2"/>
          <p:cNvSpPr txBox="1">
            <a:spLocks noGrp="1"/>
          </p:cNvSpPr>
          <p:nvPr/>
        </p:nvSpPr>
        <p:spPr>
          <a:xfrm>
            <a:off x="7406640" y="318211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1000" dirty="0" b="1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202" name="db"/>
          <p:cNvSpPr>
            <a:spLocks noGrp="1"/>
          </p:cNvSpPr>
          <p:nvPr/>
        </p:nvSpPr>
        <p:spPr>
          <a:xfrm>
            <a:off x="722376" y="3401568"/>
            <a:ext cx="2157984" cy="219456"/>
          </a:xfrm>
          <a:prstGeom prst="rect">
            <a:avLst/>
          </a:prstGeom>
          <a:solidFill>
            <a:srgbClr val="F3F0FF"/>
          </a:solidFill>
          <a:ln w="6350">
            <a:solidFill>
              <a:srgbClr val="C8D6E8"/>
            </a:solidFill>
          </a:ln>
        </p:spPr>
      </p:sp>
      <p:sp>
        <p:nvSpPr>
          <p:cNvPr id="203" name="dt"/>
          <p:cNvSpPr txBox="1">
            <a:spLocks noGrp="1"/>
          </p:cNvSpPr>
          <p:nvPr/>
        </p:nvSpPr>
        <p:spPr>
          <a:xfrm>
            <a:off x="777240" y="3401568"/>
            <a:ext cx="2048256" cy="219456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l"/>
            <a:r>
              <a:rPr lang="es-ES" sz="760" dirty="0">
                <a:solidFill>
                  <a:srgbClr val="0D1B5E"/>
                </a:solidFill>
                <a:latin typeface="Calibri"/>
              </a:rPr>
              <a:t>Asignacion sin modelo demanda</a:t>
            </a:r>
          </a:p>
        </p:txBody>
      </p:sp>
      <p:sp>
        <p:nvSpPr>
          <p:cNvPr id="204" name="c"/>
          <p:cNvSpPr>
            <a:spLocks noGrp="1"/>
          </p:cNvSpPr>
          <p:nvPr/>
        </p:nvSpPr>
        <p:spPr>
          <a:xfrm>
            <a:off x="2880360" y="3401568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205" name="ct2"/>
          <p:cNvSpPr txBox="1">
            <a:spLocks noGrp="1"/>
          </p:cNvSpPr>
          <p:nvPr/>
        </p:nvSpPr>
        <p:spPr>
          <a:xfrm>
            <a:off x="2880360" y="3401568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1000" dirty="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205" name="c"/>
          <p:cNvSpPr>
            <a:spLocks noGrp="1"/>
          </p:cNvSpPr>
          <p:nvPr/>
        </p:nvSpPr>
        <p:spPr>
          <a:xfrm>
            <a:off x="3291840" y="3401568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206" name="ct2"/>
          <p:cNvSpPr txBox="1">
            <a:spLocks noGrp="1"/>
          </p:cNvSpPr>
          <p:nvPr/>
        </p:nvSpPr>
        <p:spPr>
          <a:xfrm>
            <a:off x="3291840" y="3401568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1000" dirty="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206" name="c"/>
          <p:cNvSpPr>
            <a:spLocks noGrp="1"/>
          </p:cNvSpPr>
          <p:nvPr/>
        </p:nvSpPr>
        <p:spPr>
          <a:xfrm>
            <a:off x="3703320" y="3401568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207" name="ct2"/>
          <p:cNvSpPr txBox="1">
            <a:spLocks noGrp="1"/>
          </p:cNvSpPr>
          <p:nvPr/>
        </p:nvSpPr>
        <p:spPr>
          <a:xfrm>
            <a:off x="3703320" y="3401568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1000" dirty="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207" name="c"/>
          <p:cNvSpPr>
            <a:spLocks noGrp="1"/>
          </p:cNvSpPr>
          <p:nvPr/>
        </p:nvSpPr>
        <p:spPr>
          <a:xfrm>
            <a:off x="4114800" y="3401568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208" name="ct2"/>
          <p:cNvSpPr txBox="1">
            <a:spLocks noGrp="1"/>
          </p:cNvSpPr>
          <p:nvPr/>
        </p:nvSpPr>
        <p:spPr>
          <a:xfrm>
            <a:off x="4114800" y="3401568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1000" dirty="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208" name="c"/>
          <p:cNvSpPr>
            <a:spLocks noGrp="1"/>
          </p:cNvSpPr>
          <p:nvPr/>
        </p:nvSpPr>
        <p:spPr>
          <a:xfrm>
            <a:off x="4526280" y="3401568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209" name="ct2"/>
          <p:cNvSpPr txBox="1">
            <a:spLocks noGrp="1"/>
          </p:cNvSpPr>
          <p:nvPr/>
        </p:nvSpPr>
        <p:spPr>
          <a:xfrm>
            <a:off x="4526280" y="3401568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1000" dirty="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209" name="c"/>
          <p:cNvSpPr>
            <a:spLocks noGrp="1"/>
          </p:cNvSpPr>
          <p:nvPr/>
        </p:nvSpPr>
        <p:spPr>
          <a:xfrm>
            <a:off x="4937760" y="3401568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210" name="ct2"/>
          <p:cNvSpPr txBox="1">
            <a:spLocks noGrp="1"/>
          </p:cNvSpPr>
          <p:nvPr/>
        </p:nvSpPr>
        <p:spPr>
          <a:xfrm>
            <a:off x="4937760" y="3401568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1000" dirty="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210" name="c"/>
          <p:cNvSpPr>
            <a:spLocks noGrp="1"/>
          </p:cNvSpPr>
          <p:nvPr/>
        </p:nvSpPr>
        <p:spPr>
          <a:xfrm>
            <a:off x="5349240" y="3401568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211" name="ct2"/>
          <p:cNvSpPr txBox="1">
            <a:spLocks noGrp="1"/>
          </p:cNvSpPr>
          <p:nvPr/>
        </p:nvSpPr>
        <p:spPr>
          <a:xfrm>
            <a:off x="5349240" y="3401568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1000" dirty="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211" name="c"/>
          <p:cNvSpPr>
            <a:spLocks noGrp="1"/>
          </p:cNvSpPr>
          <p:nvPr/>
        </p:nvSpPr>
        <p:spPr>
          <a:xfrm>
            <a:off x="5760720" y="3401568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212" name="ct2"/>
          <p:cNvSpPr txBox="1">
            <a:spLocks noGrp="1"/>
          </p:cNvSpPr>
          <p:nvPr/>
        </p:nvSpPr>
        <p:spPr>
          <a:xfrm>
            <a:off x="5760720" y="3401568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1000" dirty="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212" name="c"/>
          <p:cNvSpPr>
            <a:spLocks noGrp="1"/>
          </p:cNvSpPr>
          <p:nvPr/>
        </p:nvSpPr>
        <p:spPr>
          <a:xfrm>
            <a:off x="6172200" y="3401568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213" name="ct2"/>
          <p:cNvSpPr txBox="1">
            <a:spLocks noGrp="1"/>
          </p:cNvSpPr>
          <p:nvPr/>
        </p:nvSpPr>
        <p:spPr>
          <a:xfrm>
            <a:off x="6172200" y="3401568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1000" dirty="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213" name="c"/>
          <p:cNvSpPr>
            <a:spLocks noGrp="1"/>
          </p:cNvSpPr>
          <p:nvPr/>
        </p:nvSpPr>
        <p:spPr>
          <a:xfrm>
            <a:off x="6583680" y="3401568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214" name="ct2"/>
          <p:cNvSpPr txBox="1">
            <a:spLocks noGrp="1"/>
          </p:cNvSpPr>
          <p:nvPr/>
        </p:nvSpPr>
        <p:spPr>
          <a:xfrm>
            <a:off x="6583680" y="3401568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1000" dirty="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214" name="c"/>
          <p:cNvSpPr>
            <a:spLocks noGrp="1"/>
          </p:cNvSpPr>
          <p:nvPr/>
        </p:nvSpPr>
        <p:spPr>
          <a:xfrm>
            <a:off x="6995160" y="3401568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215" name="ct2"/>
          <p:cNvSpPr txBox="1">
            <a:spLocks noGrp="1"/>
          </p:cNvSpPr>
          <p:nvPr/>
        </p:nvSpPr>
        <p:spPr>
          <a:xfrm>
            <a:off x="6995160" y="3401568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1000" dirty="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215" name="c"/>
          <p:cNvSpPr>
            <a:spLocks noGrp="1"/>
          </p:cNvSpPr>
          <p:nvPr/>
        </p:nvSpPr>
        <p:spPr>
          <a:xfrm>
            <a:off x="7406640" y="3401568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216" name="ct2"/>
          <p:cNvSpPr txBox="1">
            <a:spLocks noGrp="1"/>
          </p:cNvSpPr>
          <p:nvPr/>
        </p:nvSpPr>
        <p:spPr>
          <a:xfrm>
            <a:off x="7406640" y="3401568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1000" dirty="0" b="1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212" name="db"/>
          <p:cNvSpPr>
            <a:spLocks noGrp="1"/>
          </p:cNvSpPr>
          <p:nvPr/>
        </p:nvSpPr>
        <p:spPr>
          <a:xfrm>
            <a:off x="722376" y="3621024"/>
            <a:ext cx="2157984" cy="219456"/>
          </a:xfrm>
          <a:prstGeom prst="rect">
            <a:avLst/>
          </a:prstGeom>
          <a:solidFill>
            <a:srgbClr val="F3F0FF"/>
          </a:solidFill>
          <a:ln w="6350">
            <a:solidFill>
              <a:srgbClr val="C8D6E8"/>
            </a:solidFill>
          </a:ln>
        </p:spPr>
      </p:sp>
      <p:sp>
        <p:nvSpPr>
          <p:cNvPr id="213" name="dt"/>
          <p:cNvSpPr txBox="1">
            <a:spLocks noGrp="1"/>
          </p:cNvSpPr>
          <p:nvPr/>
        </p:nvSpPr>
        <p:spPr>
          <a:xfrm>
            <a:off x="777240" y="3621024"/>
            <a:ext cx="2048256" cy="219456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l"/>
            <a:r>
              <a:rPr lang="es-ES" sz="760" dirty="0">
                <a:solidFill>
                  <a:srgbClr val="0D1B5E"/>
                </a:solidFill>
                <a:latin typeface="Calibri"/>
              </a:rPr>
              <a:t>Penalizacion de la eficiencia</a:t>
            </a:r>
          </a:p>
        </p:txBody>
      </p:sp>
      <p:sp>
        <p:nvSpPr>
          <p:cNvPr id="214" name="c"/>
          <p:cNvSpPr>
            <a:spLocks noGrp="1"/>
          </p:cNvSpPr>
          <p:nvPr/>
        </p:nvSpPr>
        <p:spPr>
          <a:xfrm>
            <a:off x="2880360" y="3621024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215" name="ct2"/>
          <p:cNvSpPr txBox="1">
            <a:spLocks noGrp="1"/>
          </p:cNvSpPr>
          <p:nvPr/>
        </p:nvSpPr>
        <p:spPr>
          <a:xfrm>
            <a:off x="2880360" y="3621024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1000" dirty="0" b="1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215" name="c"/>
          <p:cNvSpPr>
            <a:spLocks noGrp="1"/>
          </p:cNvSpPr>
          <p:nvPr/>
        </p:nvSpPr>
        <p:spPr>
          <a:xfrm>
            <a:off x="3291840" y="3621024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216" name="ct2"/>
          <p:cNvSpPr txBox="1">
            <a:spLocks noGrp="1"/>
          </p:cNvSpPr>
          <p:nvPr/>
        </p:nvSpPr>
        <p:spPr>
          <a:xfrm>
            <a:off x="3291840" y="3621024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1000" dirty="0" b="1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216" name="c"/>
          <p:cNvSpPr>
            <a:spLocks noGrp="1"/>
          </p:cNvSpPr>
          <p:nvPr/>
        </p:nvSpPr>
        <p:spPr>
          <a:xfrm>
            <a:off x="3703320" y="3621024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217" name="ct2"/>
          <p:cNvSpPr txBox="1">
            <a:spLocks noGrp="1"/>
          </p:cNvSpPr>
          <p:nvPr/>
        </p:nvSpPr>
        <p:spPr>
          <a:xfrm>
            <a:off x="3703320" y="3621024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1000" dirty="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217" name="c"/>
          <p:cNvSpPr>
            <a:spLocks noGrp="1"/>
          </p:cNvSpPr>
          <p:nvPr/>
        </p:nvSpPr>
        <p:spPr>
          <a:xfrm>
            <a:off x="4114800" y="3621024"/>
            <a:ext cx="411480" cy="219456"/>
          </a:xfrm>
          <a:prstGeom prst="rect">
            <a:avLst/>
          </a:prstGeom>
          <a:solidFill>
            <a:srgbClr val="EBF4FF"/>
          </a:solidFill>
          <a:ln w="6350">
            <a:solidFill>
              <a:srgbClr val="C8D6E8"/>
            </a:solidFill>
          </a:ln>
        </p:spPr>
      </p:sp>
      <p:sp>
        <p:nvSpPr>
          <p:cNvPr id="218" name="ct2"/>
          <p:cNvSpPr txBox="1">
            <a:spLocks noGrp="1"/>
          </p:cNvSpPr>
          <p:nvPr/>
        </p:nvSpPr>
        <p:spPr>
          <a:xfrm>
            <a:off x="4114800" y="3621024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1000" dirty="0" b="1">
                <a:solidFill>
                  <a:srgbClr val="C8D6E8"/>
                </a:solidFill>
                <a:latin typeface="Calibri"/>
              </a:rPr>
              <a:t>○</a:t>
            </a:r>
          </a:p>
        </p:txBody>
      </p:sp>
      <p:sp>
        <p:nvSpPr>
          <p:cNvPr id="218" name="c"/>
          <p:cNvSpPr>
            <a:spLocks noGrp="1"/>
          </p:cNvSpPr>
          <p:nvPr/>
        </p:nvSpPr>
        <p:spPr>
          <a:xfrm>
            <a:off x="4526280" y="3621024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219" name="ct2"/>
          <p:cNvSpPr txBox="1">
            <a:spLocks noGrp="1"/>
          </p:cNvSpPr>
          <p:nvPr/>
        </p:nvSpPr>
        <p:spPr>
          <a:xfrm>
            <a:off x="4526280" y="3621024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1000" dirty="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219" name="c"/>
          <p:cNvSpPr>
            <a:spLocks noGrp="1"/>
          </p:cNvSpPr>
          <p:nvPr/>
        </p:nvSpPr>
        <p:spPr>
          <a:xfrm>
            <a:off x="4937760" y="3621024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220" name="ct2"/>
          <p:cNvSpPr txBox="1">
            <a:spLocks noGrp="1"/>
          </p:cNvSpPr>
          <p:nvPr/>
        </p:nvSpPr>
        <p:spPr>
          <a:xfrm>
            <a:off x="4937760" y="3621024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1000" dirty="0" b="1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220" name="c"/>
          <p:cNvSpPr>
            <a:spLocks noGrp="1"/>
          </p:cNvSpPr>
          <p:nvPr/>
        </p:nvSpPr>
        <p:spPr>
          <a:xfrm>
            <a:off x="5349240" y="3621024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221" name="ct2"/>
          <p:cNvSpPr txBox="1">
            <a:spLocks noGrp="1"/>
          </p:cNvSpPr>
          <p:nvPr/>
        </p:nvSpPr>
        <p:spPr>
          <a:xfrm>
            <a:off x="5349240" y="3621024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1000" dirty="0" b="1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221" name="c"/>
          <p:cNvSpPr>
            <a:spLocks noGrp="1"/>
          </p:cNvSpPr>
          <p:nvPr/>
        </p:nvSpPr>
        <p:spPr>
          <a:xfrm>
            <a:off x="5760720" y="3621024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222" name="ct2"/>
          <p:cNvSpPr txBox="1">
            <a:spLocks noGrp="1"/>
          </p:cNvSpPr>
          <p:nvPr/>
        </p:nvSpPr>
        <p:spPr>
          <a:xfrm>
            <a:off x="5760720" y="3621024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1000" dirty="0" b="1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222" name="c"/>
          <p:cNvSpPr>
            <a:spLocks noGrp="1"/>
          </p:cNvSpPr>
          <p:nvPr/>
        </p:nvSpPr>
        <p:spPr>
          <a:xfrm>
            <a:off x="6172200" y="3621024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223" name="ct2"/>
          <p:cNvSpPr txBox="1">
            <a:spLocks noGrp="1"/>
          </p:cNvSpPr>
          <p:nvPr/>
        </p:nvSpPr>
        <p:spPr>
          <a:xfrm>
            <a:off x="6172200" y="3621024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1000" dirty="0" b="1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223" name="c"/>
          <p:cNvSpPr>
            <a:spLocks noGrp="1"/>
          </p:cNvSpPr>
          <p:nvPr/>
        </p:nvSpPr>
        <p:spPr>
          <a:xfrm>
            <a:off x="6583680" y="3621024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224" name="ct2"/>
          <p:cNvSpPr txBox="1">
            <a:spLocks noGrp="1"/>
          </p:cNvSpPr>
          <p:nvPr/>
        </p:nvSpPr>
        <p:spPr>
          <a:xfrm>
            <a:off x="6583680" y="3621024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1000" dirty="0" b="1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224" name="c"/>
          <p:cNvSpPr>
            <a:spLocks noGrp="1"/>
          </p:cNvSpPr>
          <p:nvPr/>
        </p:nvSpPr>
        <p:spPr>
          <a:xfrm>
            <a:off x="6995160" y="3621024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225" name="ct2"/>
          <p:cNvSpPr txBox="1">
            <a:spLocks noGrp="1"/>
          </p:cNvSpPr>
          <p:nvPr/>
        </p:nvSpPr>
        <p:spPr>
          <a:xfrm>
            <a:off x="6995160" y="3621024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1000" dirty="0" b="1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225" name="c"/>
          <p:cNvSpPr>
            <a:spLocks noGrp="1"/>
          </p:cNvSpPr>
          <p:nvPr/>
        </p:nvSpPr>
        <p:spPr>
          <a:xfrm>
            <a:off x="7406640" y="3621024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226" name="ct2"/>
          <p:cNvSpPr txBox="1">
            <a:spLocks noGrp="1"/>
          </p:cNvSpPr>
          <p:nvPr/>
        </p:nvSpPr>
        <p:spPr>
          <a:xfrm>
            <a:off x="7406640" y="3621024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1000" dirty="0" b="1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220" name="cb"/>
          <p:cNvSpPr>
            <a:spLocks noGrp="1"/>
          </p:cNvSpPr>
          <p:nvPr/>
        </p:nvSpPr>
        <p:spPr>
          <a:xfrm>
            <a:off x="320040" y="3840480"/>
            <a:ext cx="402336" cy="219456"/>
          </a:xfrm>
          <a:prstGeom prst="rect">
            <a:avLst/>
          </a:prstGeom>
          <a:solidFill>
            <a:srgbClr val="F8F0F6"/>
          </a:solidFill>
          <a:ln w="6350">
            <a:solidFill>
              <a:srgbClr val="C8D6E8"/>
            </a:solidFill>
          </a:ln>
        </p:spPr>
      </p:sp>
      <p:sp>
        <p:nvSpPr>
          <p:cNvPr id="221" name="ct"/>
          <p:cNvSpPr txBox="1">
            <a:spLocks noGrp="1"/>
          </p:cNvSpPr>
          <p:nvPr/>
        </p:nvSpPr>
        <p:spPr>
          <a:xfrm>
            <a:off x="320040" y="3840480"/>
            <a:ext cx="402336" cy="219456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580" dirty="0" b="1">
                <a:solidFill>
                  <a:srgbClr val="6B2D5E"/>
                </a:solidFill>
                <a:latin typeface="Calibri"/>
              </a:rPr>
              <a:t>COM</a:t>
            </a:r>
          </a:p>
        </p:txBody>
      </p:sp>
      <p:sp>
        <p:nvSpPr>
          <p:cNvPr id="222" name="db"/>
          <p:cNvSpPr>
            <a:spLocks noGrp="1"/>
          </p:cNvSpPr>
          <p:nvPr/>
        </p:nvSpPr>
        <p:spPr>
          <a:xfrm>
            <a:off x="722376" y="3840480"/>
            <a:ext cx="2157984" cy="219456"/>
          </a:xfrm>
          <a:prstGeom prst="rect">
            <a:avLst/>
          </a:prstGeom>
          <a:solidFill>
            <a:srgbClr val="F8F0F6"/>
          </a:solidFill>
          <a:ln w="6350">
            <a:solidFill>
              <a:srgbClr val="C8D6E8"/>
            </a:solidFill>
          </a:ln>
        </p:spPr>
      </p:sp>
      <p:sp>
        <p:nvSpPr>
          <p:cNvPr id="223" name="dt"/>
          <p:cNvSpPr txBox="1">
            <a:spLocks noGrp="1"/>
          </p:cNvSpPr>
          <p:nvPr/>
        </p:nvSpPr>
        <p:spPr>
          <a:xfrm>
            <a:off x="777240" y="3840480"/>
            <a:ext cx="2048256" cy="219456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l"/>
            <a:r>
              <a:rPr lang="es-ES" sz="760" dirty="0">
                <a:solidFill>
                  <a:srgbClr val="0D1B5E"/>
                </a:solidFill>
                <a:latin typeface="Calibri"/>
              </a:rPr>
              <a:t>Brechas vendido vs ejecutado</a:t>
            </a:r>
          </a:p>
        </p:txBody>
      </p:sp>
      <p:sp>
        <p:nvSpPr>
          <p:cNvPr id="224" name="c"/>
          <p:cNvSpPr>
            <a:spLocks noGrp="1"/>
          </p:cNvSpPr>
          <p:nvPr/>
        </p:nvSpPr>
        <p:spPr>
          <a:xfrm>
            <a:off x="2880360" y="3840480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225" name="ct2"/>
          <p:cNvSpPr txBox="1">
            <a:spLocks noGrp="1"/>
          </p:cNvSpPr>
          <p:nvPr/>
        </p:nvSpPr>
        <p:spPr>
          <a:xfrm>
            <a:off x="2880360" y="3840480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1000" dirty="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225" name="c"/>
          <p:cNvSpPr>
            <a:spLocks noGrp="1"/>
          </p:cNvSpPr>
          <p:nvPr/>
        </p:nvSpPr>
        <p:spPr>
          <a:xfrm>
            <a:off x="3291840" y="3840480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226" name="ct2"/>
          <p:cNvSpPr txBox="1">
            <a:spLocks noGrp="1"/>
          </p:cNvSpPr>
          <p:nvPr/>
        </p:nvSpPr>
        <p:spPr>
          <a:xfrm>
            <a:off x="3291840" y="3840480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1000" dirty="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226" name="c"/>
          <p:cNvSpPr>
            <a:spLocks noGrp="1"/>
          </p:cNvSpPr>
          <p:nvPr/>
        </p:nvSpPr>
        <p:spPr>
          <a:xfrm>
            <a:off x="3703320" y="3840480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227" name="ct2"/>
          <p:cNvSpPr txBox="1">
            <a:spLocks noGrp="1"/>
          </p:cNvSpPr>
          <p:nvPr/>
        </p:nvSpPr>
        <p:spPr>
          <a:xfrm>
            <a:off x="3703320" y="3840480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1000" dirty="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227" name="c"/>
          <p:cNvSpPr>
            <a:spLocks noGrp="1"/>
          </p:cNvSpPr>
          <p:nvPr/>
        </p:nvSpPr>
        <p:spPr>
          <a:xfrm>
            <a:off x="4114800" y="3840480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228" name="ct2"/>
          <p:cNvSpPr txBox="1">
            <a:spLocks noGrp="1"/>
          </p:cNvSpPr>
          <p:nvPr/>
        </p:nvSpPr>
        <p:spPr>
          <a:xfrm>
            <a:off x="4114800" y="3840480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1000" dirty="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228" name="c"/>
          <p:cNvSpPr>
            <a:spLocks noGrp="1"/>
          </p:cNvSpPr>
          <p:nvPr/>
        </p:nvSpPr>
        <p:spPr>
          <a:xfrm>
            <a:off x="4526280" y="3840480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229" name="ct2"/>
          <p:cNvSpPr txBox="1">
            <a:spLocks noGrp="1"/>
          </p:cNvSpPr>
          <p:nvPr/>
        </p:nvSpPr>
        <p:spPr>
          <a:xfrm>
            <a:off x="4526280" y="3840480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1000" dirty="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229" name="c"/>
          <p:cNvSpPr>
            <a:spLocks noGrp="1"/>
          </p:cNvSpPr>
          <p:nvPr/>
        </p:nvSpPr>
        <p:spPr>
          <a:xfrm>
            <a:off x="4937760" y="3840480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230" name="ct2"/>
          <p:cNvSpPr txBox="1">
            <a:spLocks noGrp="1"/>
          </p:cNvSpPr>
          <p:nvPr/>
        </p:nvSpPr>
        <p:spPr>
          <a:xfrm>
            <a:off x="4937760" y="3840480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1000" dirty="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230" name="c"/>
          <p:cNvSpPr>
            <a:spLocks noGrp="1"/>
          </p:cNvSpPr>
          <p:nvPr/>
        </p:nvSpPr>
        <p:spPr>
          <a:xfrm>
            <a:off x="5349240" y="3840480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231" name="ct2"/>
          <p:cNvSpPr txBox="1">
            <a:spLocks noGrp="1"/>
          </p:cNvSpPr>
          <p:nvPr/>
        </p:nvSpPr>
        <p:spPr>
          <a:xfrm>
            <a:off x="5349240" y="3840480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1000" dirty="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231" name="c"/>
          <p:cNvSpPr>
            <a:spLocks noGrp="1"/>
          </p:cNvSpPr>
          <p:nvPr/>
        </p:nvSpPr>
        <p:spPr>
          <a:xfrm>
            <a:off x="5760720" y="3840480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232" name="ct2"/>
          <p:cNvSpPr txBox="1">
            <a:spLocks noGrp="1"/>
          </p:cNvSpPr>
          <p:nvPr/>
        </p:nvSpPr>
        <p:spPr>
          <a:xfrm>
            <a:off x="5760720" y="3840480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1000" dirty="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232" name="c"/>
          <p:cNvSpPr>
            <a:spLocks noGrp="1"/>
          </p:cNvSpPr>
          <p:nvPr/>
        </p:nvSpPr>
        <p:spPr>
          <a:xfrm>
            <a:off x="6172200" y="3840480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233" name="ct2"/>
          <p:cNvSpPr txBox="1">
            <a:spLocks noGrp="1"/>
          </p:cNvSpPr>
          <p:nvPr/>
        </p:nvSpPr>
        <p:spPr>
          <a:xfrm>
            <a:off x="6172200" y="3840480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1000" dirty="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233" name="c"/>
          <p:cNvSpPr>
            <a:spLocks noGrp="1"/>
          </p:cNvSpPr>
          <p:nvPr/>
        </p:nvSpPr>
        <p:spPr>
          <a:xfrm>
            <a:off x="6583680" y="3840480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234" name="ct2"/>
          <p:cNvSpPr txBox="1">
            <a:spLocks noGrp="1"/>
          </p:cNvSpPr>
          <p:nvPr/>
        </p:nvSpPr>
        <p:spPr>
          <a:xfrm>
            <a:off x="6583680" y="3840480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1000" dirty="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234" name="c"/>
          <p:cNvSpPr>
            <a:spLocks noGrp="1"/>
          </p:cNvSpPr>
          <p:nvPr/>
        </p:nvSpPr>
        <p:spPr>
          <a:xfrm>
            <a:off x="6995160" y="3840480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235" name="ct2"/>
          <p:cNvSpPr txBox="1">
            <a:spLocks noGrp="1"/>
          </p:cNvSpPr>
          <p:nvPr/>
        </p:nvSpPr>
        <p:spPr>
          <a:xfrm>
            <a:off x="6995160" y="3840480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1000" dirty="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235" name="c"/>
          <p:cNvSpPr>
            <a:spLocks noGrp="1"/>
          </p:cNvSpPr>
          <p:nvPr/>
        </p:nvSpPr>
        <p:spPr>
          <a:xfrm>
            <a:off x="7406640" y="3840480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236" name="ct2"/>
          <p:cNvSpPr txBox="1">
            <a:spLocks noGrp="1"/>
          </p:cNvSpPr>
          <p:nvPr/>
        </p:nvSpPr>
        <p:spPr>
          <a:xfrm>
            <a:off x="7406640" y="3840480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1000" dirty="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232" name="db"/>
          <p:cNvSpPr>
            <a:spLocks noGrp="1"/>
          </p:cNvSpPr>
          <p:nvPr/>
        </p:nvSpPr>
        <p:spPr>
          <a:xfrm>
            <a:off x="722376" y="4059936"/>
            <a:ext cx="2157984" cy="219456"/>
          </a:xfrm>
          <a:prstGeom prst="rect">
            <a:avLst/>
          </a:prstGeom>
          <a:solidFill>
            <a:srgbClr val="F8F0F6"/>
          </a:solidFill>
          <a:ln w="6350">
            <a:solidFill>
              <a:srgbClr val="C8D6E8"/>
            </a:solidFill>
          </a:ln>
        </p:spPr>
      </p:sp>
      <p:sp>
        <p:nvSpPr>
          <p:cNvPr id="233" name="dt"/>
          <p:cNvSpPr txBox="1">
            <a:spLocks noGrp="1"/>
          </p:cNvSpPr>
          <p:nvPr/>
        </p:nvSpPr>
        <p:spPr>
          <a:xfrm>
            <a:off x="777240" y="4059936"/>
            <a:ext cx="2048256" cy="219456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l"/>
            <a:r>
              <a:rPr lang="es-ES" sz="760" dirty="0">
                <a:solidFill>
                  <a:srgbClr val="0D1B5E"/>
                </a:solidFill>
                <a:latin typeface="Calibri"/>
              </a:rPr>
              <a:t>Sin KEDB — gestion informal</a:t>
            </a:r>
          </a:p>
        </p:txBody>
      </p:sp>
      <p:sp>
        <p:nvSpPr>
          <p:cNvPr id="234" name="c"/>
          <p:cNvSpPr>
            <a:spLocks noGrp="1"/>
          </p:cNvSpPr>
          <p:nvPr/>
        </p:nvSpPr>
        <p:spPr>
          <a:xfrm>
            <a:off x="2880360" y="4059936"/>
            <a:ext cx="411480" cy="219456"/>
          </a:xfrm>
          <a:prstGeom prst="rect">
            <a:avLst/>
          </a:prstGeom>
          <a:solidFill>
            <a:srgbClr val="EBF4FF"/>
          </a:solidFill>
          <a:ln w="6350">
            <a:solidFill>
              <a:srgbClr val="C8D6E8"/>
            </a:solidFill>
          </a:ln>
        </p:spPr>
      </p:sp>
      <p:sp>
        <p:nvSpPr>
          <p:cNvPr id="235" name="ct2"/>
          <p:cNvSpPr txBox="1">
            <a:spLocks noGrp="1"/>
          </p:cNvSpPr>
          <p:nvPr/>
        </p:nvSpPr>
        <p:spPr>
          <a:xfrm>
            <a:off x="2880360" y="4059936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1000" dirty="0" b="1">
                <a:solidFill>
                  <a:srgbClr val="C8D6E8"/>
                </a:solidFill>
                <a:latin typeface="Calibri"/>
              </a:rPr>
              <a:t>○</a:t>
            </a:r>
          </a:p>
        </p:txBody>
      </p:sp>
      <p:sp>
        <p:nvSpPr>
          <p:cNvPr id="235" name="c"/>
          <p:cNvSpPr>
            <a:spLocks noGrp="1"/>
          </p:cNvSpPr>
          <p:nvPr/>
        </p:nvSpPr>
        <p:spPr>
          <a:xfrm>
            <a:off x="3291840" y="4059936"/>
            <a:ext cx="411480" cy="219456"/>
          </a:xfrm>
          <a:prstGeom prst="rect">
            <a:avLst/>
          </a:prstGeom>
          <a:solidFill>
            <a:srgbClr val="EBF4FF"/>
          </a:solidFill>
          <a:ln w="6350">
            <a:solidFill>
              <a:srgbClr val="C8D6E8"/>
            </a:solidFill>
          </a:ln>
        </p:spPr>
      </p:sp>
      <p:sp>
        <p:nvSpPr>
          <p:cNvPr id="236" name="ct2"/>
          <p:cNvSpPr txBox="1">
            <a:spLocks noGrp="1"/>
          </p:cNvSpPr>
          <p:nvPr/>
        </p:nvSpPr>
        <p:spPr>
          <a:xfrm>
            <a:off x="3291840" y="4059936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1000" dirty="0" b="1">
                <a:solidFill>
                  <a:srgbClr val="C8D6E8"/>
                </a:solidFill>
                <a:latin typeface="Calibri"/>
              </a:rPr>
              <a:t>○</a:t>
            </a:r>
          </a:p>
        </p:txBody>
      </p:sp>
      <p:sp>
        <p:nvSpPr>
          <p:cNvPr id="236" name="c"/>
          <p:cNvSpPr>
            <a:spLocks noGrp="1"/>
          </p:cNvSpPr>
          <p:nvPr/>
        </p:nvSpPr>
        <p:spPr>
          <a:xfrm>
            <a:off x="3703320" y="4059936"/>
            <a:ext cx="411480" cy="219456"/>
          </a:xfrm>
          <a:prstGeom prst="rect">
            <a:avLst/>
          </a:prstGeom>
          <a:solidFill>
            <a:srgbClr val="EBF4FF"/>
          </a:solidFill>
          <a:ln w="6350">
            <a:solidFill>
              <a:srgbClr val="C8D6E8"/>
            </a:solidFill>
          </a:ln>
        </p:spPr>
      </p:sp>
      <p:sp>
        <p:nvSpPr>
          <p:cNvPr id="237" name="ct2"/>
          <p:cNvSpPr txBox="1">
            <a:spLocks noGrp="1"/>
          </p:cNvSpPr>
          <p:nvPr/>
        </p:nvSpPr>
        <p:spPr>
          <a:xfrm>
            <a:off x="3703320" y="4059936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1000" dirty="0" b="1">
                <a:solidFill>
                  <a:srgbClr val="C8D6E8"/>
                </a:solidFill>
                <a:latin typeface="Calibri"/>
              </a:rPr>
              <a:t>○</a:t>
            </a:r>
          </a:p>
        </p:txBody>
      </p:sp>
      <p:sp>
        <p:nvSpPr>
          <p:cNvPr id="237" name="c"/>
          <p:cNvSpPr>
            <a:spLocks noGrp="1"/>
          </p:cNvSpPr>
          <p:nvPr/>
        </p:nvSpPr>
        <p:spPr>
          <a:xfrm>
            <a:off x="4114800" y="4059936"/>
            <a:ext cx="411480" cy="219456"/>
          </a:xfrm>
          <a:prstGeom prst="rect">
            <a:avLst/>
          </a:prstGeom>
          <a:solidFill>
            <a:srgbClr val="EBF4FF"/>
          </a:solidFill>
          <a:ln w="6350">
            <a:solidFill>
              <a:srgbClr val="C8D6E8"/>
            </a:solidFill>
          </a:ln>
        </p:spPr>
      </p:sp>
      <p:sp>
        <p:nvSpPr>
          <p:cNvPr id="238" name="ct2"/>
          <p:cNvSpPr txBox="1">
            <a:spLocks noGrp="1"/>
          </p:cNvSpPr>
          <p:nvPr/>
        </p:nvSpPr>
        <p:spPr>
          <a:xfrm>
            <a:off x="4114800" y="4059936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1000" dirty="0" b="1">
                <a:solidFill>
                  <a:srgbClr val="C8D6E8"/>
                </a:solidFill>
                <a:latin typeface="Calibri"/>
              </a:rPr>
              <a:t>○</a:t>
            </a:r>
          </a:p>
        </p:txBody>
      </p:sp>
      <p:sp>
        <p:nvSpPr>
          <p:cNvPr id="238" name="c"/>
          <p:cNvSpPr>
            <a:spLocks noGrp="1"/>
          </p:cNvSpPr>
          <p:nvPr/>
        </p:nvSpPr>
        <p:spPr>
          <a:xfrm>
            <a:off x="4526280" y="4059936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239" name="ct2"/>
          <p:cNvSpPr txBox="1">
            <a:spLocks noGrp="1"/>
          </p:cNvSpPr>
          <p:nvPr/>
        </p:nvSpPr>
        <p:spPr>
          <a:xfrm>
            <a:off x="4526280" y="4059936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1000" dirty="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239" name="c"/>
          <p:cNvSpPr>
            <a:spLocks noGrp="1"/>
          </p:cNvSpPr>
          <p:nvPr/>
        </p:nvSpPr>
        <p:spPr>
          <a:xfrm>
            <a:off x="4937760" y="4059936"/>
            <a:ext cx="411480" cy="219456"/>
          </a:xfrm>
          <a:prstGeom prst="rect">
            <a:avLst/>
          </a:prstGeom>
          <a:solidFill>
            <a:srgbClr val="EBF4FF"/>
          </a:solidFill>
          <a:ln w="6350">
            <a:solidFill>
              <a:srgbClr val="C8D6E8"/>
            </a:solidFill>
          </a:ln>
        </p:spPr>
      </p:sp>
      <p:sp>
        <p:nvSpPr>
          <p:cNvPr id="240" name="ct2"/>
          <p:cNvSpPr txBox="1">
            <a:spLocks noGrp="1"/>
          </p:cNvSpPr>
          <p:nvPr/>
        </p:nvSpPr>
        <p:spPr>
          <a:xfrm>
            <a:off x="4937760" y="4059936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1000" dirty="0" b="1">
                <a:solidFill>
                  <a:srgbClr val="C8D6E8"/>
                </a:solidFill>
                <a:latin typeface="Calibri"/>
              </a:rPr>
              <a:t>○</a:t>
            </a:r>
          </a:p>
        </p:txBody>
      </p:sp>
      <p:sp>
        <p:nvSpPr>
          <p:cNvPr id="240" name="c"/>
          <p:cNvSpPr>
            <a:spLocks noGrp="1"/>
          </p:cNvSpPr>
          <p:nvPr/>
        </p:nvSpPr>
        <p:spPr>
          <a:xfrm>
            <a:off x="5349240" y="4059936"/>
            <a:ext cx="411480" cy="219456"/>
          </a:xfrm>
          <a:prstGeom prst="rect">
            <a:avLst/>
          </a:prstGeom>
          <a:solidFill>
            <a:srgbClr val="EBF4FF"/>
          </a:solidFill>
          <a:ln w="6350">
            <a:solidFill>
              <a:srgbClr val="C8D6E8"/>
            </a:solidFill>
          </a:ln>
        </p:spPr>
      </p:sp>
      <p:sp>
        <p:nvSpPr>
          <p:cNvPr id="241" name="ct2"/>
          <p:cNvSpPr txBox="1">
            <a:spLocks noGrp="1"/>
          </p:cNvSpPr>
          <p:nvPr/>
        </p:nvSpPr>
        <p:spPr>
          <a:xfrm>
            <a:off x="5349240" y="4059936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1000" dirty="0" b="1">
                <a:solidFill>
                  <a:srgbClr val="C8D6E8"/>
                </a:solidFill>
                <a:latin typeface="Calibri"/>
              </a:rPr>
              <a:t>○</a:t>
            </a:r>
          </a:p>
        </p:txBody>
      </p:sp>
      <p:sp>
        <p:nvSpPr>
          <p:cNvPr id="241" name="c"/>
          <p:cNvSpPr>
            <a:spLocks noGrp="1"/>
          </p:cNvSpPr>
          <p:nvPr/>
        </p:nvSpPr>
        <p:spPr>
          <a:xfrm>
            <a:off x="5760720" y="4059936"/>
            <a:ext cx="411480" cy="219456"/>
          </a:xfrm>
          <a:prstGeom prst="rect">
            <a:avLst/>
          </a:prstGeom>
          <a:solidFill>
            <a:srgbClr val="EBF4FF"/>
          </a:solidFill>
          <a:ln w="6350">
            <a:solidFill>
              <a:srgbClr val="C8D6E8"/>
            </a:solidFill>
          </a:ln>
        </p:spPr>
      </p:sp>
      <p:sp>
        <p:nvSpPr>
          <p:cNvPr id="242" name="ct2"/>
          <p:cNvSpPr txBox="1">
            <a:spLocks noGrp="1"/>
          </p:cNvSpPr>
          <p:nvPr/>
        </p:nvSpPr>
        <p:spPr>
          <a:xfrm>
            <a:off x="5760720" y="4059936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1000" dirty="0" b="1">
                <a:solidFill>
                  <a:srgbClr val="C8D6E8"/>
                </a:solidFill>
                <a:latin typeface="Calibri"/>
              </a:rPr>
              <a:t>○</a:t>
            </a:r>
          </a:p>
        </p:txBody>
      </p:sp>
      <p:sp>
        <p:nvSpPr>
          <p:cNvPr id="242" name="c"/>
          <p:cNvSpPr>
            <a:spLocks noGrp="1"/>
          </p:cNvSpPr>
          <p:nvPr/>
        </p:nvSpPr>
        <p:spPr>
          <a:xfrm>
            <a:off x="6172200" y="4059936"/>
            <a:ext cx="411480" cy="219456"/>
          </a:xfrm>
          <a:prstGeom prst="rect">
            <a:avLst/>
          </a:prstGeom>
          <a:solidFill>
            <a:srgbClr val="EBF4FF"/>
          </a:solidFill>
          <a:ln w="6350">
            <a:solidFill>
              <a:srgbClr val="C8D6E8"/>
            </a:solidFill>
          </a:ln>
        </p:spPr>
      </p:sp>
      <p:sp>
        <p:nvSpPr>
          <p:cNvPr id="243" name="ct2"/>
          <p:cNvSpPr txBox="1">
            <a:spLocks noGrp="1"/>
          </p:cNvSpPr>
          <p:nvPr/>
        </p:nvSpPr>
        <p:spPr>
          <a:xfrm>
            <a:off x="6172200" y="4059936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1000" dirty="0" b="1">
                <a:solidFill>
                  <a:srgbClr val="C8D6E8"/>
                </a:solidFill>
                <a:latin typeface="Calibri"/>
              </a:rPr>
              <a:t>○</a:t>
            </a:r>
          </a:p>
        </p:txBody>
      </p:sp>
      <p:sp>
        <p:nvSpPr>
          <p:cNvPr id="243" name="c"/>
          <p:cNvSpPr>
            <a:spLocks noGrp="1"/>
          </p:cNvSpPr>
          <p:nvPr/>
        </p:nvSpPr>
        <p:spPr>
          <a:xfrm>
            <a:off x="6583680" y="4059936"/>
            <a:ext cx="411480" cy="219456"/>
          </a:xfrm>
          <a:prstGeom prst="rect">
            <a:avLst/>
          </a:prstGeom>
          <a:solidFill>
            <a:srgbClr val="EBF4FF"/>
          </a:solidFill>
          <a:ln w="6350">
            <a:solidFill>
              <a:srgbClr val="C8D6E8"/>
            </a:solidFill>
          </a:ln>
        </p:spPr>
      </p:sp>
      <p:sp>
        <p:nvSpPr>
          <p:cNvPr id="244" name="ct2"/>
          <p:cNvSpPr txBox="1">
            <a:spLocks noGrp="1"/>
          </p:cNvSpPr>
          <p:nvPr/>
        </p:nvSpPr>
        <p:spPr>
          <a:xfrm>
            <a:off x="6583680" y="4059936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1000" dirty="0" b="1">
                <a:solidFill>
                  <a:srgbClr val="C8D6E8"/>
                </a:solidFill>
                <a:latin typeface="Calibri"/>
              </a:rPr>
              <a:t>○</a:t>
            </a:r>
          </a:p>
        </p:txBody>
      </p:sp>
      <p:sp>
        <p:nvSpPr>
          <p:cNvPr id="244" name="c"/>
          <p:cNvSpPr>
            <a:spLocks noGrp="1"/>
          </p:cNvSpPr>
          <p:nvPr/>
        </p:nvSpPr>
        <p:spPr>
          <a:xfrm>
            <a:off x="6995160" y="4059936"/>
            <a:ext cx="411480" cy="219456"/>
          </a:xfrm>
          <a:prstGeom prst="rect">
            <a:avLst/>
          </a:prstGeom>
          <a:solidFill>
            <a:srgbClr val="EBF4FF"/>
          </a:solidFill>
          <a:ln w="6350">
            <a:solidFill>
              <a:srgbClr val="C8D6E8"/>
            </a:solidFill>
          </a:ln>
        </p:spPr>
      </p:sp>
      <p:sp>
        <p:nvSpPr>
          <p:cNvPr id="245" name="ct2"/>
          <p:cNvSpPr txBox="1">
            <a:spLocks noGrp="1"/>
          </p:cNvSpPr>
          <p:nvPr/>
        </p:nvSpPr>
        <p:spPr>
          <a:xfrm>
            <a:off x="6995160" y="4059936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1000" dirty="0" b="1">
                <a:solidFill>
                  <a:srgbClr val="C8D6E8"/>
                </a:solidFill>
                <a:latin typeface="Calibri"/>
              </a:rPr>
              <a:t>○</a:t>
            </a:r>
          </a:p>
        </p:txBody>
      </p:sp>
      <p:sp>
        <p:nvSpPr>
          <p:cNvPr id="245" name="c"/>
          <p:cNvSpPr>
            <a:spLocks noGrp="1"/>
          </p:cNvSpPr>
          <p:nvPr/>
        </p:nvSpPr>
        <p:spPr>
          <a:xfrm>
            <a:off x="7406640" y="4059936"/>
            <a:ext cx="411480" cy="219456"/>
          </a:xfrm>
          <a:prstGeom prst="rect">
            <a:avLst/>
          </a:prstGeom>
          <a:solidFill>
            <a:srgbClr val="EBF4FF"/>
          </a:solidFill>
          <a:ln w="6350">
            <a:solidFill>
              <a:srgbClr val="C8D6E8"/>
            </a:solidFill>
          </a:ln>
        </p:spPr>
      </p:sp>
      <p:sp>
        <p:nvSpPr>
          <p:cNvPr id="246" name="ct2"/>
          <p:cNvSpPr txBox="1">
            <a:spLocks noGrp="1"/>
          </p:cNvSpPr>
          <p:nvPr/>
        </p:nvSpPr>
        <p:spPr>
          <a:xfrm>
            <a:off x="7406640" y="4059936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1000" dirty="0" b="1">
                <a:solidFill>
                  <a:srgbClr val="C8D6E8"/>
                </a:solidFill>
                <a:latin typeface="Calibri"/>
              </a:rPr>
              <a:t>○</a:t>
            </a:r>
          </a:p>
        </p:txBody>
      </p:sp>
      <p:sp>
        <p:nvSpPr>
          <p:cNvPr id="242" name="db"/>
          <p:cNvSpPr>
            <a:spLocks noGrp="1"/>
          </p:cNvSpPr>
          <p:nvPr/>
        </p:nvSpPr>
        <p:spPr>
          <a:xfrm>
            <a:off x="722376" y="4279392"/>
            <a:ext cx="2157984" cy="219456"/>
          </a:xfrm>
          <a:prstGeom prst="rect">
            <a:avLst/>
          </a:prstGeom>
          <a:solidFill>
            <a:srgbClr val="F8F0F6"/>
          </a:solidFill>
          <a:ln w="6350">
            <a:solidFill>
              <a:srgbClr val="C8D6E8"/>
            </a:solidFill>
          </a:ln>
        </p:spPr>
      </p:sp>
      <p:sp>
        <p:nvSpPr>
          <p:cNvPr id="243" name="dt"/>
          <p:cNvSpPr txBox="1">
            <a:spLocks noGrp="1"/>
          </p:cNvSpPr>
          <p:nvPr/>
        </p:nvSpPr>
        <p:spPr>
          <a:xfrm>
            <a:off x="777240" y="4279392"/>
            <a:ext cx="2048256" cy="219456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l"/>
            <a:r>
              <a:rPr lang="es-ES" sz="760" dirty="0">
                <a:solidFill>
                  <a:srgbClr val="0D1B5E"/>
                </a:solidFill>
                <a:latin typeface="Calibri"/>
              </a:rPr>
              <a:t>Herramientas fragmentadas</a:t>
            </a:r>
          </a:p>
        </p:txBody>
      </p:sp>
      <p:sp>
        <p:nvSpPr>
          <p:cNvPr id="244" name="c"/>
          <p:cNvSpPr>
            <a:spLocks noGrp="1"/>
          </p:cNvSpPr>
          <p:nvPr/>
        </p:nvSpPr>
        <p:spPr>
          <a:xfrm>
            <a:off x="2880360" y="4279392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245" name="ct2"/>
          <p:cNvSpPr txBox="1">
            <a:spLocks noGrp="1"/>
          </p:cNvSpPr>
          <p:nvPr/>
        </p:nvSpPr>
        <p:spPr>
          <a:xfrm>
            <a:off x="2880360" y="427939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1000" dirty="0" b="1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245" name="c"/>
          <p:cNvSpPr>
            <a:spLocks noGrp="1"/>
          </p:cNvSpPr>
          <p:nvPr/>
        </p:nvSpPr>
        <p:spPr>
          <a:xfrm>
            <a:off x="3291840" y="4279392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246" name="ct2"/>
          <p:cNvSpPr txBox="1">
            <a:spLocks noGrp="1"/>
          </p:cNvSpPr>
          <p:nvPr/>
        </p:nvSpPr>
        <p:spPr>
          <a:xfrm>
            <a:off x="3291840" y="427939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1000" dirty="0" b="1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246" name="c"/>
          <p:cNvSpPr>
            <a:spLocks noGrp="1"/>
          </p:cNvSpPr>
          <p:nvPr/>
        </p:nvSpPr>
        <p:spPr>
          <a:xfrm>
            <a:off x="3703320" y="4279392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247" name="ct2"/>
          <p:cNvSpPr txBox="1">
            <a:spLocks noGrp="1"/>
          </p:cNvSpPr>
          <p:nvPr/>
        </p:nvSpPr>
        <p:spPr>
          <a:xfrm>
            <a:off x="3703320" y="427939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1000" dirty="0" b="1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247" name="c"/>
          <p:cNvSpPr>
            <a:spLocks noGrp="1"/>
          </p:cNvSpPr>
          <p:nvPr/>
        </p:nvSpPr>
        <p:spPr>
          <a:xfrm>
            <a:off x="4114800" y="4279392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248" name="ct2"/>
          <p:cNvSpPr txBox="1">
            <a:spLocks noGrp="1"/>
          </p:cNvSpPr>
          <p:nvPr/>
        </p:nvSpPr>
        <p:spPr>
          <a:xfrm>
            <a:off x="4114800" y="427939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1000" dirty="0" b="1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248" name="c"/>
          <p:cNvSpPr>
            <a:spLocks noGrp="1"/>
          </p:cNvSpPr>
          <p:nvPr/>
        </p:nvSpPr>
        <p:spPr>
          <a:xfrm>
            <a:off x="4526280" y="4279392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249" name="ct2"/>
          <p:cNvSpPr txBox="1">
            <a:spLocks noGrp="1"/>
          </p:cNvSpPr>
          <p:nvPr/>
        </p:nvSpPr>
        <p:spPr>
          <a:xfrm>
            <a:off x="4526280" y="427939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1000" dirty="0" b="1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249" name="c"/>
          <p:cNvSpPr>
            <a:spLocks noGrp="1"/>
          </p:cNvSpPr>
          <p:nvPr/>
        </p:nvSpPr>
        <p:spPr>
          <a:xfrm>
            <a:off x="4937760" y="4279392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250" name="ct2"/>
          <p:cNvSpPr txBox="1">
            <a:spLocks noGrp="1"/>
          </p:cNvSpPr>
          <p:nvPr/>
        </p:nvSpPr>
        <p:spPr>
          <a:xfrm>
            <a:off x="4937760" y="427939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1000" dirty="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250" name="c"/>
          <p:cNvSpPr>
            <a:spLocks noGrp="1"/>
          </p:cNvSpPr>
          <p:nvPr/>
        </p:nvSpPr>
        <p:spPr>
          <a:xfrm>
            <a:off x="5349240" y="4279392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251" name="ct2"/>
          <p:cNvSpPr txBox="1">
            <a:spLocks noGrp="1"/>
          </p:cNvSpPr>
          <p:nvPr/>
        </p:nvSpPr>
        <p:spPr>
          <a:xfrm>
            <a:off x="5349240" y="427939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1000" dirty="0" b="1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251" name="c"/>
          <p:cNvSpPr>
            <a:spLocks noGrp="1"/>
          </p:cNvSpPr>
          <p:nvPr/>
        </p:nvSpPr>
        <p:spPr>
          <a:xfrm>
            <a:off x="5760720" y="4279392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252" name="ct2"/>
          <p:cNvSpPr txBox="1">
            <a:spLocks noGrp="1"/>
          </p:cNvSpPr>
          <p:nvPr/>
        </p:nvSpPr>
        <p:spPr>
          <a:xfrm>
            <a:off x="5760720" y="427939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1000" dirty="0" b="1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252" name="c"/>
          <p:cNvSpPr>
            <a:spLocks noGrp="1"/>
          </p:cNvSpPr>
          <p:nvPr/>
        </p:nvSpPr>
        <p:spPr>
          <a:xfrm>
            <a:off x="6172200" y="4279392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253" name="ct2"/>
          <p:cNvSpPr txBox="1">
            <a:spLocks noGrp="1"/>
          </p:cNvSpPr>
          <p:nvPr/>
        </p:nvSpPr>
        <p:spPr>
          <a:xfrm>
            <a:off x="6172200" y="427939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1000" dirty="0" b="1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253" name="c"/>
          <p:cNvSpPr>
            <a:spLocks noGrp="1"/>
          </p:cNvSpPr>
          <p:nvPr/>
        </p:nvSpPr>
        <p:spPr>
          <a:xfrm>
            <a:off x="6583680" y="4279392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254" name="ct2"/>
          <p:cNvSpPr txBox="1">
            <a:spLocks noGrp="1"/>
          </p:cNvSpPr>
          <p:nvPr/>
        </p:nvSpPr>
        <p:spPr>
          <a:xfrm>
            <a:off x="6583680" y="427939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1000" dirty="0" b="1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254" name="c"/>
          <p:cNvSpPr>
            <a:spLocks noGrp="1"/>
          </p:cNvSpPr>
          <p:nvPr/>
        </p:nvSpPr>
        <p:spPr>
          <a:xfrm>
            <a:off x="6995160" y="4279392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255" name="ct2"/>
          <p:cNvSpPr txBox="1">
            <a:spLocks noGrp="1"/>
          </p:cNvSpPr>
          <p:nvPr/>
        </p:nvSpPr>
        <p:spPr>
          <a:xfrm>
            <a:off x="6995160" y="427939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1000" dirty="0" b="1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255" name="c"/>
          <p:cNvSpPr>
            <a:spLocks noGrp="1"/>
          </p:cNvSpPr>
          <p:nvPr/>
        </p:nvSpPr>
        <p:spPr>
          <a:xfrm>
            <a:off x="7406640" y="4279392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256" name="ct2"/>
          <p:cNvSpPr txBox="1">
            <a:spLocks noGrp="1"/>
          </p:cNvSpPr>
          <p:nvPr/>
        </p:nvSpPr>
        <p:spPr>
          <a:xfrm>
            <a:off x="7406640" y="427939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1000" dirty="0" b="1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500" name="src"/>
          <p:cNvSpPr txBox="1">
            <a:spLocks noGrp="1"/>
          </p:cNvSpPr>
          <p:nvPr/>
        </p:nvSpPr>
        <p:spPr>
          <a:xfrm>
            <a:off x="320040" y="4453128"/>
            <a:ext cx="7717536" cy="164592"/>
          </a:xfrm>
          <a:prstGeom prst="rect">
            <a:avLst/>
          </a:prstGeom>
          <a:noFill/>
          <a:ln>
            <a:noFill/>
          </a:ln>
        </p:spPr>
        <p:txBody>
          <a:bodyPr anchor="t" wrap="square" lIns="91440" rIns="91440" tIns="45720" bIns="45720">
            <a:noAutofit/>
          </a:bodyPr>
          <a:lstStyle/>
          <a:p>
            <a:pPr algn="l"/>
            <a:r>
              <a:rPr lang="es-ES" sz="780" dirty="0" i="1">
                <a:solidFill>
                  <a:srgbClr val="5A6475"/>
                </a:solidFill>
                <a:latin typeface="Calibri"/>
              </a:rPr>
              <a:t>Fuente: Levantamiento interno PersonalSoft · Julio 2026 · Excel Levantamiento_Mesas_Julio_2026 · Transcripts reuniones Julio 2026</a:t>
            </a:r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bg"/>
          <p:cNvSpPr>
            <a:spLocks noGrp="1"/>
          </p:cNvSpPr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hdr"/>
          <p:cNvSpPr>
            <a:spLocks noGrp="1"/>
          </p:cNvSpPr>
          <p:nvPr/>
        </p:nvSpPr>
        <p:spPr>
          <a:xfrm>
            <a:off x="0" y="0"/>
            <a:ext cx="9144000" cy="694944"/>
          </a:xfrm>
          <a:prstGeom prst="rect">
            <a:avLst/>
          </a:prstGeom>
          <a:solidFill>
            <a:srgbClr val="6B2D5E"/>
          </a:solidFill>
          <a:ln>
            <a:noFill/>
          </a:ln>
        </p:spPr>
      </p:sp>
      <p:sp>
        <p:nvSpPr>
          <p:cNvPr id="4" name="ttl"/>
          <p:cNvSpPr txBox="1">
            <a:spLocks noGrp="1"/>
          </p:cNvSpPr>
          <p:nvPr/>
        </p:nvSpPr>
        <p:spPr>
          <a:xfrm>
            <a:off x="347472" y="100584"/>
            <a:ext cx="7717536" cy="493776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l"/>
            <a:r>
              <a:rPr lang="es-ES" sz="2000" dirty="0" b="1">
                <a:solidFill>
                  <a:srgbClr val="FFFFFF"/>
                </a:solidFill>
                <a:latin typeface="Calibri"/>
              </a:rPr>
              <a:t>Capacidad Instalada y Costo por Ticket vs Industria</a:t>
            </a:r>
          </a:p>
        </p:txBody>
      </p:sp>
      <p:sp>
        <p:nvSpPr>
          <p:cNvPr id="5" name="sub"/>
          <p:cNvSpPr txBox="1">
            <a:spLocks noGrp="1"/>
          </p:cNvSpPr>
          <p:nvPr/>
        </p:nvSpPr>
        <p:spPr>
          <a:xfrm>
            <a:off x="347472" y="585216"/>
            <a:ext cx="7717536" cy="219456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l"/>
            <a:r>
              <a:rPr lang="es-ES" sz="960" dirty="0">
                <a:solidFill>
                  <a:srgbClr val="F8F0F6"/>
                </a:solidFill>
                <a:latin typeface="Calibri"/>
              </a:rPr>
              <a:t>Formula: FTE × 160h/mes × $88.000 COP ÷ tickets/mes = Costo/ticket  ·  TRM $4.200 COP/USD  ·  Referencia industria N1-N2: USD $35/ticket</a:t>
            </a:r>
          </a:p>
        </p:txBody>
      </p:sp>
      <p:sp>
        <p:nvSpPr>
          <p:cNvPr id="10" name="kb"/>
          <p:cNvSpPr>
            <a:spLocks noGrp="1"/>
          </p:cNvSpPr>
          <p:nvPr/>
        </p:nvSpPr>
        <p:spPr>
          <a:xfrm>
            <a:off x="320040" y="804672"/>
            <a:ext cx="2377440" cy="786384"/>
          </a:xfrm>
          <a:prstGeom prst="roundRect">
            <a:avLst>
              <a:gd name="adj" fmla="val 14000"/>
            </a:avLst>
          </a:prstGeom>
          <a:solidFill>
            <a:srgbClr val="FEF2F2"/>
          </a:solidFill>
          <a:ln w="12700">
            <a:solidFill>
              <a:srgbClr val="B91C1C"/>
            </a:solidFill>
          </a:ln>
        </p:spPr>
      </p:sp>
      <p:sp>
        <p:nvSpPr>
          <p:cNvPr id="11" name="kt"/>
          <p:cNvSpPr>
            <a:spLocks noGrp="1"/>
          </p:cNvSpPr>
          <p:nvPr/>
        </p:nvSpPr>
        <p:spPr>
          <a:xfrm>
            <a:off x="320040" y="804672"/>
            <a:ext cx="2377440" cy="54864"/>
          </a:xfrm>
          <a:prstGeom prst="roundRect">
            <a:avLst>
              <a:gd name="adj" fmla="val 14000"/>
            </a:avLst>
          </a:prstGeom>
          <a:solidFill>
            <a:srgbClr val="B91C1C"/>
          </a:solidFill>
          <a:ln>
            <a:noFill/>
          </a:ln>
        </p:spPr>
      </p:sp>
      <p:sp>
        <p:nvSpPr>
          <p:cNvPr id="12" name="kn"/>
          <p:cNvSpPr txBox="1">
            <a:spLocks noGrp="1"/>
          </p:cNvSpPr>
          <p:nvPr/>
        </p:nvSpPr>
        <p:spPr>
          <a:xfrm>
            <a:off x="320040" y="896112"/>
            <a:ext cx="2377440" cy="457200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2600" dirty="0" b="1">
                <a:solidFill>
                  <a:srgbClr val="B91C1C"/>
                </a:solidFill>
                <a:latin typeface="Calibri"/>
              </a:rPr>
              <a:t>USD 35</a:t>
            </a:r>
          </a:p>
        </p:txBody>
      </p:sp>
      <p:sp>
        <p:nvSpPr>
          <p:cNvPr id="13" name="kl"/>
          <p:cNvSpPr txBox="1">
            <a:spLocks noGrp="1"/>
          </p:cNvSpPr>
          <p:nvPr/>
        </p:nvSpPr>
        <p:spPr>
          <a:xfrm>
            <a:off x="393192" y="1335024"/>
            <a:ext cx="2231136" cy="256032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840" dirty="0">
                <a:solidFill>
                  <a:srgbClr val="B91C1C"/>
                </a:solidFill>
                <a:latin typeface="Calibri"/>
              </a:rPr>
              <a:t>Industria N1-N2
Gartner/MetricNet</a:t>
            </a:r>
          </a:p>
        </p:txBody>
      </p:sp>
      <p:sp>
        <p:nvSpPr>
          <p:cNvPr id="15" name="arr"/>
          <p:cNvSpPr txBox="1">
            <a:spLocks noGrp="1"/>
          </p:cNvSpPr>
          <p:nvPr/>
        </p:nvSpPr>
        <p:spPr>
          <a:xfrm>
            <a:off x="2834640" y="1078992"/>
            <a:ext cx="365760" cy="237744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1800" dirty="0" b="1">
                <a:solidFill>
                  <a:srgbClr val="6B2D5E"/>
                </a:solidFill>
                <a:latin typeface="Calibri"/>
              </a:rPr>
              <a:t>→</a:t>
            </a:r>
          </a:p>
        </p:txBody>
      </p:sp>
      <p:sp>
        <p:nvSpPr>
          <p:cNvPr id="15" name="kb"/>
          <p:cNvSpPr>
            <a:spLocks noGrp="1"/>
          </p:cNvSpPr>
          <p:nvPr/>
        </p:nvSpPr>
        <p:spPr>
          <a:xfrm>
            <a:off x="3337560" y="804672"/>
            <a:ext cx="2377440" cy="786384"/>
          </a:xfrm>
          <a:prstGeom prst="roundRect">
            <a:avLst>
              <a:gd name="adj" fmla="val 14000"/>
            </a:avLst>
          </a:prstGeom>
          <a:solidFill>
            <a:srgbClr val="FEF9C3"/>
          </a:solidFill>
          <a:ln w="12700">
            <a:solidFill>
              <a:srgbClr val="B45309"/>
            </a:solidFill>
          </a:ln>
        </p:spPr>
      </p:sp>
      <p:sp>
        <p:nvSpPr>
          <p:cNvPr id="16" name="kt"/>
          <p:cNvSpPr>
            <a:spLocks noGrp="1"/>
          </p:cNvSpPr>
          <p:nvPr/>
        </p:nvSpPr>
        <p:spPr>
          <a:xfrm>
            <a:off x="3337560" y="804672"/>
            <a:ext cx="2377440" cy="54864"/>
          </a:xfrm>
          <a:prstGeom prst="roundRect">
            <a:avLst>
              <a:gd name="adj" fmla="val 14000"/>
            </a:avLst>
          </a:prstGeom>
          <a:solidFill>
            <a:srgbClr val="B45309"/>
          </a:solidFill>
          <a:ln>
            <a:noFill/>
          </a:ln>
        </p:spPr>
      </p:sp>
      <p:sp>
        <p:nvSpPr>
          <p:cNvPr id="17" name="kn"/>
          <p:cNvSpPr txBox="1">
            <a:spLocks noGrp="1"/>
          </p:cNvSpPr>
          <p:nvPr/>
        </p:nvSpPr>
        <p:spPr>
          <a:xfrm>
            <a:off x="3337560" y="896112"/>
            <a:ext cx="2377440" cy="457200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2600" dirty="0" b="1">
                <a:solidFill>
                  <a:srgbClr val="B45309"/>
                </a:solidFill>
                <a:latin typeface="Calibri"/>
              </a:rPr>
              <a:t>8.85h</a:t>
            </a:r>
          </a:p>
        </p:txBody>
      </p:sp>
      <p:sp>
        <p:nvSpPr>
          <p:cNvPr id="18" name="kl"/>
          <p:cNvSpPr txBox="1">
            <a:spLocks noGrp="1"/>
          </p:cNvSpPr>
          <p:nvPr/>
        </p:nvSpPr>
        <p:spPr>
          <a:xfrm>
            <a:off x="3410712" y="1335024"/>
            <a:ext cx="2231136" cy="256032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840" dirty="0">
                <a:solidFill>
                  <a:srgbClr val="B45309"/>
                </a:solidFill>
                <a:latin typeface="Calibri"/>
              </a:rPr>
              <a:t>MTTR promedio
industria (HDI)</a:t>
            </a:r>
          </a:p>
        </p:txBody>
      </p:sp>
      <p:sp>
        <p:nvSpPr>
          <p:cNvPr id="16" name="arr"/>
          <p:cNvSpPr txBox="1">
            <a:spLocks noGrp="1"/>
          </p:cNvSpPr>
          <p:nvPr/>
        </p:nvSpPr>
        <p:spPr>
          <a:xfrm>
            <a:off x="5852160" y="1078992"/>
            <a:ext cx="365760" cy="237744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1800" dirty="0" b="1">
                <a:solidFill>
                  <a:srgbClr val="6B2D5E"/>
                </a:solidFill>
                <a:latin typeface="Calibri"/>
              </a:rPr>
              <a:t>→</a:t>
            </a:r>
          </a:p>
        </p:txBody>
      </p:sp>
      <p:sp>
        <p:nvSpPr>
          <p:cNvPr id="20" name="kb"/>
          <p:cNvSpPr>
            <a:spLocks noGrp="1"/>
          </p:cNvSpPr>
          <p:nvPr/>
        </p:nvSpPr>
        <p:spPr>
          <a:xfrm>
            <a:off x="6355080" y="804672"/>
            <a:ext cx="2377440" cy="786384"/>
          </a:xfrm>
          <a:prstGeom prst="roundRect">
            <a:avLst>
              <a:gd name="adj" fmla="val 14000"/>
            </a:avLst>
          </a:prstGeom>
          <a:solidFill>
            <a:srgbClr val="ECFDF5"/>
          </a:solidFill>
          <a:ln w="12700">
            <a:solidFill>
              <a:srgbClr val="0E6B3C"/>
            </a:solidFill>
          </a:ln>
        </p:spPr>
      </p:sp>
      <p:sp>
        <p:nvSpPr>
          <p:cNvPr id="21" name="kt"/>
          <p:cNvSpPr>
            <a:spLocks noGrp="1"/>
          </p:cNvSpPr>
          <p:nvPr/>
        </p:nvSpPr>
        <p:spPr>
          <a:xfrm>
            <a:off x="6355080" y="804672"/>
            <a:ext cx="2377440" cy="54864"/>
          </a:xfrm>
          <a:prstGeom prst="roundRect">
            <a:avLst>
              <a:gd name="adj" fmla="val 14000"/>
            </a:avLst>
          </a:prstGeom>
          <a:solidFill>
            <a:srgbClr val="0E6B3C"/>
          </a:solidFill>
          <a:ln>
            <a:noFill/>
          </a:ln>
        </p:spPr>
      </p:sp>
      <p:sp>
        <p:nvSpPr>
          <p:cNvPr id="22" name="kn"/>
          <p:cNvSpPr txBox="1">
            <a:spLocks noGrp="1"/>
          </p:cNvSpPr>
          <p:nvPr/>
        </p:nvSpPr>
        <p:spPr>
          <a:xfrm>
            <a:off x="6355080" y="896112"/>
            <a:ext cx="2377440" cy="457200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2600" dirty="0" b="1">
                <a:solidFill>
                  <a:srgbClr val="0E6B3C"/>
                </a:solidFill>
                <a:latin typeface="Calibri"/>
              </a:rPr>
              <a:t>USD 15</a:t>
            </a:r>
          </a:p>
        </p:txBody>
      </p:sp>
      <p:sp>
        <p:nvSpPr>
          <p:cNvPr id="23" name="kl"/>
          <p:cNvSpPr txBox="1">
            <a:spLocks noGrp="1"/>
          </p:cNvSpPr>
          <p:nvPr/>
        </p:nvSpPr>
        <p:spPr>
          <a:xfrm>
            <a:off x="6428232" y="1335024"/>
            <a:ext cx="2231136" cy="256032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840" dirty="0">
                <a:solidFill>
                  <a:srgbClr val="0E6B3C"/>
                </a:solidFill>
                <a:latin typeface="Calibri"/>
              </a:rPr>
              <a:t>Meta PS N3
-57% vs industria</a:t>
            </a:r>
          </a:p>
        </p:txBody>
      </p:sp>
      <p:sp>
        <p:nvSpPr>
          <p:cNvPr id="30" name="thdr"/>
          <p:cNvSpPr>
            <a:spLocks noGrp="1"/>
          </p:cNvSpPr>
          <p:nvPr/>
        </p:nvSpPr>
        <p:spPr>
          <a:xfrm>
            <a:off x="320040" y="1700784"/>
            <a:ext cx="7955279" cy="347472"/>
          </a:xfrm>
          <a:prstGeom prst="rect">
            <a:avLst/>
          </a:prstGeom>
          <a:solidFill>
            <a:srgbClr val="6B2D5E"/>
          </a:solidFill>
          <a:ln>
            <a:noFill/>
          </a:ln>
        </p:spPr>
      </p:sp>
      <p:sp>
        <p:nvSpPr>
          <p:cNvPr id="31" name="th"/>
          <p:cNvSpPr txBox="1">
            <a:spLocks noGrp="1"/>
          </p:cNvSpPr>
          <p:nvPr/>
        </p:nvSpPr>
        <p:spPr>
          <a:xfrm>
            <a:off x="320040" y="1700784"/>
            <a:ext cx="1316736" cy="347472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720" dirty="0" b="1">
                <a:solidFill>
                  <a:srgbClr val="FFFFFF"/>
                </a:solidFill>
                <a:latin typeface="Calibri"/>
              </a:rPr>
              <a:t>Mesa</a:t>
            </a:r>
          </a:p>
        </p:txBody>
      </p:sp>
      <p:sp>
        <p:nvSpPr>
          <p:cNvPr id="32" name="th"/>
          <p:cNvSpPr txBox="1">
            <a:spLocks noGrp="1"/>
          </p:cNvSpPr>
          <p:nvPr/>
        </p:nvSpPr>
        <p:spPr>
          <a:xfrm>
            <a:off x="1636776" y="1700784"/>
            <a:ext cx="566928" cy="347472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720" dirty="0" b="1">
                <a:solidFill>
                  <a:srgbClr val="FFFFFF"/>
                </a:solidFill>
                <a:latin typeface="Calibri"/>
              </a:rPr>
              <a:t>Cliente</a:t>
            </a:r>
          </a:p>
        </p:txBody>
      </p:sp>
      <p:sp>
        <p:nvSpPr>
          <p:cNvPr id="33" name="th"/>
          <p:cNvSpPr txBox="1">
            <a:spLocks noGrp="1"/>
          </p:cNvSpPr>
          <p:nvPr/>
        </p:nvSpPr>
        <p:spPr>
          <a:xfrm>
            <a:off x="2203704" y="1700784"/>
            <a:ext cx="329184" cy="347472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720" dirty="0" b="1">
                <a:solidFill>
                  <a:srgbClr val="FFFFFF"/>
                </a:solidFill>
                <a:latin typeface="Calibri"/>
              </a:rPr>
              <a:t>N</a:t>
            </a:r>
          </a:p>
        </p:txBody>
      </p:sp>
      <p:sp>
        <p:nvSpPr>
          <p:cNvPr id="34" name="th"/>
          <p:cNvSpPr txBox="1">
            <a:spLocks noGrp="1"/>
          </p:cNvSpPr>
          <p:nvPr/>
        </p:nvSpPr>
        <p:spPr>
          <a:xfrm>
            <a:off x="2532888" y="1700784"/>
            <a:ext cx="329184" cy="347472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720" dirty="0" b="1">
                <a:solidFill>
                  <a:srgbClr val="FFFFFF"/>
                </a:solidFill>
                <a:latin typeface="Calibri"/>
              </a:rPr>
              <a:t>FTE</a:t>
            </a:r>
          </a:p>
        </p:txBody>
      </p:sp>
      <p:sp>
        <p:nvSpPr>
          <p:cNvPr id="35" name="th"/>
          <p:cNvSpPr txBox="1">
            <a:spLocks noGrp="1"/>
          </p:cNvSpPr>
          <p:nvPr/>
        </p:nvSpPr>
        <p:spPr>
          <a:xfrm>
            <a:off x="2862072" y="1700784"/>
            <a:ext cx="512064" cy="347472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720" dirty="0" b="1">
                <a:solidFill>
                  <a:srgbClr val="FFFFFF"/>
                </a:solidFill>
                <a:latin typeface="Calibri"/>
              </a:rPr>
              <a:t>Tix
/mes</a:t>
            </a:r>
          </a:p>
        </p:txBody>
      </p:sp>
      <p:sp>
        <p:nvSpPr>
          <p:cNvPr id="36" name="th"/>
          <p:cNvSpPr txBox="1">
            <a:spLocks noGrp="1"/>
          </p:cNvSpPr>
          <p:nvPr/>
        </p:nvSpPr>
        <p:spPr>
          <a:xfrm>
            <a:off x="3374136" y="1700784"/>
            <a:ext cx="512064" cy="347472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720" dirty="0" b="1">
                <a:solidFill>
                  <a:srgbClr val="FFFFFF"/>
                </a:solidFill>
                <a:latin typeface="Calibri"/>
              </a:rPr>
              <a:t>MTTR</a:t>
            </a:r>
          </a:p>
        </p:txBody>
      </p:sp>
      <p:sp>
        <p:nvSpPr>
          <p:cNvPr id="37" name="th"/>
          <p:cNvSpPr txBox="1">
            <a:spLocks noGrp="1"/>
          </p:cNvSpPr>
          <p:nvPr/>
        </p:nvSpPr>
        <p:spPr>
          <a:xfrm>
            <a:off x="3886200" y="1700784"/>
            <a:ext cx="457200" cy="347472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720" dirty="0" b="1">
                <a:solidFill>
                  <a:srgbClr val="FFFFFF"/>
                </a:solidFill>
                <a:latin typeface="Calibri"/>
              </a:rPr>
              <a:t>SLA%</a:t>
            </a:r>
          </a:p>
        </p:txBody>
      </p:sp>
      <p:sp>
        <p:nvSpPr>
          <p:cNvPr id="38" name="th"/>
          <p:cNvSpPr txBox="1">
            <a:spLocks noGrp="1"/>
          </p:cNvSpPr>
          <p:nvPr/>
        </p:nvSpPr>
        <p:spPr>
          <a:xfrm>
            <a:off x="4343400" y="1700784"/>
            <a:ext cx="859536" cy="347472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720" dirty="0" b="1">
                <a:solidFill>
                  <a:srgbClr val="FFFFFF"/>
                </a:solidFill>
                <a:latin typeface="Calibri"/>
              </a:rPr>
              <a:t>Costo/mes
COP</a:t>
            </a:r>
          </a:p>
        </p:txBody>
      </p:sp>
      <p:sp>
        <p:nvSpPr>
          <p:cNvPr id="39" name="th"/>
          <p:cNvSpPr txBox="1">
            <a:spLocks noGrp="1"/>
          </p:cNvSpPr>
          <p:nvPr/>
        </p:nvSpPr>
        <p:spPr>
          <a:xfrm>
            <a:off x="5202936" y="1700784"/>
            <a:ext cx="676656" cy="347472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720" dirty="0" b="1">
                <a:solidFill>
                  <a:srgbClr val="FFFFFF"/>
                </a:solidFill>
                <a:latin typeface="Calibri"/>
              </a:rPr>
              <a:t>Costo/tix
USD</a:t>
            </a:r>
          </a:p>
        </p:txBody>
      </p:sp>
      <p:sp>
        <p:nvSpPr>
          <p:cNvPr id="40" name="th"/>
          <p:cNvSpPr txBox="1">
            <a:spLocks noGrp="1"/>
          </p:cNvSpPr>
          <p:nvPr/>
        </p:nvSpPr>
        <p:spPr>
          <a:xfrm>
            <a:off x="5879592" y="1700784"/>
            <a:ext cx="603504" cy="347472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720" dirty="0" b="1">
                <a:solidFill>
                  <a:srgbClr val="FFFFFF"/>
                </a:solidFill>
                <a:latin typeface="Calibri"/>
              </a:rPr>
              <a:t>vs Ind.
$35</a:t>
            </a:r>
          </a:p>
        </p:txBody>
      </p:sp>
      <p:sp>
        <p:nvSpPr>
          <p:cNvPr id="40" name="rb"/>
          <p:cNvSpPr>
            <a:spLocks noGrp="1"/>
          </p:cNvSpPr>
          <p:nvPr/>
        </p:nvSpPr>
        <p:spPr>
          <a:xfrm>
            <a:off x="320040" y="2048256"/>
            <a:ext cx="7955279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C8D6E8"/>
            </a:solidFill>
          </a:ln>
        </p:spPr>
      </p:sp>
      <p:sp>
        <p:nvSpPr>
          <p:cNvPr id="41" name="c"/>
          <p:cNvSpPr txBox="1">
            <a:spLocks noGrp="1"/>
          </p:cNvSpPr>
          <p:nvPr/>
        </p:nvSpPr>
        <p:spPr>
          <a:xfrm>
            <a:off x="320040" y="2048256"/>
            <a:ext cx="1316736" cy="292608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l"/>
            <a:r>
              <a:rPr lang="es-ES" sz="700" dirty="0" b="1">
                <a:solidFill>
                  <a:srgbClr val="0D1B5E"/>
                </a:solidFill>
                <a:latin typeface="Calibri"/>
              </a:rPr>
              <a:t>SURA Cotizadores</a:t>
            </a:r>
          </a:p>
        </p:txBody>
      </p:sp>
      <p:sp>
        <p:nvSpPr>
          <p:cNvPr id="42" name="c"/>
          <p:cNvSpPr txBox="1">
            <a:spLocks noGrp="1"/>
          </p:cNvSpPr>
          <p:nvPr/>
        </p:nvSpPr>
        <p:spPr>
          <a:xfrm>
            <a:off x="1636776" y="2048256"/>
            <a:ext cx="566928" cy="292608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700" dirty="0" b="1">
                <a:solidFill>
                  <a:srgbClr val="5A6475"/>
                </a:solidFill>
                <a:latin typeface="Calibri"/>
              </a:rPr>
              <a:t>SURA</a:t>
            </a:r>
          </a:p>
        </p:txBody>
      </p:sp>
      <p:sp>
        <p:nvSpPr>
          <p:cNvPr id="43" name="c"/>
          <p:cNvSpPr txBox="1">
            <a:spLocks noGrp="1"/>
          </p:cNvSpPr>
          <p:nvPr/>
        </p:nvSpPr>
        <p:spPr>
          <a:xfrm>
            <a:off x="2203704" y="2048256"/>
            <a:ext cx="329184" cy="292608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700" dirty="0" b="1">
                <a:solidFill>
                  <a:srgbClr val="1A3A8F"/>
                </a:solidFill>
                <a:latin typeface="Calibri"/>
              </a:rPr>
              <a:t>N2</a:t>
            </a:r>
          </a:p>
        </p:txBody>
      </p:sp>
      <p:sp>
        <p:nvSpPr>
          <p:cNvPr id="44" name="c"/>
          <p:cNvSpPr txBox="1">
            <a:spLocks noGrp="1"/>
          </p:cNvSpPr>
          <p:nvPr/>
        </p:nvSpPr>
        <p:spPr>
          <a:xfrm>
            <a:off x="2532888" y="2048256"/>
            <a:ext cx="329184" cy="292608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700" dirty="0">
                <a:solidFill>
                  <a:srgbClr val="0D1B5E"/>
                </a:solidFill>
                <a:latin typeface="Calibri"/>
              </a:rPr>
              <a:t>8</a:t>
            </a:r>
          </a:p>
        </p:txBody>
      </p:sp>
      <p:sp>
        <p:nvSpPr>
          <p:cNvPr id="45" name="c"/>
          <p:cNvSpPr txBox="1">
            <a:spLocks noGrp="1"/>
          </p:cNvSpPr>
          <p:nvPr/>
        </p:nvSpPr>
        <p:spPr>
          <a:xfrm>
            <a:off x="2862072" y="2048256"/>
            <a:ext cx="512064" cy="292608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700" dirty="0">
                <a:solidFill>
                  <a:srgbClr val="0D1B5E"/>
                </a:solidFill>
                <a:latin typeface="Calibri"/>
              </a:rPr>
              <a:t>668</a:t>
            </a:r>
          </a:p>
        </p:txBody>
      </p:sp>
      <p:sp>
        <p:nvSpPr>
          <p:cNvPr id="46" name="c"/>
          <p:cNvSpPr txBox="1">
            <a:spLocks noGrp="1"/>
          </p:cNvSpPr>
          <p:nvPr/>
        </p:nvSpPr>
        <p:spPr>
          <a:xfrm>
            <a:off x="3374136" y="2048256"/>
            <a:ext cx="512064" cy="292608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700" dirty="0">
                <a:solidFill>
                  <a:srgbClr val="B91C1C"/>
                </a:solidFill>
                <a:latin typeface="Calibri"/>
              </a:rPr>
              <a:t>24.6h</a:t>
            </a:r>
          </a:p>
        </p:txBody>
      </p:sp>
      <p:sp>
        <p:nvSpPr>
          <p:cNvPr id="47" name="c"/>
          <p:cNvSpPr txBox="1">
            <a:spLocks noGrp="1"/>
          </p:cNvSpPr>
          <p:nvPr/>
        </p:nvSpPr>
        <p:spPr>
          <a:xfrm>
            <a:off x="3886200" y="2048256"/>
            <a:ext cx="457200" cy="292608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700" dirty="0">
                <a:solidFill>
                  <a:srgbClr val="B91C1C"/>
                </a:solidFill>
                <a:latin typeface="Calibri"/>
              </a:rPr>
              <a:t>70%</a:t>
            </a:r>
          </a:p>
        </p:txBody>
      </p:sp>
      <p:sp>
        <p:nvSpPr>
          <p:cNvPr id="48" name="c"/>
          <p:cNvSpPr txBox="1">
            <a:spLocks noGrp="1"/>
          </p:cNvSpPr>
          <p:nvPr/>
        </p:nvSpPr>
        <p:spPr>
          <a:xfrm>
            <a:off x="4343400" y="2048256"/>
            <a:ext cx="859536" cy="292608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700" dirty="0">
                <a:solidFill>
                  <a:srgbClr val="0D1B5E"/>
                </a:solidFill>
                <a:latin typeface="Calibri"/>
              </a:rPr>
              <a:t>$112.6M</a:t>
            </a:r>
          </a:p>
        </p:txBody>
      </p:sp>
      <p:sp>
        <p:nvSpPr>
          <p:cNvPr id="49" name="c"/>
          <p:cNvSpPr txBox="1">
            <a:spLocks noGrp="1"/>
          </p:cNvSpPr>
          <p:nvPr/>
        </p:nvSpPr>
        <p:spPr>
          <a:xfrm>
            <a:off x="5202936" y="2048256"/>
            <a:ext cx="676656" cy="292608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700" dirty="0">
                <a:solidFill>
                  <a:srgbClr val="6B2D5E"/>
                </a:solidFill>
                <a:latin typeface="Calibri"/>
              </a:rPr>
              <a:t>$40</a:t>
            </a:r>
          </a:p>
        </p:txBody>
      </p:sp>
      <p:sp>
        <p:nvSpPr>
          <p:cNvPr id="50" name="c"/>
          <p:cNvSpPr txBox="1">
            <a:spLocks noGrp="1"/>
          </p:cNvSpPr>
          <p:nvPr/>
        </p:nvSpPr>
        <p:spPr>
          <a:xfrm>
            <a:off x="5879592" y="2048256"/>
            <a:ext cx="603504" cy="292608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700" dirty="0">
                <a:solidFill>
                  <a:srgbClr val="B91C1C"/>
                </a:solidFill>
                <a:latin typeface="Calibri"/>
              </a:rPr>
              <a:t>+$5</a:t>
            </a:r>
          </a:p>
        </p:txBody>
      </p:sp>
      <p:sp>
        <p:nvSpPr>
          <p:cNvPr id="55" name="rb"/>
          <p:cNvSpPr>
            <a:spLocks noGrp="1"/>
          </p:cNvSpPr>
          <p:nvPr/>
        </p:nvSpPr>
        <p:spPr>
          <a:xfrm>
            <a:off x="320040" y="2340864"/>
            <a:ext cx="7955279" cy="292608"/>
          </a:xfrm>
          <a:prstGeom prst="rect">
            <a:avLst/>
          </a:prstGeom>
          <a:solidFill>
            <a:srgbClr val="EBF4FF"/>
          </a:solidFill>
          <a:ln w="6350">
            <a:solidFill>
              <a:srgbClr val="C8D6E8"/>
            </a:solidFill>
          </a:ln>
        </p:spPr>
      </p:sp>
      <p:sp>
        <p:nvSpPr>
          <p:cNvPr id="56" name="c"/>
          <p:cNvSpPr txBox="1">
            <a:spLocks noGrp="1"/>
          </p:cNvSpPr>
          <p:nvPr/>
        </p:nvSpPr>
        <p:spPr>
          <a:xfrm>
            <a:off x="320040" y="2340864"/>
            <a:ext cx="1316736" cy="292608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l"/>
            <a:r>
              <a:rPr lang="es-ES" sz="700" dirty="0" b="1">
                <a:solidFill>
                  <a:srgbClr val="0D1B5E"/>
                </a:solidFill>
                <a:latin typeface="Calibri"/>
              </a:rPr>
              <a:t>SURA Venta Digital</a:t>
            </a:r>
          </a:p>
        </p:txBody>
      </p:sp>
      <p:sp>
        <p:nvSpPr>
          <p:cNvPr id="57" name="c"/>
          <p:cNvSpPr txBox="1">
            <a:spLocks noGrp="1"/>
          </p:cNvSpPr>
          <p:nvPr/>
        </p:nvSpPr>
        <p:spPr>
          <a:xfrm>
            <a:off x="1636776" y="2340864"/>
            <a:ext cx="566928" cy="292608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700" dirty="0" b="1">
                <a:solidFill>
                  <a:srgbClr val="5A6475"/>
                </a:solidFill>
                <a:latin typeface="Calibri"/>
              </a:rPr>
              <a:t>SURA</a:t>
            </a:r>
          </a:p>
        </p:txBody>
      </p:sp>
      <p:sp>
        <p:nvSpPr>
          <p:cNvPr id="58" name="c"/>
          <p:cNvSpPr txBox="1">
            <a:spLocks noGrp="1"/>
          </p:cNvSpPr>
          <p:nvPr/>
        </p:nvSpPr>
        <p:spPr>
          <a:xfrm>
            <a:off x="2203704" y="2340864"/>
            <a:ext cx="329184" cy="292608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700" dirty="0" b="1">
                <a:solidFill>
                  <a:srgbClr val="1A3A8F"/>
                </a:solidFill>
                <a:latin typeface="Calibri"/>
              </a:rPr>
              <a:t>N2</a:t>
            </a:r>
          </a:p>
        </p:txBody>
      </p:sp>
      <p:sp>
        <p:nvSpPr>
          <p:cNvPr id="59" name="c"/>
          <p:cNvSpPr txBox="1">
            <a:spLocks noGrp="1"/>
          </p:cNvSpPr>
          <p:nvPr/>
        </p:nvSpPr>
        <p:spPr>
          <a:xfrm>
            <a:off x="2532888" y="2340864"/>
            <a:ext cx="329184" cy="292608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700" dirty="0">
                <a:solidFill>
                  <a:srgbClr val="0D1B5E"/>
                </a:solidFill>
                <a:latin typeface="Calibri"/>
              </a:rPr>
              <a:t>2</a:t>
            </a:r>
          </a:p>
        </p:txBody>
      </p:sp>
      <p:sp>
        <p:nvSpPr>
          <p:cNvPr id="60" name="c"/>
          <p:cNvSpPr txBox="1">
            <a:spLocks noGrp="1"/>
          </p:cNvSpPr>
          <p:nvPr/>
        </p:nvSpPr>
        <p:spPr>
          <a:xfrm>
            <a:off x="2862072" y="2340864"/>
            <a:ext cx="512064" cy="292608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700" dirty="0">
                <a:solidFill>
                  <a:srgbClr val="0D1B5E"/>
                </a:solidFill>
                <a:latin typeface="Calibri"/>
              </a:rPr>
              <a:t>174</a:t>
            </a:r>
          </a:p>
        </p:txBody>
      </p:sp>
      <p:sp>
        <p:nvSpPr>
          <p:cNvPr id="61" name="c"/>
          <p:cNvSpPr txBox="1">
            <a:spLocks noGrp="1"/>
          </p:cNvSpPr>
          <p:nvPr/>
        </p:nvSpPr>
        <p:spPr>
          <a:xfrm>
            <a:off x="3374136" y="2340864"/>
            <a:ext cx="512064" cy="292608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700" dirty="0">
                <a:solidFill>
                  <a:srgbClr val="B91C1C"/>
                </a:solidFill>
                <a:latin typeface="Calibri"/>
              </a:rPr>
              <a:t>12.4h</a:t>
            </a:r>
          </a:p>
        </p:txBody>
      </p:sp>
      <p:sp>
        <p:nvSpPr>
          <p:cNvPr id="62" name="c"/>
          <p:cNvSpPr txBox="1">
            <a:spLocks noGrp="1"/>
          </p:cNvSpPr>
          <p:nvPr/>
        </p:nvSpPr>
        <p:spPr>
          <a:xfrm>
            <a:off x="3886200" y="2340864"/>
            <a:ext cx="457200" cy="292608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700" dirty="0">
                <a:solidFill>
                  <a:srgbClr val="B91C1C"/>
                </a:solidFill>
                <a:latin typeface="Calibri"/>
              </a:rPr>
              <a:t>74%</a:t>
            </a:r>
          </a:p>
        </p:txBody>
      </p:sp>
      <p:sp>
        <p:nvSpPr>
          <p:cNvPr id="63" name="c"/>
          <p:cNvSpPr txBox="1">
            <a:spLocks noGrp="1"/>
          </p:cNvSpPr>
          <p:nvPr/>
        </p:nvSpPr>
        <p:spPr>
          <a:xfrm>
            <a:off x="4343400" y="2340864"/>
            <a:ext cx="859536" cy="292608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700" dirty="0">
                <a:solidFill>
                  <a:srgbClr val="0D1B5E"/>
                </a:solidFill>
                <a:latin typeface="Calibri"/>
              </a:rPr>
              <a:t>$28.2M</a:t>
            </a:r>
          </a:p>
        </p:txBody>
      </p:sp>
      <p:sp>
        <p:nvSpPr>
          <p:cNvPr id="64" name="c"/>
          <p:cNvSpPr txBox="1">
            <a:spLocks noGrp="1"/>
          </p:cNvSpPr>
          <p:nvPr/>
        </p:nvSpPr>
        <p:spPr>
          <a:xfrm>
            <a:off x="5202936" y="2340864"/>
            <a:ext cx="676656" cy="292608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700" dirty="0">
                <a:solidFill>
                  <a:srgbClr val="6B2D5E"/>
                </a:solidFill>
                <a:latin typeface="Calibri"/>
              </a:rPr>
              <a:t>$39</a:t>
            </a:r>
          </a:p>
        </p:txBody>
      </p:sp>
      <p:sp>
        <p:nvSpPr>
          <p:cNvPr id="65" name="c"/>
          <p:cNvSpPr txBox="1">
            <a:spLocks noGrp="1"/>
          </p:cNvSpPr>
          <p:nvPr/>
        </p:nvSpPr>
        <p:spPr>
          <a:xfrm>
            <a:off x="5879592" y="2340864"/>
            <a:ext cx="603504" cy="292608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700" dirty="0">
                <a:solidFill>
                  <a:srgbClr val="B91C1C"/>
                </a:solidFill>
                <a:latin typeface="Calibri"/>
              </a:rPr>
              <a:t>+$4</a:t>
            </a:r>
          </a:p>
        </p:txBody>
      </p:sp>
      <p:sp>
        <p:nvSpPr>
          <p:cNvPr id="70" name="rb"/>
          <p:cNvSpPr>
            <a:spLocks noGrp="1"/>
          </p:cNvSpPr>
          <p:nvPr/>
        </p:nvSpPr>
        <p:spPr>
          <a:xfrm>
            <a:off x="320040" y="2633472"/>
            <a:ext cx="7955279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C8D6E8"/>
            </a:solidFill>
          </a:ln>
        </p:spPr>
      </p:sp>
      <p:sp>
        <p:nvSpPr>
          <p:cNvPr id="71" name="c"/>
          <p:cNvSpPr txBox="1">
            <a:spLocks noGrp="1"/>
          </p:cNvSpPr>
          <p:nvPr/>
        </p:nvSpPr>
        <p:spPr>
          <a:xfrm>
            <a:off x="320040" y="2633472"/>
            <a:ext cx="1316736" cy="292608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l"/>
            <a:r>
              <a:rPr lang="es-ES" sz="700" dirty="0" b="1">
                <a:solidFill>
                  <a:srgbClr val="0D1B5E"/>
                </a:solidFill>
                <a:latin typeface="Calibri"/>
              </a:rPr>
              <a:t>SURA Automatizacion</a:t>
            </a:r>
          </a:p>
        </p:txBody>
      </p:sp>
      <p:sp>
        <p:nvSpPr>
          <p:cNvPr id="72" name="c"/>
          <p:cNvSpPr txBox="1">
            <a:spLocks noGrp="1"/>
          </p:cNvSpPr>
          <p:nvPr/>
        </p:nvSpPr>
        <p:spPr>
          <a:xfrm>
            <a:off x="1636776" y="2633472"/>
            <a:ext cx="566928" cy="292608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700" dirty="0" b="1">
                <a:solidFill>
                  <a:srgbClr val="5A6475"/>
                </a:solidFill>
                <a:latin typeface="Calibri"/>
              </a:rPr>
              <a:t>SURA</a:t>
            </a:r>
          </a:p>
        </p:txBody>
      </p:sp>
      <p:sp>
        <p:nvSpPr>
          <p:cNvPr id="73" name="c"/>
          <p:cNvSpPr txBox="1">
            <a:spLocks noGrp="1"/>
          </p:cNvSpPr>
          <p:nvPr/>
        </p:nvSpPr>
        <p:spPr>
          <a:xfrm>
            <a:off x="2203704" y="2633472"/>
            <a:ext cx="329184" cy="292608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700" dirty="0" b="1">
                <a:solidFill>
                  <a:srgbClr val="1A3A8F"/>
                </a:solidFill>
                <a:latin typeface="Calibri"/>
              </a:rPr>
              <a:t>N2</a:t>
            </a:r>
          </a:p>
        </p:txBody>
      </p:sp>
      <p:sp>
        <p:nvSpPr>
          <p:cNvPr id="74" name="c"/>
          <p:cNvSpPr txBox="1">
            <a:spLocks noGrp="1"/>
          </p:cNvSpPr>
          <p:nvPr/>
        </p:nvSpPr>
        <p:spPr>
          <a:xfrm>
            <a:off x="2532888" y="2633472"/>
            <a:ext cx="329184" cy="292608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700" dirty="0">
                <a:solidFill>
                  <a:srgbClr val="0D1B5E"/>
                </a:solidFill>
                <a:latin typeface="Calibri"/>
              </a:rPr>
              <a:t>6</a:t>
            </a:r>
          </a:p>
        </p:txBody>
      </p:sp>
      <p:sp>
        <p:nvSpPr>
          <p:cNvPr id="75" name="c"/>
          <p:cNvSpPr txBox="1">
            <a:spLocks noGrp="1"/>
          </p:cNvSpPr>
          <p:nvPr/>
        </p:nvSpPr>
        <p:spPr>
          <a:xfrm>
            <a:off x="2862072" y="2633472"/>
            <a:ext cx="512064" cy="292608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700" dirty="0">
                <a:solidFill>
                  <a:srgbClr val="0D1B5E"/>
                </a:solidFill>
                <a:latin typeface="Calibri"/>
              </a:rPr>
              <a:t>512</a:t>
            </a:r>
          </a:p>
        </p:txBody>
      </p:sp>
      <p:sp>
        <p:nvSpPr>
          <p:cNvPr id="76" name="c"/>
          <p:cNvSpPr txBox="1">
            <a:spLocks noGrp="1"/>
          </p:cNvSpPr>
          <p:nvPr/>
        </p:nvSpPr>
        <p:spPr>
          <a:xfrm>
            <a:off x="3374136" y="2633472"/>
            <a:ext cx="512064" cy="292608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700" dirty="0">
                <a:solidFill>
                  <a:srgbClr val="0E6B3C"/>
                </a:solidFill>
                <a:latin typeface="Calibri"/>
              </a:rPr>
              <a:t>3.0h</a:t>
            </a:r>
          </a:p>
        </p:txBody>
      </p:sp>
      <p:sp>
        <p:nvSpPr>
          <p:cNvPr id="77" name="c"/>
          <p:cNvSpPr txBox="1">
            <a:spLocks noGrp="1"/>
          </p:cNvSpPr>
          <p:nvPr/>
        </p:nvSpPr>
        <p:spPr>
          <a:xfrm>
            <a:off x="3886200" y="2633472"/>
            <a:ext cx="457200" cy="292608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700" dirty="0">
                <a:solidFill>
                  <a:srgbClr val="0E6B3C"/>
                </a:solidFill>
                <a:latin typeface="Calibri"/>
              </a:rPr>
              <a:t>98%</a:t>
            </a:r>
          </a:p>
        </p:txBody>
      </p:sp>
      <p:sp>
        <p:nvSpPr>
          <p:cNvPr id="78" name="c"/>
          <p:cNvSpPr txBox="1">
            <a:spLocks noGrp="1"/>
          </p:cNvSpPr>
          <p:nvPr/>
        </p:nvSpPr>
        <p:spPr>
          <a:xfrm>
            <a:off x="4343400" y="2633472"/>
            <a:ext cx="859536" cy="292608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700" dirty="0">
                <a:solidFill>
                  <a:srgbClr val="0D1B5E"/>
                </a:solidFill>
                <a:latin typeface="Calibri"/>
              </a:rPr>
              <a:t>$84.5M</a:t>
            </a:r>
          </a:p>
        </p:txBody>
      </p:sp>
      <p:sp>
        <p:nvSpPr>
          <p:cNvPr id="79" name="c"/>
          <p:cNvSpPr txBox="1">
            <a:spLocks noGrp="1"/>
          </p:cNvSpPr>
          <p:nvPr/>
        </p:nvSpPr>
        <p:spPr>
          <a:xfrm>
            <a:off x="5202936" y="2633472"/>
            <a:ext cx="676656" cy="292608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700" dirty="0">
                <a:solidFill>
                  <a:srgbClr val="6B2D5E"/>
                </a:solidFill>
                <a:latin typeface="Calibri"/>
              </a:rPr>
              <a:t>$39</a:t>
            </a:r>
          </a:p>
        </p:txBody>
      </p:sp>
      <p:sp>
        <p:nvSpPr>
          <p:cNvPr id="80" name="c"/>
          <p:cNvSpPr txBox="1">
            <a:spLocks noGrp="1"/>
          </p:cNvSpPr>
          <p:nvPr/>
        </p:nvSpPr>
        <p:spPr>
          <a:xfrm>
            <a:off x="5879592" y="2633472"/>
            <a:ext cx="603504" cy="292608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700" dirty="0">
                <a:solidFill>
                  <a:srgbClr val="B91C1C"/>
                </a:solidFill>
                <a:latin typeface="Calibri"/>
              </a:rPr>
              <a:t>+$4</a:t>
            </a:r>
          </a:p>
        </p:txBody>
      </p:sp>
      <p:sp>
        <p:nvSpPr>
          <p:cNvPr id="85" name="rb"/>
          <p:cNvSpPr>
            <a:spLocks noGrp="1"/>
          </p:cNvSpPr>
          <p:nvPr/>
        </p:nvSpPr>
        <p:spPr>
          <a:xfrm>
            <a:off x="320040" y="2926080"/>
            <a:ext cx="7955279" cy="292608"/>
          </a:xfrm>
          <a:prstGeom prst="rect">
            <a:avLst/>
          </a:prstGeom>
          <a:solidFill>
            <a:srgbClr val="EBF4FF"/>
          </a:solidFill>
          <a:ln w="6350">
            <a:solidFill>
              <a:srgbClr val="C8D6E8"/>
            </a:solidFill>
          </a:ln>
        </p:spPr>
      </p:sp>
      <p:sp>
        <p:nvSpPr>
          <p:cNvPr id="86" name="c"/>
          <p:cNvSpPr txBox="1">
            <a:spLocks noGrp="1"/>
          </p:cNvSpPr>
          <p:nvPr/>
        </p:nvSpPr>
        <p:spPr>
          <a:xfrm>
            <a:off x="320040" y="2926080"/>
            <a:ext cx="1316736" cy="292608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l"/>
            <a:r>
              <a:rPr lang="es-ES" sz="700" dirty="0" b="1">
                <a:solidFill>
                  <a:srgbClr val="0D1B5E"/>
                </a:solidFill>
                <a:latin typeface="Calibri"/>
              </a:rPr>
              <a:t>SURA Canales Masivos</a:t>
            </a:r>
          </a:p>
        </p:txBody>
      </p:sp>
      <p:sp>
        <p:nvSpPr>
          <p:cNvPr id="87" name="c"/>
          <p:cNvSpPr txBox="1">
            <a:spLocks noGrp="1"/>
          </p:cNvSpPr>
          <p:nvPr/>
        </p:nvSpPr>
        <p:spPr>
          <a:xfrm>
            <a:off x="1636776" y="2926080"/>
            <a:ext cx="566928" cy="292608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700" dirty="0" b="1">
                <a:solidFill>
                  <a:srgbClr val="5A6475"/>
                </a:solidFill>
                <a:latin typeface="Calibri"/>
              </a:rPr>
              <a:t>SURA</a:t>
            </a:r>
          </a:p>
        </p:txBody>
      </p:sp>
      <p:sp>
        <p:nvSpPr>
          <p:cNvPr id="88" name="c"/>
          <p:cNvSpPr txBox="1">
            <a:spLocks noGrp="1"/>
          </p:cNvSpPr>
          <p:nvPr/>
        </p:nvSpPr>
        <p:spPr>
          <a:xfrm>
            <a:off x="2203704" y="2926080"/>
            <a:ext cx="329184" cy="292608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700" dirty="0" b="1">
                <a:solidFill>
                  <a:srgbClr val="1A3A8F"/>
                </a:solidFill>
                <a:latin typeface="Calibri"/>
              </a:rPr>
              <a:t>N2</a:t>
            </a:r>
          </a:p>
        </p:txBody>
      </p:sp>
      <p:sp>
        <p:nvSpPr>
          <p:cNvPr id="89" name="c"/>
          <p:cNvSpPr txBox="1">
            <a:spLocks noGrp="1"/>
          </p:cNvSpPr>
          <p:nvPr/>
        </p:nvSpPr>
        <p:spPr>
          <a:xfrm>
            <a:off x="2532888" y="2926080"/>
            <a:ext cx="329184" cy="292608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700" dirty="0">
                <a:solidFill>
                  <a:srgbClr val="0D1B5E"/>
                </a:solidFill>
                <a:latin typeface="Calibri"/>
              </a:rPr>
              <a:t>1</a:t>
            </a:r>
          </a:p>
        </p:txBody>
      </p:sp>
      <p:sp>
        <p:nvSpPr>
          <p:cNvPr id="90" name="c"/>
          <p:cNvSpPr txBox="1">
            <a:spLocks noGrp="1"/>
          </p:cNvSpPr>
          <p:nvPr/>
        </p:nvSpPr>
        <p:spPr>
          <a:xfrm>
            <a:off x="2862072" y="2926080"/>
            <a:ext cx="512064" cy="292608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700" dirty="0">
                <a:solidFill>
                  <a:srgbClr val="0D1B5E"/>
                </a:solidFill>
                <a:latin typeface="Calibri"/>
              </a:rPr>
              <a:t>171</a:t>
            </a:r>
          </a:p>
        </p:txBody>
      </p:sp>
      <p:sp>
        <p:nvSpPr>
          <p:cNvPr id="91" name="c"/>
          <p:cNvSpPr txBox="1">
            <a:spLocks noGrp="1"/>
          </p:cNvSpPr>
          <p:nvPr/>
        </p:nvSpPr>
        <p:spPr>
          <a:xfrm>
            <a:off x="3374136" y="2926080"/>
            <a:ext cx="512064" cy="292608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700" dirty="0">
                <a:solidFill>
                  <a:srgbClr val="B91C1C"/>
                </a:solidFill>
                <a:latin typeface="Calibri"/>
              </a:rPr>
              <a:t>17.9h</a:t>
            </a:r>
          </a:p>
        </p:txBody>
      </p:sp>
      <p:sp>
        <p:nvSpPr>
          <p:cNvPr id="92" name="c"/>
          <p:cNvSpPr txBox="1">
            <a:spLocks noGrp="1"/>
          </p:cNvSpPr>
          <p:nvPr/>
        </p:nvSpPr>
        <p:spPr>
          <a:xfrm>
            <a:off x="3886200" y="2926080"/>
            <a:ext cx="457200" cy="292608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700" dirty="0">
                <a:solidFill>
                  <a:srgbClr val="B91C1C"/>
                </a:solidFill>
                <a:latin typeface="Calibri"/>
              </a:rPr>
              <a:t>72%</a:t>
            </a:r>
          </a:p>
        </p:txBody>
      </p:sp>
      <p:sp>
        <p:nvSpPr>
          <p:cNvPr id="93" name="c"/>
          <p:cNvSpPr txBox="1">
            <a:spLocks noGrp="1"/>
          </p:cNvSpPr>
          <p:nvPr/>
        </p:nvSpPr>
        <p:spPr>
          <a:xfrm>
            <a:off x="4343400" y="2926080"/>
            <a:ext cx="859536" cy="292608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700" dirty="0">
                <a:solidFill>
                  <a:srgbClr val="0D1B5E"/>
                </a:solidFill>
                <a:latin typeface="Calibri"/>
              </a:rPr>
              <a:t>$14.1M</a:t>
            </a:r>
          </a:p>
        </p:txBody>
      </p:sp>
      <p:sp>
        <p:nvSpPr>
          <p:cNvPr id="94" name="c"/>
          <p:cNvSpPr txBox="1">
            <a:spLocks noGrp="1"/>
          </p:cNvSpPr>
          <p:nvPr/>
        </p:nvSpPr>
        <p:spPr>
          <a:xfrm>
            <a:off x="5202936" y="2926080"/>
            <a:ext cx="676656" cy="292608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700" dirty="0">
                <a:solidFill>
                  <a:srgbClr val="6B2D5E"/>
                </a:solidFill>
                <a:latin typeface="Calibri"/>
              </a:rPr>
              <a:t>$20</a:t>
            </a:r>
          </a:p>
        </p:txBody>
      </p:sp>
      <p:sp>
        <p:nvSpPr>
          <p:cNvPr id="95" name="c"/>
          <p:cNvSpPr txBox="1">
            <a:spLocks noGrp="1"/>
          </p:cNvSpPr>
          <p:nvPr/>
        </p:nvSpPr>
        <p:spPr>
          <a:xfrm>
            <a:off x="5879592" y="2926080"/>
            <a:ext cx="603504" cy="292608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700" dirty="0">
                <a:solidFill>
                  <a:srgbClr val="0E6B3C"/>
                </a:solidFill>
                <a:latin typeface="Calibri"/>
              </a:rPr>
              <a:t>-$15</a:t>
            </a:r>
          </a:p>
        </p:txBody>
      </p:sp>
      <p:sp>
        <p:nvSpPr>
          <p:cNvPr id="100" name="rb"/>
          <p:cNvSpPr>
            <a:spLocks noGrp="1"/>
          </p:cNvSpPr>
          <p:nvPr/>
        </p:nvSpPr>
        <p:spPr>
          <a:xfrm>
            <a:off x="320040" y="3218688"/>
            <a:ext cx="7955279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C8D6E8"/>
            </a:solidFill>
          </a:ln>
        </p:spPr>
      </p:sp>
      <p:sp>
        <p:nvSpPr>
          <p:cNvPr id="101" name="c"/>
          <p:cNvSpPr txBox="1">
            <a:spLocks noGrp="1"/>
          </p:cNvSpPr>
          <p:nvPr/>
        </p:nvSpPr>
        <p:spPr>
          <a:xfrm>
            <a:off x="320040" y="3218688"/>
            <a:ext cx="1316736" cy="292608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l"/>
            <a:r>
              <a:rPr lang="es-ES" sz="700" dirty="0" b="1">
                <a:solidFill>
                  <a:srgbClr val="0D1B5E"/>
                </a:solidFill>
                <a:latin typeface="Calibri"/>
              </a:rPr>
              <a:t>XM — Apps Criticas</a:t>
            </a:r>
          </a:p>
        </p:txBody>
      </p:sp>
      <p:sp>
        <p:nvSpPr>
          <p:cNvPr id="102" name="c"/>
          <p:cNvSpPr txBox="1">
            <a:spLocks noGrp="1"/>
          </p:cNvSpPr>
          <p:nvPr/>
        </p:nvSpPr>
        <p:spPr>
          <a:xfrm>
            <a:off x="1636776" y="3218688"/>
            <a:ext cx="566928" cy="292608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700" dirty="0" b="1">
                <a:solidFill>
                  <a:srgbClr val="5A6475"/>
                </a:solidFill>
                <a:latin typeface="Calibri"/>
              </a:rPr>
              <a:t>XM</a:t>
            </a:r>
          </a:p>
        </p:txBody>
      </p:sp>
      <p:sp>
        <p:nvSpPr>
          <p:cNvPr id="103" name="c"/>
          <p:cNvSpPr txBox="1">
            <a:spLocks noGrp="1"/>
          </p:cNvSpPr>
          <p:nvPr/>
        </p:nvSpPr>
        <p:spPr>
          <a:xfrm>
            <a:off x="2203704" y="3218688"/>
            <a:ext cx="329184" cy="292608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700" dirty="0" b="1">
                <a:solidFill>
                  <a:srgbClr val="1A3A8F"/>
                </a:solidFill>
                <a:latin typeface="Calibri"/>
              </a:rPr>
              <a:t>N2</a:t>
            </a:r>
          </a:p>
        </p:txBody>
      </p:sp>
      <p:sp>
        <p:nvSpPr>
          <p:cNvPr id="104" name="c"/>
          <p:cNvSpPr txBox="1">
            <a:spLocks noGrp="1"/>
          </p:cNvSpPr>
          <p:nvPr/>
        </p:nvSpPr>
        <p:spPr>
          <a:xfrm>
            <a:off x="2532888" y="3218688"/>
            <a:ext cx="329184" cy="292608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700" dirty="0">
                <a:solidFill>
                  <a:srgbClr val="0D1B5E"/>
                </a:solidFill>
                <a:latin typeface="Calibri"/>
              </a:rPr>
              <a:t>4</a:t>
            </a:r>
          </a:p>
        </p:txBody>
      </p:sp>
      <p:sp>
        <p:nvSpPr>
          <p:cNvPr id="105" name="c"/>
          <p:cNvSpPr txBox="1">
            <a:spLocks noGrp="1"/>
          </p:cNvSpPr>
          <p:nvPr/>
        </p:nvSpPr>
        <p:spPr>
          <a:xfrm>
            <a:off x="2862072" y="3218688"/>
            <a:ext cx="512064" cy="292608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700" dirty="0">
                <a:solidFill>
                  <a:srgbClr val="0D1B5E"/>
                </a:solidFill>
                <a:latin typeface="Calibri"/>
              </a:rPr>
              <a:t>90</a:t>
            </a:r>
          </a:p>
        </p:txBody>
      </p:sp>
      <p:sp>
        <p:nvSpPr>
          <p:cNvPr id="106" name="c"/>
          <p:cNvSpPr txBox="1">
            <a:spLocks noGrp="1"/>
          </p:cNvSpPr>
          <p:nvPr/>
        </p:nvSpPr>
        <p:spPr>
          <a:xfrm>
            <a:off x="3374136" y="3218688"/>
            <a:ext cx="512064" cy="292608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700" dirty="0">
                <a:solidFill>
                  <a:srgbClr val="5A6475"/>
                </a:solidFill>
                <a:latin typeface="Calibri"/>
              </a:rPr>
              <a:t>N/D</a:t>
            </a:r>
          </a:p>
        </p:txBody>
      </p:sp>
      <p:sp>
        <p:nvSpPr>
          <p:cNvPr id="107" name="c"/>
          <p:cNvSpPr txBox="1">
            <a:spLocks noGrp="1"/>
          </p:cNvSpPr>
          <p:nvPr/>
        </p:nvSpPr>
        <p:spPr>
          <a:xfrm>
            <a:off x="3886200" y="3218688"/>
            <a:ext cx="457200" cy="292608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700" dirty="0">
                <a:solidFill>
                  <a:srgbClr val="5A6475"/>
                </a:solidFill>
                <a:latin typeface="Calibri"/>
              </a:rPr>
              <a:t>N/D</a:t>
            </a:r>
          </a:p>
        </p:txBody>
      </p:sp>
      <p:sp>
        <p:nvSpPr>
          <p:cNvPr id="108" name="c"/>
          <p:cNvSpPr txBox="1">
            <a:spLocks noGrp="1"/>
          </p:cNvSpPr>
          <p:nvPr/>
        </p:nvSpPr>
        <p:spPr>
          <a:xfrm>
            <a:off x="4343400" y="3218688"/>
            <a:ext cx="859536" cy="292608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700" dirty="0">
                <a:solidFill>
                  <a:srgbClr val="0D1B5E"/>
                </a:solidFill>
                <a:latin typeface="Calibri"/>
              </a:rPr>
              <a:t>$56.3M</a:t>
            </a:r>
          </a:p>
        </p:txBody>
      </p:sp>
      <p:sp>
        <p:nvSpPr>
          <p:cNvPr id="109" name="c"/>
          <p:cNvSpPr txBox="1">
            <a:spLocks noGrp="1"/>
          </p:cNvSpPr>
          <p:nvPr/>
        </p:nvSpPr>
        <p:spPr>
          <a:xfrm>
            <a:off x="5202936" y="3218688"/>
            <a:ext cx="676656" cy="292608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700" dirty="0">
                <a:solidFill>
                  <a:srgbClr val="6B2D5E"/>
                </a:solidFill>
                <a:latin typeface="Calibri"/>
              </a:rPr>
              <a:t>$149</a:t>
            </a:r>
          </a:p>
        </p:txBody>
      </p:sp>
      <p:sp>
        <p:nvSpPr>
          <p:cNvPr id="110" name="c"/>
          <p:cNvSpPr txBox="1">
            <a:spLocks noGrp="1"/>
          </p:cNvSpPr>
          <p:nvPr/>
        </p:nvSpPr>
        <p:spPr>
          <a:xfrm>
            <a:off x="5879592" y="3218688"/>
            <a:ext cx="603504" cy="292608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700" dirty="0">
                <a:solidFill>
                  <a:srgbClr val="B91C1C"/>
                </a:solidFill>
                <a:latin typeface="Calibri"/>
              </a:rPr>
              <a:t>+$114</a:t>
            </a:r>
          </a:p>
        </p:txBody>
      </p:sp>
      <p:sp>
        <p:nvSpPr>
          <p:cNvPr id="115" name="rb"/>
          <p:cNvSpPr>
            <a:spLocks noGrp="1"/>
          </p:cNvSpPr>
          <p:nvPr/>
        </p:nvSpPr>
        <p:spPr>
          <a:xfrm>
            <a:off x="320040" y="3511296"/>
            <a:ext cx="7955279" cy="292608"/>
          </a:xfrm>
          <a:prstGeom prst="rect">
            <a:avLst/>
          </a:prstGeom>
          <a:solidFill>
            <a:srgbClr val="EBF4FF"/>
          </a:solidFill>
          <a:ln w="6350">
            <a:solidFill>
              <a:srgbClr val="C8D6E8"/>
            </a:solidFill>
          </a:ln>
        </p:spPr>
      </p:sp>
      <p:sp>
        <p:nvSpPr>
          <p:cNvPr id="116" name="c"/>
          <p:cNvSpPr txBox="1">
            <a:spLocks noGrp="1"/>
          </p:cNvSpPr>
          <p:nvPr/>
        </p:nvSpPr>
        <p:spPr>
          <a:xfrm>
            <a:off x="320040" y="3511296"/>
            <a:ext cx="1316736" cy="292608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l"/>
            <a:r>
              <a:rPr lang="es-ES" sz="700" dirty="0" b="1">
                <a:solidFill>
                  <a:srgbClr val="0D1B5E"/>
                </a:solidFill>
                <a:latin typeface="Calibri"/>
              </a:rPr>
              <a:t>AES — Soporte IT/OT</a:t>
            </a:r>
          </a:p>
        </p:txBody>
      </p:sp>
      <p:sp>
        <p:nvSpPr>
          <p:cNvPr id="117" name="c"/>
          <p:cNvSpPr txBox="1">
            <a:spLocks noGrp="1"/>
          </p:cNvSpPr>
          <p:nvPr/>
        </p:nvSpPr>
        <p:spPr>
          <a:xfrm>
            <a:off x="1636776" y="3511296"/>
            <a:ext cx="566928" cy="292608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700" dirty="0" b="1">
                <a:solidFill>
                  <a:srgbClr val="5A6475"/>
                </a:solidFill>
                <a:latin typeface="Calibri"/>
              </a:rPr>
              <a:t>AES</a:t>
            </a:r>
          </a:p>
        </p:txBody>
      </p:sp>
      <p:sp>
        <p:nvSpPr>
          <p:cNvPr id="118" name="c"/>
          <p:cNvSpPr txBox="1">
            <a:spLocks noGrp="1"/>
          </p:cNvSpPr>
          <p:nvPr/>
        </p:nvSpPr>
        <p:spPr>
          <a:xfrm>
            <a:off x="2203704" y="3511296"/>
            <a:ext cx="329184" cy="292608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700" dirty="0" b="1">
                <a:solidFill>
                  <a:srgbClr val="B91C1C"/>
                </a:solidFill>
                <a:latin typeface="Calibri"/>
              </a:rPr>
              <a:t>N1</a:t>
            </a:r>
          </a:p>
        </p:txBody>
      </p:sp>
      <p:sp>
        <p:nvSpPr>
          <p:cNvPr id="119" name="c"/>
          <p:cNvSpPr txBox="1">
            <a:spLocks noGrp="1"/>
          </p:cNvSpPr>
          <p:nvPr/>
        </p:nvSpPr>
        <p:spPr>
          <a:xfrm>
            <a:off x="2532888" y="3511296"/>
            <a:ext cx="329184" cy="292608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700" dirty="0">
                <a:solidFill>
                  <a:srgbClr val="0D1B5E"/>
                </a:solidFill>
                <a:latin typeface="Calibri"/>
              </a:rPr>
              <a:t>4</a:t>
            </a:r>
          </a:p>
        </p:txBody>
      </p:sp>
      <p:sp>
        <p:nvSpPr>
          <p:cNvPr id="120" name="c"/>
          <p:cNvSpPr txBox="1">
            <a:spLocks noGrp="1"/>
          </p:cNvSpPr>
          <p:nvPr/>
        </p:nvSpPr>
        <p:spPr>
          <a:xfrm>
            <a:off x="2862072" y="3511296"/>
            <a:ext cx="512064" cy="292608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700" dirty="0">
                <a:solidFill>
                  <a:srgbClr val="0D1B5E"/>
                </a:solidFill>
                <a:latin typeface="Calibri"/>
              </a:rPr>
              <a:t>N/D</a:t>
            </a:r>
          </a:p>
        </p:txBody>
      </p:sp>
      <p:sp>
        <p:nvSpPr>
          <p:cNvPr id="121" name="c"/>
          <p:cNvSpPr txBox="1">
            <a:spLocks noGrp="1"/>
          </p:cNvSpPr>
          <p:nvPr/>
        </p:nvSpPr>
        <p:spPr>
          <a:xfrm>
            <a:off x="3374136" y="3511296"/>
            <a:ext cx="512064" cy="292608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700" dirty="0">
                <a:solidFill>
                  <a:srgbClr val="5A6475"/>
                </a:solidFill>
                <a:latin typeface="Calibri"/>
              </a:rPr>
              <a:t>N/D</a:t>
            </a:r>
          </a:p>
        </p:txBody>
      </p:sp>
      <p:sp>
        <p:nvSpPr>
          <p:cNvPr id="122" name="c"/>
          <p:cNvSpPr txBox="1">
            <a:spLocks noGrp="1"/>
          </p:cNvSpPr>
          <p:nvPr/>
        </p:nvSpPr>
        <p:spPr>
          <a:xfrm>
            <a:off x="3886200" y="3511296"/>
            <a:ext cx="457200" cy="292608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700" dirty="0">
                <a:solidFill>
                  <a:srgbClr val="5A6475"/>
                </a:solidFill>
                <a:latin typeface="Calibri"/>
              </a:rPr>
              <a:t>N/D</a:t>
            </a:r>
          </a:p>
        </p:txBody>
      </p:sp>
      <p:sp>
        <p:nvSpPr>
          <p:cNvPr id="123" name="c"/>
          <p:cNvSpPr txBox="1">
            <a:spLocks noGrp="1"/>
          </p:cNvSpPr>
          <p:nvPr/>
        </p:nvSpPr>
        <p:spPr>
          <a:xfrm>
            <a:off x="4343400" y="3511296"/>
            <a:ext cx="859536" cy="292608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700" dirty="0">
                <a:solidFill>
                  <a:srgbClr val="0D1B5E"/>
                </a:solidFill>
                <a:latin typeface="Calibri"/>
              </a:rPr>
              <a:t>$56.3M</a:t>
            </a:r>
          </a:p>
        </p:txBody>
      </p:sp>
      <p:sp>
        <p:nvSpPr>
          <p:cNvPr id="124" name="c"/>
          <p:cNvSpPr txBox="1">
            <a:spLocks noGrp="1"/>
          </p:cNvSpPr>
          <p:nvPr/>
        </p:nvSpPr>
        <p:spPr>
          <a:xfrm>
            <a:off x="5202936" y="3511296"/>
            <a:ext cx="676656" cy="292608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700" dirty="0">
                <a:solidFill>
                  <a:srgbClr val="6B2D5E"/>
                </a:solidFill>
                <a:latin typeface="Calibri"/>
              </a:rPr>
              <a:t>N/D</a:t>
            </a:r>
          </a:p>
        </p:txBody>
      </p:sp>
      <p:sp>
        <p:nvSpPr>
          <p:cNvPr id="125" name="c"/>
          <p:cNvSpPr txBox="1">
            <a:spLocks noGrp="1"/>
          </p:cNvSpPr>
          <p:nvPr/>
        </p:nvSpPr>
        <p:spPr>
          <a:xfrm>
            <a:off x="5879592" y="3511296"/>
            <a:ext cx="603504" cy="292608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700" dirty="0">
                <a:solidFill>
                  <a:srgbClr val="5A6475"/>
                </a:solidFill>
                <a:latin typeface="Calibri"/>
              </a:rPr>
              <a:t>N/D</a:t>
            </a:r>
          </a:p>
        </p:txBody>
      </p:sp>
      <p:sp>
        <p:nvSpPr>
          <p:cNvPr id="130" name="rb"/>
          <p:cNvSpPr>
            <a:spLocks noGrp="1"/>
          </p:cNvSpPr>
          <p:nvPr/>
        </p:nvSpPr>
        <p:spPr>
          <a:xfrm>
            <a:off x="320040" y="3803904"/>
            <a:ext cx="7955279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C8D6E8"/>
            </a:solidFill>
          </a:ln>
        </p:spPr>
      </p:sp>
      <p:sp>
        <p:nvSpPr>
          <p:cNvPr id="131" name="c"/>
          <p:cNvSpPr txBox="1">
            <a:spLocks noGrp="1"/>
          </p:cNvSpPr>
          <p:nvPr/>
        </p:nvSpPr>
        <p:spPr>
          <a:xfrm>
            <a:off x="320040" y="3803904"/>
            <a:ext cx="1316736" cy="292608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l"/>
            <a:r>
              <a:rPr lang="es-ES" sz="700" dirty="0" b="1">
                <a:solidFill>
                  <a:srgbClr val="0D1B5E"/>
                </a:solidFill>
                <a:latin typeface="Calibri"/>
              </a:rPr>
              <a:t>BCO COES (5 mesas)</a:t>
            </a:r>
          </a:p>
        </p:txBody>
      </p:sp>
      <p:sp>
        <p:nvSpPr>
          <p:cNvPr id="132" name="c"/>
          <p:cNvSpPr txBox="1">
            <a:spLocks noGrp="1"/>
          </p:cNvSpPr>
          <p:nvPr/>
        </p:nvSpPr>
        <p:spPr>
          <a:xfrm>
            <a:off x="1636776" y="3803904"/>
            <a:ext cx="566928" cy="292608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700" dirty="0" b="1">
                <a:solidFill>
                  <a:srgbClr val="5A6475"/>
                </a:solidFill>
                <a:latin typeface="Calibri"/>
              </a:rPr>
              <a:t>BCO</a:t>
            </a:r>
          </a:p>
        </p:txBody>
      </p:sp>
      <p:sp>
        <p:nvSpPr>
          <p:cNvPr id="133" name="c"/>
          <p:cNvSpPr txBox="1">
            <a:spLocks noGrp="1"/>
          </p:cNvSpPr>
          <p:nvPr/>
        </p:nvSpPr>
        <p:spPr>
          <a:xfrm>
            <a:off x="2203704" y="3803904"/>
            <a:ext cx="329184" cy="292608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700" dirty="0" b="1">
                <a:solidFill>
                  <a:srgbClr val="B91C1C"/>
                </a:solidFill>
                <a:latin typeface="Calibri"/>
              </a:rPr>
              <a:t>N1</a:t>
            </a:r>
          </a:p>
        </p:txBody>
      </p:sp>
      <p:sp>
        <p:nvSpPr>
          <p:cNvPr id="134" name="c"/>
          <p:cNvSpPr txBox="1">
            <a:spLocks noGrp="1"/>
          </p:cNvSpPr>
          <p:nvPr/>
        </p:nvSpPr>
        <p:spPr>
          <a:xfrm>
            <a:off x="2532888" y="3803904"/>
            <a:ext cx="329184" cy="292608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700" dirty="0">
                <a:solidFill>
                  <a:srgbClr val="0D1B5E"/>
                </a:solidFill>
                <a:latin typeface="Calibri"/>
              </a:rPr>
              <a:t>32</a:t>
            </a:r>
          </a:p>
        </p:txBody>
      </p:sp>
      <p:sp>
        <p:nvSpPr>
          <p:cNvPr id="135" name="c"/>
          <p:cNvSpPr txBox="1">
            <a:spLocks noGrp="1"/>
          </p:cNvSpPr>
          <p:nvPr/>
        </p:nvSpPr>
        <p:spPr>
          <a:xfrm>
            <a:off x="2862072" y="3803904"/>
            <a:ext cx="512064" cy="292608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700" dirty="0">
                <a:solidFill>
                  <a:srgbClr val="0D1B5E"/>
                </a:solidFill>
                <a:latin typeface="Calibri"/>
              </a:rPr>
              <a:t>N/D</a:t>
            </a:r>
          </a:p>
        </p:txBody>
      </p:sp>
      <p:sp>
        <p:nvSpPr>
          <p:cNvPr id="136" name="c"/>
          <p:cNvSpPr txBox="1">
            <a:spLocks noGrp="1"/>
          </p:cNvSpPr>
          <p:nvPr/>
        </p:nvSpPr>
        <p:spPr>
          <a:xfrm>
            <a:off x="3374136" y="3803904"/>
            <a:ext cx="512064" cy="292608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700" dirty="0">
                <a:solidFill>
                  <a:srgbClr val="5A6475"/>
                </a:solidFill>
                <a:latin typeface="Calibri"/>
              </a:rPr>
              <a:t>N/D</a:t>
            </a:r>
          </a:p>
        </p:txBody>
      </p:sp>
      <p:sp>
        <p:nvSpPr>
          <p:cNvPr id="137" name="c"/>
          <p:cNvSpPr txBox="1">
            <a:spLocks noGrp="1"/>
          </p:cNvSpPr>
          <p:nvPr/>
        </p:nvSpPr>
        <p:spPr>
          <a:xfrm>
            <a:off x="3886200" y="3803904"/>
            <a:ext cx="457200" cy="292608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700" dirty="0">
                <a:solidFill>
                  <a:srgbClr val="5A6475"/>
                </a:solidFill>
                <a:latin typeface="Calibri"/>
              </a:rPr>
              <a:t>N/D</a:t>
            </a:r>
          </a:p>
        </p:txBody>
      </p:sp>
      <p:sp>
        <p:nvSpPr>
          <p:cNvPr id="138" name="c"/>
          <p:cNvSpPr txBox="1">
            <a:spLocks noGrp="1"/>
          </p:cNvSpPr>
          <p:nvPr/>
        </p:nvSpPr>
        <p:spPr>
          <a:xfrm>
            <a:off x="4343400" y="3803904"/>
            <a:ext cx="859536" cy="292608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700" dirty="0">
                <a:solidFill>
                  <a:srgbClr val="0D1B5E"/>
                </a:solidFill>
                <a:latin typeface="Calibri"/>
              </a:rPr>
              <a:t>$450.6M</a:t>
            </a:r>
          </a:p>
        </p:txBody>
      </p:sp>
      <p:sp>
        <p:nvSpPr>
          <p:cNvPr id="139" name="c"/>
          <p:cNvSpPr txBox="1">
            <a:spLocks noGrp="1"/>
          </p:cNvSpPr>
          <p:nvPr/>
        </p:nvSpPr>
        <p:spPr>
          <a:xfrm>
            <a:off x="5202936" y="3803904"/>
            <a:ext cx="676656" cy="292608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700" dirty="0">
                <a:solidFill>
                  <a:srgbClr val="6B2D5E"/>
                </a:solidFill>
                <a:latin typeface="Calibri"/>
              </a:rPr>
              <a:t>N/D</a:t>
            </a:r>
          </a:p>
        </p:txBody>
      </p:sp>
      <p:sp>
        <p:nvSpPr>
          <p:cNvPr id="140" name="c"/>
          <p:cNvSpPr txBox="1">
            <a:spLocks noGrp="1"/>
          </p:cNvSpPr>
          <p:nvPr/>
        </p:nvSpPr>
        <p:spPr>
          <a:xfrm>
            <a:off x="5879592" y="3803904"/>
            <a:ext cx="603504" cy="292608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700" dirty="0">
                <a:solidFill>
                  <a:srgbClr val="5A6475"/>
                </a:solidFill>
                <a:latin typeface="Calibri"/>
              </a:rPr>
              <a:t>N/D</a:t>
            </a:r>
          </a:p>
        </p:txBody>
      </p:sp>
      <p:sp>
        <p:nvSpPr>
          <p:cNvPr id="145" name="rb"/>
          <p:cNvSpPr>
            <a:spLocks noGrp="1"/>
          </p:cNvSpPr>
          <p:nvPr/>
        </p:nvSpPr>
        <p:spPr>
          <a:xfrm>
            <a:off x="320040" y="4096512"/>
            <a:ext cx="7955279" cy="292608"/>
          </a:xfrm>
          <a:prstGeom prst="rect">
            <a:avLst/>
          </a:prstGeom>
          <a:solidFill>
            <a:srgbClr val="EBF4FF"/>
          </a:solidFill>
          <a:ln w="6350">
            <a:solidFill>
              <a:srgbClr val="C8D6E8"/>
            </a:solidFill>
          </a:ln>
        </p:spPr>
      </p:sp>
      <p:sp>
        <p:nvSpPr>
          <p:cNvPr id="146" name="c"/>
          <p:cNvSpPr txBox="1">
            <a:spLocks noGrp="1"/>
          </p:cNvSpPr>
          <p:nvPr/>
        </p:nvSpPr>
        <p:spPr>
          <a:xfrm>
            <a:off x="320040" y="4096512"/>
            <a:ext cx="1316736" cy="292608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l"/>
            <a:r>
              <a:rPr lang="es-ES" sz="700" dirty="0" b="1">
                <a:solidFill>
                  <a:srgbClr val="0D1B5E"/>
                </a:solidFill>
                <a:latin typeface="Calibri"/>
              </a:rPr>
              <a:t>MEDICARTE</a:t>
            </a:r>
          </a:p>
        </p:txBody>
      </p:sp>
      <p:sp>
        <p:nvSpPr>
          <p:cNvPr id="147" name="c"/>
          <p:cNvSpPr txBox="1">
            <a:spLocks noGrp="1"/>
          </p:cNvSpPr>
          <p:nvPr/>
        </p:nvSpPr>
        <p:spPr>
          <a:xfrm>
            <a:off x="1636776" y="4096512"/>
            <a:ext cx="566928" cy="292608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700" dirty="0" b="1">
                <a:solidFill>
                  <a:srgbClr val="5A6475"/>
                </a:solidFill>
                <a:latin typeface="Calibri"/>
              </a:rPr>
              <a:t>MED</a:t>
            </a:r>
          </a:p>
        </p:txBody>
      </p:sp>
      <p:sp>
        <p:nvSpPr>
          <p:cNvPr id="148" name="c"/>
          <p:cNvSpPr txBox="1">
            <a:spLocks noGrp="1"/>
          </p:cNvSpPr>
          <p:nvPr/>
        </p:nvSpPr>
        <p:spPr>
          <a:xfrm>
            <a:off x="2203704" y="4096512"/>
            <a:ext cx="329184" cy="292608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700" dirty="0" b="1">
                <a:solidFill>
                  <a:srgbClr val="B91C1C"/>
                </a:solidFill>
                <a:latin typeface="Calibri"/>
              </a:rPr>
              <a:t>N1</a:t>
            </a:r>
          </a:p>
        </p:txBody>
      </p:sp>
      <p:sp>
        <p:nvSpPr>
          <p:cNvPr id="149" name="c"/>
          <p:cNvSpPr txBox="1">
            <a:spLocks noGrp="1"/>
          </p:cNvSpPr>
          <p:nvPr/>
        </p:nvSpPr>
        <p:spPr>
          <a:xfrm>
            <a:off x="2532888" y="4096512"/>
            <a:ext cx="329184" cy="292608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700" dirty="0">
                <a:solidFill>
                  <a:srgbClr val="0D1B5E"/>
                </a:solidFill>
                <a:latin typeface="Calibri"/>
              </a:rPr>
              <a:t>12</a:t>
            </a:r>
          </a:p>
        </p:txBody>
      </p:sp>
      <p:sp>
        <p:nvSpPr>
          <p:cNvPr id="150" name="c"/>
          <p:cNvSpPr txBox="1">
            <a:spLocks noGrp="1"/>
          </p:cNvSpPr>
          <p:nvPr/>
        </p:nvSpPr>
        <p:spPr>
          <a:xfrm>
            <a:off x="2862072" y="4096512"/>
            <a:ext cx="512064" cy="292608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700" dirty="0">
                <a:solidFill>
                  <a:srgbClr val="0D1B5E"/>
                </a:solidFill>
                <a:latin typeface="Calibri"/>
              </a:rPr>
              <a:t>N/D</a:t>
            </a:r>
          </a:p>
        </p:txBody>
      </p:sp>
      <p:sp>
        <p:nvSpPr>
          <p:cNvPr id="151" name="c"/>
          <p:cNvSpPr txBox="1">
            <a:spLocks noGrp="1"/>
          </p:cNvSpPr>
          <p:nvPr/>
        </p:nvSpPr>
        <p:spPr>
          <a:xfrm>
            <a:off x="3374136" y="4096512"/>
            <a:ext cx="512064" cy="292608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700" dirty="0">
                <a:solidFill>
                  <a:srgbClr val="0E6B3C"/>
                </a:solidFill>
                <a:latin typeface="Calibri"/>
              </a:rPr>
              <a:t>0.6h</a:t>
            </a:r>
          </a:p>
        </p:txBody>
      </p:sp>
      <p:sp>
        <p:nvSpPr>
          <p:cNvPr id="152" name="c"/>
          <p:cNvSpPr txBox="1">
            <a:spLocks noGrp="1"/>
          </p:cNvSpPr>
          <p:nvPr/>
        </p:nvSpPr>
        <p:spPr>
          <a:xfrm>
            <a:off x="3886200" y="4096512"/>
            <a:ext cx="457200" cy="292608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700" dirty="0">
                <a:solidFill>
                  <a:srgbClr val="B45309"/>
                </a:solidFill>
                <a:latin typeface="Calibri"/>
              </a:rPr>
              <a:t>89%</a:t>
            </a:r>
          </a:p>
        </p:txBody>
      </p:sp>
      <p:sp>
        <p:nvSpPr>
          <p:cNvPr id="153" name="c"/>
          <p:cNvSpPr txBox="1">
            <a:spLocks noGrp="1"/>
          </p:cNvSpPr>
          <p:nvPr/>
        </p:nvSpPr>
        <p:spPr>
          <a:xfrm>
            <a:off x="4343400" y="4096512"/>
            <a:ext cx="859536" cy="292608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700" dirty="0">
                <a:solidFill>
                  <a:srgbClr val="0D1B5E"/>
                </a:solidFill>
                <a:latin typeface="Calibri"/>
              </a:rPr>
              <a:t>$169.0M</a:t>
            </a:r>
          </a:p>
        </p:txBody>
      </p:sp>
      <p:sp>
        <p:nvSpPr>
          <p:cNvPr id="154" name="c"/>
          <p:cNvSpPr txBox="1">
            <a:spLocks noGrp="1"/>
          </p:cNvSpPr>
          <p:nvPr/>
        </p:nvSpPr>
        <p:spPr>
          <a:xfrm>
            <a:off x="5202936" y="4096512"/>
            <a:ext cx="676656" cy="292608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700" dirty="0">
                <a:solidFill>
                  <a:srgbClr val="6B2D5E"/>
                </a:solidFill>
                <a:latin typeface="Calibri"/>
              </a:rPr>
              <a:t>N/D</a:t>
            </a:r>
          </a:p>
        </p:txBody>
      </p:sp>
      <p:sp>
        <p:nvSpPr>
          <p:cNvPr id="155" name="c"/>
          <p:cNvSpPr txBox="1">
            <a:spLocks noGrp="1"/>
          </p:cNvSpPr>
          <p:nvPr/>
        </p:nvSpPr>
        <p:spPr>
          <a:xfrm>
            <a:off x="5879592" y="4096512"/>
            <a:ext cx="603504" cy="292608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700" dirty="0">
                <a:solidFill>
                  <a:srgbClr val="5A6475"/>
                </a:solidFill>
                <a:latin typeface="Calibri"/>
              </a:rPr>
              <a:t>N/D</a:t>
            </a:r>
          </a:p>
        </p:txBody>
      </p:sp>
      <p:sp>
        <p:nvSpPr>
          <p:cNvPr id="200" name="tot"/>
          <p:cNvSpPr>
            <a:spLocks noGrp="1"/>
          </p:cNvSpPr>
          <p:nvPr/>
        </p:nvSpPr>
        <p:spPr>
          <a:xfrm>
            <a:off x="320040" y="4389120"/>
            <a:ext cx="7955279" cy="274320"/>
          </a:xfrm>
          <a:prstGeom prst="rect">
            <a:avLst/>
          </a:prstGeom>
          <a:solidFill>
            <a:srgbClr val="F8F0F6"/>
          </a:solidFill>
          <a:ln w="12700">
            <a:solidFill>
              <a:srgbClr val="6B2D5E"/>
            </a:solidFill>
          </a:ln>
        </p:spPr>
      </p:sp>
      <p:sp>
        <p:nvSpPr>
          <p:cNvPr id="201" name="tc"/>
          <p:cNvSpPr txBox="1">
            <a:spLocks noGrp="1"/>
          </p:cNvSpPr>
          <p:nvPr/>
        </p:nvSpPr>
        <p:spPr>
          <a:xfrm>
            <a:off x="320040" y="4389120"/>
            <a:ext cx="1316736" cy="274320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l"/>
            <a:r>
              <a:rPr lang="es-ES" sz="700" dirty="0" b="1">
                <a:solidFill>
                  <a:srgbClr val="6B2D5E"/>
                </a:solidFill>
                <a:latin typeface="Calibri"/>
              </a:rPr>
              <a:t>TOTAL SURA (4 mesas)</a:t>
            </a:r>
          </a:p>
        </p:txBody>
      </p:sp>
      <p:sp>
        <p:nvSpPr>
          <p:cNvPr id="202" name="tc"/>
          <p:cNvSpPr txBox="1">
            <a:spLocks noGrp="1"/>
          </p:cNvSpPr>
          <p:nvPr/>
        </p:nvSpPr>
        <p:spPr>
          <a:xfrm>
            <a:off x="1636776" y="4389120"/>
            <a:ext cx="566928" cy="274320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700" dirty="0" b="1">
                <a:solidFill>
                  <a:srgbClr val="6B2D5E"/>
                </a:solidFill>
                <a:latin typeface="Calibri"/>
              </a:rPr>
              <a:t>SURA</a:t>
            </a:r>
          </a:p>
        </p:txBody>
      </p:sp>
      <p:sp>
        <p:nvSpPr>
          <p:cNvPr id="203" name="tc"/>
          <p:cNvSpPr txBox="1">
            <a:spLocks noGrp="1"/>
          </p:cNvSpPr>
          <p:nvPr/>
        </p:nvSpPr>
        <p:spPr>
          <a:xfrm>
            <a:off x="2203704" y="4389120"/>
            <a:ext cx="329184" cy="274320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700" dirty="0" b="1">
                <a:solidFill>
                  <a:srgbClr val="6B2D5E"/>
                </a:solidFill>
                <a:latin typeface="Calibri"/>
              </a:rPr>
              <a:t>N2</a:t>
            </a:r>
          </a:p>
        </p:txBody>
      </p:sp>
      <p:sp>
        <p:nvSpPr>
          <p:cNvPr id="204" name="tc"/>
          <p:cNvSpPr txBox="1">
            <a:spLocks noGrp="1"/>
          </p:cNvSpPr>
          <p:nvPr/>
        </p:nvSpPr>
        <p:spPr>
          <a:xfrm>
            <a:off x="2532888" y="4389120"/>
            <a:ext cx="329184" cy="274320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700" dirty="0" b="1">
                <a:solidFill>
                  <a:srgbClr val="6B2D5E"/>
                </a:solidFill>
                <a:latin typeface="Calibri"/>
              </a:rPr>
              <a:t>17</a:t>
            </a:r>
          </a:p>
        </p:txBody>
      </p:sp>
      <p:sp>
        <p:nvSpPr>
          <p:cNvPr id="205" name="tc"/>
          <p:cNvSpPr txBox="1">
            <a:spLocks noGrp="1"/>
          </p:cNvSpPr>
          <p:nvPr/>
        </p:nvSpPr>
        <p:spPr>
          <a:xfrm>
            <a:off x="2862072" y="4389120"/>
            <a:ext cx="512064" cy="274320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700" dirty="0" b="1">
                <a:solidFill>
                  <a:srgbClr val="6B2D5E"/>
                </a:solidFill>
                <a:latin typeface="Calibri"/>
              </a:rPr>
              <a:t>1,525</a:t>
            </a:r>
          </a:p>
        </p:txBody>
      </p:sp>
      <p:sp>
        <p:nvSpPr>
          <p:cNvPr id="206" name="tc"/>
          <p:cNvSpPr txBox="1">
            <a:spLocks noGrp="1"/>
          </p:cNvSpPr>
          <p:nvPr/>
        </p:nvSpPr>
        <p:spPr>
          <a:xfrm>
            <a:off x="3374136" y="4389120"/>
            <a:ext cx="512064" cy="274320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700" dirty="0" b="1">
                <a:solidFill>
                  <a:srgbClr val="6B2D5E"/>
                </a:solidFill>
                <a:latin typeface="Calibri"/>
              </a:rPr>
              <a:t>14.5h</a:t>
            </a:r>
          </a:p>
        </p:txBody>
      </p:sp>
      <p:sp>
        <p:nvSpPr>
          <p:cNvPr id="207" name="tc"/>
          <p:cNvSpPr txBox="1">
            <a:spLocks noGrp="1"/>
          </p:cNvSpPr>
          <p:nvPr/>
        </p:nvSpPr>
        <p:spPr>
          <a:xfrm>
            <a:off x="3886200" y="438912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700" dirty="0" b="1">
                <a:solidFill>
                  <a:srgbClr val="6B2D5E"/>
                </a:solidFill>
                <a:latin typeface="Calibri"/>
              </a:rPr>
              <a:t>78.5%</a:t>
            </a:r>
          </a:p>
        </p:txBody>
      </p:sp>
      <p:sp>
        <p:nvSpPr>
          <p:cNvPr id="208" name="tc"/>
          <p:cNvSpPr txBox="1">
            <a:spLocks noGrp="1"/>
          </p:cNvSpPr>
          <p:nvPr/>
        </p:nvSpPr>
        <p:spPr>
          <a:xfrm>
            <a:off x="4343400" y="4389120"/>
            <a:ext cx="859536" cy="274320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700" dirty="0" b="1">
                <a:solidFill>
                  <a:srgbClr val="6B2D5E"/>
                </a:solidFill>
                <a:latin typeface="Calibri"/>
              </a:rPr>
              <a:t>$239M</a:t>
            </a:r>
          </a:p>
        </p:txBody>
      </p:sp>
      <p:sp>
        <p:nvSpPr>
          <p:cNvPr id="209" name="tc"/>
          <p:cNvSpPr txBox="1">
            <a:spLocks noGrp="1"/>
          </p:cNvSpPr>
          <p:nvPr/>
        </p:nvSpPr>
        <p:spPr>
          <a:xfrm>
            <a:off x="5202936" y="4389120"/>
            <a:ext cx="676656" cy="274320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700" dirty="0" b="1">
                <a:solidFill>
                  <a:srgbClr val="6B2D5E"/>
                </a:solidFill>
                <a:latin typeface="Calibri"/>
              </a:rPr>
              <a:t>$37</a:t>
            </a:r>
          </a:p>
        </p:txBody>
      </p:sp>
      <p:sp>
        <p:nvSpPr>
          <p:cNvPr id="210" name="tc"/>
          <p:cNvSpPr txBox="1">
            <a:spLocks noGrp="1"/>
          </p:cNvSpPr>
          <p:nvPr/>
        </p:nvSpPr>
        <p:spPr>
          <a:xfrm>
            <a:off x="5879592" y="4389120"/>
            <a:ext cx="603504" cy="274320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700" dirty="0" b="1">
                <a:solidFill>
                  <a:srgbClr val="6B2D5E"/>
                </a:solidFill>
                <a:latin typeface="Calibri"/>
              </a:rPr>
              <a:t>+$2</a:t>
            </a:r>
          </a:p>
        </p:txBody>
      </p:sp>
      <p:sp>
        <p:nvSpPr>
          <p:cNvPr id="210" name="ib"/>
          <p:cNvSpPr>
            <a:spLocks noGrp="1"/>
          </p:cNvSpPr>
          <p:nvPr/>
        </p:nvSpPr>
        <p:spPr>
          <a:xfrm>
            <a:off x="320040" y="4718304"/>
            <a:ext cx="5120640" cy="402336"/>
          </a:xfrm>
          <a:prstGeom prst="roundRect">
            <a:avLst>
              <a:gd name="adj" fmla="val 8000"/>
            </a:avLst>
          </a:prstGeom>
          <a:solidFill>
            <a:srgbClr val="FEF9C3"/>
          </a:solidFill>
          <a:ln w="12700">
            <a:solidFill>
              <a:srgbClr val="B45309"/>
            </a:solidFill>
          </a:ln>
        </p:spPr>
      </p:sp>
      <p:sp>
        <p:nvSpPr>
          <p:cNvPr id="211" name="it"/>
          <p:cNvSpPr txBox="1">
            <a:spLocks noGrp="1"/>
          </p:cNvSpPr>
          <p:nvPr/>
        </p:nvSpPr>
        <p:spPr>
          <a:xfrm>
            <a:off x="411480" y="4754880"/>
            <a:ext cx="4937760" cy="329184"/>
          </a:xfrm>
          <a:prstGeom prst="rect">
            <a:avLst/>
          </a:prstGeom>
          <a:noFill/>
          <a:ln>
            <a:noFill/>
          </a:ln>
        </p:spPr>
        <p:txBody>
          <a:bodyPr anchor="t" wrap="square" lIns="91440" rIns="91440" tIns="45720" bIns="45720">
            <a:noAutofit/>
          </a:bodyPr>
          <a:lstStyle/>
          <a:p>
            <a:pPr algn="l"/>
            <a:r>
              <a:rPr lang="es-ES" sz="880" dirty="0" b="1">
                <a:solidFill>
                  <a:srgbClr val="B45309"/>
                </a:solidFill>
                <a:latin typeface="Calibri"/>
              </a:rPr>
              <a:t>¿Por qué cuesta mas? </a:t>
            </a:r>
            <a:r>
              <a:rPr lang="es-ES" sz="860" dirty="0">
                <a:solidFill>
                  <a:srgbClr val="B45309"/>
                </a:solidFill>
                <a:latin typeface="Calibri"/>
              </a:rPr>
              <a:t>MTTR alto (24.5h) + sin autoservicio + 0% deflexion N0 → cada ticket consume horas de FTE senior completo.</a:t>
            </a:r>
          </a:p>
        </p:txBody>
      </p:sp>
      <p:sp>
        <p:nvSpPr>
          <p:cNvPr id="212" name="ib2"/>
          <p:cNvSpPr>
            <a:spLocks noGrp="1"/>
          </p:cNvSpPr>
          <p:nvPr/>
        </p:nvSpPr>
        <p:spPr>
          <a:xfrm>
            <a:off x="5577840" y="4718304"/>
            <a:ext cx="2697480" cy="402336"/>
          </a:xfrm>
          <a:prstGeom prst="roundRect">
            <a:avLst>
              <a:gd name="adj" fmla="val 8000"/>
            </a:avLst>
          </a:prstGeom>
          <a:solidFill>
            <a:srgbClr val="E8F5EE"/>
          </a:solidFill>
          <a:ln w="12700">
            <a:solidFill>
              <a:srgbClr val="0E6B3C"/>
            </a:solidFill>
          </a:ln>
        </p:spPr>
      </p:sp>
      <p:sp>
        <p:nvSpPr>
          <p:cNvPr id="213" name="it2"/>
          <p:cNvSpPr txBox="1">
            <a:spLocks noGrp="1"/>
          </p:cNvSpPr>
          <p:nvPr/>
        </p:nvSpPr>
        <p:spPr>
          <a:xfrm>
            <a:off x="5669280" y="4754880"/>
            <a:ext cx="2560320" cy="329184"/>
          </a:xfrm>
          <a:prstGeom prst="rect">
            <a:avLst/>
          </a:prstGeom>
          <a:noFill/>
          <a:ln>
            <a:noFill/>
          </a:ln>
        </p:spPr>
        <p:txBody>
          <a:bodyPr anchor="t" wrap="square" lIns="91440" rIns="91440" tIns="45720" bIns="45720">
            <a:noAutofit/>
          </a:bodyPr>
          <a:lstStyle/>
          <a:p>
            <a:pPr algn="l"/>
            <a:r>
              <a:rPr lang="es-ES" sz="880" dirty="0" b="1">
                <a:solidFill>
                  <a:srgbClr val="0E6B3C"/>
                </a:solidFill>
                <a:latin typeface="Calibri"/>
              </a:rPr>
              <a:t>Ahorro potencial con N3:</a:t>
            </a:r>
          </a:p>
          <a:p>
            <a:pPr algn="l"/>
            <a:r>
              <a:rPr lang="es-ES" sz="860" dirty="0">
                <a:solidFill>
                  <a:srgbClr val="0E6B3C"/>
                </a:solidFill>
                <a:latin typeface="Calibri"/>
              </a:rPr>
              <a:t>~$143M COP/mes solo en SURA</a:t>
            </a:r>
          </a:p>
        </p:txBody>
      </p:sp>
      <p:sp>
        <p:nvSpPr>
          <p:cNvPr id="220" name="src"/>
          <p:cNvSpPr txBox="1">
            <a:spLocks noGrp="1"/>
          </p:cNvSpPr>
          <p:nvPr/>
        </p:nvSpPr>
        <p:spPr>
          <a:xfrm>
            <a:off x="320040" y="4453128"/>
            <a:ext cx="7717536" cy="164592"/>
          </a:xfrm>
          <a:prstGeom prst="rect">
            <a:avLst/>
          </a:prstGeom>
          <a:noFill/>
          <a:ln>
            <a:noFill/>
          </a:ln>
        </p:spPr>
        <p:txBody>
          <a:bodyPr anchor="t" wrap="square" lIns="91440" rIns="91440" tIns="45720" bIns="45720">
            <a:noAutofit/>
          </a:bodyPr>
          <a:lstStyle/>
          <a:p>
            <a:pPr algn="l"/>
            <a:r>
              <a:rPr lang="es-ES" sz="rId101" dirty="0" b="1" u="sng">
                <a:solidFill>
                  <a:srgbClr val="False"/>
                </a:solidFill>
                <a:latin typeface="Calibri"/>
                <a:hlinkClick r:id="1A3A8F"/>
              </a:rPr>
              <a:t>HDI Standard</a:t>
            </a:r>
            <a:r>
              <a:rPr lang="es-ES" sz="780" dirty="0">
                <a:solidFill>
                  <a:srgbClr val="5A6475"/>
                </a:solidFill>
                <a:latin typeface="Calibri"/>
              </a:rPr>
              <a:t>  · </a:t>
            </a:r>
            <a:r>
              <a:rPr lang="es-ES" sz="rId102" dirty="0" b="1" u="sng">
                <a:solidFill>
                  <a:srgbClr val="False"/>
                </a:solidFill>
                <a:latin typeface="Calibri"/>
                <a:hlinkClick r:id="1A3A8F"/>
              </a:rPr>
              <a:t>MetricNet MTTR</a:t>
            </a:r>
            <a:r>
              <a:rPr lang="es-ES" sz="780" dirty="0">
                <a:solidFill>
                  <a:srgbClr val="5A6475"/>
                </a:solidFill>
                <a:latin typeface="Calibri"/>
              </a:rPr>
              <a:t>  · </a:t>
            </a:r>
            <a:r>
              <a:rPr lang="es-ES" sz="rId104" dirty="0" b="1" u="sng">
                <a:solidFill>
                  <a:srgbClr val="False"/>
                </a:solidFill>
                <a:latin typeface="Calibri"/>
                <a:hlinkClick r:id="1A3A8F"/>
              </a:rPr>
              <a:t>Gartner Cost per Ticket</a:t>
            </a:r>
            <a:r>
              <a:rPr lang="es-ES" sz="780" dirty="0" i="1">
                <a:solidFill>
                  <a:srgbClr val="5A6475"/>
                </a:solidFill>
                <a:latin typeface="Calibri"/>
              </a:rPr>
              <a:t>  · Levantamiento interno PS · Excel Levantamiento_Mesas_Julio_2026</a:t>
            </a:r>
          </a:p>
        </p:txBody>
      </p:sp>
    </p:spTree>
  </p:cSld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bg"/>
          <p:cNvSpPr>
            <a:spLocks noGrp="1"/>
          </p:cNvSpPr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7FC"/>
          </a:solidFill>
          <a:ln>
            <a:noFill/>
          </a:ln>
        </p:spPr>
      </p:sp>
      <p:sp>
        <p:nvSpPr>
          <p:cNvPr id="3" name="ttl"/>
          <p:cNvSpPr txBox="1">
            <a:spLocks noGrp="1"/>
          </p:cNvSpPr>
          <p:nvPr/>
        </p:nvSpPr>
        <p:spPr>
          <a:xfrm>
            <a:off x="320040" y="91440"/>
            <a:ext cx="7772400" cy="402336"/>
          </a:xfrm>
          <a:prstGeom prst="rect">
            <a:avLst/>
          </a:prstGeom>
          <a:noFill/>
          <a:ln>
            <a:noFill/>
          </a:ln>
        </p:spPr>
        <p:txBody>
          <a:bodyPr anchor="t" wrap="square" lIns="91440" rIns="91440" tIns="45720" bIns="45720">
            <a:noAutofit/>
          </a:bodyPr>
          <a:lstStyle/>
          <a:p>
            <a:pPr algn="l"/>
            <a:r>
              <a:rPr lang="es-ES" sz="2200" dirty="0" b="1">
                <a:solidFill>
                  <a:srgbClr val="0D1B5E"/>
                </a:solidFill>
                <a:latin typeface="Calibri"/>
              </a:rPr>
              <a:t>Benchmarks de Industria vs Mesas Actuales PersonalSoft</a:t>
            </a:r>
          </a:p>
        </p:txBody>
      </p:sp>
      <p:sp>
        <p:nvSpPr>
          <p:cNvPr id="4" name="sub"/>
          <p:cNvSpPr txBox="1">
            <a:spLocks noGrp="1"/>
          </p:cNvSpPr>
          <p:nvPr/>
        </p:nvSpPr>
        <p:spPr>
          <a:xfrm>
            <a:off x="320040" y="512064"/>
            <a:ext cx="7772400" cy="201168"/>
          </a:xfrm>
          <a:prstGeom prst="rect">
            <a:avLst/>
          </a:prstGeom>
          <a:noFill/>
          <a:ln>
            <a:noFill/>
          </a:ln>
        </p:spPr>
        <p:txBody>
          <a:bodyPr anchor="t" wrap="square" lIns="91440" rIns="91440" tIns="45720" bIns="45720">
            <a:noAutofit/>
          </a:bodyPr>
          <a:lstStyle/>
          <a:p>
            <a:pPr algn="l"/>
            <a:r>
              <a:rPr lang="es-ES" sz="1000" dirty="0">
                <a:solidFill>
                  <a:srgbClr val="6B7280"/>
                </a:solidFill>
                <a:latin typeface="Calibri"/>
              </a:rPr>
              <a:t>Promedio industria  ·  World-Class  ·  PS Mesas Actuales  ·  Gen Next Objetivo (N3-N5)  ·  Supuesto: $88.000 COP/hora-FTE · 1 USD = $4.200 COP</a:t>
            </a:r>
          </a:p>
        </p:txBody>
      </p:sp>
      <p:sp>
        <p:nvSpPr>
          <p:cNvPr id="5" name="hl"/>
          <p:cNvSpPr>
            <a:spLocks noGrp="1"/>
          </p:cNvSpPr>
          <p:nvPr/>
        </p:nvSpPr>
        <p:spPr>
          <a:xfrm>
            <a:off x="320040" y="731520"/>
            <a:ext cx="7635240" cy="9144"/>
          </a:xfrm>
          <a:prstGeom prst="rect">
            <a:avLst/>
          </a:prstGeom>
          <a:solidFill>
            <a:srgbClr val="D1D5DB"/>
          </a:solidFill>
          <a:ln>
            <a:noFill/>
          </a:ln>
        </p:spPr>
      </p:sp>
      <p:sp>
        <p:nvSpPr>
          <p:cNvPr id="10" name="lb"/>
          <p:cNvSpPr>
            <a:spLocks noGrp="1"/>
          </p:cNvSpPr>
          <p:nvPr/>
        </p:nvSpPr>
        <p:spPr>
          <a:xfrm>
            <a:off x="320040" y="786384"/>
            <a:ext cx="128016" cy="128016"/>
          </a:xfrm>
          <a:prstGeom prst="rect">
            <a:avLst/>
          </a:prstGeom>
          <a:solidFill>
            <a:srgbClr val="1B7B85"/>
          </a:solidFill>
          <a:ln>
            <a:noFill/>
          </a:ln>
        </p:spPr>
      </p:sp>
      <p:sp>
        <p:nvSpPr>
          <p:cNvPr id="11" name="lt"/>
          <p:cNvSpPr txBox="1">
            <a:spLocks noGrp="1"/>
          </p:cNvSpPr>
          <p:nvPr/>
        </p:nvSpPr>
        <p:spPr>
          <a:xfrm>
            <a:off x="484632" y="786384"/>
            <a:ext cx="1353312" cy="128016"/>
          </a:xfrm>
          <a:prstGeom prst="rect">
            <a:avLst/>
          </a:prstGeom>
          <a:noFill/>
          <a:ln>
            <a:noFill/>
          </a:ln>
        </p:spPr>
        <p:txBody>
          <a:bodyPr anchor="t" wrap="square" lIns="91440" rIns="91440" tIns="45720" bIns="45720">
            <a:noAutofit/>
          </a:bodyPr>
          <a:lstStyle/>
          <a:p>
            <a:pPr algn="l"/>
            <a:r>
              <a:rPr lang="es-ES" sz="740" dirty="0">
                <a:solidFill>
                  <a:srgbClr val="0D1B5E"/>
                </a:solidFill>
                <a:latin typeface="Calibri"/>
              </a:rPr>
              <a:t>Industria promedio</a:t>
            </a:r>
          </a:p>
        </p:txBody>
      </p:sp>
      <p:sp>
        <p:nvSpPr>
          <p:cNvPr id="12" name="lb"/>
          <p:cNvSpPr>
            <a:spLocks noGrp="1"/>
          </p:cNvSpPr>
          <p:nvPr/>
        </p:nvSpPr>
        <p:spPr>
          <a:xfrm>
            <a:off x="1874520" y="786384"/>
            <a:ext cx="128016" cy="128016"/>
          </a:xfrm>
          <a:prstGeom prst="rect">
            <a:avLst/>
          </a:prstGeom>
          <a:solidFill>
            <a:srgbClr val="0D1B5E"/>
          </a:solidFill>
          <a:ln>
            <a:noFill/>
          </a:ln>
        </p:spPr>
      </p:sp>
      <p:sp>
        <p:nvSpPr>
          <p:cNvPr id="13" name="lt"/>
          <p:cNvSpPr txBox="1">
            <a:spLocks noGrp="1"/>
          </p:cNvSpPr>
          <p:nvPr/>
        </p:nvSpPr>
        <p:spPr>
          <a:xfrm>
            <a:off x="2039112" y="786384"/>
            <a:ext cx="1353312" cy="128016"/>
          </a:xfrm>
          <a:prstGeom prst="rect">
            <a:avLst/>
          </a:prstGeom>
          <a:noFill/>
          <a:ln>
            <a:noFill/>
          </a:ln>
        </p:spPr>
        <p:txBody>
          <a:bodyPr anchor="t" wrap="square" lIns="91440" rIns="91440" tIns="45720" bIns="45720">
            <a:noAutofit/>
          </a:bodyPr>
          <a:lstStyle/>
          <a:p>
            <a:pPr algn="l"/>
            <a:r>
              <a:rPr lang="es-ES" sz="740" dirty="0">
                <a:solidFill>
                  <a:srgbClr val="0D1B5E"/>
                </a:solidFill>
                <a:latin typeface="Calibri"/>
              </a:rPr>
              <a:t>World-Class</a:t>
            </a:r>
          </a:p>
        </p:txBody>
      </p:sp>
      <p:sp>
        <p:nvSpPr>
          <p:cNvPr id="14" name="lb"/>
          <p:cNvSpPr>
            <a:spLocks noGrp="1"/>
          </p:cNvSpPr>
          <p:nvPr/>
        </p:nvSpPr>
        <p:spPr>
          <a:xfrm>
            <a:off x="3429000" y="786384"/>
            <a:ext cx="128016" cy="128016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15" name="lt"/>
          <p:cNvSpPr txBox="1">
            <a:spLocks noGrp="1"/>
          </p:cNvSpPr>
          <p:nvPr/>
        </p:nvSpPr>
        <p:spPr>
          <a:xfrm>
            <a:off x="3593592" y="786384"/>
            <a:ext cx="1353312" cy="128016"/>
          </a:xfrm>
          <a:prstGeom prst="rect">
            <a:avLst/>
          </a:prstGeom>
          <a:noFill/>
          <a:ln>
            <a:noFill/>
          </a:ln>
        </p:spPr>
        <p:txBody>
          <a:bodyPr anchor="t" wrap="square" lIns="91440" rIns="91440" tIns="45720" bIns="45720">
            <a:noAutofit/>
          </a:bodyPr>
          <a:lstStyle/>
          <a:p>
            <a:pPr algn="l"/>
            <a:r>
              <a:rPr lang="es-ES" sz="740" dirty="0">
                <a:solidFill>
                  <a:srgbClr val="0D1B5E"/>
                </a:solidFill>
                <a:latin typeface="Calibri"/>
              </a:rPr>
              <a:t>Gen Next N5</a:t>
            </a:r>
          </a:p>
        </p:txBody>
      </p:sp>
      <p:sp>
        <p:nvSpPr>
          <p:cNvPr id="16" name="lb"/>
          <p:cNvSpPr>
            <a:spLocks noGrp="1"/>
          </p:cNvSpPr>
          <p:nvPr/>
        </p:nvSpPr>
        <p:spPr>
          <a:xfrm>
            <a:off x="4983480" y="786384"/>
            <a:ext cx="128016" cy="128016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17" name="lt"/>
          <p:cNvSpPr txBox="1">
            <a:spLocks noGrp="1"/>
          </p:cNvSpPr>
          <p:nvPr/>
        </p:nvSpPr>
        <p:spPr>
          <a:xfrm>
            <a:off x="5148072" y="786384"/>
            <a:ext cx="1353312" cy="128016"/>
          </a:xfrm>
          <a:prstGeom prst="rect">
            <a:avLst/>
          </a:prstGeom>
          <a:noFill/>
          <a:ln>
            <a:noFill/>
          </a:ln>
        </p:spPr>
        <p:txBody>
          <a:bodyPr anchor="t" wrap="square" lIns="91440" rIns="91440" tIns="45720" bIns="45720">
            <a:noAutofit/>
          </a:bodyPr>
          <a:lstStyle/>
          <a:p>
            <a:pPr algn="l"/>
            <a:r>
              <a:rPr lang="es-ES" sz="740" dirty="0">
                <a:solidFill>
                  <a:srgbClr val="0D1B5E"/>
                </a:solidFill>
                <a:latin typeface="Calibri"/>
              </a:rPr>
              <a:t>PS Mesas Actuales</a:t>
            </a:r>
          </a:p>
        </p:txBody>
      </p:sp>
      <p:sp>
        <p:nvSpPr>
          <p:cNvPr id="18" name="lb"/>
          <p:cNvSpPr>
            <a:spLocks noGrp="1"/>
          </p:cNvSpPr>
          <p:nvPr/>
        </p:nvSpPr>
        <p:spPr>
          <a:xfrm>
            <a:off x="6537960" y="786384"/>
            <a:ext cx="128016" cy="128016"/>
          </a:xfrm>
          <a:prstGeom prst="rect">
            <a:avLst/>
          </a:prstGeom>
          <a:solidFill>
            <a:srgbClr val="1A6B3C"/>
          </a:solidFill>
          <a:ln>
            <a:noFill/>
          </a:ln>
        </p:spPr>
      </p:sp>
      <p:sp>
        <p:nvSpPr>
          <p:cNvPr id="19" name="lt"/>
          <p:cNvSpPr txBox="1">
            <a:spLocks noGrp="1"/>
          </p:cNvSpPr>
          <p:nvPr/>
        </p:nvSpPr>
        <p:spPr>
          <a:xfrm>
            <a:off x="6702552" y="786384"/>
            <a:ext cx="1353312" cy="128016"/>
          </a:xfrm>
          <a:prstGeom prst="rect">
            <a:avLst/>
          </a:prstGeom>
          <a:noFill/>
          <a:ln>
            <a:noFill/>
          </a:ln>
        </p:spPr>
        <p:txBody>
          <a:bodyPr anchor="t" wrap="square" lIns="91440" rIns="91440" tIns="45720" bIns="45720">
            <a:noAutofit/>
          </a:bodyPr>
          <a:lstStyle/>
          <a:p>
            <a:pPr algn="l"/>
            <a:r>
              <a:rPr lang="es-ES" sz="740" dirty="0">
                <a:solidFill>
                  <a:srgbClr val="0D1B5E"/>
                </a:solidFill>
                <a:latin typeface="Calibri"/>
              </a:rPr>
              <a:t>PS — Buena referencia</a:t>
            </a:r>
          </a:p>
        </p:txBody>
      </p:sp>
      <p:sp>
        <p:nvSpPr>
          <p:cNvPr id="20" name="fh"/>
          <p:cNvSpPr txBox="1">
            <a:spLocks noGrp="1"/>
          </p:cNvSpPr>
          <p:nvPr/>
        </p:nvSpPr>
        <p:spPr>
          <a:xfrm>
            <a:off x="320040" y="969264"/>
            <a:ext cx="2359152" cy="256032"/>
          </a:xfrm>
          <a:prstGeom prst="rect">
            <a:avLst/>
          </a:prstGeom>
          <a:noFill/>
          <a:ln>
            <a:noFill/>
          </a:ln>
        </p:spPr>
        <p:txBody>
          <a:bodyPr anchor="t" wrap="square" lIns="91440" rIns="91440" tIns="45720" bIns="45720">
            <a:noAutofit/>
          </a:bodyPr>
          <a:lstStyle/>
          <a:p>
            <a:pPr algn="l"/>
            <a:r>
              <a:rPr lang="es-ES" sz="1100" dirty="0" b="1">
                <a:solidFill>
                  <a:srgbClr val="0D1B5E"/>
                </a:solidFill>
                <a:latin typeface="Calibri"/>
              </a:rPr>
              <a:t>FCR (First Contact Resolution)</a:t>
            </a:r>
          </a:p>
        </p:txBody>
      </p:sp>
      <p:sp>
        <p:nvSpPr>
          <p:cNvPr id="21" name="tr"/>
          <p:cNvSpPr>
            <a:spLocks noGrp="1"/>
          </p:cNvSpPr>
          <p:nvPr/>
        </p:nvSpPr>
        <p:spPr>
          <a:xfrm>
            <a:off x="320040" y="1261872"/>
            <a:ext cx="2359152" cy="237744"/>
          </a:xfrm>
          <a:prstGeom prst="rect">
            <a:avLst/>
          </a:prstGeom>
          <a:solidFill>
            <a:srgbClr val="D1EEF3"/>
          </a:solidFill>
          <a:ln>
            <a:noFill/>
          </a:ln>
        </p:spPr>
      </p:sp>
      <p:sp>
        <p:nvSpPr>
          <p:cNvPr id="22" name="fl"/>
          <p:cNvSpPr>
            <a:spLocks noGrp="1"/>
          </p:cNvSpPr>
          <p:nvPr/>
        </p:nvSpPr>
        <p:spPr>
          <a:xfrm>
            <a:off x="320040" y="1261872"/>
            <a:ext cx="1745772" cy="237744"/>
          </a:xfrm>
          <a:prstGeom prst="rect">
            <a:avLst/>
          </a:prstGeom>
          <a:solidFill>
            <a:srgbClr val="1B7B85"/>
          </a:solidFill>
          <a:ln>
            <a:noFill/>
          </a:ln>
        </p:spPr>
      </p:sp>
      <p:sp>
        <p:nvSpPr>
          <p:cNvPr id="23" name="lb"/>
          <p:cNvSpPr txBox="1">
            <a:spLocks noGrp="1"/>
          </p:cNvSpPr>
          <p:nvPr/>
        </p:nvSpPr>
        <p:spPr>
          <a:xfrm>
            <a:off x="393192" y="1261872"/>
            <a:ext cx="1654332" cy="237744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l"/>
            <a:r>
              <a:rPr lang="es-ES" sz="890" dirty="0" b="1">
                <a:solidFill>
                  <a:srgbClr val="FFFFFF"/>
                </a:solidFill>
                <a:latin typeface="Calibri"/>
              </a:rPr>
              <a:t>74%</a:t>
            </a:r>
          </a:p>
        </p:txBody>
      </p:sp>
      <p:sp>
        <p:nvSpPr>
          <p:cNvPr id="24" name="l1"/>
          <p:cNvSpPr txBox="1">
            <a:spLocks noGrp="1"/>
          </p:cNvSpPr>
          <p:nvPr/>
        </p:nvSpPr>
        <p:spPr>
          <a:xfrm>
            <a:off x="320040" y="1517904"/>
            <a:ext cx="2359152" cy="164592"/>
          </a:xfrm>
          <a:prstGeom prst="rect">
            <a:avLst/>
          </a:prstGeom>
          <a:noFill/>
          <a:ln>
            <a:noFill/>
          </a:ln>
        </p:spPr>
        <p:txBody>
          <a:bodyPr anchor="t" wrap="square" lIns="91440" rIns="91440" tIns="45720" bIns="45720">
            <a:noAutofit/>
          </a:bodyPr>
          <a:lstStyle/>
          <a:p>
            <a:pPr algn="l"/>
            <a:r>
              <a:rPr lang="es-ES" sz="820" dirty="0" i="1">
                <a:solidFill>
                  <a:srgbClr val="6B7280"/>
                </a:solidFill>
                <a:latin typeface="Calibri"/>
              </a:rPr>
              <a:t>Promedio industria</a:t>
            </a:r>
          </a:p>
        </p:txBody>
      </p:sp>
      <p:sp>
        <p:nvSpPr>
          <p:cNvPr id="25" name="tr"/>
          <p:cNvSpPr>
            <a:spLocks noGrp="1"/>
          </p:cNvSpPr>
          <p:nvPr/>
        </p:nvSpPr>
        <p:spPr>
          <a:xfrm>
            <a:off x="320040" y="1719072"/>
            <a:ext cx="2359152" cy="237744"/>
          </a:xfrm>
          <a:prstGeom prst="rect">
            <a:avLst/>
          </a:prstGeom>
          <a:solidFill>
            <a:srgbClr val="D6DCE8"/>
          </a:solidFill>
          <a:ln>
            <a:noFill/>
          </a:ln>
        </p:spPr>
      </p:sp>
      <p:sp>
        <p:nvSpPr>
          <p:cNvPr id="26" name="fl"/>
          <p:cNvSpPr>
            <a:spLocks noGrp="1"/>
          </p:cNvSpPr>
          <p:nvPr/>
        </p:nvSpPr>
        <p:spPr>
          <a:xfrm>
            <a:off x="320040" y="1719072"/>
            <a:ext cx="1887321" cy="237744"/>
          </a:xfrm>
          <a:prstGeom prst="rect">
            <a:avLst/>
          </a:prstGeom>
          <a:solidFill>
            <a:srgbClr val="0D1B5E"/>
          </a:solidFill>
          <a:ln>
            <a:noFill/>
          </a:ln>
        </p:spPr>
      </p:sp>
      <p:sp>
        <p:nvSpPr>
          <p:cNvPr id="27" name="lb"/>
          <p:cNvSpPr txBox="1">
            <a:spLocks noGrp="1"/>
          </p:cNvSpPr>
          <p:nvPr/>
        </p:nvSpPr>
        <p:spPr>
          <a:xfrm>
            <a:off x="393192" y="1719072"/>
            <a:ext cx="1795881" cy="237744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l"/>
            <a:r>
              <a:rPr lang="es-ES" sz="890" dirty="0" b="1">
                <a:solidFill>
                  <a:srgbClr val="FFFFFF"/>
                </a:solidFill>
                <a:latin typeface="Calibri"/>
              </a:rPr>
              <a:t>80%+</a:t>
            </a:r>
          </a:p>
        </p:txBody>
      </p:sp>
      <p:sp>
        <p:nvSpPr>
          <p:cNvPr id="28" name="l2"/>
          <p:cNvSpPr txBox="1">
            <a:spLocks noGrp="1"/>
          </p:cNvSpPr>
          <p:nvPr/>
        </p:nvSpPr>
        <p:spPr>
          <a:xfrm>
            <a:off x="320040" y="1975104"/>
            <a:ext cx="2359152" cy="164592"/>
          </a:xfrm>
          <a:prstGeom prst="rect">
            <a:avLst/>
          </a:prstGeom>
          <a:noFill/>
          <a:ln>
            <a:noFill/>
          </a:ln>
        </p:spPr>
        <p:txBody>
          <a:bodyPr anchor="t" wrap="square" lIns="91440" rIns="91440" tIns="45720" bIns="45720">
            <a:noAutofit/>
          </a:bodyPr>
          <a:lstStyle/>
          <a:p>
            <a:pPr algn="l"/>
            <a:r>
              <a:rPr lang="es-ES" sz="820" dirty="0" i="1">
                <a:solidFill>
                  <a:srgbClr val="6B7280"/>
                </a:solidFill>
                <a:latin typeface="Calibri"/>
              </a:rPr>
              <a:t>World-Class</a:t>
            </a:r>
          </a:p>
        </p:txBody>
      </p:sp>
      <p:sp>
        <p:nvSpPr>
          <p:cNvPr id="29" name="tr"/>
          <p:cNvSpPr>
            <a:spLocks noGrp="1"/>
          </p:cNvSpPr>
          <p:nvPr/>
        </p:nvSpPr>
        <p:spPr>
          <a:xfrm>
            <a:off x="320040" y="2176272"/>
            <a:ext cx="2359152" cy="237744"/>
          </a:xfrm>
          <a:prstGeom prst="rect">
            <a:avLst/>
          </a:prstGeom>
          <a:solidFill>
            <a:srgbClr val="F5EDD4"/>
          </a:solidFill>
          <a:ln>
            <a:noFill/>
          </a:ln>
        </p:spPr>
      </p:sp>
      <p:sp>
        <p:nvSpPr>
          <p:cNvPr id="30" name="fl"/>
          <p:cNvSpPr>
            <a:spLocks noGrp="1"/>
          </p:cNvSpPr>
          <p:nvPr/>
        </p:nvSpPr>
        <p:spPr>
          <a:xfrm>
            <a:off x="320040" y="2176272"/>
            <a:ext cx="2005279" cy="237744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31" name="lb"/>
          <p:cNvSpPr txBox="1">
            <a:spLocks noGrp="1"/>
          </p:cNvSpPr>
          <p:nvPr/>
        </p:nvSpPr>
        <p:spPr>
          <a:xfrm>
            <a:off x="393192" y="2176272"/>
            <a:ext cx="1913839" cy="237744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l"/>
            <a:r>
              <a:rPr lang="es-ES" sz="890" dirty="0" b="1">
                <a:solidFill>
                  <a:srgbClr val="FFFFFF"/>
                </a:solidFill>
                <a:latin typeface="Calibri"/>
              </a:rPr>
              <a:t>85%+</a:t>
            </a:r>
          </a:p>
        </p:txBody>
      </p:sp>
      <p:sp>
        <p:nvSpPr>
          <p:cNvPr id="32" name="l3"/>
          <p:cNvSpPr txBox="1">
            <a:spLocks noGrp="1"/>
          </p:cNvSpPr>
          <p:nvPr/>
        </p:nvSpPr>
        <p:spPr>
          <a:xfrm>
            <a:off x="320040" y="2432304"/>
            <a:ext cx="2359152" cy="164592"/>
          </a:xfrm>
          <a:prstGeom prst="rect">
            <a:avLst/>
          </a:prstGeom>
          <a:noFill/>
          <a:ln>
            <a:noFill/>
          </a:ln>
        </p:spPr>
        <p:txBody>
          <a:bodyPr anchor="t" wrap="square" lIns="91440" rIns="91440" tIns="45720" bIns="45720">
            <a:noAutofit/>
          </a:bodyPr>
          <a:lstStyle/>
          <a:p>
            <a:pPr algn="l"/>
            <a:r>
              <a:rPr lang="es-ES" sz="820" dirty="0" i="1">
                <a:solidFill>
                  <a:srgbClr val="6B7280"/>
                </a:solidFill>
                <a:latin typeface="Calibri"/>
              </a:rPr>
              <a:t>Gen Next Objetivo (N5)</a:t>
            </a:r>
          </a:p>
        </p:txBody>
      </p:sp>
      <p:sp>
        <p:nvSpPr>
          <p:cNvPr id="33" name="ps_fcr"/>
          <p:cNvSpPr>
            <a:spLocks noGrp="1"/>
          </p:cNvSpPr>
          <p:nvPr/>
        </p:nvSpPr>
        <p:spPr>
          <a:xfrm>
            <a:off x="320040" y="2633472"/>
            <a:ext cx="2359152" cy="237744"/>
          </a:xfrm>
          <a:prstGeom prst="roundRect">
            <a:avLst>
              <a:gd name="adj" fmla="val 6000"/>
            </a:avLst>
          </a:prstGeom>
          <a:solidFill>
            <a:srgbClr val="FEE2E2"/>
          </a:solidFill>
          <a:ln w="9525">
            <a:solidFill>
              <a:srgbClr val="C00000"/>
            </a:solidFill>
          </a:ln>
        </p:spPr>
      </p:sp>
      <p:sp>
        <p:nvSpPr>
          <p:cNvPr id="34" name="ps_fcrl"/>
          <p:cNvSpPr txBox="1">
            <a:spLocks noGrp="1"/>
          </p:cNvSpPr>
          <p:nvPr/>
        </p:nvSpPr>
        <p:spPr>
          <a:xfrm>
            <a:off x="411480" y="2633472"/>
            <a:ext cx="2176272" cy="237744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l"/>
            <a:r>
              <a:rPr lang="es-ES" sz="870" dirty="0" b="1">
                <a:solidFill>
                  <a:srgbClr val="C00000"/>
                </a:solidFill>
                <a:latin typeface="Calibri"/>
              </a:rPr>
              <a:t>PS: No medido — 0 mesas tienen FCR formal</a:t>
            </a:r>
          </a:p>
        </p:txBody>
      </p:sp>
      <p:sp>
        <p:nvSpPr>
          <p:cNvPr id="35" name="med_fcr"/>
          <p:cNvSpPr>
            <a:spLocks noGrp="1"/>
          </p:cNvSpPr>
          <p:nvPr/>
        </p:nvSpPr>
        <p:spPr>
          <a:xfrm>
            <a:off x="320040" y="2926080"/>
            <a:ext cx="2359152" cy="237744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9525">
            <a:solidFill>
              <a:srgbClr val="1A6B3C"/>
            </a:solidFill>
          </a:ln>
        </p:spPr>
      </p:sp>
      <p:sp>
        <p:nvSpPr>
          <p:cNvPr id="36" name="med_fcrl"/>
          <p:cNvSpPr txBox="1">
            <a:spLocks noGrp="1"/>
          </p:cNvSpPr>
          <p:nvPr/>
        </p:nvSpPr>
        <p:spPr>
          <a:xfrm>
            <a:off x="411480" y="2926080"/>
            <a:ext cx="2176272" cy="237744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l"/>
            <a:r>
              <a:rPr lang="es-ES" sz="870" dirty="0" b="1">
                <a:solidFill>
                  <a:srgbClr val="1A6B3C"/>
                </a:solidFill>
                <a:latin typeface="Calibri"/>
              </a:rPr>
              <a:t>MEDICARTE: 68% FCR  ·  0.55h MTTR  ·  89% SLA ✓</a:t>
            </a:r>
          </a:p>
        </p:txBody>
      </p:sp>
      <p:sp>
        <p:nvSpPr>
          <p:cNvPr id="40" name="dh"/>
          <p:cNvSpPr txBox="1">
            <a:spLocks noGrp="1"/>
          </p:cNvSpPr>
          <p:nvPr/>
        </p:nvSpPr>
        <p:spPr>
          <a:xfrm>
            <a:off x="320040" y="3255264"/>
            <a:ext cx="2359152" cy="237744"/>
          </a:xfrm>
          <a:prstGeom prst="rect">
            <a:avLst/>
          </a:prstGeom>
          <a:noFill/>
          <a:ln>
            <a:noFill/>
          </a:ln>
        </p:spPr>
        <p:txBody>
          <a:bodyPr anchor="t" wrap="square" lIns="91440" rIns="91440" tIns="45720" bIns="45720">
            <a:noAutofit/>
          </a:bodyPr>
          <a:lstStyle/>
          <a:p>
            <a:pPr algn="l"/>
            <a:r>
              <a:rPr lang="es-ES" sz="1100" dirty="0" b="1">
                <a:solidFill>
                  <a:srgbClr val="0D1B5E"/>
                </a:solidFill>
                <a:latin typeface="Calibri"/>
              </a:rPr>
              <a:t>Deflection Rate (N0 Autoservicio)</a:t>
            </a:r>
          </a:p>
        </p:txBody>
      </p:sp>
      <p:sp>
        <p:nvSpPr>
          <p:cNvPr id="41" name="tr"/>
          <p:cNvSpPr>
            <a:spLocks noGrp="1"/>
          </p:cNvSpPr>
          <p:nvPr/>
        </p:nvSpPr>
        <p:spPr>
          <a:xfrm>
            <a:off x="320040" y="3529584"/>
            <a:ext cx="2359152" cy="237744"/>
          </a:xfrm>
          <a:prstGeom prst="rect">
            <a:avLst/>
          </a:prstGeom>
          <a:solidFill>
            <a:srgbClr val="EEEEEE"/>
          </a:solidFill>
          <a:ln>
            <a:noFill/>
          </a:ln>
        </p:spPr>
      </p:sp>
      <p:sp>
        <p:nvSpPr>
          <p:cNvPr id="42" name="fl"/>
          <p:cNvSpPr>
            <a:spLocks noGrp="1"/>
          </p:cNvSpPr>
          <p:nvPr/>
        </p:nvSpPr>
        <p:spPr>
          <a:xfrm>
            <a:off x="320040" y="3529584"/>
            <a:ext cx="542604" cy="237744"/>
          </a:xfrm>
          <a:prstGeom prst="rect">
            <a:avLst/>
          </a:prstGeom>
          <a:solidFill>
            <a:srgbClr val="838383"/>
          </a:solidFill>
          <a:ln>
            <a:noFill/>
          </a:ln>
        </p:spPr>
      </p:sp>
      <p:sp>
        <p:nvSpPr>
          <p:cNvPr id="43" name="lb"/>
          <p:cNvSpPr txBox="1">
            <a:spLocks noGrp="1"/>
          </p:cNvSpPr>
          <p:nvPr/>
        </p:nvSpPr>
        <p:spPr>
          <a:xfrm>
            <a:off x="393192" y="3529584"/>
            <a:ext cx="451164" cy="237744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l"/>
            <a:r>
              <a:rPr lang="es-ES" sz="890" dirty="0" b="1">
                <a:solidFill>
                  <a:srgbClr val="FFFFFF"/>
                </a:solidFill>
                <a:latin typeface="Calibri"/>
              </a:rPr>
              <a:t>23%  industria</a:t>
            </a:r>
          </a:p>
        </p:txBody>
      </p:sp>
      <p:sp>
        <p:nvSpPr>
          <p:cNvPr id="44" name="tr"/>
          <p:cNvSpPr>
            <a:spLocks noGrp="1"/>
          </p:cNvSpPr>
          <p:nvPr/>
        </p:nvSpPr>
        <p:spPr>
          <a:xfrm>
            <a:off x="320040" y="3822192"/>
            <a:ext cx="2359152" cy="237744"/>
          </a:xfrm>
          <a:prstGeom prst="rect">
            <a:avLst/>
          </a:prstGeom>
          <a:solidFill>
            <a:srgbClr val="D1EEF3"/>
          </a:solidFill>
          <a:ln>
            <a:noFill/>
          </a:ln>
        </p:spPr>
      </p:sp>
      <p:sp>
        <p:nvSpPr>
          <p:cNvPr id="45" name="fl"/>
          <p:cNvSpPr>
            <a:spLocks noGrp="1"/>
          </p:cNvSpPr>
          <p:nvPr/>
        </p:nvSpPr>
        <p:spPr>
          <a:xfrm>
            <a:off x="320040" y="3822192"/>
            <a:ext cx="1179576" cy="237744"/>
          </a:xfrm>
          <a:prstGeom prst="rect">
            <a:avLst/>
          </a:prstGeom>
          <a:solidFill>
            <a:srgbClr val="1B7B85"/>
          </a:solidFill>
          <a:ln>
            <a:noFill/>
          </a:ln>
        </p:spPr>
      </p:sp>
      <p:sp>
        <p:nvSpPr>
          <p:cNvPr id="46" name="lb"/>
          <p:cNvSpPr txBox="1">
            <a:spLocks noGrp="1"/>
          </p:cNvSpPr>
          <p:nvPr/>
        </p:nvSpPr>
        <p:spPr>
          <a:xfrm>
            <a:off x="393192" y="3822192"/>
            <a:ext cx="1088136" cy="237744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l"/>
            <a:r>
              <a:rPr lang="es-ES" sz="890" dirty="0" b="1">
                <a:solidFill>
                  <a:srgbClr val="FFFFFF"/>
                </a:solidFill>
                <a:latin typeface="Calibri"/>
              </a:rPr>
              <a:t>50%  maduro</a:t>
            </a:r>
          </a:p>
        </p:txBody>
      </p:sp>
      <p:sp>
        <p:nvSpPr>
          <p:cNvPr id="47" name="tr"/>
          <p:cNvSpPr>
            <a:spLocks noGrp="1"/>
          </p:cNvSpPr>
          <p:nvPr/>
        </p:nvSpPr>
        <p:spPr>
          <a:xfrm>
            <a:off x="320040" y="4114800"/>
            <a:ext cx="2359152" cy="237744"/>
          </a:xfrm>
          <a:prstGeom prst="rect">
            <a:avLst/>
          </a:prstGeom>
          <a:solidFill>
            <a:srgbClr val="F5EDD4"/>
          </a:solidFill>
          <a:ln>
            <a:noFill/>
          </a:ln>
        </p:spPr>
      </p:sp>
      <p:sp>
        <p:nvSpPr>
          <p:cNvPr id="48" name="fl"/>
          <p:cNvSpPr>
            <a:spLocks noGrp="1"/>
          </p:cNvSpPr>
          <p:nvPr/>
        </p:nvSpPr>
        <p:spPr>
          <a:xfrm>
            <a:off x="320040" y="4114800"/>
            <a:ext cx="2005279" cy="237744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49" name="lb"/>
          <p:cNvSpPr txBox="1">
            <a:spLocks noGrp="1"/>
          </p:cNvSpPr>
          <p:nvPr/>
        </p:nvSpPr>
        <p:spPr>
          <a:xfrm>
            <a:off x="393192" y="4114800"/>
            <a:ext cx="1913839" cy="237744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l"/>
            <a:r>
              <a:rPr lang="es-ES" sz="890" dirty="0" b="1">
                <a:solidFill>
                  <a:srgbClr val="FFFFFF"/>
                </a:solidFill>
                <a:latin typeface="Calibri"/>
              </a:rPr>
              <a:t>85%+  Gen Next IA agéntica</a:t>
            </a:r>
          </a:p>
        </p:txBody>
      </p:sp>
      <p:sp>
        <p:nvSpPr>
          <p:cNvPr id="50" name="ps_def"/>
          <p:cNvSpPr>
            <a:spLocks noGrp="1"/>
          </p:cNvSpPr>
          <p:nvPr/>
        </p:nvSpPr>
        <p:spPr>
          <a:xfrm>
            <a:off x="320040" y="4407408"/>
            <a:ext cx="2359152" cy="237744"/>
          </a:xfrm>
          <a:prstGeom prst="roundRect">
            <a:avLst>
              <a:gd name="adj" fmla="val 6000"/>
            </a:avLst>
          </a:prstGeom>
          <a:solidFill>
            <a:srgbClr val="FEE2E2"/>
          </a:solidFill>
          <a:ln w="9525">
            <a:solidFill>
              <a:srgbClr val="C00000"/>
            </a:solidFill>
          </a:ln>
        </p:spPr>
      </p:sp>
      <p:sp>
        <p:nvSpPr>
          <p:cNvPr id="51" name="ps_defl"/>
          <p:cNvSpPr txBox="1">
            <a:spLocks noGrp="1"/>
          </p:cNvSpPr>
          <p:nvPr/>
        </p:nvSpPr>
        <p:spPr>
          <a:xfrm>
            <a:off x="411480" y="4407408"/>
            <a:ext cx="2176272" cy="237744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l"/>
            <a:r>
              <a:rPr lang="es-ES" sz="870" dirty="0" b="1">
                <a:solidFill>
                  <a:srgbClr val="C00000"/>
                </a:solidFill>
                <a:latin typeface="Calibri"/>
              </a:rPr>
              <a:t>PS: 0% deflexion — ninguna mesa tiene N0</a:t>
            </a:r>
          </a:p>
        </p:txBody>
      </p:sp>
      <p:sp>
        <p:nvSpPr>
          <p:cNvPr id="52" name="defnota"/>
          <p:cNvSpPr txBox="1">
            <a:spLocks noGrp="1"/>
          </p:cNvSpPr>
          <p:nvPr/>
        </p:nvSpPr>
        <p:spPr>
          <a:xfrm>
            <a:off x="320040" y="4700016"/>
            <a:ext cx="2359152" cy="146304"/>
          </a:xfrm>
          <a:prstGeom prst="rect">
            <a:avLst/>
          </a:prstGeom>
          <a:noFill/>
          <a:ln>
            <a:noFill/>
          </a:ln>
        </p:spPr>
        <p:txBody>
          <a:bodyPr anchor="t" wrap="square" lIns="91440" rIns="91440" tIns="45720" bIns="45720">
            <a:noAutofit/>
          </a:bodyPr>
          <a:lstStyle/>
          <a:p>
            <a:pPr algn="l"/>
            <a:r>
              <a:rPr lang="es-ES" sz="780" dirty="0" i="1">
                <a:solidFill>
                  <a:srgbClr val="6B7280"/>
                </a:solidFill>
                <a:latin typeface="Calibri"/>
              </a:rPr>
              <a:t>Next Gen IA agéntica (casos líderes)</a:t>
            </a:r>
          </a:p>
        </p:txBody>
      </p:sp>
      <p:sp>
        <p:nvSpPr>
          <p:cNvPr id="60" name="mh"/>
          <p:cNvSpPr txBox="1">
            <a:spLocks noGrp="1"/>
          </p:cNvSpPr>
          <p:nvPr/>
        </p:nvSpPr>
        <p:spPr>
          <a:xfrm>
            <a:off x="2834640" y="969264"/>
            <a:ext cx="2359152" cy="256032"/>
          </a:xfrm>
          <a:prstGeom prst="rect">
            <a:avLst/>
          </a:prstGeom>
          <a:noFill/>
          <a:ln>
            <a:noFill/>
          </a:ln>
        </p:spPr>
        <p:txBody>
          <a:bodyPr anchor="t" wrap="square" lIns="91440" rIns="91440" tIns="45720" bIns="45720">
            <a:noAutofit/>
          </a:bodyPr>
          <a:lstStyle/>
          <a:p>
            <a:pPr algn="l"/>
            <a:r>
              <a:rPr lang="es-ES" sz="1100" dirty="0" b="1">
                <a:solidFill>
                  <a:srgbClr val="0D1B5E"/>
                </a:solidFill>
                <a:latin typeface="Calibri"/>
              </a:rPr>
              <a:t>MTTR (Mean Time to Resolution)</a:t>
            </a:r>
          </a:p>
        </p:txBody>
      </p:sp>
      <p:sp>
        <p:nvSpPr>
          <p:cNvPr id="70" name="tr"/>
          <p:cNvSpPr>
            <a:spLocks noGrp="1"/>
          </p:cNvSpPr>
          <p:nvPr/>
        </p:nvSpPr>
        <p:spPr>
          <a:xfrm>
            <a:off x="2834640" y="1261872"/>
            <a:ext cx="2359152" cy="237744"/>
          </a:xfrm>
          <a:prstGeom prst="rect">
            <a:avLst/>
          </a:prstGeom>
          <a:solidFill>
            <a:srgbClr val="F5E6E0"/>
          </a:solidFill>
          <a:ln>
            <a:noFill/>
          </a:ln>
        </p:spPr>
      </p:sp>
      <p:sp>
        <p:nvSpPr>
          <p:cNvPr id="71" name="fl"/>
          <p:cNvSpPr>
            <a:spLocks noGrp="1"/>
          </p:cNvSpPr>
          <p:nvPr/>
        </p:nvSpPr>
        <p:spPr>
          <a:xfrm>
            <a:off x="2834640" y="1261872"/>
            <a:ext cx="695949" cy="237744"/>
          </a:xfrm>
          <a:prstGeom prst="rect">
            <a:avLst/>
          </a:prstGeom>
          <a:solidFill>
            <a:srgbClr val="7A3D2B"/>
          </a:solidFill>
          <a:ln>
            <a:noFill/>
          </a:ln>
        </p:spPr>
      </p:sp>
      <p:sp>
        <p:nvSpPr>
          <p:cNvPr id="72" name="lb"/>
          <p:cNvSpPr txBox="1">
            <a:spLocks noGrp="1"/>
          </p:cNvSpPr>
          <p:nvPr/>
        </p:nvSpPr>
        <p:spPr>
          <a:xfrm>
            <a:off x="2907792" y="1261872"/>
            <a:ext cx="604509" cy="237744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l"/>
            <a:r>
              <a:rPr lang="es-ES" sz="890" dirty="0" b="1">
                <a:solidFill>
                  <a:srgbClr val="FFFFFF"/>
                </a:solidFill>
                <a:latin typeface="Calibri"/>
              </a:rPr>
              <a:t>8.85h  Bueno (promedio industria)</a:t>
            </a:r>
          </a:p>
        </p:txBody>
      </p:sp>
      <p:sp>
        <p:nvSpPr>
          <p:cNvPr id="73" name="ms"/>
          <p:cNvSpPr txBox="1">
            <a:spLocks noGrp="1"/>
          </p:cNvSpPr>
          <p:nvPr/>
        </p:nvSpPr>
        <p:spPr>
          <a:xfrm>
            <a:off x="2834640" y="1517904"/>
            <a:ext cx="2359152" cy="164592"/>
          </a:xfrm>
          <a:prstGeom prst="rect">
            <a:avLst/>
          </a:prstGeom>
          <a:noFill/>
          <a:ln>
            <a:noFill/>
          </a:ln>
        </p:spPr>
        <p:txBody>
          <a:bodyPr anchor="t" wrap="square" lIns="91440" rIns="91440" tIns="45720" bIns="45720">
            <a:noAutofit/>
          </a:bodyPr>
          <a:lstStyle/>
          <a:p>
            <a:pPr algn="l"/>
            <a:r>
              <a:rPr lang="es-ES" sz="820" dirty="0" i="1">
                <a:solidFill>
                  <a:srgbClr val="6B7280"/>
                </a:solidFill>
                <a:latin typeface="Calibri"/>
              </a:rPr>
              <a:t>Bueno / Promedio</a:t>
            </a:r>
          </a:p>
        </p:txBody>
      </p:sp>
      <p:sp>
        <p:nvSpPr>
          <p:cNvPr id="75" name="tr"/>
          <p:cNvSpPr>
            <a:spLocks noGrp="1"/>
          </p:cNvSpPr>
          <p:nvPr/>
        </p:nvSpPr>
        <p:spPr>
          <a:xfrm>
            <a:off x="2834640" y="1719072"/>
            <a:ext cx="2359152" cy="237744"/>
          </a:xfrm>
          <a:prstGeom prst="rect">
            <a:avLst/>
          </a:prstGeom>
          <a:solidFill>
            <a:srgbClr val="D1EEF3"/>
          </a:solidFill>
          <a:ln>
            <a:noFill/>
          </a:ln>
        </p:spPr>
      </p:sp>
      <p:sp>
        <p:nvSpPr>
          <p:cNvPr id="76" name="fl"/>
          <p:cNvSpPr>
            <a:spLocks noGrp="1"/>
          </p:cNvSpPr>
          <p:nvPr/>
        </p:nvSpPr>
        <p:spPr>
          <a:xfrm>
            <a:off x="2834640" y="1719072"/>
            <a:ext cx="314553" cy="237744"/>
          </a:xfrm>
          <a:prstGeom prst="rect">
            <a:avLst/>
          </a:prstGeom>
          <a:solidFill>
            <a:srgbClr val="1B7B85"/>
          </a:solidFill>
          <a:ln>
            <a:noFill/>
          </a:ln>
        </p:spPr>
      </p:sp>
      <p:sp>
        <p:nvSpPr>
          <p:cNvPr id="77" name="lb"/>
          <p:cNvSpPr txBox="1">
            <a:spLocks noGrp="1"/>
          </p:cNvSpPr>
          <p:nvPr/>
        </p:nvSpPr>
        <p:spPr>
          <a:xfrm>
            <a:off x="2907792" y="1719072"/>
            <a:ext cx="223113" cy="237744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l"/>
            <a:r>
              <a:rPr lang="es-ES" sz="890" dirty="0" b="1">
                <a:solidFill>
                  <a:srgbClr val="FFFFFF"/>
                </a:solidFill>
                <a:latin typeface="Calibri"/>
              </a:rPr>
              <a:t>menor 4h  World-Class</a:t>
            </a:r>
          </a:p>
        </p:txBody>
      </p:sp>
      <p:sp>
        <p:nvSpPr>
          <p:cNvPr id="78" name="ms"/>
          <p:cNvSpPr txBox="1">
            <a:spLocks noGrp="1"/>
          </p:cNvSpPr>
          <p:nvPr/>
        </p:nvSpPr>
        <p:spPr>
          <a:xfrm>
            <a:off x="2834640" y="1975104"/>
            <a:ext cx="2359152" cy="164592"/>
          </a:xfrm>
          <a:prstGeom prst="rect">
            <a:avLst/>
          </a:prstGeom>
          <a:noFill/>
          <a:ln>
            <a:noFill/>
          </a:ln>
        </p:spPr>
        <p:txBody>
          <a:bodyPr anchor="t" wrap="square" lIns="91440" rIns="91440" tIns="45720" bIns="45720">
            <a:noAutofit/>
          </a:bodyPr>
          <a:lstStyle/>
          <a:p>
            <a:pPr algn="l"/>
            <a:r>
              <a:rPr lang="es-ES" sz="820" dirty="0" i="1">
                <a:solidFill>
                  <a:srgbClr val="6B7280"/>
                </a:solidFill>
                <a:latin typeface="Calibri"/>
              </a:rPr>
              <a:t>World-Class</a:t>
            </a:r>
          </a:p>
        </p:txBody>
      </p:sp>
      <p:sp>
        <p:nvSpPr>
          <p:cNvPr id="80" name="tr"/>
          <p:cNvSpPr>
            <a:spLocks noGrp="1"/>
          </p:cNvSpPr>
          <p:nvPr/>
        </p:nvSpPr>
        <p:spPr>
          <a:xfrm>
            <a:off x="2834640" y="2176272"/>
            <a:ext cx="2359152" cy="237744"/>
          </a:xfrm>
          <a:prstGeom prst="rect">
            <a:avLst/>
          </a:prstGeom>
          <a:solidFill>
            <a:srgbClr val="D6DCE8"/>
          </a:solidFill>
          <a:ln>
            <a:noFill/>
          </a:ln>
        </p:spPr>
      </p:sp>
      <p:sp>
        <p:nvSpPr>
          <p:cNvPr id="81" name="fl"/>
          <p:cNvSpPr>
            <a:spLocks noGrp="1"/>
          </p:cNvSpPr>
          <p:nvPr/>
        </p:nvSpPr>
        <p:spPr>
          <a:xfrm>
            <a:off x="2834640" y="2176272"/>
            <a:ext cx="78638" cy="237744"/>
          </a:xfrm>
          <a:prstGeom prst="rect">
            <a:avLst/>
          </a:prstGeom>
          <a:solidFill>
            <a:srgbClr val="0D1B5E"/>
          </a:solidFill>
          <a:ln>
            <a:noFill/>
          </a:ln>
        </p:spPr>
      </p:sp>
      <p:sp>
        <p:nvSpPr>
          <p:cNvPr id="82" name="lb"/>
          <p:cNvSpPr txBox="1">
            <a:spLocks noGrp="1"/>
          </p:cNvSpPr>
          <p:nvPr/>
        </p:nvSpPr>
        <p:spPr>
          <a:xfrm>
            <a:off x="2907792" y="2176272"/>
            <a:ext cx="182880" cy="237744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l"/>
            <a:r>
              <a:rPr lang="es-ES" sz="890" dirty="0" b="1">
                <a:solidFill>
                  <a:srgbClr val="FFFFFF"/>
                </a:solidFill>
                <a:latin typeface="Calibri"/>
              </a:rPr>
              <a:t>menor 1h  Gen Next (N5)</a:t>
            </a:r>
          </a:p>
        </p:txBody>
      </p:sp>
      <p:sp>
        <p:nvSpPr>
          <p:cNvPr id="83" name="ms"/>
          <p:cNvSpPr txBox="1">
            <a:spLocks noGrp="1"/>
          </p:cNvSpPr>
          <p:nvPr/>
        </p:nvSpPr>
        <p:spPr>
          <a:xfrm>
            <a:off x="2834640" y="2432304"/>
            <a:ext cx="2359152" cy="164592"/>
          </a:xfrm>
          <a:prstGeom prst="rect">
            <a:avLst/>
          </a:prstGeom>
          <a:noFill/>
          <a:ln>
            <a:noFill/>
          </a:ln>
        </p:spPr>
        <p:txBody>
          <a:bodyPr anchor="t" wrap="square" lIns="91440" rIns="91440" tIns="45720" bIns="45720">
            <a:noAutofit/>
          </a:bodyPr>
          <a:lstStyle/>
          <a:p>
            <a:pPr algn="l"/>
            <a:r>
              <a:rPr lang="es-ES" sz="820" dirty="0" i="1">
                <a:solidFill>
                  <a:srgbClr val="6B7280"/>
                </a:solidFill>
                <a:latin typeface="Calibri"/>
              </a:rPr>
              <a:t>Gen Next N5</a:t>
            </a:r>
          </a:p>
        </p:txBody>
      </p:sp>
      <p:sp>
        <p:nvSpPr>
          <p:cNvPr id="85" name="pb"/>
          <p:cNvSpPr>
            <a:spLocks noGrp="1"/>
          </p:cNvSpPr>
          <p:nvPr/>
        </p:nvSpPr>
        <p:spPr>
          <a:xfrm>
            <a:off x="2834640" y="2688336"/>
            <a:ext cx="2359152" cy="237744"/>
          </a:xfrm>
          <a:prstGeom prst="rect">
            <a:avLst/>
          </a:prstGeom>
          <a:solidFill>
            <a:srgbClr val="F9FAFB"/>
          </a:solidFill>
          <a:ln w="6350">
            <a:solidFill>
              <a:srgbClr val="D1D5DB"/>
            </a:solidFill>
          </a:ln>
        </p:spPr>
      </p:sp>
      <p:sp>
        <p:nvSpPr>
          <p:cNvPr id="86" name="pf"/>
          <p:cNvSpPr>
            <a:spLocks noGrp="1"/>
          </p:cNvSpPr>
          <p:nvPr/>
        </p:nvSpPr>
        <p:spPr>
          <a:xfrm>
            <a:off x="2834640" y="2688336"/>
            <a:ext cx="234342" cy="237744"/>
          </a:xfrm>
          <a:prstGeom prst="rect">
            <a:avLst/>
          </a:prstGeom>
          <a:solidFill>
            <a:srgbClr val="1A6B3C"/>
          </a:solidFill>
          <a:ln>
            <a:noFill/>
          </a:ln>
        </p:spPr>
      </p:sp>
      <p:sp>
        <p:nvSpPr>
          <p:cNvPr id="87" name="pl"/>
          <p:cNvSpPr txBox="1">
            <a:spLocks noGrp="1"/>
          </p:cNvSpPr>
          <p:nvPr/>
        </p:nvSpPr>
        <p:spPr>
          <a:xfrm>
            <a:off x="2889504" y="2688336"/>
            <a:ext cx="2249424" cy="237744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l"/>
            <a:r>
              <a:rPr lang="es-ES" sz="820" dirty="0" b="1">
                <a:solidFill>
                  <a:srgbClr val="1A6B3C"/>
                </a:solidFill>
                <a:latin typeface="Calibri"/>
              </a:rPr>
              <a:t>SURA Automatizacion: 2.98h ✓</a:t>
            </a:r>
          </a:p>
        </p:txBody>
      </p:sp>
      <p:sp>
        <p:nvSpPr>
          <p:cNvPr id="89" name="pb"/>
          <p:cNvSpPr>
            <a:spLocks noGrp="1"/>
          </p:cNvSpPr>
          <p:nvPr/>
        </p:nvSpPr>
        <p:spPr>
          <a:xfrm>
            <a:off x="2834640" y="3090672"/>
            <a:ext cx="2359152" cy="237744"/>
          </a:xfrm>
          <a:prstGeom prst="rect">
            <a:avLst/>
          </a:prstGeom>
          <a:solidFill>
            <a:srgbClr val="F9FAFB"/>
          </a:solidFill>
          <a:ln w="6350">
            <a:solidFill>
              <a:srgbClr val="D1D5DB"/>
            </a:solidFill>
          </a:ln>
        </p:spPr>
      </p:sp>
      <p:sp>
        <p:nvSpPr>
          <p:cNvPr id="90" name="pf"/>
          <p:cNvSpPr>
            <a:spLocks noGrp="1"/>
          </p:cNvSpPr>
          <p:nvPr/>
        </p:nvSpPr>
        <p:spPr>
          <a:xfrm>
            <a:off x="2834640" y="3090672"/>
            <a:ext cx="973543" cy="237744"/>
          </a:xfrm>
          <a:prstGeom prst="rect">
            <a:avLst/>
          </a:prstGeom>
          <a:solidFill>
            <a:srgbClr val="92400E"/>
          </a:solidFill>
          <a:ln>
            <a:noFill/>
          </a:ln>
        </p:spPr>
      </p:sp>
      <p:sp>
        <p:nvSpPr>
          <p:cNvPr id="91" name="pl"/>
          <p:cNvSpPr txBox="1">
            <a:spLocks noGrp="1"/>
          </p:cNvSpPr>
          <p:nvPr/>
        </p:nvSpPr>
        <p:spPr>
          <a:xfrm>
            <a:off x="2889504" y="3090672"/>
            <a:ext cx="2249424" cy="237744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l"/>
            <a:r>
              <a:rPr lang="es-ES" sz="820" dirty="0" b="1">
                <a:solidFill>
                  <a:srgbClr val="FFFFFF"/>
                </a:solidFill>
                <a:latin typeface="Calibri"/>
              </a:rPr>
              <a:t>SURA Venta Digital: 12.38h</a:t>
            </a:r>
          </a:p>
        </p:txBody>
      </p:sp>
      <p:sp>
        <p:nvSpPr>
          <p:cNvPr id="93" name="pb"/>
          <p:cNvSpPr>
            <a:spLocks noGrp="1"/>
          </p:cNvSpPr>
          <p:nvPr/>
        </p:nvSpPr>
        <p:spPr>
          <a:xfrm>
            <a:off x="2834640" y="3493008"/>
            <a:ext cx="2359152" cy="237744"/>
          </a:xfrm>
          <a:prstGeom prst="rect">
            <a:avLst/>
          </a:prstGeom>
          <a:solidFill>
            <a:srgbClr val="F9FAFB"/>
          </a:solidFill>
          <a:ln w="6350">
            <a:solidFill>
              <a:srgbClr val="D1D5DB"/>
            </a:solidFill>
          </a:ln>
        </p:spPr>
      </p:sp>
      <p:sp>
        <p:nvSpPr>
          <p:cNvPr id="94" name="pf"/>
          <p:cNvSpPr>
            <a:spLocks noGrp="1"/>
          </p:cNvSpPr>
          <p:nvPr/>
        </p:nvSpPr>
        <p:spPr>
          <a:xfrm>
            <a:off x="2834640" y="3493008"/>
            <a:ext cx="1409200" cy="237744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95" name="pl"/>
          <p:cNvSpPr txBox="1">
            <a:spLocks noGrp="1"/>
          </p:cNvSpPr>
          <p:nvPr/>
        </p:nvSpPr>
        <p:spPr>
          <a:xfrm>
            <a:off x="2889504" y="3493008"/>
            <a:ext cx="2249424" cy="237744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l"/>
            <a:r>
              <a:rPr lang="es-ES" sz="820" dirty="0" b="1">
                <a:solidFill>
                  <a:srgbClr val="FFFFFF"/>
                </a:solidFill>
                <a:latin typeface="Calibri"/>
              </a:rPr>
              <a:t>SURA Canales Masivos: 17.92h ⚠</a:t>
            </a:r>
          </a:p>
        </p:txBody>
      </p:sp>
      <p:sp>
        <p:nvSpPr>
          <p:cNvPr id="97" name="pb"/>
          <p:cNvSpPr>
            <a:spLocks noGrp="1"/>
          </p:cNvSpPr>
          <p:nvPr/>
        </p:nvSpPr>
        <p:spPr>
          <a:xfrm>
            <a:off x="2834640" y="3895344"/>
            <a:ext cx="2359152" cy="237744"/>
          </a:xfrm>
          <a:prstGeom prst="rect">
            <a:avLst/>
          </a:prstGeom>
          <a:solidFill>
            <a:srgbClr val="F9FAFB"/>
          </a:solidFill>
          <a:ln w="6350">
            <a:solidFill>
              <a:srgbClr val="D1D5DB"/>
            </a:solidFill>
          </a:ln>
        </p:spPr>
      </p:sp>
      <p:sp>
        <p:nvSpPr>
          <p:cNvPr id="98" name="pf"/>
          <p:cNvSpPr>
            <a:spLocks noGrp="1"/>
          </p:cNvSpPr>
          <p:nvPr/>
        </p:nvSpPr>
        <p:spPr>
          <a:xfrm>
            <a:off x="2834640" y="3895344"/>
            <a:ext cx="1932931" cy="237744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99" name="pl"/>
          <p:cNvSpPr txBox="1">
            <a:spLocks noGrp="1"/>
          </p:cNvSpPr>
          <p:nvPr/>
        </p:nvSpPr>
        <p:spPr>
          <a:xfrm>
            <a:off x="2889504" y="3895344"/>
            <a:ext cx="2249424" cy="237744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l"/>
            <a:r>
              <a:rPr lang="es-ES" sz="820" dirty="0" b="1">
                <a:solidFill>
                  <a:srgbClr val="FFFFFF"/>
                </a:solidFill>
                <a:latin typeface="Calibri"/>
              </a:rPr>
              <a:t>SURA Cotizadores: 24.58h 🔴</a:t>
            </a:r>
          </a:p>
        </p:txBody>
      </p:sp>
      <p:sp>
        <p:nvSpPr>
          <p:cNvPr id="100" name="gih"/>
          <p:cNvSpPr txBox="1">
            <a:spLocks noGrp="1"/>
          </p:cNvSpPr>
          <p:nvPr/>
        </p:nvSpPr>
        <p:spPr>
          <a:xfrm>
            <a:off x="2834640" y="4389120"/>
            <a:ext cx="2359152" cy="237744"/>
          </a:xfrm>
          <a:prstGeom prst="rect">
            <a:avLst/>
          </a:prstGeom>
          <a:noFill/>
          <a:ln>
            <a:noFill/>
          </a:ln>
        </p:spPr>
        <p:txBody>
          <a:bodyPr anchor="t" wrap="square" lIns="91440" rIns="91440" tIns="45720" bIns="45720">
            <a:noAutofit/>
          </a:bodyPr>
          <a:lstStyle/>
          <a:p>
            <a:pPr algn="l"/>
            <a:r>
              <a:rPr lang="es-ES" sz="1100" dirty="0" b="1">
                <a:solidFill>
                  <a:srgbClr val="0D1B5E"/>
                </a:solidFill>
                <a:latin typeface="Calibri"/>
              </a:rPr>
              <a:t>Impacto GenAI en Metricas</a:t>
            </a:r>
          </a:p>
        </p:txBody>
      </p:sp>
      <p:sp>
        <p:nvSpPr>
          <p:cNvPr id="105" name="gr"/>
          <p:cNvSpPr>
            <a:spLocks noGrp="1"/>
          </p:cNvSpPr>
          <p:nvPr/>
        </p:nvSpPr>
        <p:spPr>
          <a:xfrm>
            <a:off x="2834640" y="4663440"/>
            <a:ext cx="2359152" cy="237744"/>
          </a:xfrm>
          <a:prstGeom prst="rect">
            <a:avLst/>
          </a:prstGeom>
          <a:solidFill>
            <a:srgbClr val="F9FAFB"/>
          </a:solidFill>
          <a:ln w="6350">
            <a:solidFill>
              <a:srgbClr val="D1D5DB"/>
            </a:solidFill>
          </a:ln>
        </p:spPr>
      </p:sp>
      <p:sp>
        <p:nvSpPr>
          <p:cNvPr id="106" name="gm"/>
          <p:cNvSpPr txBox="1">
            <a:spLocks noGrp="1"/>
          </p:cNvSpPr>
          <p:nvPr/>
        </p:nvSpPr>
        <p:spPr>
          <a:xfrm>
            <a:off x="2889504" y="4663440"/>
            <a:ext cx="1280160" cy="237744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l"/>
            <a:r>
              <a:rPr lang="es-ES" sz="840" dirty="0">
                <a:solidFill>
                  <a:srgbClr val="0D1B5E"/>
                </a:solidFill>
                <a:latin typeface="Calibri"/>
              </a:rPr>
              <a:t>↓ MTTR</a:t>
            </a:r>
          </a:p>
        </p:txBody>
      </p:sp>
      <p:sp>
        <p:nvSpPr>
          <p:cNvPr id="107" name="gv"/>
          <p:cNvSpPr txBox="1">
            <a:spLocks noGrp="1"/>
          </p:cNvSpPr>
          <p:nvPr/>
        </p:nvSpPr>
        <p:spPr>
          <a:xfrm>
            <a:off x="4187952" y="4663440"/>
            <a:ext cx="950976" cy="237744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r"/>
            <a:r>
              <a:rPr lang="es-ES" sz="940" dirty="0" b="1">
                <a:solidFill>
                  <a:srgbClr val="C00000"/>
                </a:solidFill>
                <a:latin typeface="Calibri"/>
              </a:rPr>
              <a:t>-26.6%</a:t>
            </a:r>
          </a:p>
        </p:txBody>
      </p:sp>
      <p:sp>
        <p:nvSpPr>
          <p:cNvPr id="108" name="gr"/>
          <p:cNvSpPr>
            <a:spLocks noGrp="1"/>
          </p:cNvSpPr>
          <p:nvPr/>
        </p:nvSpPr>
        <p:spPr>
          <a:xfrm>
            <a:off x="2834640" y="4919472"/>
            <a:ext cx="235915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</p:sp>
      <p:sp>
        <p:nvSpPr>
          <p:cNvPr id="109" name="gm"/>
          <p:cNvSpPr txBox="1">
            <a:spLocks noGrp="1"/>
          </p:cNvSpPr>
          <p:nvPr/>
        </p:nvSpPr>
        <p:spPr>
          <a:xfrm>
            <a:off x="2889504" y="4919472"/>
            <a:ext cx="1280160" cy="237744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l"/>
            <a:r>
              <a:rPr lang="es-ES" sz="840" dirty="0">
                <a:solidFill>
                  <a:srgbClr val="0D1B5E"/>
                </a:solidFill>
                <a:latin typeface="Calibri"/>
              </a:rPr>
              <a:t>↑ Resolucion</a:t>
            </a:r>
          </a:p>
        </p:txBody>
      </p:sp>
      <p:sp>
        <p:nvSpPr>
          <p:cNvPr id="110" name="gv"/>
          <p:cNvSpPr txBox="1">
            <a:spLocks noGrp="1"/>
          </p:cNvSpPr>
          <p:nvPr/>
        </p:nvSpPr>
        <p:spPr>
          <a:xfrm>
            <a:off x="4187952" y="4919472"/>
            <a:ext cx="950976" cy="237744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r"/>
            <a:r>
              <a:rPr lang="es-ES" sz="940" dirty="0" b="1">
                <a:solidFill>
                  <a:srgbClr val="1A6B3C"/>
                </a:solidFill>
                <a:latin typeface="Calibri"/>
              </a:rPr>
              <a:t>+34.6%</a:t>
            </a:r>
          </a:p>
        </p:txBody>
      </p:sp>
      <p:sp>
        <p:nvSpPr>
          <p:cNvPr id="111" name="gr"/>
          <p:cNvSpPr>
            <a:spLocks noGrp="1"/>
          </p:cNvSpPr>
          <p:nvPr/>
        </p:nvSpPr>
        <p:spPr>
          <a:xfrm>
            <a:off x="2834640" y="5175504"/>
            <a:ext cx="2359152" cy="237744"/>
          </a:xfrm>
          <a:prstGeom prst="rect">
            <a:avLst/>
          </a:prstGeom>
          <a:solidFill>
            <a:srgbClr val="F9FAFB"/>
          </a:solidFill>
          <a:ln w="6350">
            <a:solidFill>
              <a:srgbClr val="D1D5DB"/>
            </a:solidFill>
          </a:ln>
        </p:spPr>
      </p:sp>
      <p:sp>
        <p:nvSpPr>
          <p:cNvPr id="112" name="gm"/>
          <p:cNvSpPr txBox="1">
            <a:spLocks noGrp="1"/>
          </p:cNvSpPr>
          <p:nvPr/>
        </p:nvSpPr>
        <p:spPr>
          <a:xfrm>
            <a:off x="2889504" y="5175504"/>
            <a:ext cx="1280160" cy="237744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l"/>
            <a:r>
              <a:rPr lang="es-ES" sz="840" dirty="0">
                <a:solidFill>
                  <a:srgbClr val="0D1B5E"/>
                </a:solidFill>
                <a:latin typeface="Calibri"/>
              </a:rPr>
              <a:t>↑ CSAT c/espera</a:t>
            </a:r>
          </a:p>
        </p:txBody>
      </p:sp>
      <p:sp>
        <p:nvSpPr>
          <p:cNvPr id="113" name="gv"/>
          <p:cNvSpPr txBox="1">
            <a:spLocks noGrp="1"/>
          </p:cNvSpPr>
          <p:nvPr/>
        </p:nvSpPr>
        <p:spPr>
          <a:xfrm>
            <a:off x="4187952" y="5175504"/>
            <a:ext cx="950976" cy="237744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r"/>
            <a:r>
              <a:rPr lang="es-ES" sz="940" dirty="0" b="1">
                <a:solidFill>
                  <a:srgbClr val="1A6B3C"/>
                </a:solidFill>
                <a:latin typeface="Calibri"/>
              </a:rPr>
              <a:t>+15-22 pts</a:t>
            </a:r>
          </a:p>
        </p:txBody>
      </p:sp>
      <p:sp>
        <p:nvSpPr>
          <p:cNvPr id="114" name="gr"/>
          <p:cNvSpPr>
            <a:spLocks noGrp="1"/>
          </p:cNvSpPr>
          <p:nvPr/>
        </p:nvSpPr>
        <p:spPr>
          <a:xfrm>
            <a:off x="2834640" y="5431536"/>
            <a:ext cx="235915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</p:sp>
      <p:sp>
        <p:nvSpPr>
          <p:cNvPr id="115" name="gm"/>
          <p:cNvSpPr txBox="1">
            <a:spLocks noGrp="1"/>
          </p:cNvSpPr>
          <p:nvPr/>
        </p:nvSpPr>
        <p:spPr>
          <a:xfrm>
            <a:off x="2889504" y="5431536"/>
            <a:ext cx="1280160" cy="237744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l"/>
            <a:r>
              <a:rPr lang="es-ES" sz="840" dirty="0">
                <a:solidFill>
                  <a:srgbClr val="0D1B5E"/>
                </a:solidFill>
                <a:latin typeface="Calibri"/>
              </a:rPr>
              <a:t>↑ FCR con KCS+IA</a:t>
            </a:r>
          </a:p>
        </p:txBody>
      </p:sp>
      <p:sp>
        <p:nvSpPr>
          <p:cNvPr id="116" name="gv"/>
          <p:cNvSpPr txBox="1">
            <a:spLocks noGrp="1"/>
          </p:cNvSpPr>
          <p:nvPr/>
        </p:nvSpPr>
        <p:spPr>
          <a:xfrm>
            <a:off x="4187952" y="5431536"/>
            <a:ext cx="950976" cy="237744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r"/>
            <a:r>
              <a:rPr lang="es-ES" sz="940" dirty="0" b="1">
                <a:solidFill>
                  <a:srgbClr val="1A6B3C"/>
                </a:solidFill>
                <a:latin typeface="Calibri"/>
              </a:rPr>
              <a:t>5-7 pts</a:t>
            </a:r>
          </a:p>
        </p:txBody>
      </p:sp>
      <p:sp>
        <p:nvSpPr>
          <p:cNvPr id="120" name="ch"/>
          <p:cNvSpPr txBox="1">
            <a:spLocks noGrp="1"/>
          </p:cNvSpPr>
          <p:nvPr/>
        </p:nvSpPr>
        <p:spPr>
          <a:xfrm>
            <a:off x="5358384" y="969264"/>
            <a:ext cx="2596896" cy="256032"/>
          </a:xfrm>
          <a:prstGeom prst="rect">
            <a:avLst/>
          </a:prstGeom>
          <a:noFill/>
          <a:ln>
            <a:noFill/>
          </a:ln>
        </p:spPr>
        <p:txBody>
          <a:bodyPr anchor="t" wrap="square" lIns="91440" rIns="91440" tIns="45720" bIns="45720">
            <a:noAutofit/>
          </a:bodyPr>
          <a:lstStyle/>
          <a:p>
            <a:pPr algn="l"/>
            <a:r>
              <a:rPr lang="es-ES" sz="1100" dirty="0" b="1">
                <a:solidFill>
                  <a:srgbClr val="0D1B5E"/>
                </a:solidFill>
                <a:latin typeface="Calibri"/>
              </a:rPr>
              <a:t>Costo por Ticket (USD)</a:t>
            </a:r>
          </a:p>
        </p:txBody>
      </p:sp>
      <p:sp>
        <p:nvSpPr>
          <p:cNvPr id="130" name="fl"/>
          <p:cNvSpPr>
            <a:spLocks noGrp="1"/>
          </p:cNvSpPr>
          <p:nvPr/>
        </p:nvSpPr>
        <p:spPr>
          <a:xfrm>
            <a:off x="5358384" y="1261872"/>
            <a:ext cx="33410" cy="219456"/>
          </a:xfrm>
          <a:prstGeom prst="rect">
            <a:avLst/>
          </a:prstGeom>
          <a:solidFill>
            <a:srgbClr val="2A6B3C"/>
          </a:solidFill>
          <a:ln>
            <a:noFill/>
          </a:ln>
        </p:spPr>
      </p:sp>
      <p:sp>
        <p:nvSpPr>
          <p:cNvPr id="131" name="cl"/>
          <p:cNvSpPr txBox="1">
            <a:spLocks noGrp="1"/>
          </p:cNvSpPr>
          <p:nvPr/>
        </p:nvSpPr>
        <p:spPr>
          <a:xfrm>
            <a:off x="5413248" y="1261872"/>
            <a:ext cx="365760" cy="219456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l"/>
            <a:r>
              <a:rPr lang="es-ES" sz="840" dirty="0" b="1">
                <a:solidFill>
                  <a:srgbClr val="FFFFFF"/>
                </a:solidFill>
                <a:latin typeface="Calibri"/>
              </a:rPr>
              <a:t>N0: $2</a:t>
            </a:r>
          </a:p>
        </p:txBody>
      </p:sp>
      <p:sp>
        <p:nvSpPr>
          <p:cNvPr id="132" name="cd"/>
          <p:cNvSpPr txBox="1">
            <a:spLocks noGrp="1"/>
          </p:cNvSpPr>
          <p:nvPr/>
        </p:nvSpPr>
        <p:spPr>
          <a:xfrm>
            <a:off x="5483234" y="1261872"/>
            <a:ext cx="2517766" cy="219456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l"/>
            <a:r>
              <a:rPr lang="es-ES" sz="800" dirty="0">
                <a:solidFill>
                  <a:srgbClr val="6B7280"/>
                </a:solidFill>
                <a:latin typeface="Calibri"/>
              </a:rPr>
              <a:t>Autoservicio</a:t>
            </a:r>
          </a:p>
        </p:txBody>
      </p:sp>
      <p:sp>
        <p:nvSpPr>
          <p:cNvPr id="134" name="fl"/>
          <p:cNvSpPr>
            <a:spLocks noGrp="1"/>
          </p:cNvSpPr>
          <p:nvPr/>
        </p:nvSpPr>
        <p:spPr>
          <a:xfrm>
            <a:off x="5358384" y="1609344"/>
            <a:ext cx="467750" cy="219456"/>
          </a:xfrm>
          <a:prstGeom prst="rect">
            <a:avLst/>
          </a:prstGeom>
          <a:solidFill>
            <a:srgbClr val="1B7B85"/>
          </a:solidFill>
          <a:ln>
            <a:noFill/>
          </a:ln>
        </p:spPr>
      </p:sp>
      <p:sp>
        <p:nvSpPr>
          <p:cNvPr id="135" name="cl"/>
          <p:cNvSpPr txBox="1">
            <a:spLocks noGrp="1"/>
          </p:cNvSpPr>
          <p:nvPr/>
        </p:nvSpPr>
        <p:spPr>
          <a:xfrm>
            <a:off x="5413248" y="1609344"/>
            <a:ext cx="394598" cy="219456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l"/>
            <a:r>
              <a:rPr lang="es-ES" sz="840" dirty="0" b="1">
                <a:solidFill>
                  <a:srgbClr val="FFFFFF"/>
                </a:solidFill>
                <a:latin typeface="Calibri"/>
              </a:rPr>
              <a:t>N1: $22-35</a:t>
            </a:r>
          </a:p>
        </p:txBody>
      </p:sp>
      <p:sp>
        <p:nvSpPr>
          <p:cNvPr id="136" name="cd"/>
          <p:cNvSpPr txBox="1">
            <a:spLocks noGrp="1"/>
          </p:cNvSpPr>
          <p:nvPr/>
        </p:nvSpPr>
        <p:spPr>
          <a:xfrm>
            <a:off x="5917574" y="1609344"/>
            <a:ext cx="2083426" cy="219456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l"/>
            <a:r>
              <a:rPr lang="es-ES" sz="800" dirty="0">
                <a:solidFill>
                  <a:srgbClr val="6B7280"/>
                </a:solidFill>
                <a:latin typeface="Calibri"/>
              </a:rPr>
              <a:t>1er contacto</a:t>
            </a:r>
          </a:p>
        </p:txBody>
      </p:sp>
      <p:sp>
        <p:nvSpPr>
          <p:cNvPr id="138" name="fl"/>
          <p:cNvSpPr>
            <a:spLocks noGrp="1"/>
          </p:cNvSpPr>
          <p:nvPr/>
        </p:nvSpPr>
        <p:spPr>
          <a:xfrm>
            <a:off x="5358384" y="1956816"/>
            <a:ext cx="1152671" cy="219456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139" name="cl"/>
          <p:cNvSpPr txBox="1">
            <a:spLocks noGrp="1"/>
          </p:cNvSpPr>
          <p:nvPr/>
        </p:nvSpPr>
        <p:spPr>
          <a:xfrm>
            <a:off x="5413248" y="1956816"/>
            <a:ext cx="1079519" cy="219456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l"/>
            <a:r>
              <a:rPr lang="es-ES" sz="840" dirty="0" b="1">
                <a:solidFill>
                  <a:srgbClr val="FFFFFF"/>
                </a:solidFill>
                <a:latin typeface="Calibri"/>
              </a:rPr>
              <a:t>N2: $69</a:t>
            </a:r>
          </a:p>
        </p:txBody>
      </p:sp>
      <p:sp>
        <p:nvSpPr>
          <p:cNvPr id="140" name="cd"/>
          <p:cNvSpPr txBox="1">
            <a:spLocks noGrp="1"/>
          </p:cNvSpPr>
          <p:nvPr/>
        </p:nvSpPr>
        <p:spPr>
          <a:xfrm>
            <a:off x="6602495" y="1956816"/>
            <a:ext cx="1398505" cy="219456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l"/>
            <a:r>
              <a:rPr lang="es-ES" sz="800" dirty="0">
                <a:solidFill>
                  <a:srgbClr val="6B7280"/>
                </a:solidFill>
                <a:latin typeface="Calibri"/>
              </a:rPr>
              <a:t>Tecnico</a:t>
            </a:r>
          </a:p>
        </p:txBody>
      </p:sp>
      <p:sp>
        <p:nvSpPr>
          <p:cNvPr id="142" name="fl"/>
          <p:cNvSpPr>
            <a:spLocks noGrp="1"/>
          </p:cNvSpPr>
          <p:nvPr/>
        </p:nvSpPr>
        <p:spPr>
          <a:xfrm>
            <a:off x="5358384" y="2304288"/>
            <a:ext cx="1737360" cy="219456"/>
          </a:xfrm>
          <a:prstGeom prst="rect">
            <a:avLst/>
          </a:prstGeom>
          <a:solidFill>
            <a:srgbClr val="7A3D2B"/>
          </a:solidFill>
          <a:ln>
            <a:noFill/>
          </a:ln>
        </p:spPr>
      </p:sp>
      <p:sp>
        <p:nvSpPr>
          <p:cNvPr id="143" name="cl"/>
          <p:cNvSpPr txBox="1">
            <a:spLocks noGrp="1"/>
          </p:cNvSpPr>
          <p:nvPr/>
        </p:nvSpPr>
        <p:spPr>
          <a:xfrm>
            <a:off x="5413248" y="2304288"/>
            <a:ext cx="1664208" cy="219456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l"/>
            <a:r>
              <a:rPr lang="es-ES" sz="840" dirty="0" b="1">
                <a:solidFill>
                  <a:srgbClr val="FFFFFF"/>
                </a:solidFill>
                <a:latin typeface="Calibri"/>
              </a:rPr>
              <a:t>N3: $104</a:t>
            </a:r>
          </a:p>
        </p:txBody>
      </p:sp>
      <p:sp>
        <p:nvSpPr>
          <p:cNvPr id="144" name="cd"/>
          <p:cNvSpPr txBox="1">
            <a:spLocks noGrp="1"/>
          </p:cNvSpPr>
          <p:nvPr/>
        </p:nvSpPr>
        <p:spPr>
          <a:xfrm>
            <a:off x="7187184" y="2304288"/>
            <a:ext cx="813816" cy="219456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l"/>
            <a:r>
              <a:rPr lang="es-ES" sz="800" dirty="0">
                <a:solidFill>
                  <a:srgbClr val="6B7280"/>
                </a:solidFill>
                <a:latin typeface="Calibri"/>
              </a:rPr>
              <a:t>Arquitecto</a:t>
            </a:r>
          </a:p>
        </p:txBody>
      </p:sp>
      <p:sp>
        <p:nvSpPr>
          <p:cNvPr id="146" name="slbg"/>
          <p:cNvSpPr>
            <a:spLocks noGrp="1"/>
          </p:cNvSpPr>
          <p:nvPr/>
        </p:nvSpPr>
        <p:spPr>
          <a:xfrm>
            <a:off x="5358384" y="2651760"/>
            <a:ext cx="2596896" cy="292608"/>
          </a:xfrm>
          <a:prstGeom prst="roundRect">
            <a:avLst>
              <a:gd name="adj" fmla="val 8000"/>
            </a:avLst>
          </a:prstGeom>
          <a:solidFill>
            <a:srgbClr val="E8F5EE"/>
          </a:solidFill>
          <a:ln w="12700">
            <a:solidFill>
              <a:srgbClr val="1A6B3C"/>
            </a:solidFill>
          </a:ln>
        </p:spPr>
      </p:sp>
      <p:sp>
        <p:nvSpPr>
          <p:cNvPr id="147" name="slt"/>
          <p:cNvSpPr txBox="1">
            <a:spLocks noGrp="1"/>
          </p:cNvSpPr>
          <p:nvPr/>
        </p:nvSpPr>
        <p:spPr>
          <a:xfrm>
            <a:off x="5449824" y="2651760"/>
            <a:ext cx="2414016" cy="292608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l"/>
            <a:r>
              <a:rPr lang="es-ES" sz="860" dirty="0" b="1">
                <a:solidFill>
                  <a:srgbClr val="1A6B3C"/>
                </a:solidFill>
                <a:latin typeface="Calibri"/>
              </a:rPr>
              <a:t>↓ Shift-Left: cada punto de deflexion = ahorro $22-102</a:t>
            </a:r>
          </a:p>
        </p:txBody>
      </p:sp>
      <p:sp>
        <p:nvSpPr>
          <p:cNvPr id="148" name="psbg"/>
          <p:cNvSpPr>
            <a:spLocks noGrp="1"/>
          </p:cNvSpPr>
          <p:nvPr/>
        </p:nvSpPr>
        <p:spPr>
          <a:xfrm>
            <a:off x="5358384" y="2999232"/>
            <a:ext cx="2596896" cy="585216"/>
          </a:xfrm>
          <a:prstGeom prst="roundRect">
            <a:avLst>
              <a:gd name="adj" fmla="val 8000"/>
            </a:avLst>
          </a:prstGeom>
          <a:solidFill>
            <a:srgbClr val="FEF3C7"/>
          </a:solidFill>
          <a:ln w="12700">
            <a:solidFill>
              <a:srgbClr val="B45309"/>
            </a:solidFill>
          </a:ln>
        </p:spPr>
      </p:sp>
      <p:sp>
        <p:nvSpPr>
          <p:cNvPr id="149" name="psh"/>
          <p:cNvSpPr txBox="1">
            <a:spLocks noGrp="1"/>
          </p:cNvSpPr>
          <p:nvPr/>
        </p:nvSpPr>
        <p:spPr>
          <a:xfrm>
            <a:off x="5449824" y="3017520"/>
            <a:ext cx="2414016" cy="201168"/>
          </a:xfrm>
          <a:prstGeom prst="rect">
            <a:avLst/>
          </a:prstGeom>
          <a:noFill/>
          <a:ln>
            <a:noFill/>
          </a:ln>
        </p:spPr>
        <p:txBody>
          <a:bodyPr anchor="t" wrap="square" lIns="91440" rIns="91440" tIns="45720" bIns="45720">
            <a:noAutofit/>
          </a:bodyPr>
          <a:lstStyle/>
          <a:p>
            <a:pPr algn="l"/>
            <a:r>
              <a:rPr lang="es-ES" sz="880" dirty="0" b="1">
                <a:solidFill>
                  <a:srgbClr val="92400E"/>
                </a:solidFill>
                <a:latin typeface="Calibri"/>
              </a:rPr>
              <a:t>PS Mesas Actuales — Costo/ticket calculado</a:t>
            </a:r>
          </a:p>
        </p:txBody>
      </p:sp>
      <p:sp>
        <p:nvSpPr>
          <p:cNvPr id="150" name="psr"/>
          <p:cNvSpPr txBox="1">
            <a:spLocks noGrp="1"/>
          </p:cNvSpPr>
          <p:nvPr/>
        </p:nvSpPr>
        <p:spPr>
          <a:xfrm>
            <a:off x="5449824" y="3218688"/>
            <a:ext cx="2414016" cy="118872"/>
          </a:xfrm>
          <a:prstGeom prst="rect">
            <a:avLst/>
          </a:prstGeom>
          <a:noFill/>
          <a:ln>
            <a:noFill/>
          </a:ln>
        </p:spPr>
        <p:txBody>
          <a:bodyPr anchor="t" wrap="square" lIns="91440" rIns="91440" tIns="45720" bIns="45720">
            <a:noAutofit/>
          </a:bodyPr>
          <a:lstStyle/>
          <a:p>
            <a:pPr algn="l"/>
            <a:r>
              <a:rPr lang="es-ES" sz="780" dirty="0" b="1">
                <a:solidFill>
                  <a:srgbClr val="92400E"/>
                </a:solidFill>
                <a:latin typeface="Calibri"/>
              </a:rPr>
              <a:t>SURA Cotizadores: </a:t>
            </a:r>
            <a:r>
              <a:rPr lang="es-ES" sz="780" dirty="0">
                <a:solidFill>
                  <a:srgbClr val="92400E"/>
                </a:solidFill>
                <a:latin typeface="Calibri"/>
              </a:rPr>
              <a:t>USD $40  vs $35 ind. +$5</a:t>
            </a:r>
          </a:p>
        </p:txBody>
      </p:sp>
      <p:sp>
        <p:nvSpPr>
          <p:cNvPr id="151" name="psr"/>
          <p:cNvSpPr txBox="1">
            <a:spLocks noGrp="1"/>
          </p:cNvSpPr>
          <p:nvPr/>
        </p:nvSpPr>
        <p:spPr>
          <a:xfrm>
            <a:off x="5449824" y="3346704"/>
            <a:ext cx="2414016" cy="118872"/>
          </a:xfrm>
          <a:prstGeom prst="rect">
            <a:avLst/>
          </a:prstGeom>
          <a:noFill/>
          <a:ln>
            <a:noFill/>
          </a:ln>
        </p:spPr>
        <p:txBody>
          <a:bodyPr anchor="t" wrap="square" lIns="91440" rIns="91440" tIns="45720" bIns="45720">
            <a:noAutofit/>
          </a:bodyPr>
          <a:lstStyle/>
          <a:p>
            <a:pPr algn="l"/>
            <a:r>
              <a:rPr lang="es-ES" sz="780" dirty="0" b="1">
                <a:solidFill>
                  <a:srgbClr val="92400E"/>
                </a:solidFill>
                <a:latin typeface="Calibri"/>
              </a:rPr>
              <a:t>SURA Automatizacion: </a:t>
            </a:r>
            <a:r>
              <a:rPr lang="es-ES" sz="780" dirty="0">
                <a:solidFill>
                  <a:srgbClr val="92400E"/>
                </a:solidFill>
                <a:latin typeface="Calibri"/>
              </a:rPr>
              <a:t>USD $39  vs $35 ind. +$4</a:t>
            </a:r>
          </a:p>
        </p:txBody>
      </p:sp>
      <p:sp>
        <p:nvSpPr>
          <p:cNvPr id="152" name="psr"/>
          <p:cNvSpPr txBox="1">
            <a:spLocks noGrp="1"/>
          </p:cNvSpPr>
          <p:nvPr/>
        </p:nvSpPr>
        <p:spPr>
          <a:xfrm>
            <a:off x="5449824" y="3474720"/>
            <a:ext cx="2414016" cy="118872"/>
          </a:xfrm>
          <a:prstGeom prst="rect">
            <a:avLst/>
          </a:prstGeom>
          <a:noFill/>
          <a:ln>
            <a:noFill/>
          </a:ln>
        </p:spPr>
        <p:txBody>
          <a:bodyPr anchor="t" wrap="square" lIns="91440" rIns="91440" tIns="45720" bIns="45720">
            <a:noAutofit/>
          </a:bodyPr>
          <a:lstStyle/>
          <a:p>
            <a:pPr algn="l"/>
            <a:r>
              <a:rPr lang="es-ES" sz="780" dirty="0" b="1">
                <a:solidFill>
                  <a:srgbClr val="92400E"/>
                </a:solidFill>
                <a:latin typeface="Calibri"/>
              </a:rPr>
              <a:t>XM Apps Criticas: </a:t>
            </a:r>
            <a:r>
              <a:rPr lang="es-ES" sz="780" dirty="0">
                <a:solidFill>
                  <a:srgbClr val="92400E"/>
                </a:solidFill>
                <a:latin typeface="Calibri"/>
              </a:rPr>
              <a:t>USD $149  4 FTE / 90 tix/mes ⚠</a:t>
            </a:r>
          </a:p>
        </p:txBody>
      </p:sp>
      <p:sp>
        <p:nvSpPr>
          <p:cNvPr id="155" name="csath"/>
          <p:cNvSpPr txBox="1">
            <a:spLocks noGrp="1"/>
          </p:cNvSpPr>
          <p:nvPr/>
        </p:nvSpPr>
        <p:spPr>
          <a:xfrm>
            <a:off x="5358384" y="3657600"/>
            <a:ext cx="2596896" cy="237744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1100" dirty="0" b="1">
                <a:solidFill>
                  <a:srgbClr val="0D1B5E"/>
                </a:solidFill>
                <a:latin typeface="Calibri"/>
              </a:rPr>
              <a:t>CSAT Objetivo</a:t>
            </a:r>
          </a:p>
        </p:txBody>
      </p:sp>
      <p:sp>
        <p:nvSpPr>
          <p:cNvPr id="156" name="dout"/>
          <p:cNvSpPr>
            <a:spLocks noGrp="1"/>
          </p:cNvSpPr>
          <p:nvPr/>
        </p:nvSpPr>
        <p:spPr>
          <a:xfrm>
            <a:off x="5815584" y="3931920"/>
            <a:ext cx="1280160" cy="1280160"/>
          </a:xfrm>
          <a:prstGeom prst="roundRect">
            <a:avLst>
              <a:gd name="adj" fmla="val 999999"/>
            </a:avLst>
          </a:prstGeom>
          <a:solidFill>
            <a:srgbClr val="D4F0F0"/>
          </a:solidFill>
          <a:ln w="44450">
            <a:solidFill>
              <a:srgbClr val="1B7B85"/>
            </a:solidFill>
          </a:ln>
        </p:spPr>
      </p:sp>
      <p:sp>
        <p:nvSpPr>
          <p:cNvPr id="157" name="din"/>
          <p:cNvSpPr>
            <a:spLocks noGrp="1"/>
          </p:cNvSpPr>
          <p:nvPr/>
        </p:nvSpPr>
        <p:spPr>
          <a:xfrm>
            <a:off x="6035040" y="4151376"/>
            <a:ext cx="841248" cy="841248"/>
          </a:xfrm>
          <a:prstGeom prst="roundRect">
            <a:avLst>
              <a:gd name="adj" fmla="val 999999"/>
            </a:avLst>
          </a:prstGeom>
          <a:solidFill>
            <a:srgbClr val="FFFFFF"/>
          </a:solidFill>
          <a:ln w="0">
            <a:solidFill>
              <a:srgbClr val="FFFFFF"/>
            </a:solidFill>
          </a:ln>
        </p:spPr>
      </p:sp>
      <p:sp>
        <p:nvSpPr>
          <p:cNvPr id="158" name="dn"/>
          <p:cNvSpPr txBox="1">
            <a:spLocks noGrp="1"/>
          </p:cNvSpPr>
          <p:nvPr/>
        </p:nvSpPr>
        <p:spPr>
          <a:xfrm>
            <a:off x="5815584" y="4169664"/>
            <a:ext cx="1280160" cy="457200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1600" dirty="0" b="1">
                <a:solidFill>
                  <a:srgbClr val="0D1B5E"/>
                </a:solidFill>
                <a:latin typeface="Calibri"/>
              </a:rPr>
              <a:t>73-86%</a:t>
            </a:r>
          </a:p>
        </p:txBody>
      </p:sp>
      <p:sp>
        <p:nvSpPr>
          <p:cNvPr id="159" name="dl"/>
          <p:cNvSpPr txBox="1">
            <a:spLocks noGrp="1"/>
          </p:cNvSpPr>
          <p:nvPr/>
        </p:nvSpPr>
        <p:spPr>
          <a:xfrm>
            <a:off x="5815584" y="4626864"/>
            <a:ext cx="1280160" cy="164592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820" dirty="0">
                <a:solidFill>
                  <a:srgbClr val="6B7280"/>
                </a:solidFill>
                <a:latin typeface="Calibri"/>
              </a:rPr>
              <a:t>industria</a:t>
            </a:r>
          </a:p>
        </p:txBody>
      </p:sp>
      <p:sp>
        <p:nvSpPr>
          <p:cNvPr id="160" name="dn5"/>
          <p:cNvSpPr txBox="1">
            <a:spLocks noGrp="1"/>
          </p:cNvSpPr>
          <p:nvPr/>
        </p:nvSpPr>
        <p:spPr>
          <a:xfrm>
            <a:off x="5815584" y="4809744"/>
            <a:ext cx="1280160" cy="182880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880" dirty="0" b="1">
                <a:solidFill>
                  <a:srgbClr val="B45309"/>
                </a:solidFill>
                <a:latin typeface="Calibri"/>
              </a:rPr>
              <a:t>≥92% N5</a:t>
            </a:r>
          </a:p>
        </p:txBody>
      </p:sp>
      <p:sp>
        <p:nvSpPr>
          <p:cNvPr id="161" name="ps_cs"/>
          <p:cNvSpPr>
            <a:spLocks noGrp="1"/>
          </p:cNvSpPr>
          <p:nvPr/>
        </p:nvSpPr>
        <p:spPr>
          <a:xfrm>
            <a:off x="7223760" y="3931920"/>
            <a:ext cx="676656" cy="914400"/>
          </a:xfrm>
          <a:prstGeom prst="roundRect">
            <a:avLst>
              <a:gd name="adj" fmla="val 8000"/>
            </a:avLst>
          </a:prstGeom>
          <a:solidFill>
            <a:srgbClr val="FEE2E2"/>
          </a:solidFill>
          <a:ln w="9525">
            <a:solidFill>
              <a:srgbClr val="C00000"/>
            </a:solidFill>
          </a:ln>
        </p:spPr>
      </p:sp>
      <p:sp>
        <p:nvSpPr>
          <p:cNvPr id="162" name="ps_cst"/>
          <p:cNvSpPr txBox="1">
            <a:spLocks noGrp="1"/>
          </p:cNvSpPr>
          <p:nvPr/>
        </p:nvSpPr>
        <p:spPr>
          <a:xfrm>
            <a:off x="7278624" y="4096512"/>
            <a:ext cx="585216" cy="585216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l"/>
            <a:r>
              <a:rPr lang="es-ES" sz="900" dirty="0" b="1">
                <a:solidFill>
                  <a:srgbClr val="C00000"/>
                </a:solidFill>
                <a:latin typeface="Calibri"/>
              </a:rPr>
              <a:t>PS:</a:t>
            </a:r>
          </a:p>
          <a:p>
            <a:pPr algn="l"/>
            <a:r>
              <a:rPr lang="es-ES" sz="840" dirty="0">
                <a:solidFill>
                  <a:srgbClr val="C00000"/>
                </a:solidFill>
                <a:latin typeface="Calibri"/>
              </a:rPr>
              <a:t>Sin CSAT</a:t>
            </a:r>
          </a:p>
          <a:p>
            <a:pPr algn="l"/>
            <a:r>
              <a:rPr lang="es-ES" sz="840" dirty="0">
                <a:solidFill>
                  <a:srgbClr val="C00000"/>
                </a:solidFill>
                <a:latin typeface="Calibri"/>
              </a:rPr>
              <a:t>formal</a:t>
            </a:r>
          </a:p>
        </p:txBody>
      </p:sp>
      <p:sp>
        <p:nvSpPr>
          <p:cNvPr id="180" name="src"/>
          <p:cNvSpPr txBox="1">
            <a:spLocks noGrp="1"/>
          </p:cNvSpPr>
          <p:nvPr/>
        </p:nvSpPr>
        <p:spPr>
          <a:xfrm>
            <a:off x="320040" y="4370832"/>
            <a:ext cx="7772400" cy="164592"/>
          </a:xfrm>
          <a:prstGeom prst="rect">
            <a:avLst/>
          </a:prstGeom>
          <a:noFill/>
          <a:ln>
            <a:noFill/>
          </a:ln>
        </p:spPr>
        <p:txBody>
          <a:bodyPr anchor="t" wrap="square" lIns="91440" rIns="91440" tIns="45720" bIns="45720">
            <a:noAutofit/>
          </a:bodyPr>
          <a:lstStyle/>
          <a:p>
            <a:pPr algn="l"/>
            <a:r>
              <a:rPr lang="es-ES" sz="800" dirty="0" b="1">
                <a:solidFill>
                  <a:srgbClr val="6B7280"/>
                </a:solidFill>
                <a:latin typeface="Calibri"/>
              </a:rPr>
              <a:t>Fuente: </a:t>
            </a:r>
            <a:r>
              <a:rPr lang="es-ES" sz="800" dirty="0" u="sng">
                <a:solidFill>
                  <a:srgbClr val="1A3A8F"/>
                </a:solidFill>
                <a:latin typeface="Calibri"/>
                <a:hlinkClick r:id="rId100"/>
              </a:rPr>
              <a:t>SQM Group FCR</a:t>
            </a:r>
            <a:r>
              <a:rPr lang="es-ES" sz="780" dirty="0">
                <a:solidFill>
                  <a:srgbClr val="6B7280"/>
                </a:solidFill>
                <a:latin typeface="Calibri"/>
              </a:rPr>
              <a:t>  ·  </a:t>
            </a:r>
            <a:r>
              <a:rPr lang="es-ES" sz="800" dirty="0" u="sng">
                <a:solidFill>
                  <a:srgbClr val="1A3A8F"/>
                </a:solidFill>
                <a:latin typeface="Calibri"/>
                <a:hlinkClick r:id="rId101"/>
              </a:rPr>
              <a:t>HDI Standard</a:t>
            </a:r>
            <a:r>
              <a:rPr lang="es-ES" sz="780" dirty="0">
                <a:solidFill>
                  <a:srgbClr val="6B7280"/>
                </a:solidFill>
                <a:latin typeface="Calibri"/>
              </a:rPr>
              <a:t>  ·  </a:t>
            </a:r>
            <a:r>
              <a:rPr lang="es-ES" sz="800" dirty="0" u="sng">
                <a:solidFill>
                  <a:srgbClr val="1A3A8F"/>
                </a:solidFill>
                <a:latin typeface="Calibri"/>
                <a:hlinkClick r:id="rId102"/>
              </a:rPr>
              <a:t>MetricNet/HDI MTTR</a:t>
            </a:r>
            <a:r>
              <a:rPr lang="es-ES" sz="780" dirty="0">
                <a:solidFill>
                  <a:srgbClr val="6B7280"/>
                </a:solidFill>
                <a:latin typeface="Calibri"/>
              </a:rPr>
              <a:t>  ·  </a:t>
            </a:r>
            <a:r>
              <a:rPr lang="es-ES" sz="800" dirty="0" u="sng">
                <a:solidFill>
                  <a:srgbClr val="1A3A8F"/>
                </a:solidFill>
                <a:latin typeface="Calibri"/>
                <a:hlinkClick r:id="rId107"/>
              </a:rPr>
              <a:t>HelpDeskFocus / IrisAgent</a:t>
            </a:r>
            <a:r>
              <a:rPr lang="es-ES" sz="780" dirty="0">
                <a:solidFill>
                  <a:srgbClr val="6B7280"/>
                </a:solidFill>
                <a:latin typeface="Calibri"/>
              </a:rPr>
              <a:t>  ·  </a:t>
            </a:r>
            <a:r>
              <a:rPr lang="es-ES" sz="800" dirty="0" u="sng">
                <a:solidFill>
                  <a:srgbClr val="1A3A8F"/>
                </a:solidFill>
                <a:latin typeface="Calibri"/>
                <a:hlinkClick r:id="rId103"/>
              </a:rPr>
              <a:t>Freshservice Benchmark 2024</a:t>
            </a:r>
            <a:r>
              <a:rPr lang="es-ES" sz="780" dirty="0">
                <a:solidFill>
                  <a:srgbClr val="6B7280"/>
                </a:solidFill>
                <a:latin typeface="Calibri"/>
              </a:rPr>
              <a:t>  ·  </a:t>
            </a:r>
            <a:r>
              <a:rPr lang="es-ES" sz="800" dirty="0" u="sng">
                <a:solidFill>
                  <a:srgbClr val="1A3A8F"/>
                </a:solidFill>
                <a:latin typeface="Calibri"/>
                <a:hlinkClick r:id="rId104"/>
              </a:rPr>
              <a:t>HDI metrics / Giva</a:t>
            </a:r>
            <a:r>
              <a:rPr lang="es-ES" sz="780" dirty="0">
                <a:solidFill>
                  <a:srgbClr val="6B7280"/>
                </a:solidFill>
                <a:latin typeface="Calibri"/>
              </a:rPr>
              <a:t>  ·  </a:t>
            </a:r>
            <a:r>
              <a:rPr lang="es-ES" sz="800" dirty="0" u="sng">
                <a:solidFill>
                  <a:srgbClr val="1A3A8F"/>
                </a:solidFill>
                <a:latin typeface="Calibri"/>
                <a:hlinkClick r:id="rId107"/>
              </a:rPr>
              <a:t>Kwestra servicedesk KPIs</a:t>
            </a:r>
            <a:r>
              <a:rPr lang="es-ES" sz="780" dirty="0">
                <a:solidFill>
                  <a:srgbClr val="6B7280"/>
                </a:solidFill>
                <a:latin typeface="Calibri"/>
              </a:rPr>
              <a:t>  ·  </a:t>
            </a:r>
            <a:r>
              <a:rPr lang="es-ES" sz="800" dirty="0" u="sng">
                <a:solidFill>
                  <a:srgbClr val="1A3A8F"/>
                </a:solidFill>
                <a:latin typeface="Calibri"/>
                <a:hlinkClick r:id="rId108"/>
              </a:rPr>
              <a:t>InvGate ITSM Statistics</a:t>
            </a:r>
          </a:p>
        </p:txBody>
      </p:sp>
      <p:sp>
        <p:nvSpPr>
          <p:cNvPr id="181" name="srclev"/>
          <p:cNvSpPr txBox="1">
            <a:spLocks noGrp="1"/>
          </p:cNvSpPr>
          <p:nvPr/>
        </p:nvSpPr>
        <p:spPr>
          <a:xfrm>
            <a:off x="320040" y="4535424"/>
            <a:ext cx="7772400" cy="146304"/>
          </a:xfrm>
          <a:prstGeom prst="rect">
            <a:avLst/>
          </a:prstGeom>
          <a:noFill/>
          <a:ln>
            <a:noFill/>
          </a:ln>
        </p:spPr>
        <p:txBody>
          <a:bodyPr anchor="t" wrap="square" lIns="91440" rIns="91440" tIns="45720" bIns="45720">
            <a:noAutofit/>
          </a:bodyPr>
          <a:lstStyle/>
          <a:p>
            <a:pPr algn="l"/>
            <a:r>
              <a:rPr lang="es-ES" sz="780" dirty="0" i="1">
                <a:solidFill>
                  <a:srgbClr val="6B7280"/>
                </a:solidFill>
                <a:latin typeface="Calibri"/>
              </a:rPr>
              <a:t>Datos PS: Levantamiento interno PersonalSoft · Excel Levantamiento_Mesas_Julio_2026 · Transcripts reuniones: Elsy Marin (SURA), Michael Arevalo (AES), Diego Serna (XM), Virginia &amp; Lina (BCO), Bancolombia</a:t>
            </a:r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bg"/>
          <p:cNvSpPr>
            <a:spLocks noGrp="1"/>
          </p:cNvSpPr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7FC"/>
          </a:solidFill>
          <a:ln>
            <a:noFill/>
          </a:ln>
        </p:spPr>
      </p:sp>
      <p:sp>
        <p:nvSpPr>
          <p:cNvPr id="3" name="hdr"/>
          <p:cNvSpPr>
            <a:spLocks noGrp="1"/>
          </p:cNvSpPr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5E"/>
          </a:solidFill>
          <a:ln>
            <a:noFill/>
          </a:ln>
        </p:spPr>
      </p:sp>
      <p:sp>
        <p:nvSpPr>
          <p:cNvPr id="4" name="ttl"/>
          <p:cNvSpPr txBox="1">
            <a:spLocks noGrp="1"/>
          </p:cNvSpPr>
          <p:nvPr/>
        </p:nvSpPr>
        <p:spPr>
          <a:xfrm>
            <a:off x="320040" y="91440"/>
            <a:ext cx="7772400" cy="475488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l"/>
            <a:r>
              <a:rPr lang="es-ES" sz="2000" dirty="0" b="1">
                <a:solidFill>
                  <a:srgbClr val="FFFFFF"/>
                </a:solidFill>
                <a:latin typeface="Calibri"/>
              </a:rPr>
              <a:t>Metodologia de Calculo — Capacidad Instalada y Costo por Ticket</a:t>
            </a:r>
          </a:p>
        </p:txBody>
      </p:sp>
      <p:sp>
        <p:nvSpPr>
          <p:cNvPr id="5" name="sub"/>
          <p:cNvSpPr txBox="1">
            <a:spLocks noGrp="1"/>
          </p:cNvSpPr>
          <p:nvPr/>
        </p:nvSpPr>
        <p:spPr>
          <a:xfrm>
            <a:off x="320040" y="566928"/>
            <a:ext cx="7772400" cy="237744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l"/>
            <a:r>
              <a:rPr lang="es-ES" sz="1000" dirty="0">
                <a:solidFill>
                  <a:srgbClr val="C8EBEF"/>
                </a:solidFill>
                <a:latin typeface="Calibri"/>
              </a:rPr>
              <a:t>Formula: FTE × 160 horas/mes × $88.000 COP ÷ tickets/mes = Costo/ticket COP  ·  ÷ $4.200 = USD  ·  Fuente: Levantamiento interno PS Julio 2026</a:t>
            </a:r>
          </a:p>
        </p:txBody>
      </p:sp>
      <p:sp>
        <p:nvSpPr>
          <p:cNvPr id="10" name="fb"/>
          <p:cNvSpPr>
            <a:spLocks noGrp="1"/>
          </p:cNvSpPr>
          <p:nvPr/>
        </p:nvSpPr>
        <p:spPr>
          <a:xfrm>
            <a:off x="320040" y="804672"/>
            <a:ext cx="7717536" cy="402336"/>
          </a:xfrm>
          <a:prstGeom prst="roundRect">
            <a:avLst>
              <a:gd name="adj" fmla="val 10000"/>
            </a:avLst>
          </a:prstGeom>
          <a:solidFill>
            <a:srgbClr val="EEF2FF"/>
          </a:solidFill>
          <a:ln w="15875">
            <a:solidFill>
              <a:srgbClr val="1A3A8F"/>
            </a:solidFill>
          </a:ln>
        </p:spPr>
      </p:sp>
      <p:sp>
        <p:nvSpPr>
          <p:cNvPr id="11" name="ft"/>
          <p:cNvSpPr txBox="1">
            <a:spLocks noGrp="1"/>
          </p:cNvSpPr>
          <p:nvPr/>
        </p:nvSpPr>
        <p:spPr>
          <a:xfrm>
            <a:off x="457200" y="822960"/>
            <a:ext cx="7498079" cy="402336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900" dirty="0" b="1">
                <a:solidFill>
                  <a:srgbClr val="1A3A8F"/>
                </a:solidFill>
                <a:latin typeface="Calibri"/>
              </a:rPr>
              <a:t>Capacidad instalada (h/mes) = FTE × 160h  ·  Costo mensual COP = FTE × 160h × $88.000  ·  Costo/ticket COP = Costo mensual ÷ tickets/mes  ·  Costo/ticket USD = COP ÷ $4.200</a:t>
            </a:r>
          </a:p>
        </p:txBody>
      </p:sp>
      <p:sp>
        <p:nvSpPr>
          <p:cNvPr id="20" name="thdr"/>
          <p:cNvSpPr>
            <a:spLocks noGrp="1"/>
          </p:cNvSpPr>
          <p:nvPr/>
        </p:nvSpPr>
        <p:spPr>
          <a:xfrm>
            <a:off x="320040" y="1280160"/>
            <a:ext cx="7955279" cy="384048"/>
          </a:xfrm>
          <a:prstGeom prst="rect">
            <a:avLst/>
          </a:prstGeom>
          <a:solidFill>
            <a:srgbClr val="0D1B5E"/>
          </a:solidFill>
          <a:ln>
            <a:noFill/>
          </a:ln>
        </p:spPr>
      </p:sp>
      <p:sp>
        <p:nvSpPr>
          <p:cNvPr id="21" name="th"/>
          <p:cNvSpPr txBox="1">
            <a:spLocks noGrp="1"/>
          </p:cNvSpPr>
          <p:nvPr/>
        </p:nvSpPr>
        <p:spPr>
          <a:xfrm>
            <a:off x="320040" y="1280160"/>
            <a:ext cx="1188720" cy="384048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680" dirty="0" b="1">
                <a:solidFill>
                  <a:srgbClr val="FFFFFF"/>
                </a:solidFill>
                <a:latin typeface="Calibri"/>
              </a:rPr>
              <a:t>Mesa</a:t>
            </a:r>
          </a:p>
        </p:txBody>
      </p:sp>
      <p:sp>
        <p:nvSpPr>
          <p:cNvPr id="22" name="th"/>
          <p:cNvSpPr txBox="1">
            <a:spLocks noGrp="1"/>
          </p:cNvSpPr>
          <p:nvPr/>
        </p:nvSpPr>
        <p:spPr>
          <a:xfrm>
            <a:off x="1508760" y="1280160"/>
            <a:ext cx="566928" cy="384048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680" dirty="0" b="1">
                <a:solidFill>
                  <a:srgbClr val="FFFFFF"/>
                </a:solidFill>
                <a:latin typeface="Calibri"/>
              </a:rPr>
              <a:t>Cliente</a:t>
            </a:r>
          </a:p>
        </p:txBody>
      </p:sp>
      <p:sp>
        <p:nvSpPr>
          <p:cNvPr id="23" name="th"/>
          <p:cNvSpPr txBox="1">
            <a:spLocks noGrp="1"/>
          </p:cNvSpPr>
          <p:nvPr/>
        </p:nvSpPr>
        <p:spPr>
          <a:xfrm>
            <a:off x="2075688" y="1280160"/>
            <a:ext cx="347472" cy="384048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680" dirty="0" b="1">
                <a:solidFill>
                  <a:srgbClr val="FFFFFF"/>
                </a:solidFill>
                <a:latin typeface="Calibri"/>
              </a:rPr>
              <a:t>Nivel</a:t>
            </a:r>
          </a:p>
        </p:txBody>
      </p:sp>
      <p:sp>
        <p:nvSpPr>
          <p:cNvPr id="24" name="th"/>
          <p:cNvSpPr txBox="1">
            <a:spLocks noGrp="1"/>
          </p:cNvSpPr>
          <p:nvPr/>
        </p:nvSpPr>
        <p:spPr>
          <a:xfrm>
            <a:off x="2423160" y="1280160"/>
            <a:ext cx="310896" cy="384048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680" dirty="0" b="1">
                <a:solidFill>
                  <a:srgbClr val="FFFFFF"/>
                </a:solidFill>
                <a:latin typeface="Calibri"/>
              </a:rPr>
              <a:t>FTE</a:t>
            </a:r>
          </a:p>
        </p:txBody>
      </p:sp>
      <p:sp>
        <p:nvSpPr>
          <p:cNvPr id="25" name="th"/>
          <p:cNvSpPr txBox="1">
            <a:spLocks noGrp="1"/>
          </p:cNvSpPr>
          <p:nvPr/>
        </p:nvSpPr>
        <p:spPr>
          <a:xfrm>
            <a:off x="2734056" y="1280160"/>
            <a:ext cx="493776" cy="384048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680" dirty="0" b="1">
                <a:solidFill>
                  <a:srgbClr val="FFFFFF"/>
                </a:solidFill>
                <a:latin typeface="Calibri"/>
              </a:rPr>
              <a:t>Tickets
/mes</a:t>
            </a:r>
          </a:p>
        </p:txBody>
      </p:sp>
      <p:sp>
        <p:nvSpPr>
          <p:cNvPr id="26" name="th"/>
          <p:cNvSpPr txBox="1">
            <a:spLocks noGrp="1"/>
          </p:cNvSpPr>
          <p:nvPr/>
        </p:nvSpPr>
        <p:spPr>
          <a:xfrm>
            <a:off x="3227832" y="128016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680" dirty="0" b="1">
                <a:solidFill>
                  <a:srgbClr val="FFFFFF"/>
                </a:solidFill>
                <a:latin typeface="Calibri"/>
              </a:rPr>
              <a:t>Tix/
FTE</a:t>
            </a:r>
          </a:p>
        </p:txBody>
      </p:sp>
      <p:sp>
        <p:nvSpPr>
          <p:cNvPr id="27" name="th"/>
          <p:cNvSpPr txBox="1">
            <a:spLocks noGrp="1"/>
          </p:cNvSpPr>
          <p:nvPr/>
        </p:nvSpPr>
        <p:spPr>
          <a:xfrm>
            <a:off x="3611880" y="1280160"/>
            <a:ext cx="493776" cy="384048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680" dirty="0" b="1">
                <a:solidFill>
                  <a:srgbClr val="FFFFFF"/>
                </a:solidFill>
                <a:latin typeface="Calibri"/>
              </a:rPr>
              <a:t>Cap.
h/mes</a:t>
            </a:r>
          </a:p>
        </p:txBody>
      </p:sp>
      <p:sp>
        <p:nvSpPr>
          <p:cNvPr id="28" name="th"/>
          <p:cNvSpPr txBox="1">
            <a:spLocks noGrp="1"/>
          </p:cNvSpPr>
          <p:nvPr/>
        </p:nvSpPr>
        <p:spPr>
          <a:xfrm>
            <a:off x="4105656" y="1280160"/>
            <a:ext cx="457200" cy="384048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680" dirty="0" b="1">
                <a:solidFill>
                  <a:srgbClr val="FFFFFF"/>
                </a:solidFill>
                <a:latin typeface="Calibri"/>
              </a:rPr>
              <a:t>MTTR
(h)</a:t>
            </a:r>
          </a:p>
        </p:txBody>
      </p:sp>
      <p:sp>
        <p:nvSpPr>
          <p:cNvPr id="29" name="th"/>
          <p:cNvSpPr txBox="1">
            <a:spLocks noGrp="1"/>
          </p:cNvSpPr>
          <p:nvPr/>
        </p:nvSpPr>
        <p:spPr>
          <a:xfrm>
            <a:off x="4562856" y="1280160"/>
            <a:ext cx="402336" cy="384048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680" dirty="0" b="1">
                <a:solidFill>
                  <a:srgbClr val="FFFFFF"/>
                </a:solidFill>
                <a:latin typeface="Calibri"/>
              </a:rPr>
              <a:t>SLA %</a:t>
            </a:r>
          </a:p>
        </p:txBody>
      </p:sp>
      <p:sp>
        <p:nvSpPr>
          <p:cNvPr id="30" name="th"/>
          <p:cNvSpPr txBox="1">
            <a:spLocks noGrp="1"/>
          </p:cNvSpPr>
          <p:nvPr/>
        </p:nvSpPr>
        <p:spPr>
          <a:xfrm>
            <a:off x="4965192" y="1280160"/>
            <a:ext cx="822960" cy="384048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680" dirty="0" b="1">
                <a:solidFill>
                  <a:srgbClr val="FFFFFF"/>
                </a:solidFill>
                <a:latin typeface="Calibri"/>
              </a:rPr>
              <a:t>Costo mes
COP</a:t>
            </a:r>
          </a:p>
        </p:txBody>
      </p:sp>
      <p:sp>
        <p:nvSpPr>
          <p:cNvPr id="31" name="th"/>
          <p:cNvSpPr txBox="1">
            <a:spLocks noGrp="1"/>
          </p:cNvSpPr>
          <p:nvPr/>
        </p:nvSpPr>
        <p:spPr>
          <a:xfrm>
            <a:off x="5788152" y="1280160"/>
            <a:ext cx="749808" cy="384048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680" dirty="0" b="1">
                <a:solidFill>
                  <a:srgbClr val="FFFFFF"/>
                </a:solidFill>
                <a:latin typeface="Calibri"/>
              </a:rPr>
              <a:t>Costo/tix
COP</a:t>
            </a:r>
          </a:p>
        </p:txBody>
      </p:sp>
      <p:sp>
        <p:nvSpPr>
          <p:cNvPr id="32" name="th"/>
          <p:cNvSpPr txBox="1">
            <a:spLocks noGrp="1"/>
          </p:cNvSpPr>
          <p:nvPr/>
        </p:nvSpPr>
        <p:spPr>
          <a:xfrm>
            <a:off x="6537960" y="1280160"/>
            <a:ext cx="676656" cy="384048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680" dirty="0" b="1">
                <a:solidFill>
                  <a:srgbClr val="FFFFFF"/>
                </a:solidFill>
                <a:latin typeface="Calibri"/>
              </a:rPr>
              <a:t>Costo/tix
USD</a:t>
            </a:r>
          </a:p>
        </p:txBody>
      </p:sp>
      <p:sp>
        <p:nvSpPr>
          <p:cNvPr id="33" name="th"/>
          <p:cNvSpPr txBox="1">
            <a:spLocks noGrp="1"/>
          </p:cNvSpPr>
          <p:nvPr/>
        </p:nvSpPr>
        <p:spPr>
          <a:xfrm>
            <a:off x="7214616" y="1280160"/>
            <a:ext cx="585216" cy="384048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680" dirty="0" b="1">
                <a:solidFill>
                  <a:srgbClr val="FFFFFF"/>
                </a:solidFill>
                <a:latin typeface="Calibri"/>
              </a:rPr>
              <a:t>vs Ind.
$35 USD</a:t>
            </a:r>
          </a:p>
        </p:txBody>
      </p:sp>
      <p:sp>
        <p:nvSpPr>
          <p:cNvPr id="30" name="rb"/>
          <p:cNvSpPr>
            <a:spLocks noGrp="1"/>
          </p:cNvSpPr>
          <p:nvPr/>
        </p:nvSpPr>
        <p:spPr>
          <a:xfrm>
            <a:off x="320040" y="1664208"/>
            <a:ext cx="7955279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</p:sp>
      <p:sp>
        <p:nvSpPr>
          <p:cNvPr id="31" name="c"/>
          <p:cNvSpPr txBox="1">
            <a:spLocks noGrp="1"/>
          </p:cNvSpPr>
          <p:nvPr/>
        </p:nvSpPr>
        <p:spPr>
          <a:xfrm>
            <a:off x="320040" y="1664208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l"/>
            <a:r>
              <a:rPr lang="es-ES" sz="700" dirty="0" b="1">
                <a:solidFill>
                  <a:srgbClr val="0D1B5E"/>
                </a:solidFill>
                <a:latin typeface="Calibri"/>
              </a:rPr>
              <a:t>SURA Cotizadores</a:t>
            </a:r>
          </a:p>
        </p:txBody>
      </p:sp>
      <p:sp>
        <p:nvSpPr>
          <p:cNvPr id="32" name="c"/>
          <p:cNvSpPr txBox="1">
            <a:spLocks noGrp="1"/>
          </p:cNvSpPr>
          <p:nvPr/>
        </p:nvSpPr>
        <p:spPr>
          <a:xfrm>
            <a:off x="1508760" y="1664208"/>
            <a:ext cx="566928" cy="274320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680" dirty="0">
                <a:solidFill>
                  <a:srgbClr val="6B7280"/>
                </a:solidFill>
                <a:latin typeface="Calibri"/>
              </a:rPr>
              <a:t>SURA</a:t>
            </a:r>
          </a:p>
        </p:txBody>
      </p:sp>
      <p:sp>
        <p:nvSpPr>
          <p:cNvPr id="33" name="c"/>
          <p:cNvSpPr txBox="1">
            <a:spLocks noGrp="1"/>
          </p:cNvSpPr>
          <p:nvPr/>
        </p:nvSpPr>
        <p:spPr>
          <a:xfrm>
            <a:off x="2075688" y="1664208"/>
            <a:ext cx="347472" cy="274320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680" dirty="0" b="1">
                <a:solidFill>
                  <a:srgbClr val="92400E"/>
                </a:solidFill>
                <a:latin typeface="Calibri"/>
              </a:rPr>
              <a:t>N2</a:t>
            </a:r>
          </a:p>
        </p:txBody>
      </p:sp>
      <p:sp>
        <p:nvSpPr>
          <p:cNvPr id="34" name="c"/>
          <p:cNvSpPr txBox="1">
            <a:spLocks noGrp="1"/>
          </p:cNvSpPr>
          <p:nvPr/>
        </p:nvSpPr>
        <p:spPr>
          <a:xfrm>
            <a:off x="2423160" y="1664208"/>
            <a:ext cx="310896" cy="274320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680" dirty="0">
                <a:solidFill>
                  <a:srgbClr val="0D1B5E"/>
                </a:solidFill>
                <a:latin typeface="Calibri"/>
              </a:rPr>
              <a:t>8</a:t>
            </a:r>
          </a:p>
        </p:txBody>
      </p:sp>
      <p:sp>
        <p:nvSpPr>
          <p:cNvPr id="35" name="c"/>
          <p:cNvSpPr txBox="1">
            <a:spLocks noGrp="1"/>
          </p:cNvSpPr>
          <p:nvPr/>
        </p:nvSpPr>
        <p:spPr>
          <a:xfrm>
            <a:off x="2734056" y="1664208"/>
            <a:ext cx="493776" cy="274320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680" dirty="0">
                <a:solidFill>
                  <a:srgbClr val="0D1B5E"/>
                </a:solidFill>
                <a:latin typeface="Calibri"/>
              </a:rPr>
              <a:t>668</a:t>
            </a:r>
          </a:p>
        </p:txBody>
      </p:sp>
      <p:sp>
        <p:nvSpPr>
          <p:cNvPr id="36" name="c"/>
          <p:cNvSpPr txBox="1">
            <a:spLocks noGrp="1"/>
          </p:cNvSpPr>
          <p:nvPr/>
        </p:nvSpPr>
        <p:spPr>
          <a:xfrm>
            <a:off x="3227832" y="1664208"/>
            <a:ext cx="384048" cy="274320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680" dirty="0">
                <a:solidFill>
                  <a:srgbClr val="1B7B85"/>
                </a:solidFill>
                <a:latin typeface="Calibri"/>
              </a:rPr>
              <a:t>84</a:t>
            </a:r>
          </a:p>
        </p:txBody>
      </p:sp>
      <p:sp>
        <p:nvSpPr>
          <p:cNvPr id="37" name="c"/>
          <p:cNvSpPr txBox="1">
            <a:spLocks noGrp="1"/>
          </p:cNvSpPr>
          <p:nvPr/>
        </p:nvSpPr>
        <p:spPr>
          <a:xfrm>
            <a:off x="3611880" y="1664208"/>
            <a:ext cx="493776" cy="274320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680" dirty="0">
                <a:solidFill>
                  <a:srgbClr val="1B7B85"/>
                </a:solidFill>
                <a:latin typeface="Calibri"/>
              </a:rPr>
              <a:t>1,280h</a:t>
            </a:r>
          </a:p>
        </p:txBody>
      </p:sp>
      <p:sp>
        <p:nvSpPr>
          <p:cNvPr id="38" name="c"/>
          <p:cNvSpPr txBox="1">
            <a:spLocks noGrp="1"/>
          </p:cNvSpPr>
          <p:nvPr/>
        </p:nvSpPr>
        <p:spPr>
          <a:xfrm>
            <a:off x="4105656" y="166420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680" dirty="0">
                <a:solidFill>
                  <a:srgbClr val="C00000"/>
                </a:solidFill>
                <a:latin typeface="Calibri"/>
              </a:rPr>
              <a:t>24.58h</a:t>
            </a:r>
          </a:p>
        </p:txBody>
      </p:sp>
      <p:sp>
        <p:nvSpPr>
          <p:cNvPr id="39" name="c"/>
          <p:cNvSpPr txBox="1">
            <a:spLocks noGrp="1"/>
          </p:cNvSpPr>
          <p:nvPr/>
        </p:nvSpPr>
        <p:spPr>
          <a:xfrm>
            <a:off x="4562856" y="1664208"/>
            <a:ext cx="402336" cy="274320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680" dirty="0">
                <a:solidFill>
                  <a:srgbClr val="C00000"/>
                </a:solidFill>
                <a:latin typeface="Calibri"/>
              </a:rPr>
              <a:t>70%</a:t>
            </a:r>
          </a:p>
        </p:txBody>
      </p:sp>
      <p:sp>
        <p:nvSpPr>
          <p:cNvPr id="40" name="c"/>
          <p:cNvSpPr txBox="1">
            <a:spLocks noGrp="1"/>
          </p:cNvSpPr>
          <p:nvPr/>
        </p:nvSpPr>
        <p:spPr>
          <a:xfrm>
            <a:off x="4965192" y="1664208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680" dirty="0">
                <a:solidFill>
                  <a:srgbClr val="0D1B5E"/>
                </a:solidFill>
                <a:latin typeface="Calibri"/>
              </a:rPr>
              <a:t>$112.6M</a:t>
            </a:r>
          </a:p>
        </p:txBody>
      </p:sp>
      <p:sp>
        <p:nvSpPr>
          <p:cNvPr id="41" name="c"/>
          <p:cNvSpPr txBox="1">
            <a:spLocks noGrp="1"/>
          </p:cNvSpPr>
          <p:nvPr/>
        </p:nvSpPr>
        <p:spPr>
          <a:xfrm>
            <a:off x="5788152" y="1664208"/>
            <a:ext cx="749808" cy="274320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680" dirty="0">
                <a:solidFill>
                  <a:srgbClr val="6B2D5E"/>
                </a:solidFill>
                <a:latin typeface="Calibri"/>
              </a:rPr>
              <a:t>$168,623</a:t>
            </a:r>
          </a:p>
        </p:txBody>
      </p:sp>
      <p:sp>
        <p:nvSpPr>
          <p:cNvPr id="42" name="c"/>
          <p:cNvSpPr txBox="1">
            <a:spLocks noGrp="1"/>
          </p:cNvSpPr>
          <p:nvPr/>
        </p:nvSpPr>
        <p:spPr>
          <a:xfrm>
            <a:off x="6537960" y="1664208"/>
            <a:ext cx="676656" cy="274320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680" dirty="0">
                <a:solidFill>
                  <a:srgbClr val="6B2D5E"/>
                </a:solidFill>
                <a:latin typeface="Calibri"/>
              </a:rPr>
              <a:t>$40</a:t>
            </a:r>
          </a:p>
        </p:txBody>
      </p:sp>
      <p:sp>
        <p:nvSpPr>
          <p:cNvPr id="43" name="c"/>
          <p:cNvSpPr txBox="1">
            <a:spLocks noGrp="1"/>
          </p:cNvSpPr>
          <p:nvPr/>
        </p:nvSpPr>
        <p:spPr>
          <a:xfrm>
            <a:off x="7214616" y="1664208"/>
            <a:ext cx="585216" cy="274320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680" dirty="0" b="1">
                <a:solidFill>
                  <a:srgbClr val="C00000"/>
                </a:solidFill>
                <a:latin typeface="Calibri"/>
              </a:rPr>
              <a:t>+$5</a:t>
            </a:r>
          </a:p>
        </p:txBody>
      </p:sp>
      <p:sp>
        <p:nvSpPr>
          <p:cNvPr id="45" name="rb"/>
          <p:cNvSpPr>
            <a:spLocks noGrp="1"/>
          </p:cNvSpPr>
          <p:nvPr/>
        </p:nvSpPr>
        <p:spPr>
          <a:xfrm>
            <a:off x="320040" y="1938528"/>
            <a:ext cx="7955279" cy="274320"/>
          </a:xfrm>
          <a:prstGeom prst="rect">
            <a:avLst/>
          </a:prstGeom>
          <a:solidFill>
            <a:srgbClr val="F7F9FC"/>
          </a:solidFill>
          <a:ln w="6350">
            <a:solidFill>
              <a:srgbClr val="D1D5DB"/>
            </a:solidFill>
          </a:ln>
        </p:spPr>
      </p:sp>
      <p:sp>
        <p:nvSpPr>
          <p:cNvPr id="46" name="c"/>
          <p:cNvSpPr txBox="1">
            <a:spLocks noGrp="1"/>
          </p:cNvSpPr>
          <p:nvPr/>
        </p:nvSpPr>
        <p:spPr>
          <a:xfrm>
            <a:off x="320040" y="1938528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l"/>
            <a:r>
              <a:rPr lang="es-ES" sz="700" dirty="0" b="1">
                <a:solidFill>
                  <a:srgbClr val="0D1B5E"/>
                </a:solidFill>
                <a:latin typeface="Calibri"/>
              </a:rPr>
              <a:t>SURA Venta Digital</a:t>
            </a:r>
          </a:p>
        </p:txBody>
      </p:sp>
      <p:sp>
        <p:nvSpPr>
          <p:cNvPr id="47" name="c"/>
          <p:cNvSpPr txBox="1">
            <a:spLocks noGrp="1"/>
          </p:cNvSpPr>
          <p:nvPr/>
        </p:nvSpPr>
        <p:spPr>
          <a:xfrm>
            <a:off x="1508760" y="1938528"/>
            <a:ext cx="566928" cy="274320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680" dirty="0">
                <a:solidFill>
                  <a:srgbClr val="6B7280"/>
                </a:solidFill>
                <a:latin typeface="Calibri"/>
              </a:rPr>
              <a:t>SURA</a:t>
            </a:r>
          </a:p>
        </p:txBody>
      </p:sp>
      <p:sp>
        <p:nvSpPr>
          <p:cNvPr id="48" name="c"/>
          <p:cNvSpPr txBox="1">
            <a:spLocks noGrp="1"/>
          </p:cNvSpPr>
          <p:nvPr/>
        </p:nvSpPr>
        <p:spPr>
          <a:xfrm>
            <a:off x="2075688" y="1938528"/>
            <a:ext cx="347472" cy="274320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680" dirty="0" b="1">
                <a:solidFill>
                  <a:srgbClr val="92400E"/>
                </a:solidFill>
                <a:latin typeface="Calibri"/>
              </a:rPr>
              <a:t>N2</a:t>
            </a:r>
          </a:p>
        </p:txBody>
      </p:sp>
      <p:sp>
        <p:nvSpPr>
          <p:cNvPr id="49" name="c"/>
          <p:cNvSpPr txBox="1">
            <a:spLocks noGrp="1"/>
          </p:cNvSpPr>
          <p:nvPr/>
        </p:nvSpPr>
        <p:spPr>
          <a:xfrm>
            <a:off x="2423160" y="1938528"/>
            <a:ext cx="310896" cy="274320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680" dirty="0">
                <a:solidFill>
                  <a:srgbClr val="0D1B5E"/>
                </a:solidFill>
                <a:latin typeface="Calibri"/>
              </a:rPr>
              <a:t>2</a:t>
            </a:r>
          </a:p>
        </p:txBody>
      </p:sp>
      <p:sp>
        <p:nvSpPr>
          <p:cNvPr id="50" name="c"/>
          <p:cNvSpPr txBox="1">
            <a:spLocks noGrp="1"/>
          </p:cNvSpPr>
          <p:nvPr/>
        </p:nvSpPr>
        <p:spPr>
          <a:xfrm>
            <a:off x="2734056" y="1938528"/>
            <a:ext cx="493776" cy="274320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680" dirty="0">
                <a:solidFill>
                  <a:srgbClr val="0D1B5E"/>
                </a:solidFill>
                <a:latin typeface="Calibri"/>
              </a:rPr>
              <a:t>174</a:t>
            </a:r>
          </a:p>
        </p:txBody>
      </p:sp>
      <p:sp>
        <p:nvSpPr>
          <p:cNvPr id="51" name="c"/>
          <p:cNvSpPr txBox="1">
            <a:spLocks noGrp="1"/>
          </p:cNvSpPr>
          <p:nvPr/>
        </p:nvSpPr>
        <p:spPr>
          <a:xfrm>
            <a:off x="3227832" y="1938528"/>
            <a:ext cx="384048" cy="274320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680" dirty="0">
                <a:solidFill>
                  <a:srgbClr val="1B7B85"/>
                </a:solidFill>
                <a:latin typeface="Calibri"/>
              </a:rPr>
              <a:t>87</a:t>
            </a:r>
          </a:p>
        </p:txBody>
      </p:sp>
      <p:sp>
        <p:nvSpPr>
          <p:cNvPr id="52" name="c"/>
          <p:cNvSpPr txBox="1">
            <a:spLocks noGrp="1"/>
          </p:cNvSpPr>
          <p:nvPr/>
        </p:nvSpPr>
        <p:spPr>
          <a:xfrm>
            <a:off x="3611880" y="1938528"/>
            <a:ext cx="493776" cy="274320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680" dirty="0">
                <a:solidFill>
                  <a:srgbClr val="1B7B85"/>
                </a:solidFill>
                <a:latin typeface="Calibri"/>
              </a:rPr>
              <a:t>320h</a:t>
            </a:r>
          </a:p>
        </p:txBody>
      </p:sp>
      <p:sp>
        <p:nvSpPr>
          <p:cNvPr id="53" name="c"/>
          <p:cNvSpPr txBox="1">
            <a:spLocks noGrp="1"/>
          </p:cNvSpPr>
          <p:nvPr/>
        </p:nvSpPr>
        <p:spPr>
          <a:xfrm>
            <a:off x="4105656" y="193852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680" dirty="0">
                <a:solidFill>
                  <a:srgbClr val="C00000"/>
                </a:solidFill>
                <a:latin typeface="Calibri"/>
              </a:rPr>
              <a:t>12.38h</a:t>
            </a:r>
          </a:p>
        </p:txBody>
      </p:sp>
      <p:sp>
        <p:nvSpPr>
          <p:cNvPr id="54" name="c"/>
          <p:cNvSpPr txBox="1">
            <a:spLocks noGrp="1"/>
          </p:cNvSpPr>
          <p:nvPr/>
        </p:nvSpPr>
        <p:spPr>
          <a:xfrm>
            <a:off x="4562856" y="1938528"/>
            <a:ext cx="402336" cy="274320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680" dirty="0">
                <a:solidFill>
                  <a:srgbClr val="C00000"/>
                </a:solidFill>
                <a:latin typeface="Calibri"/>
              </a:rPr>
              <a:t>74%</a:t>
            </a:r>
          </a:p>
        </p:txBody>
      </p:sp>
      <p:sp>
        <p:nvSpPr>
          <p:cNvPr id="55" name="c"/>
          <p:cNvSpPr txBox="1">
            <a:spLocks noGrp="1"/>
          </p:cNvSpPr>
          <p:nvPr/>
        </p:nvSpPr>
        <p:spPr>
          <a:xfrm>
            <a:off x="4965192" y="1938528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680" dirty="0">
                <a:solidFill>
                  <a:srgbClr val="0D1B5E"/>
                </a:solidFill>
                <a:latin typeface="Calibri"/>
              </a:rPr>
              <a:t>$28.2M</a:t>
            </a:r>
          </a:p>
        </p:txBody>
      </p:sp>
      <p:sp>
        <p:nvSpPr>
          <p:cNvPr id="56" name="c"/>
          <p:cNvSpPr txBox="1">
            <a:spLocks noGrp="1"/>
          </p:cNvSpPr>
          <p:nvPr/>
        </p:nvSpPr>
        <p:spPr>
          <a:xfrm>
            <a:off x="5788152" y="1938528"/>
            <a:ext cx="749808" cy="274320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680" dirty="0">
                <a:solidFill>
                  <a:srgbClr val="6B2D5E"/>
                </a:solidFill>
                <a:latin typeface="Calibri"/>
              </a:rPr>
              <a:t>$161,839</a:t>
            </a:r>
          </a:p>
        </p:txBody>
      </p:sp>
      <p:sp>
        <p:nvSpPr>
          <p:cNvPr id="57" name="c"/>
          <p:cNvSpPr txBox="1">
            <a:spLocks noGrp="1"/>
          </p:cNvSpPr>
          <p:nvPr/>
        </p:nvSpPr>
        <p:spPr>
          <a:xfrm>
            <a:off x="6537960" y="1938528"/>
            <a:ext cx="676656" cy="274320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680" dirty="0">
                <a:solidFill>
                  <a:srgbClr val="6B2D5E"/>
                </a:solidFill>
                <a:latin typeface="Calibri"/>
              </a:rPr>
              <a:t>$39</a:t>
            </a:r>
          </a:p>
        </p:txBody>
      </p:sp>
      <p:sp>
        <p:nvSpPr>
          <p:cNvPr id="58" name="c"/>
          <p:cNvSpPr txBox="1">
            <a:spLocks noGrp="1"/>
          </p:cNvSpPr>
          <p:nvPr/>
        </p:nvSpPr>
        <p:spPr>
          <a:xfrm>
            <a:off x="7214616" y="1938528"/>
            <a:ext cx="585216" cy="274320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680" dirty="0" b="1">
                <a:solidFill>
                  <a:srgbClr val="C00000"/>
                </a:solidFill>
                <a:latin typeface="Calibri"/>
              </a:rPr>
              <a:t>+$4</a:t>
            </a:r>
          </a:p>
        </p:txBody>
      </p:sp>
      <p:sp>
        <p:nvSpPr>
          <p:cNvPr id="60" name="rb"/>
          <p:cNvSpPr>
            <a:spLocks noGrp="1"/>
          </p:cNvSpPr>
          <p:nvPr/>
        </p:nvSpPr>
        <p:spPr>
          <a:xfrm>
            <a:off x="320040" y="2212848"/>
            <a:ext cx="7955279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</p:sp>
      <p:sp>
        <p:nvSpPr>
          <p:cNvPr id="61" name="c"/>
          <p:cNvSpPr txBox="1">
            <a:spLocks noGrp="1"/>
          </p:cNvSpPr>
          <p:nvPr/>
        </p:nvSpPr>
        <p:spPr>
          <a:xfrm>
            <a:off x="320040" y="2212848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l"/>
            <a:r>
              <a:rPr lang="es-ES" sz="700" dirty="0" b="1">
                <a:solidFill>
                  <a:srgbClr val="0D1B5E"/>
                </a:solidFill>
                <a:latin typeface="Calibri"/>
              </a:rPr>
              <a:t>SURA Automatizacion</a:t>
            </a:r>
          </a:p>
        </p:txBody>
      </p:sp>
      <p:sp>
        <p:nvSpPr>
          <p:cNvPr id="62" name="c"/>
          <p:cNvSpPr txBox="1">
            <a:spLocks noGrp="1"/>
          </p:cNvSpPr>
          <p:nvPr/>
        </p:nvSpPr>
        <p:spPr>
          <a:xfrm>
            <a:off x="1508760" y="2212848"/>
            <a:ext cx="566928" cy="274320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680" dirty="0">
                <a:solidFill>
                  <a:srgbClr val="6B7280"/>
                </a:solidFill>
                <a:latin typeface="Calibri"/>
              </a:rPr>
              <a:t>SURA</a:t>
            </a:r>
          </a:p>
        </p:txBody>
      </p:sp>
      <p:sp>
        <p:nvSpPr>
          <p:cNvPr id="63" name="c"/>
          <p:cNvSpPr txBox="1">
            <a:spLocks noGrp="1"/>
          </p:cNvSpPr>
          <p:nvPr/>
        </p:nvSpPr>
        <p:spPr>
          <a:xfrm>
            <a:off x="2075688" y="2212848"/>
            <a:ext cx="347472" cy="274320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680" dirty="0" b="1">
                <a:solidFill>
                  <a:srgbClr val="92400E"/>
                </a:solidFill>
                <a:latin typeface="Calibri"/>
              </a:rPr>
              <a:t>N2</a:t>
            </a:r>
          </a:p>
        </p:txBody>
      </p:sp>
      <p:sp>
        <p:nvSpPr>
          <p:cNvPr id="64" name="c"/>
          <p:cNvSpPr txBox="1">
            <a:spLocks noGrp="1"/>
          </p:cNvSpPr>
          <p:nvPr/>
        </p:nvSpPr>
        <p:spPr>
          <a:xfrm>
            <a:off x="2423160" y="2212848"/>
            <a:ext cx="310896" cy="274320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680" dirty="0">
                <a:solidFill>
                  <a:srgbClr val="0D1B5E"/>
                </a:solidFill>
                <a:latin typeface="Calibri"/>
              </a:rPr>
              <a:t>6</a:t>
            </a:r>
          </a:p>
        </p:txBody>
      </p:sp>
      <p:sp>
        <p:nvSpPr>
          <p:cNvPr id="65" name="c"/>
          <p:cNvSpPr txBox="1">
            <a:spLocks noGrp="1"/>
          </p:cNvSpPr>
          <p:nvPr/>
        </p:nvSpPr>
        <p:spPr>
          <a:xfrm>
            <a:off x="2734056" y="2212848"/>
            <a:ext cx="493776" cy="274320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680" dirty="0">
                <a:solidFill>
                  <a:srgbClr val="0D1B5E"/>
                </a:solidFill>
                <a:latin typeface="Calibri"/>
              </a:rPr>
              <a:t>512</a:t>
            </a:r>
          </a:p>
        </p:txBody>
      </p:sp>
      <p:sp>
        <p:nvSpPr>
          <p:cNvPr id="66" name="c"/>
          <p:cNvSpPr txBox="1">
            <a:spLocks noGrp="1"/>
          </p:cNvSpPr>
          <p:nvPr/>
        </p:nvSpPr>
        <p:spPr>
          <a:xfrm>
            <a:off x="3227832" y="2212848"/>
            <a:ext cx="384048" cy="274320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680" dirty="0">
                <a:solidFill>
                  <a:srgbClr val="1B7B85"/>
                </a:solidFill>
                <a:latin typeface="Calibri"/>
              </a:rPr>
              <a:t>85</a:t>
            </a:r>
          </a:p>
        </p:txBody>
      </p:sp>
      <p:sp>
        <p:nvSpPr>
          <p:cNvPr id="67" name="c"/>
          <p:cNvSpPr txBox="1">
            <a:spLocks noGrp="1"/>
          </p:cNvSpPr>
          <p:nvPr/>
        </p:nvSpPr>
        <p:spPr>
          <a:xfrm>
            <a:off x="3611880" y="2212848"/>
            <a:ext cx="493776" cy="274320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680" dirty="0">
                <a:solidFill>
                  <a:srgbClr val="1B7B85"/>
                </a:solidFill>
                <a:latin typeface="Calibri"/>
              </a:rPr>
              <a:t>960h</a:t>
            </a:r>
          </a:p>
        </p:txBody>
      </p:sp>
      <p:sp>
        <p:nvSpPr>
          <p:cNvPr id="68" name="c"/>
          <p:cNvSpPr txBox="1">
            <a:spLocks noGrp="1"/>
          </p:cNvSpPr>
          <p:nvPr/>
        </p:nvSpPr>
        <p:spPr>
          <a:xfrm>
            <a:off x="4105656" y="221284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680" dirty="0">
                <a:solidFill>
                  <a:srgbClr val="1A6B3C"/>
                </a:solidFill>
                <a:latin typeface="Calibri"/>
              </a:rPr>
              <a:t>2.98h</a:t>
            </a:r>
          </a:p>
        </p:txBody>
      </p:sp>
      <p:sp>
        <p:nvSpPr>
          <p:cNvPr id="69" name="c"/>
          <p:cNvSpPr txBox="1">
            <a:spLocks noGrp="1"/>
          </p:cNvSpPr>
          <p:nvPr/>
        </p:nvSpPr>
        <p:spPr>
          <a:xfrm>
            <a:off x="4562856" y="2212848"/>
            <a:ext cx="402336" cy="274320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680" dirty="0">
                <a:solidFill>
                  <a:srgbClr val="1A6B3C"/>
                </a:solidFill>
                <a:latin typeface="Calibri"/>
              </a:rPr>
              <a:t>98%</a:t>
            </a:r>
          </a:p>
        </p:txBody>
      </p:sp>
      <p:sp>
        <p:nvSpPr>
          <p:cNvPr id="70" name="c"/>
          <p:cNvSpPr txBox="1">
            <a:spLocks noGrp="1"/>
          </p:cNvSpPr>
          <p:nvPr/>
        </p:nvSpPr>
        <p:spPr>
          <a:xfrm>
            <a:off x="4965192" y="2212848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680" dirty="0">
                <a:solidFill>
                  <a:srgbClr val="0D1B5E"/>
                </a:solidFill>
                <a:latin typeface="Calibri"/>
              </a:rPr>
              <a:t>$84.5M</a:t>
            </a:r>
          </a:p>
        </p:txBody>
      </p:sp>
      <p:sp>
        <p:nvSpPr>
          <p:cNvPr id="71" name="c"/>
          <p:cNvSpPr txBox="1">
            <a:spLocks noGrp="1"/>
          </p:cNvSpPr>
          <p:nvPr/>
        </p:nvSpPr>
        <p:spPr>
          <a:xfrm>
            <a:off x="5788152" y="2212848"/>
            <a:ext cx="749808" cy="274320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680" dirty="0">
                <a:solidFill>
                  <a:srgbClr val="6B2D5E"/>
                </a:solidFill>
                <a:latin typeface="Calibri"/>
              </a:rPr>
              <a:t>$165,000</a:t>
            </a:r>
          </a:p>
        </p:txBody>
      </p:sp>
      <p:sp>
        <p:nvSpPr>
          <p:cNvPr id="72" name="c"/>
          <p:cNvSpPr txBox="1">
            <a:spLocks noGrp="1"/>
          </p:cNvSpPr>
          <p:nvPr/>
        </p:nvSpPr>
        <p:spPr>
          <a:xfrm>
            <a:off x="6537960" y="2212848"/>
            <a:ext cx="676656" cy="274320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680" dirty="0">
                <a:solidFill>
                  <a:srgbClr val="6B2D5E"/>
                </a:solidFill>
                <a:latin typeface="Calibri"/>
              </a:rPr>
              <a:t>$39</a:t>
            </a:r>
          </a:p>
        </p:txBody>
      </p:sp>
      <p:sp>
        <p:nvSpPr>
          <p:cNvPr id="73" name="c"/>
          <p:cNvSpPr txBox="1">
            <a:spLocks noGrp="1"/>
          </p:cNvSpPr>
          <p:nvPr/>
        </p:nvSpPr>
        <p:spPr>
          <a:xfrm>
            <a:off x="7214616" y="2212848"/>
            <a:ext cx="585216" cy="274320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680" dirty="0" b="1">
                <a:solidFill>
                  <a:srgbClr val="C00000"/>
                </a:solidFill>
                <a:latin typeface="Calibri"/>
              </a:rPr>
              <a:t>+$4</a:t>
            </a:r>
          </a:p>
        </p:txBody>
      </p:sp>
      <p:sp>
        <p:nvSpPr>
          <p:cNvPr id="75" name="rb"/>
          <p:cNvSpPr>
            <a:spLocks noGrp="1"/>
          </p:cNvSpPr>
          <p:nvPr/>
        </p:nvSpPr>
        <p:spPr>
          <a:xfrm>
            <a:off x="320040" y="2487168"/>
            <a:ext cx="7955279" cy="274320"/>
          </a:xfrm>
          <a:prstGeom prst="rect">
            <a:avLst/>
          </a:prstGeom>
          <a:solidFill>
            <a:srgbClr val="F7F9FC"/>
          </a:solidFill>
          <a:ln w="6350">
            <a:solidFill>
              <a:srgbClr val="D1D5DB"/>
            </a:solidFill>
          </a:ln>
        </p:spPr>
      </p:sp>
      <p:sp>
        <p:nvSpPr>
          <p:cNvPr id="76" name="c"/>
          <p:cNvSpPr txBox="1">
            <a:spLocks noGrp="1"/>
          </p:cNvSpPr>
          <p:nvPr/>
        </p:nvSpPr>
        <p:spPr>
          <a:xfrm>
            <a:off x="320040" y="2487168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l"/>
            <a:r>
              <a:rPr lang="es-ES" sz="700" dirty="0" b="1">
                <a:solidFill>
                  <a:srgbClr val="0D1B5E"/>
                </a:solidFill>
                <a:latin typeface="Calibri"/>
              </a:rPr>
              <a:t>SURA Canales Masivos</a:t>
            </a:r>
          </a:p>
        </p:txBody>
      </p:sp>
      <p:sp>
        <p:nvSpPr>
          <p:cNvPr id="77" name="c"/>
          <p:cNvSpPr txBox="1">
            <a:spLocks noGrp="1"/>
          </p:cNvSpPr>
          <p:nvPr/>
        </p:nvSpPr>
        <p:spPr>
          <a:xfrm>
            <a:off x="1508760" y="2487168"/>
            <a:ext cx="566928" cy="274320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680" dirty="0">
                <a:solidFill>
                  <a:srgbClr val="6B7280"/>
                </a:solidFill>
                <a:latin typeface="Calibri"/>
              </a:rPr>
              <a:t>SURA</a:t>
            </a:r>
          </a:p>
        </p:txBody>
      </p:sp>
      <p:sp>
        <p:nvSpPr>
          <p:cNvPr id="78" name="c"/>
          <p:cNvSpPr txBox="1">
            <a:spLocks noGrp="1"/>
          </p:cNvSpPr>
          <p:nvPr/>
        </p:nvSpPr>
        <p:spPr>
          <a:xfrm>
            <a:off x="2075688" y="2487168"/>
            <a:ext cx="347472" cy="274320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680" dirty="0" b="1">
                <a:solidFill>
                  <a:srgbClr val="92400E"/>
                </a:solidFill>
                <a:latin typeface="Calibri"/>
              </a:rPr>
              <a:t>N2</a:t>
            </a:r>
          </a:p>
        </p:txBody>
      </p:sp>
      <p:sp>
        <p:nvSpPr>
          <p:cNvPr id="79" name="c"/>
          <p:cNvSpPr txBox="1">
            <a:spLocks noGrp="1"/>
          </p:cNvSpPr>
          <p:nvPr/>
        </p:nvSpPr>
        <p:spPr>
          <a:xfrm>
            <a:off x="2423160" y="2487168"/>
            <a:ext cx="310896" cy="274320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680" dirty="0">
                <a:solidFill>
                  <a:srgbClr val="0D1B5E"/>
                </a:solidFill>
                <a:latin typeface="Calibri"/>
              </a:rPr>
              <a:t>1</a:t>
            </a:r>
          </a:p>
        </p:txBody>
      </p:sp>
      <p:sp>
        <p:nvSpPr>
          <p:cNvPr id="80" name="c"/>
          <p:cNvSpPr txBox="1">
            <a:spLocks noGrp="1"/>
          </p:cNvSpPr>
          <p:nvPr/>
        </p:nvSpPr>
        <p:spPr>
          <a:xfrm>
            <a:off x="2734056" y="2487168"/>
            <a:ext cx="493776" cy="274320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680" dirty="0">
                <a:solidFill>
                  <a:srgbClr val="0D1B5E"/>
                </a:solidFill>
                <a:latin typeface="Calibri"/>
              </a:rPr>
              <a:t>171</a:t>
            </a:r>
          </a:p>
        </p:txBody>
      </p:sp>
      <p:sp>
        <p:nvSpPr>
          <p:cNvPr id="81" name="c"/>
          <p:cNvSpPr txBox="1">
            <a:spLocks noGrp="1"/>
          </p:cNvSpPr>
          <p:nvPr/>
        </p:nvSpPr>
        <p:spPr>
          <a:xfrm>
            <a:off x="3227832" y="2487168"/>
            <a:ext cx="384048" cy="274320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680" dirty="0">
                <a:solidFill>
                  <a:srgbClr val="1B7B85"/>
                </a:solidFill>
                <a:latin typeface="Calibri"/>
              </a:rPr>
              <a:t>171</a:t>
            </a:r>
          </a:p>
        </p:txBody>
      </p:sp>
      <p:sp>
        <p:nvSpPr>
          <p:cNvPr id="82" name="c"/>
          <p:cNvSpPr txBox="1">
            <a:spLocks noGrp="1"/>
          </p:cNvSpPr>
          <p:nvPr/>
        </p:nvSpPr>
        <p:spPr>
          <a:xfrm>
            <a:off x="3611880" y="2487168"/>
            <a:ext cx="493776" cy="274320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680" dirty="0">
                <a:solidFill>
                  <a:srgbClr val="1B7B85"/>
                </a:solidFill>
                <a:latin typeface="Calibri"/>
              </a:rPr>
              <a:t>160h</a:t>
            </a:r>
          </a:p>
        </p:txBody>
      </p:sp>
      <p:sp>
        <p:nvSpPr>
          <p:cNvPr id="83" name="c"/>
          <p:cNvSpPr txBox="1">
            <a:spLocks noGrp="1"/>
          </p:cNvSpPr>
          <p:nvPr/>
        </p:nvSpPr>
        <p:spPr>
          <a:xfrm>
            <a:off x="4105656" y="248716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680" dirty="0">
                <a:solidFill>
                  <a:srgbClr val="C00000"/>
                </a:solidFill>
                <a:latin typeface="Calibri"/>
              </a:rPr>
              <a:t>17.92h</a:t>
            </a:r>
          </a:p>
        </p:txBody>
      </p:sp>
      <p:sp>
        <p:nvSpPr>
          <p:cNvPr id="84" name="c"/>
          <p:cNvSpPr txBox="1">
            <a:spLocks noGrp="1"/>
          </p:cNvSpPr>
          <p:nvPr/>
        </p:nvSpPr>
        <p:spPr>
          <a:xfrm>
            <a:off x="4562856" y="2487168"/>
            <a:ext cx="402336" cy="274320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680" dirty="0">
                <a:solidFill>
                  <a:srgbClr val="C00000"/>
                </a:solidFill>
                <a:latin typeface="Calibri"/>
              </a:rPr>
              <a:t>72%</a:t>
            </a:r>
          </a:p>
        </p:txBody>
      </p:sp>
      <p:sp>
        <p:nvSpPr>
          <p:cNvPr id="85" name="c"/>
          <p:cNvSpPr txBox="1">
            <a:spLocks noGrp="1"/>
          </p:cNvSpPr>
          <p:nvPr/>
        </p:nvSpPr>
        <p:spPr>
          <a:xfrm>
            <a:off x="4965192" y="2487168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680" dirty="0">
                <a:solidFill>
                  <a:srgbClr val="0D1B5E"/>
                </a:solidFill>
                <a:latin typeface="Calibri"/>
              </a:rPr>
              <a:t>$14.1M</a:t>
            </a:r>
          </a:p>
        </p:txBody>
      </p:sp>
      <p:sp>
        <p:nvSpPr>
          <p:cNvPr id="86" name="c"/>
          <p:cNvSpPr txBox="1">
            <a:spLocks noGrp="1"/>
          </p:cNvSpPr>
          <p:nvPr/>
        </p:nvSpPr>
        <p:spPr>
          <a:xfrm>
            <a:off x="5788152" y="2487168"/>
            <a:ext cx="749808" cy="274320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680" dirty="0">
                <a:solidFill>
                  <a:srgbClr val="6B2D5E"/>
                </a:solidFill>
                <a:latin typeface="Calibri"/>
              </a:rPr>
              <a:t>$82,339</a:t>
            </a:r>
          </a:p>
        </p:txBody>
      </p:sp>
      <p:sp>
        <p:nvSpPr>
          <p:cNvPr id="87" name="c"/>
          <p:cNvSpPr txBox="1">
            <a:spLocks noGrp="1"/>
          </p:cNvSpPr>
          <p:nvPr/>
        </p:nvSpPr>
        <p:spPr>
          <a:xfrm>
            <a:off x="6537960" y="2487168"/>
            <a:ext cx="676656" cy="274320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680" dirty="0">
                <a:solidFill>
                  <a:srgbClr val="6B2D5E"/>
                </a:solidFill>
                <a:latin typeface="Calibri"/>
              </a:rPr>
              <a:t>$20</a:t>
            </a:r>
          </a:p>
        </p:txBody>
      </p:sp>
      <p:sp>
        <p:nvSpPr>
          <p:cNvPr id="88" name="c"/>
          <p:cNvSpPr txBox="1">
            <a:spLocks noGrp="1"/>
          </p:cNvSpPr>
          <p:nvPr/>
        </p:nvSpPr>
        <p:spPr>
          <a:xfrm>
            <a:off x="7214616" y="2487168"/>
            <a:ext cx="585216" cy="274320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680" dirty="0" b="1">
                <a:solidFill>
                  <a:srgbClr val="1A6B3C"/>
                </a:solidFill>
                <a:latin typeface="Calibri"/>
              </a:rPr>
              <a:t>-$15</a:t>
            </a:r>
          </a:p>
        </p:txBody>
      </p:sp>
      <p:sp>
        <p:nvSpPr>
          <p:cNvPr id="90" name="rb"/>
          <p:cNvSpPr>
            <a:spLocks noGrp="1"/>
          </p:cNvSpPr>
          <p:nvPr/>
        </p:nvSpPr>
        <p:spPr>
          <a:xfrm>
            <a:off x="320040" y="2761488"/>
            <a:ext cx="7955279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</p:sp>
      <p:sp>
        <p:nvSpPr>
          <p:cNvPr id="91" name="c"/>
          <p:cNvSpPr txBox="1">
            <a:spLocks noGrp="1"/>
          </p:cNvSpPr>
          <p:nvPr/>
        </p:nvSpPr>
        <p:spPr>
          <a:xfrm>
            <a:off x="320040" y="2761488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l"/>
            <a:r>
              <a:rPr lang="es-ES" sz="700" dirty="0" b="1">
                <a:solidFill>
                  <a:srgbClr val="0D1B5E"/>
                </a:solidFill>
                <a:latin typeface="Calibri"/>
              </a:rPr>
              <a:t>XM — Apps Criticas</a:t>
            </a:r>
          </a:p>
        </p:txBody>
      </p:sp>
      <p:sp>
        <p:nvSpPr>
          <p:cNvPr id="92" name="c"/>
          <p:cNvSpPr txBox="1">
            <a:spLocks noGrp="1"/>
          </p:cNvSpPr>
          <p:nvPr/>
        </p:nvSpPr>
        <p:spPr>
          <a:xfrm>
            <a:off x="1508760" y="2761488"/>
            <a:ext cx="566928" cy="274320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680" dirty="0">
                <a:solidFill>
                  <a:srgbClr val="6B7280"/>
                </a:solidFill>
                <a:latin typeface="Calibri"/>
              </a:rPr>
              <a:t>XM</a:t>
            </a:r>
          </a:p>
        </p:txBody>
      </p:sp>
      <p:sp>
        <p:nvSpPr>
          <p:cNvPr id="93" name="c"/>
          <p:cNvSpPr txBox="1">
            <a:spLocks noGrp="1"/>
          </p:cNvSpPr>
          <p:nvPr/>
        </p:nvSpPr>
        <p:spPr>
          <a:xfrm>
            <a:off x="2075688" y="2761488"/>
            <a:ext cx="347472" cy="274320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680" dirty="0" b="1">
                <a:solidFill>
                  <a:srgbClr val="92400E"/>
                </a:solidFill>
                <a:latin typeface="Calibri"/>
              </a:rPr>
              <a:t>N2</a:t>
            </a:r>
          </a:p>
        </p:txBody>
      </p:sp>
      <p:sp>
        <p:nvSpPr>
          <p:cNvPr id="94" name="c"/>
          <p:cNvSpPr txBox="1">
            <a:spLocks noGrp="1"/>
          </p:cNvSpPr>
          <p:nvPr/>
        </p:nvSpPr>
        <p:spPr>
          <a:xfrm>
            <a:off x="2423160" y="2761488"/>
            <a:ext cx="310896" cy="274320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680" dirty="0">
                <a:solidFill>
                  <a:srgbClr val="0D1B5E"/>
                </a:solidFill>
                <a:latin typeface="Calibri"/>
              </a:rPr>
              <a:t>4</a:t>
            </a:r>
          </a:p>
        </p:txBody>
      </p:sp>
      <p:sp>
        <p:nvSpPr>
          <p:cNvPr id="95" name="c"/>
          <p:cNvSpPr txBox="1">
            <a:spLocks noGrp="1"/>
          </p:cNvSpPr>
          <p:nvPr/>
        </p:nvSpPr>
        <p:spPr>
          <a:xfrm>
            <a:off x="2734056" y="2761488"/>
            <a:ext cx="493776" cy="274320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680" dirty="0">
                <a:solidFill>
                  <a:srgbClr val="0D1B5E"/>
                </a:solidFill>
                <a:latin typeface="Calibri"/>
              </a:rPr>
              <a:t>90</a:t>
            </a:r>
          </a:p>
        </p:txBody>
      </p:sp>
      <p:sp>
        <p:nvSpPr>
          <p:cNvPr id="96" name="c"/>
          <p:cNvSpPr txBox="1">
            <a:spLocks noGrp="1"/>
          </p:cNvSpPr>
          <p:nvPr/>
        </p:nvSpPr>
        <p:spPr>
          <a:xfrm>
            <a:off x="3227832" y="2761488"/>
            <a:ext cx="384048" cy="274320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680" dirty="0">
                <a:solidFill>
                  <a:srgbClr val="1B7B85"/>
                </a:solidFill>
                <a:latin typeface="Calibri"/>
              </a:rPr>
              <a:t>22</a:t>
            </a:r>
          </a:p>
        </p:txBody>
      </p:sp>
      <p:sp>
        <p:nvSpPr>
          <p:cNvPr id="97" name="c"/>
          <p:cNvSpPr txBox="1">
            <a:spLocks noGrp="1"/>
          </p:cNvSpPr>
          <p:nvPr/>
        </p:nvSpPr>
        <p:spPr>
          <a:xfrm>
            <a:off x="3611880" y="2761488"/>
            <a:ext cx="493776" cy="274320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680" dirty="0">
                <a:solidFill>
                  <a:srgbClr val="1B7B85"/>
                </a:solidFill>
                <a:latin typeface="Calibri"/>
              </a:rPr>
              <a:t>640h</a:t>
            </a:r>
          </a:p>
        </p:txBody>
      </p:sp>
      <p:sp>
        <p:nvSpPr>
          <p:cNvPr id="98" name="c"/>
          <p:cNvSpPr txBox="1">
            <a:spLocks noGrp="1"/>
          </p:cNvSpPr>
          <p:nvPr/>
        </p:nvSpPr>
        <p:spPr>
          <a:xfrm>
            <a:off x="4105656" y="276148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680" dirty="0">
                <a:solidFill>
                  <a:srgbClr val="6B7280"/>
                </a:solidFill>
                <a:latin typeface="Calibri"/>
              </a:rPr>
              <a:t>N/D</a:t>
            </a:r>
          </a:p>
        </p:txBody>
      </p:sp>
      <p:sp>
        <p:nvSpPr>
          <p:cNvPr id="99" name="c"/>
          <p:cNvSpPr txBox="1">
            <a:spLocks noGrp="1"/>
          </p:cNvSpPr>
          <p:nvPr/>
        </p:nvSpPr>
        <p:spPr>
          <a:xfrm>
            <a:off x="4562856" y="2761488"/>
            <a:ext cx="402336" cy="274320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680" dirty="0">
                <a:solidFill>
                  <a:srgbClr val="6B7280"/>
                </a:solidFill>
                <a:latin typeface="Calibri"/>
              </a:rPr>
              <a:t>N/D</a:t>
            </a:r>
          </a:p>
        </p:txBody>
      </p:sp>
      <p:sp>
        <p:nvSpPr>
          <p:cNvPr id="100" name="c"/>
          <p:cNvSpPr txBox="1">
            <a:spLocks noGrp="1"/>
          </p:cNvSpPr>
          <p:nvPr/>
        </p:nvSpPr>
        <p:spPr>
          <a:xfrm>
            <a:off x="4965192" y="2761488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680" dirty="0">
                <a:solidFill>
                  <a:srgbClr val="0D1B5E"/>
                </a:solidFill>
                <a:latin typeface="Calibri"/>
              </a:rPr>
              <a:t>$56.3M</a:t>
            </a:r>
          </a:p>
        </p:txBody>
      </p:sp>
      <p:sp>
        <p:nvSpPr>
          <p:cNvPr id="101" name="c"/>
          <p:cNvSpPr txBox="1">
            <a:spLocks noGrp="1"/>
          </p:cNvSpPr>
          <p:nvPr/>
        </p:nvSpPr>
        <p:spPr>
          <a:xfrm>
            <a:off x="5788152" y="2761488"/>
            <a:ext cx="749808" cy="274320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680" dirty="0">
                <a:solidFill>
                  <a:srgbClr val="6B2D5E"/>
                </a:solidFill>
                <a:latin typeface="Calibri"/>
              </a:rPr>
              <a:t>$625,778</a:t>
            </a:r>
          </a:p>
        </p:txBody>
      </p:sp>
      <p:sp>
        <p:nvSpPr>
          <p:cNvPr id="102" name="c"/>
          <p:cNvSpPr txBox="1">
            <a:spLocks noGrp="1"/>
          </p:cNvSpPr>
          <p:nvPr/>
        </p:nvSpPr>
        <p:spPr>
          <a:xfrm>
            <a:off x="6537960" y="2761488"/>
            <a:ext cx="676656" cy="274320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680" dirty="0">
                <a:solidFill>
                  <a:srgbClr val="6B2D5E"/>
                </a:solidFill>
                <a:latin typeface="Calibri"/>
              </a:rPr>
              <a:t>$149</a:t>
            </a:r>
          </a:p>
        </p:txBody>
      </p:sp>
      <p:sp>
        <p:nvSpPr>
          <p:cNvPr id="103" name="c"/>
          <p:cNvSpPr txBox="1">
            <a:spLocks noGrp="1"/>
          </p:cNvSpPr>
          <p:nvPr/>
        </p:nvSpPr>
        <p:spPr>
          <a:xfrm>
            <a:off x="7214616" y="2761488"/>
            <a:ext cx="585216" cy="274320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680" dirty="0" b="1">
                <a:solidFill>
                  <a:srgbClr val="C00000"/>
                </a:solidFill>
                <a:latin typeface="Calibri"/>
              </a:rPr>
              <a:t>+$114</a:t>
            </a:r>
          </a:p>
        </p:txBody>
      </p:sp>
      <p:sp>
        <p:nvSpPr>
          <p:cNvPr id="105" name="rb"/>
          <p:cNvSpPr>
            <a:spLocks noGrp="1"/>
          </p:cNvSpPr>
          <p:nvPr/>
        </p:nvSpPr>
        <p:spPr>
          <a:xfrm>
            <a:off x="320040" y="3035808"/>
            <a:ext cx="7955279" cy="274320"/>
          </a:xfrm>
          <a:prstGeom prst="rect">
            <a:avLst/>
          </a:prstGeom>
          <a:solidFill>
            <a:srgbClr val="F7F9FC"/>
          </a:solidFill>
          <a:ln w="6350">
            <a:solidFill>
              <a:srgbClr val="D1D5DB"/>
            </a:solidFill>
          </a:ln>
        </p:spPr>
      </p:sp>
      <p:sp>
        <p:nvSpPr>
          <p:cNvPr id="106" name="c"/>
          <p:cNvSpPr txBox="1">
            <a:spLocks noGrp="1"/>
          </p:cNvSpPr>
          <p:nvPr/>
        </p:nvSpPr>
        <p:spPr>
          <a:xfrm>
            <a:off x="320040" y="3035808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l"/>
            <a:r>
              <a:rPr lang="es-ES" sz="700" dirty="0" b="1">
                <a:solidFill>
                  <a:srgbClr val="0D1B5E"/>
                </a:solidFill>
                <a:latin typeface="Calibri"/>
              </a:rPr>
              <a:t>AES — Soporte IT/OT</a:t>
            </a:r>
          </a:p>
        </p:txBody>
      </p:sp>
      <p:sp>
        <p:nvSpPr>
          <p:cNvPr id="107" name="c"/>
          <p:cNvSpPr txBox="1">
            <a:spLocks noGrp="1"/>
          </p:cNvSpPr>
          <p:nvPr/>
        </p:nvSpPr>
        <p:spPr>
          <a:xfrm>
            <a:off x="1508760" y="3035808"/>
            <a:ext cx="566928" cy="274320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680" dirty="0">
                <a:solidFill>
                  <a:srgbClr val="6B7280"/>
                </a:solidFill>
                <a:latin typeface="Calibri"/>
              </a:rPr>
              <a:t>AES</a:t>
            </a:r>
          </a:p>
        </p:txBody>
      </p:sp>
      <p:sp>
        <p:nvSpPr>
          <p:cNvPr id="108" name="c"/>
          <p:cNvSpPr txBox="1">
            <a:spLocks noGrp="1"/>
          </p:cNvSpPr>
          <p:nvPr/>
        </p:nvSpPr>
        <p:spPr>
          <a:xfrm>
            <a:off x="2075688" y="3035808"/>
            <a:ext cx="347472" cy="274320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680" dirty="0" b="1">
                <a:solidFill>
                  <a:srgbClr val="C00000"/>
                </a:solidFill>
                <a:latin typeface="Calibri"/>
              </a:rPr>
              <a:t>N1</a:t>
            </a:r>
          </a:p>
        </p:txBody>
      </p:sp>
      <p:sp>
        <p:nvSpPr>
          <p:cNvPr id="109" name="c"/>
          <p:cNvSpPr txBox="1">
            <a:spLocks noGrp="1"/>
          </p:cNvSpPr>
          <p:nvPr/>
        </p:nvSpPr>
        <p:spPr>
          <a:xfrm>
            <a:off x="2423160" y="3035808"/>
            <a:ext cx="310896" cy="274320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680" dirty="0">
                <a:solidFill>
                  <a:srgbClr val="0D1B5E"/>
                </a:solidFill>
                <a:latin typeface="Calibri"/>
              </a:rPr>
              <a:t>4</a:t>
            </a:r>
          </a:p>
        </p:txBody>
      </p:sp>
      <p:sp>
        <p:nvSpPr>
          <p:cNvPr id="110" name="c"/>
          <p:cNvSpPr txBox="1">
            <a:spLocks noGrp="1"/>
          </p:cNvSpPr>
          <p:nvPr/>
        </p:nvSpPr>
        <p:spPr>
          <a:xfrm>
            <a:off x="2734056" y="3035808"/>
            <a:ext cx="493776" cy="274320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680" dirty="0">
                <a:solidFill>
                  <a:srgbClr val="0D1B5E"/>
                </a:solidFill>
                <a:latin typeface="Calibri"/>
              </a:rPr>
              <a:t>N/D</a:t>
            </a:r>
          </a:p>
        </p:txBody>
      </p:sp>
      <p:sp>
        <p:nvSpPr>
          <p:cNvPr id="111" name="c"/>
          <p:cNvSpPr txBox="1">
            <a:spLocks noGrp="1"/>
          </p:cNvSpPr>
          <p:nvPr/>
        </p:nvSpPr>
        <p:spPr>
          <a:xfrm>
            <a:off x="3227832" y="3035808"/>
            <a:ext cx="384048" cy="274320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680" dirty="0">
                <a:solidFill>
                  <a:srgbClr val="1B7B85"/>
                </a:solidFill>
                <a:latin typeface="Calibri"/>
              </a:rPr>
              <a:t>N/D</a:t>
            </a:r>
          </a:p>
        </p:txBody>
      </p:sp>
      <p:sp>
        <p:nvSpPr>
          <p:cNvPr id="112" name="c"/>
          <p:cNvSpPr txBox="1">
            <a:spLocks noGrp="1"/>
          </p:cNvSpPr>
          <p:nvPr/>
        </p:nvSpPr>
        <p:spPr>
          <a:xfrm>
            <a:off x="3611880" y="3035808"/>
            <a:ext cx="493776" cy="274320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680" dirty="0">
                <a:solidFill>
                  <a:srgbClr val="1B7B85"/>
                </a:solidFill>
                <a:latin typeface="Calibri"/>
              </a:rPr>
              <a:t>640h</a:t>
            </a:r>
          </a:p>
        </p:txBody>
      </p:sp>
      <p:sp>
        <p:nvSpPr>
          <p:cNvPr id="113" name="c"/>
          <p:cNvSpPr txBox="1">
            <a:spLocks noGrp="1"/>
          </p:cNvSpPr>
          <p:nvPr/>
        </p:nvSpPr>
        <p:spPr>
          <a:xfrm>
            <a:off x="4105656" y="303580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680" dirty="0">
                <a:solidFill>
                  <a:srgbClr val="6B7280"/>
                </a:solidFill>
                <a:latin typeface="Calibri"/>
              </a:rPr>
              <a:t>N/D</a:t>
            </a:r>
          </a:p>
        </p:txBody>
      </p:sp>
      <p:sp>
        <p:nvSpPr>
          <p:cNvPr id="114" name="c"/>
          <p:cNvSpPr txBox="1">
            <a:spLocks noGrp="1"/>
          </p:cNvSpPr>
          <p:nvPr/>
        </p:nvSpPr>
        <p:spPr>
          <a:xfrm>
            <a:off x="4562856" y="3035808"/>
            <a:ext cx="402336" cy="274320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680" dirty="0">
                <a:solidFill>
                  <a:srgbClr val="6B7280"/>
                </a:solidFill>
                <a:latin typeface="Calibri"/>
              </a:rPr>
              <a:t>N/D</a:t>
            </a:r>
          </a:p>
        </p:txBody>
      </p:sp>
      <p:sp>
        <p:nvSpPr>
          <p:cNvPr id="115" name="c"/>
          <p:cNvSpPr txBox="1">
            <a:spLocks noGrp="1"/>
          </p:cNvSpPr>
          <p:nvPr/>
        </p:nvSpPr>
        <p:spPr>
          <a:xfrm>
            <a:off x="4965192" y="3035808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680" dirty="0">
                <a:solidFill>
                  <a:srgbClr val="0D1B5E"/>
                </a:solidFill>
                <a:latin typeface="Calibri"/>
              </a:rPr>
              <a:t>$56.3M</a:t>
            </a:r>
          </a:p>
        </p:txBody>
      </p:sp>
      <p:sp>
        <p:nvSpPr>
          <p:cNvPr id="116" name="c"/>
          <p:cNvSpPr txBox="1">
            <a:spLocks noGrp="1"/>
          </p:cNvSpPr>
          <p:nvPr/>
        </p:nvSpPr>
        <p:spPr>
          <a:xfrm>
            <a:off x="5788152" y="3035808"/>
            <a:ext cx="749808" cy="274320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680" dirty="0">
                <a:solidFill>
                  <a:srgbClr val="6B2D5E"/>
                </a:solidFill>
                <a:latin typeface="Calibri"/>
              </a:rPr>
              <a:t>N/D</a:t>
            </a:r>
          </a:p>
        </p:txBody>
      </p:sp>
      <p:sp>
        <p:nvSpPr>
          <p:cNvPr id="117" name="c"/>
          <p:cNvSpPr txBox="1">
            <a:spLocks noGrp="1"/>
          </p:cNvSpPr>
          <p:nvPr/>
        </p:nvSpPr>
        <p:spPr>
          <a:xfrm>
            <a:off x="6537960" y="3035808"/>
            <a:ext cx="676656" cy="274320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680" dirty="0">
                <a:solidFill>
                  <a:srgbClr val="6B2D5E"/>
                </a:solidFill>
                <a:latin typeface="Calibri"/>
              </a:rPr>
              <a:t>N/D</a:t>
            </a:r>
          </a:p>
        </p:txBody>
      </p:sp>
      <p:sp>
        <p:nvSpPr>
          <p:cNvPr id="118" name="c"/>
          <p:cNvSpPr txBox="1">
            <a:spLocks noGrp="1"/>
          </p:cNvSpPr>
          <p:nvPr/>
        </p:nvSpPr>
        <p:spPr>
          <a:xfrm>
            <a:off x="7214616" y="3035808"/>
            <a:ext cx="585216" cy="274320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680" dirty="0" b="1">
                <a:solidFill>
                  <a:srgbClr val="6B7280"/>
                </a:solidFill>
                <a:latin typeface="Calibri"/>
              </a:rPr>
              <a:t>N/D</a:t>
            </a:r>
          </a:p>
        </p:txBody>
      </p:sp>
      <p:sp>
        <p:nvSpPr>
          <p:cNvPr id="120" name="rb"/>
          <p:cNvSpPr>
            <a:spLocks noGrp="1"/>
          </p:cNvSpPr>
          <p:nvPr/>
        </p:nvSpPr>
        <p:spPr>
          <a:xfrm>
            <a:off x="320040" y="3310128"/>
            <a:ext cx="7955279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</p:sp>
      <p:sp>
        <p:nvSpPr>
          <p:cNvPr id="121" name="c"/>
          <p:cNvSpPr txBox="1">
            <a:spLocks noGrp="1"/>
          </p:cNvSpPr>
          <p:nvPr/>
        </p:nvSpPr>
        <p:spPr>
          <a:xfrm>
            <a:off x="320040" y="3310128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l"/>
            <a:r>
              <a:rPr lang="es-ES" sz="700" dirty="0" b="1">
                <a:solidFill>
                  <a:srgbClr val="0D1B5E"/>
                </a:solidFill>
                <a:latin typeface="Calibri"/>
              </a:rPr>
              <a:t>BCO COES Integracion</a:t>
            </a:r>
          </a:p>
        </p:txBody>
      </p:sp>
      <p:sp>
        <p:nvSpPr>
          <p:cNvPr id="122" name="c"/>
          <p:cNvSpPr txBox="1">
            <a:spLocks noGrp="1"/>
          </p:cNvSpPr>
          <p:nvPr/>
        </p:nvSpPr>
        <p:spPr>
          <a:xfrm>
            <a:off x="1508760" y="3310128"/>
            <a:ext cx="566928" cy="274320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680" dirty="0">
                <a:solidFill>
                  <a:srgbClr val="6B7280"/>
                </a:solidFill>
                <a:latin typeface="Calibri"/>
              </a:rPr>
              <a:t>BCO</a:t>
            </a:r>
          </a:p>
        </p:txBody>
      </p:sp>
      <p:sp>
        <p:nvSpPr>
          <p:cNvPr id="123" name="c"/>
          <p:cNvSpPr txBox="1">
            <a:spLocks noGrp="1"/>
          </p:cNvSpPr>
          <p:nvPr/>
        </p:nvSpPr>
        <p:spPr>
          <a:xfrm>
            <a:off x="2075688" y="3310128"/>
            <a:ext cx="347472" cy="274320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680" dirty="0" b="1">
                <a:solidFill>
                  <a:srgbClr val="C00000"/>
                </a:solidFill>
                <a:latin typeface="Calibri"/>
              </a:rPr>
              <a:t>N1</a:t>
            </a:r>
          </a:p>
        </p:txBody>
      </p:sp>
      <p:sp>
        <p:nvSpPr>
          <p:cNvPr id="124" name="c"/>
          <p:cNvSpPr txBox="1">
            <a:spLocks noGrp="1"/>
          </p:cNvSpPr>
          <p:nvPr/>
        </p:nvSpPr>
        <p:spPr>
          <a:xfrm>
            <a:off x="2423160" y="3310128"/>
            <a:ext cx="310896" cy="274320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680" dirty="0">
                <a:solidFill>
                  <a:srgbClr val="0D1B5E"/>
                </a:solidFill>
                <a:latin typeface="Calibri"/>
              </a:rPr>
              <a:t>7</a:t>
            </a:r>
          </a:p>
        </p:txBody>
      </p:sp>
      <p:sp>
        <p:nvSpPr>
          <p:cNvPr id="125" name="c"/>
          <p:cNvSpPr txBox="1">
            <a:spLocks noGrp="1"/>
          </p:cNvSpPr>
          <p:nvPr/>
        </p:nvSpPr>
        <p:spPr>
          <a:xfrm>
            <a:off x="2734056" y="3310128"/>
            <a:ext cx="493776" cy="274320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680" dirty="0">
                <a:solidFill>
                  <a:srgbClr val="0D1B5E"/>
                </a:solidFill>
                <a:latin typeface="Calibri"/>
              </a:rPr>
              <a:t>N/D</a:t>
            </a:r>
          </a:p>
        </p:txBody>
      </p:sp>
      <p:sp>
        <p:nvSpPr>
          <p:cNvPr id="126" name="c"/>
          <p:cNvSpPr txBox="1">
            <a:spLocks noGrp="1"/>
          </p:cNvSpPr>
          <p:nvPr/>
        </p:nvSpPr>
        <p:spPr>
          <a:xfrm>
            <a:off x="3227832" y="3310128"/>
            <a:ext cx="384048" cy="274320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680" dirty="0">
                <a:solidFill>
                  <a:srgbClr val="1B7B85"/>
                </a:solidFill>
                <a:latin typeface="Calibri"/>
              </a:rPr>
              <a:t>N/D</a:t>
            </a:r>
          </a:p>
        </p:txBody>
      </p:sp>
      <p:sp>
        <p:nvSpPr>
          <p:cNvPr id="127" name="c"/>
          <p:cNvSpPr txBox="1">
            <a:spLocks noGrp="1"/>
          </p:cNvSpPr>
          <p:nvPr/>
        </p:nvSpPr>
        <p:spPr>
          <a:xfrm>
            <a:off x="3611880" y="3310128"/>
            <a:ext cx="493776" cy="274320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680" dirty="0">
                <a:solidFill>
                  <a:srgbClr val="1B7B85"/>
                </a:solidFill>
                <a:latin typeface="Calibri"/>
              </a:rPr>
              <a:t>1,120h</a:t>
            </a:r>
          </a:p>
        </p:txBody>
      </p:sp>
      <p:sp>
        <p:nvSpPr>
          <p:cNvPr id="128" name="c"/>
          <p:cNvSpPr txBox="1">
            <a:spLocks noGrp="1"/>
          </p:cNvSpPr>
          <p:nvPr/>
        </p:nvSpPr>
        <p:spPr>
          <a:xfrm>
            <a:off x="4105656" y="331012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680" dirty="0">
                <a:solidFill>
                  <a:srgbClr val="6B7280"/>
                </a:solidFill>
                <a:latin typeface="Calibri"/>
              </a:rPr>
              <a:t>N/D</a:t>
            </a:r>
          </a:p>
        </p:txBody>
      </p:sp>
      <p:sp>
        <p:nvSpPr>
          <p:cNvPr id="129" name="c"/>
          <p:cNvSpPr txBox="1">
            <a:spLocks noGrp="1"/>
          </p:cNvSpPr>
          <p:nvPr/>
        </p:nvSpPr>
        <p:spPr>
          <a:xfrm>
            <a:off x="4562856" y="3310128"/>
            <a:ext cx="402336" cy="274320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680" dirty="0">
                <a:solidFill>
                  <a:srgbClr val="6B7280"/>
                </a:solidFill>
                <a:latin typeface="Calibri"/>
              </a:rPr>
              <a:t>N/D</a:t>
            </a:r>
          </a:p>
        </p:txBody>
      </p:sp>
      <p:sp>
        <p:nvSpPr>
          <p:cNvPr id="130" name="c"/>
          <p:cNvSpPr txBox="1">
            <a:spLocks noGrp="1"/>
          </p:cNvSpPr>
          <p:nvPr/>
        </p:nvSpPr>
        <p:spPr>
          <a:xfrm>
            <a:off x="4965192" y="3310128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680" dirty="0">
                <a:solidFill>
                  <a:srgbClr val="0D1B5E"/>
                </a:solidFill>
                <a:latin typeface="Calibri"/>
              </a:rPr>
              <a:t>$98.6M</a:t>
            </a:r>
          </a:p>
        </p:txBody>
      </p:sp>
      <p:sp>
        <p:nvSpPr>
          <p:cNvPr id="131" name="c"/>
          <p:cNvSpPr txBox="1">
            <a:spLocks noGrp="1"/>
          </p:cNvSpPr>
          <p:nvPr/>
        </p:nvSpPr>
        <p:spPr>
          <a:xfrm>
            <a:off x="5788152" y="3310128"/>
            <a:ext cx="749808" cy="274320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680" dirty="0">
                <a:solidFill>
                  <a:srgbClr val="6B2D5E"/>
                </a:solidFill>
                <a:latin typeface="Calibri"/>
              </a:rPr>
              <a:t>N/D</a:t>
            </a:r>
          </a:p>
        </p:txBody>
      </p:sp>
      <p:sp>
        <p:nvSpPr>
          <p:cNvPr id="132" name="c"/>
          <p:cNvSpPr txBox="1">
            <a:spLocks noGrp="1"/>
          </p:cNvSpPr>
          <p:nvPr/>
        </p:nvSpPr>
        <p:spPr>
          <a:xfrm>
            <a:off x="6537960" y="3310128"/>
            <a:ext cx="676656" cy="274320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680" dirty="0">
                <a:solidFill>
                  <a:srgbClr val="6B2D5E"/>
                </a:solidFill>
                <a:latin typeface="Calibri"/>
              </a:rPr>
              <a:t>N/D</a:t>
            </a:r>
          </a:p>
        </p:txBody>
      </p:sp>
      <p:sp>
        <p:nvSpPr>
          <p:cNvPr id="133" name="c"/>
          <p:cNvSpPr txBox="1">
            <a:spLocks noGrp="1"/>
          </p:cNvSpPr>
          <p:nvPr/>
        </p:nvSpPr>
        <p:spPr>
          <a:xfrm>
            <a:off x="7214616" y="3310128"/>
            <a:ext cx="585216" cy="274320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680" dirty="0" b="1">
                <a:solidFill>
                  <a:srgbClr val="6B7280"/>
                </a:solidFill>
                <a:latin typeface="Calibri"/>
              </a:rPr>
              <a:t>N/D</a:t>
            </a:r>
          </a:p>
        </p:txBody>
      </p:sp>
      <p:sp>
        <p:nvSpPr>
          <p:cNvPr id="135" name="rb"/>
          <p:cNvSpPr>
            <a:spLocks noGrp="1"/>
          </p:cNvSpPr>
          <p:nvPr/>
        </p:nvSpPr>
        <p:spPr>
          <a:xfrm>
            <a:off x="320040" y="3584448"/>
            <a:ext cx="7955279" cy="274320"/>
          </a:xfrm>
          <a:prstGeom prst="rect">
            <a:avLst/>
          </a:prstGeom>
          <a:solidFill>
            <a:srgbClr val="F7F9FC"/>
          </a:solidFill>
          <a:ln w="6350">
            <a:solidFill>
              <a:srgbClr val="D1D5DB"/>
            </a:solidFill>
          </a:ln>
        </p:spPr>
      </p:sp>
      <p:sp>
        <p:nvSpPr>
          <p:cNvPr id="136" name="c"/>
          <p:cNvSpPr txBox="1">
            <a:spLocks noGrp="1"/>
          </p:cNvSpPr>
          <p:nvPr/>
        </p:nvSpPr>
        <p:spPr>
          <a:xfrm>
            <a:off x="320040" y="3584448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l"/>
            <a:r>
              <a:rPr lang="es-ES" sz="700" dirty="0" b="1">
                <a:solidFill>
                  <a:srgbClr val="0D1B5E"/>
                </a:solidFill>
                <a:latin typeface="Calibri"/>
              </a:rPr>
              <a:t>BCO COES Datos</a:t>
            </a:r>
          </a:p>
        </p:txBody>
      </p:sp>
      <p:sp>
        <p:nvSpPr>
          <p:cNvPr id="137" name="c"/>
          <p:cNvSpPr txBox="1">
            <a:spLocks noGrp="1"/>
          </p:cNvSpPr>
          <p:nvPr/>
        </p:nvSpPr>
        <p:spPr>
          <a:xfrm>
            <a:off x="1508760" y="3584448"/>
            <a:ext cx="566928" cy="274320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680" dirty="0">
                <a:solidFill>
                  <a:srgbClr val="6B7280"/>
                </a:solidFill>
                <a:latin typeface="Calibri"/>
              </a:rPr>
              <a:t>BCO</a:t>
            </a:r>
          </a:p>
        </p:txBody>
      </p:sp>
      <p:sp>
        <p:nvSpPr>
          <p:cNvPr id="138" name="c"/>
          <p:cNvSpPr txBox="1">
            <a:spLocks noGrp="1"/>
          </p:cNvSpPr>
          <p:nvPr/>
        </p:nvSpPr>
        <p:spPr>
          <a:xfrm>
            <a:off x="2075688" y="3584448"/>
            <a:ext cx="347472" cy="274320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680" dirty="0" b="1">
                <a:solidFill>
                  <a:srgbClr val="C00000"/>
                </a:solidFill>
                <a:latin typeface="Calibri"/>
              </a:rPr>
              <a:t>N1</a:t>
            </a:r>
          </a:p>
        </p:txBody>
      </p:sp>
      <p:sp>
        <p:nvSpPr>
          <p:cNvPr id="139" name="c"/>
          <p:cNvSpPr txBox="1">
            <a:spLocks noGrp="1"/>
          </p:cNvSpPr>
          <p:nvPr/>
        </p:nvSpPr>
        <p:spPr>
          <a:xfrm>
            <a:off x="2423160" y="3584448"/>
            <a:ext cx="310896" cy="274320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680" dirty="0">
                <a:solidFill>
                  <a:srgbClr val="0D1B5E"/>
                </a:solidFill>
                <a:latin typeface="Calibri"/>
              </a:rPr>
              <a:t>7</a:t>
            </a:r>
          </a:p>
        </p:txBody>
      </p:sp>
      <p:sp>
        <p:nvSpPr>
          <p:cNvPr id="140" name="c"/>
          <p:cNvSpPr txBox="1">
            <a:spLocks noGrp="1"/>
          </p:cNvSpPr>
          <p:nvPr/>
        </p:nvSpPr>
        <p:spPr>
          <a:xfrm>
            <a:off x="2734056" y="3584448"/>
            <a:ext cx="493776" cy="274320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680" dirty="0">
                <a:solidFill>
                  <a:srgbClr val="0D1B5E"/>
                </a:solidFill>
                <a:latin typeface="Calibri"/>
              </a:rPr>
              <a:t>N/D</a:t>
            </a:r>
          </a:p>
        </p:txBody>
      </p:sp>
      <p:sp>
        <p:nvSpPr>
          <p:cNvPr id="141" name="c"/>
          <p:cNvSpPr txBox="1">
            <a:spLocks noGrp="1"/>
          </p:cNvSpPr>
          <p:nvPr/>
        </p:nvSpPr>
        <p:spPr>
          <a:xfrm>
            <a:off x="3227832" y="3584448"/>
            <a:ext cx="384048" cy="274320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680" dirty="0">
                <a:solidFill>
                  <a:srgbClr val="1B7B85"/>
                </a:solidFill>
                <a:latin typeface="Calibri"/>
              </a:rPr>
              <a:t>N/D</a:t>
            </a:r>
          </a:p>
        </p:txBody>
      </p:sp>
      <p:sp>
        <p:nvSpPr>
          <p:cNvPr id="142" name="c"/>
          <p:cNvSpPr txBox="1">
            <a:spLocks noGrp="1"/>
          </p:cNvSpPr>
          <p:nvPr/>
        </p:nvSpPr>
        <p:spPr>
          <a:xfrm>
            <a:off x="3611880" y="3584448"/>
            <a:ext cx="493776" cy="274320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680" dirty="0">
                <a:solidFill>
                  <a:srgbClr val="1B7B85"/>
                </a:solidFill>
                <a:latin typeface="Calibri"/>
              </a:rPr>
              <a:t>1,120h</a:t>
            </a:r>
          </a:p>
        </p:txBody>
      </p:sp>
      <p:sp>
        <p:nvSpPr>
          <p:cNvPr id="143" name="c"/>
          <p:cNvSpPr txBox="1">
            <a:spLocks noGrp="1"/>
          </p:cNvSpPr>
          <p:nvPr/>
        </p:nvSpPr>
        <p:spPr>
          <a:xfrm>
            <a:off x="4105656" y="358444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680" dirty="0">
                <a:solidFill>
                  <a:srgbClr val="6B7280"/>
                </a:solidFill>
                <a:latin typeface="Calibri"/>
              </a:rPr>
              <a:t>N/D</a:t>
            </a:r>
          </a:p>
        </p:txBody>
      </p:sp>
      <p:sp>
        <p:nvSpPr>
          <p:cNvPr id="144" name="c"/>
          <p:cNvSpPr txBox="1">
            <a:spLocks noGrp="1"/>
          </p:cNvSpPr>
          <p:nvPr/>
        </p:nvSpPr>
        <p:spPr>
          <a:xfrm>
            <a:off x="4562856" y="3584448"/>
            <a:ext cx="402336" cy="274320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680" dirty="0">
                <a:solidFill>
                  <a:srgbClr val="6B7280"/>
                </a:solidFill>
                <a:latin typeface="Calibri"/>
              </a:rPr>
              <a:t>N/D</a:t>
            </a:r>
          </a:p>
        </p:txBody>
      </p:sp>
      <p:sp>
        <p:nvSpPr>
          <p:cNvPr id="145" name="c"/>
          <p:cNvSpPr txBox="1">
            <a:spLocks noGrp="1"/>
          </p:cNvSpPr>
          <p:nvPr/>
        </p:nvSpPr>
        <p:spPr>
          <a:xfrm>
            <a:off x="4965192" y="3584448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680" dirty="0">
                <a:solidFill>
                  <a:srgbClr val="0D1B5E"/>
                </a:solidFill>
                <a:latin typeface="Calibri"/>
              </a:rPr>
              <a:t>$98.6M</a:t>
            </a:r>
          </a:p>
        </p:txBody>
      </p:sp>
      <p:sp>
        <p:nvSpPr>
          <p:cNvPr id="146" name="c"/>
          <p:cNvSpPr txBox="1">
            <a:spLocks noGrp="1"/>
          </p:cNvSpPr>
          <p:nvPr/>
        </p:nvSpPr>
        <p:spPr>
          <a:xfrm>
            <a:off x="5788152" y="3584448"/>
            <a:ext cx="749808" cy="274320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680" dirty="0">
                <a:solidFill>
                  <a:srgbClr val="6B2D5E"/>
                </a:solidFill>
                <a:latin typeface="Calibri"/>
              </a:rPr>
              <a:t>N/D</a:t>
            </a:r>
          </a:p>
        </p:txBody>
      </p:sp>
      <p:sp>
        <p:nvSpPr>
          <p:cNvPr id="147" name="c"/>
          <p:cNvSpPr txBox="1">
            <a:spLocks noGrp="1"/>
          </p:cNvSpPr>
          <p:nvPr/>
        </p:nvSpPr>
        <p:spPr>
          <a:xfrm>
            <a:off x="6537960" y="3584448"/>
            <a:ext cx="676656" cy="274320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680" dirty="0">
                <a:solidFill>
                  <a:srgbClr val="6B2D5E"/>
                </a:solidFill>
                <a:latin typeface="Calibri"/>
              </a:rPr>
              <a:t>N/D</a:t>
            </a:r>
          </a:p>
        </p:txBody>
      </p:sp>
      <p:sp>
        <p:nvSpPr>
          <p:cNvPr id="148" name="c"/>
          <p:cNvSpPr txBox="1">
            <a:spLocks noGrp="1"/>
          </p:cNvSpPr>
          <p:nvPr/>
        </p:nvSpPr>
        <p:spPr>
          <a:xfrm>
            <a:off x="7214616" y="3584448"/>
            <a:ext cx="585216" cy="274320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680" dirty="0" b="1">
                <a:solidFill>
                  <a:srgbClr val="6B7280"/>
                </a:solidFill>
                <a:latin typeface="Calibri"/>
              </a:rPr>
              <a:t>N/D</a:t>
            </a:r>
          </a:p>
        </p:txBody>
      </p:sp>
      <p:sp>
        <p:nvSpPr>
          <p:cNvPr id="150" name="rb"/>
          <p:cNvSpPr>
            <a:spLocks noGrp="1"/>
          </p:cNvSpPr>
          <p:nvPr/>
        </p:nvSpPr>
        <p:spPr>
          <a:xfrm>
            <a:off x="320040" y="3858768"/>
            <a:ext cx="7955279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</p:sp>
      <p:sp>
        <p:nvSpPr>
          <p:cNvPr id="151" name="c"/>
          <p:cNvSpPr txBox="1">
            <a:spLocks noGrp="1"/>
          </p:cNvSpPr>
          <p:nvPr/>
        </p:nvSpPr>
        <p:spPr>
          <a:xfrm>
            <a:off x="320040" y="3858768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l"/>
            <a:r>
              <a:rPr lang="es-ES" sz="700" dirty="0" b="1">
                <a:solidFill>
                  <a:srgbClr val="0D1B5E"/>
                </a:solidFill>
                <a:latin typeface="Calibri"/>
              </a:rPr>
              <a:t>BCO Soporte</a:t>
            </a:r>
          </a:p>
        </p:txBody>
      </p:sp>
      <p:sp>
        <p:nvSpPr>
          <p:cNvPr id="152" name="c"/>
          <p:cNvSpPr txBox="1">
            <a:spLocks noGrp="1"/>
          </p:cNvSpPr>
          <p:nvPr/>
        </p:nvSpPr>
        <p:spPr>
          <a:xfrm>
            <a:off x="1508760" y="3858768"/>
            <a:ext cx="566928" cy="274320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680" dirty="0">
                <a:solidFill>
                  <a:srgbClr val="6B7280"/>
                </a:solidFill>
                <a:latin typeface="Calibri"/>
              </a:rPr>
              <a:t>BCO</a:t>
            </a:r>
          </a:p>
        </p:txBody>
      </p:sp>
      <p:sp>
        <p:nvSpPr>
          <p:cNvPr id="153" name="c"/>
          <p:cNvSpPr txBox="1">
            <a:spLocks noGrp="1"/>
          </p:cNvSpPr>
          <p:nvPr/>
        </p:nvSpPr>
        <p:spPr>
          <a:xfrm>
            <a:off x="2075688" y="3858768"/>
            <a:ext cx="347472" cy="274320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680" dirty="0" b="1">
                <a:solidFill>
                  <a:srgbClr val="C00000"/>
                </a:solidFill>
                <a:latin typeface="Calibri"/>
              </a:rPr>
              <a:t>N1</a:t>
            </a:r>
          </a:p>
        </p:txBody>
      </p:sp>
      <p:sp>
        <p:nvSpPr>
          <p:cNvPr id="154" name="c"/>
          <p:cNvSpPr txBox="1">
            <a:spLocks noGrp="1"/>
          </p:cNvSpPr>
          <p:nvPr/>
        </p:nvSpPr>
        <p:spPr>
          <a:xfrm>
            <a:off x="2423160" y="3858768"/>
            <a:ext cx="310896" cy="274320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680" dirty="0">
                <a:solidFill>
                  <a:srgbClr val="0D1B5E"/>
                </a:solidFill>
                <a:latin typeface="Calibri"/>
              </a:rPr>
              <a:t>13</a:t>
            </a:r>
          </a:p>
        </p:txBody>
      </p:sp>
      <p:sp>
        <p:nvSpPr>
          <p:cNvPr id="155" name="c"/>
          <p:cNvSpPr txBox="1">
            <a:spLocks noGrp="1"/>
          </p:cNvSpPr>
          <p:nvPr/>
        </p:nvSpPr>
        <p:spPr>
          <a:xfrm>
            <a:off x="2734056" y="3858768"/>
            <a:ext cx="493776" cy="274320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680" dirty="0">
                <a:solidFill>
                  <a:srgbClr val="0D1B5E"/>
                </a:solidFill>
                <a:latin typeface="Calibri"/>
              </a:rPr>
              <a:t>N/D</a:t>
            </a:r>
          </a:p>
        </p:txBody>
      </p:sp>
      <p:sp>
        <p:nvSpPr>
          <p:cNvPr id="156" name="c"/>
          <p:cNvSpPr txBox="1">
            <a:spLocks noGrp="1"/>
          </p:cNvSpPr>
          <p:nvPr/>
        </p:nvSpPr>
        <p:spPr>
          <a:xfrm>
            <a:off x="3227832" y="3858768"/>
            <a:ext cx="384048" cy="274320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680" dirty="0">
                <a:solidFill>
                  <a:srgbClr val="1B7B85"/>
                </a:solidFill>
                <a:latin typeface="Calibri"/>
              </a:rPr>
              <a:t>N/D</a:t>
            </a:r>
          </a:p>
        </p:txBody>
      </p:sp>
      <p:sp>
        <p:nvSpPr>
          <p:cNvPr id="157" name="c"/>
          <p:cNvSpPr txBox="1">
            <a:spLocks noGrp="1"/>
          </p:cNvSpPr>
          <p:nvPr/>
        </p:nvSpPr>
        <p:spPr>
          <a:xfrm>
            <a:off x="3611880" y="3858768"/>
            <a:ext cx="493776" cy="274320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680" dirty="0">
                <a:solidFill>
                  <a:srgbClr val="1B7B85"/>
                </a:solidFill>
                <a:latin typeface="Calibri"/>
              </a:rPr>
              <a:t>2,080h</a:t>
            </a:r>
          </a:p>
        </p:txBody>
      </p:sp>
      <p:sp>
        <p:nvSpPr>
          <p:cNvPr id="158" name="c"/>
          <p:cNvSpPr txBox="1">
            <a:spLocks noGrp="1"/>
          </p:cNvSpPr>
          <p:nvPr/>
        </p:nvSpPr>
        <p:spPr>
          <a:xfrm>
            <a:off x="4105656" y="385876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680" dirty="0">
                <a:solidFill>
                  <a:srgbClr val="6B7280"/>
                </a:solidFill>
                <a:latin typeface="Calibri"/>
              </a:rPr>
              <a:t>N/D</a:t>
            </a:r>
          </a:p>
        </p:txBody>
      </p:sp>
      <p:sp>
        <p:nvSpPr>
          <p:cNvPr id="159" name="c"/>
          <p:cNvSpPr txBox="1">
            <a:spLocks noGrp="1"/>
          </p:cNvSpPr>
          <p:nvPr/>
        </p:nvSpPr>
        <p:spPr>
          <a:xfrm>
            <a:off x="4562856" y="3858768"/>
            <a:ext cx="402336" cy="274320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680" dirty="0">
                <a:solidFill>
                  <a:srgbClr val="6B7280"/>
                </a:solidFill>
                <a:latin typeface="Calibri"/>
              </a:rPr>
              <a:t>N/D</a:t>
            </a:r>
          </a:p>
        </p:txBody>
      </p:sp>
      <p:sp>
        <p:nvSpPr>
          <p:cNvPr id="160" name="c"/>
          <p:cNvSpPr txBox="1">
            <a:spLocks noGrp="1"/>
          </p:cNvSpPr>
          <p:nvPr/>
        </p:nvSpPr>
        <p:spPr>
          <a:xfrm>
            <a:off x="4965192" y="3858768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680" dirty="0">
                <a:solidFill>
                  <a:srgbClr val="0D1B5E"/>
                </a:solidFill>
                <a:latin typeface="Calibri"/>
              </a:rPr>
              <a:t>$183.0M</a:t>
            </a:r>
          </a:p>
        </p:txBody>
      </p:sp>
      <p:sp>
        <p:nvSpPr>
          <p:cNvPr id="161" name="c"/>
          <p:cNvSpPr txBox="1">
            <a:spLocks noGrp="1"/>
          </p:cNvSpPr>
          <p:nvPr/>
        </p:nvSpPr>
        <p:spPr>
          <a:xfrm>
            <a:off x="5788152" y="3858768"/>
            <a:ext cx="749808" cy="274320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680" dirty="0">
                <a:solidFill>
                  <a:srgbClr val="6B2D5E"/>
                </a:solidFill>
                <a:latin typeface="Calibri"/>
              </a:rPr>
              <a:t>N/D</a:t>
            </a:r>
          </a:p>
        </p:txBody>
      </p:sp>
      <p:sp>
        <p:nvSpPr>
          <p:cNvPr id="162" name="c"/>
          <p:cNvSpPr txBox="1">
            <a:spLocks noGrp="1"/>
          </p:cNvSpPr>
          <p:nvPr/>
        </p:nvSpPr>
        <p:spPr>
          <a:xfrm>
            <a:off x="6537960" y="3858768"/>
            <a:ext cx="676656" cy="274320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680" dirty="0">
                <a:solidFill>
                  <a:srgbClr val="6B2D5E"/>
                </a:solidFill>
                <a:latin typeface="Calibri"/>
              </a:rPr>
              <a:t>N/D</a:t>
            </a:r>
          </a:p>
        </p:txBody>
      </p:sp>
      <p:sp>
        <p:nvSpPr>
          <p:cNvPr id="163" name="c"/>
          <p:cNvSpPr txBox="1">
            <a:spLocks noGrp="1"/>
          </p:cNvSpPr>
          <p:nvPr/>
        </p:nvSpPr>
        <p:spPr>
          <a:xfrm>
            <a:off x="7214616" y="3858768"/>
            <a:ext cx="585216" cy="274320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680" dirty="0" b="1">
                <a:solidFill>
                  <a:srgbClr val="6B7280"/>
                </a:solidFill>
                <a:latin typeface="Calibri"/>
              </a:rPr>
              <a:t>N/D</a:t>
            </a:r>
          </a:p>
        </p:txBody>
      </p:sp>
      <p:sp>
        <p:nvSpPr>
          <p:cNvPr id="165" name="rb"/>
          <p:cNvSpPr>
            <a:spLocks noGrp="1"/>
          </p:cNvSpPr>
          <p:nvPr/>
        </p:nvSpPr>
        <p:spPr>
          <a:xfrm>
            <a:off x="320040" y="4133088"/>
            <a:ext cx="7955279" cy="274320"/>
          </a:xfrm>
          <a:prstGeom prst="rect">
            <a:avLst/>
          </a:prstGeom>
          <a:solidFill>
            <a:srgbClr val="F7F9FC"/>
          </a:solidFill>
          <a:ln w="6350">
            <a:solidFill>
              <a:srgbClr val="D1D5DB"/>
            </a:solidFill>
          </a:ln>
        </p:spPr>
      </p:sp>
      <p:sp>
        <p:nvSpPr>
          <p:cNvPr id="166" name="c"/>
          <p:cNvSpPr txBox="1">
            <a:spLocks noGrp="1"/>
          </p:cNvSpPr>
          <p:nvPr/>
        </p:nvSpPr>
        <p:spPr>
          <a:xfrm>
            <a:off x="320040" y="4133088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l"/>
            <a:r>
              <a:rPr lang="es-ES" sz="700" dirty="0" b="1">
                <a:solidFill>
                  <a:srgbClr val="0D1B5E"/>
                </a:solidFill>
                <a:latin typeface="Calibri"/>
              </a:rPr>
              <a:t>BCO COES Emma</a:t>
            </a:r>
          </a:p>
        </p:txBody>
      </p:sp>
      <p:sp>
        <p:nvSpPr>
          <p:cNvPr id="167" name="c"/>
          <p:cNvSpPr txBox="1">
            <a:spLocks noGrp="1"/>
          </p:cNvSpPr>
          <p:nvPr/>
        </p:nvSpPr>
        <p:spPr>
          <a:xfrm>
            <a:off x="1508760" y="4133088"/>
            <a:ext cx="566928" cy="274320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680" dirty="0">
                <a:solidFill>
                  <a:srgbClr val="6B7280"/>
                </a:solidFill>
                <a:latin typeface="Calibri"/>
              </a:rPr>
              <a:t>BCO</a:t>
            </a:r>
          </a:p>
        </p:txBody>
      </p:sp>
      <p:sp>
        <p:nvSpPr>
          <p:cNvPr id="168" name="c"/>
          <p:cNvSpPr txBox="1">
            <a:spLocks noGrp="1"/>
          </p:cNvSpPr>
          <p:nvPr/>
        </p:nvSpPr>
        <p:spPr>
          <a:xfrm>
            <a:off x="2075688" y="4133088"/>
            <a:ext cx="347472" cy="274320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680" dirty="0" b="1">
                <a:solidFill>
                  <a:srgbClr val="C00000"/>
                </a:solidFill>
                <a:latin typeface="Calibri"/>
              </a:rPr>
              <a:t>N1</a:t>
            </a:r>
          </a:p>
        </p:txBody>
      </p:sp>
      <p:sp>
        <p:nvSpPr>
          <p:cNvPr id="169" name="c"/>
          <p:cNvSpPr txBox="1">
            <a:spLocks noGrp="1"/>
          </p:cNvSpPr>
          <p:nvPr/>
        </p:nvSpPr>
        <p:spPr>
          <a:xfrm>
            <a:off x="2423160" y="4133088"/>
            <a:ext cx="310896" cy="274320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680" dirty="0">
                <a:solidFill>
                  <a:srgbClr val="0D1B5E"/>
                </a:solidFill>
                <a:latin typeface="Calibri"/>
              </a:rPr>
              <a:t>4</a:t>
            </a:r>
          </a:p>
        </p:txBody>
      </p:sp>
      <p:sp>
        <p:nvSpPr>
          <p:cNvPr id="170" name="c"/>
          <p:cNvSpPr txBox="1">
            <a:spLocks noGrp="1"/>
          </p:cNvSpPr>
          <p:nvPr/>
        </p:nvSpPr>
        <p:spPr>
          <a:xfrm>
            <a:off x="2734056" y="4133088"/>
            <a:ext cx="493776" cy="274320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680" dirty="0">
                <a:solidFill>
                  <a:srgbClr val="0D1B5E"/>
                </a:solidFill>
                <a:latin typeface="Calibri"/>
              </a:rPr>
              <a:t>N/D</a:t>
            </a:r>
          </a:p>
        </p:txBody>
      </p:sp>
      <p:sp>
        <p:nvSpPr>
          <p:cNvPr id="171" name="c"/>
          <p:cNvSpPr txBox="1">
            <a:spLocks noGrp="1"/>
          </p:cNvSpPr>
          <p:nvPr/>
        </p:nvSpPr>
        <p:spPr>
          <a:xfrm>
            <a:off x="3227832" y="4133088"/>
            <a:ext cx="384048" cy="274320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680" dirty="0">
                <a:solidFill>
                  <a:srgbClr val="1B7B85"/>
                </a:solidFill>
                <a:latin typeface="Calibri"/>
              </a:rPr>
              <a:t>N/D</a:t>
            </a:r>
          </a:p>
        </p:txBody>
      </p:sp>
      <p:sp>
        <p:nvSpPr>
          <p:cNvPr id="172" name="c"/>
          <p:cNvSpPr txBox="1">
            <a:spLocks noGrp="1"/>
          </p:cNvSpPr>
          <p:nvPr/>
        </p:nvSpPr>
        <p:spPr>
          <a:xfrm>
            <a:off x="3611880" y="4133088"/>
            <a:ext cx="493776" cy="274320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680" dirty="0">
                <a:solidFill>
                  <a:srgbClr val="1B7B85"/>
                </a:solidFill>
                <a:latin typeface="Calibri"/>
              </a:rPr>
              <a:t>640h</a:t>
            </a:r>
          </a:p>
        </p:txBody>
      </p:sp>
      <p:sp>
        <p:nvSpPr>
          <p:cNvPr id="173" name="c"/>
          <p:cNvSpPr txBox="1">
            <a:spLocks noGrp="1"/>
          </p:cNvSpPr>
          <p:nvPr/>
        </p:nvSpPr>
        <p:spPr>
          <a:xfrm>
            <a:off x="4105656" y="413308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680" dirty="0">
                <a:solidFill>
                  <a:srgbClr val="6B7280"/>
                </a:solidFill>
                <a:latin typeface="Calibri"/>
              </a:rPr>
              <a:t>N/D</a:t>
            </a:r>
          </a:p>
        </p:txBody>
      </p:sp>
      <p:sp>
        <p:nvSpPr>
          <p:cNvPr id="174" name="c"/>
          <p:cNvSpPr txBox="1">
            <a:spLocks noGrp="1"/>
          </p:cNvSpPr>
          <p:nvPr/>
        </p:nvSpPr>
        <p:spPr>
          <a:xfrm>
            <a:off x="4562856" y="4133088"/>
            <a:ext cx="402336" cy="274320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680" dirty="0">
                <a:solidFill>
                  <a:srgbClr val="6B7280"/>
                </a:solidFill>
                <a:latin typeface="Calibri"/>
              </a:rPr>
              <a:t>N/D</a:t>
            </a:r>
          </a:p>
        </p:txBody>
      </p:sp>
      <p:sp>
        <p:nvSpPr>
          <p:cNvPr id="175" name="c"/>
          <p:cNvSpPr txBox="1">
            <a:spLocks noGrp="1"/>
          </p:cNvSpPr>
          <p:nvPr/>
        </p:nvSpPr>
        <p:spPr>
          <a:xfrm>
            <a:off x="4965192" y="4133088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680" dirty="0">
                <a:solidFill>
                  <a:srgbClr val="0D1B5E"/>
                </a:solidFill>
                <a:latin typeface="Calibri"/>
              </a:rPr>
              <a:t>$56.3M</a:t>
            </a:r>
          </a:p>
        </p:txBody>
      </p:sp>
      <p:sp>
        <p:nvSpPr>
          <p:cNvPr id="176" name="c"/>
          <p:cNvSpPr txBox="1">
            <a:spLocks noGrp="1"/>
          </p:cNvSpPr>
          <p:nvPr/>
        </p:nvSpPr>
        <p:spPr>
          <a:xfrm>
            <a:off x="5788152" y="4133088"/>
            <a:ext cx="749808" cy="274320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680" dirty="0">
                <a:solidFill>
                  <a:srgbClr val="6B2D5E"/>
                </a:solidFill>
                <a:latin typeface="Calibri"/>
              </a:rPr>
              <a:t>N/D</a:t>
            </a:r>
          </a:p>
        </p:txBody>
      </p:sp>
      <p:sp>
        <p:nvSpPr>
          <p:cNvPr id="177" name="c"/>
          <p:cNvSpPr txBox="1">
            <a:spLocks noGrp="1"/>
          </p:cNvSpPr>
          <p:nvPr/>
        </p:nvSpPr>
        <p:spPr>
          <a:xfrm>
            <a:off x="6537960" y="4133088"/>
            <a:ext cx="676656" cy="274320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680" dirty="0">
                <a:solidFill>
                  <a:srgbClr val="6B2D5E"/>
                </a:solidFill>
                <a:latin typeface="Calibri"/>
              </a:rPr>
              <a:t>N/D</a:t>
            </a:r>
          </a:p>
        </p:txBody>
      </p:sp>
      <p:sp>
        <p:nvSpPr>
          <p:cNvPr id="178" name="c"/>
          <p:cNvSpPr txBox="1">
            <a:spLocks noGrp="1"/>
          </p:cNvSpPr>
          <p:nvPr/>
        </p:nvSpPr>
        <p:spPr>
          <a:xfrm>
            <a:off x="7214616" y="4133088"/>
            <a:ext cx="585216" cy="274320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680" dirty="0" b="1">
                <a:solidFill>
                  <a:srgbClr val="6B7280"/>
                </a:solidFill>
                <a:latin typeface="Calibri"/>
              </a:rPr>
              <a:t>N/D</a:t>
            </a:r>
          </a:p>
        </p:txBody>
      </p:sp>
      <p:sp>
        <p:nvSpPr>
          <p:cNvPr id="180" name="rb"/>
          <p:cNvSpPr>
            <a:spLocks noGrp="1"/>
          </p:cNvSpPr>
          <p:nvPr/>
        </p:nvSpPr>
        <p:spPr>
          <a:xfrm>
            <a:off x="320040" y="4407408"/>
            <a:ext cx="7955279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</p:sp>
      <p:sp>
        <p:nvSpPr>
          <p:cNvPr id="181" name="c"/>
          <p:cNvSpPr txBox="1">
            <a:spLocks noGrp="1"/>
          </p:cNvSpPr>
          <p:nvPr/>
        </p:nvSpPr>
        <p:spPr>
          <a:xfrm>
            <a:off x="320040" y="4407408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l"/>
            <a:r>
              <a:rPr lang="es-ES" sz="700" dirty="0" b="1">
                <a:solidFill>
                  <a:srgbClr val="0D1B5E"/>
                </a:solidFill>
                <a:latin typeface="Calibri"/>
              </a:rPr>
              <a:t>BCO Emma Iseries</a:t>
            </a:r>
          </a:p>
        </p:txBody>
      </p:sp>
      <p:sp>
        <p:nvSpPr>
          <p:cNvPr id="182" name="c"/>
          <p:cNvSpPr txBox="1">
            <a:spLocks noGrp="1"/>
          </p:cNvSpPr>
          <p:nvPr/>
        </p:nvSpPr>
        <p:spPr>
          <a:xfrm>
            <a:off x="1508760" y="4407408"/>
            <a:ext cx="566928" cy="274320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680" dirty="0">
                <a:solidFill>
                  <a:srgbClr val="6B7280"/>
                </a:solidFill>
                <a:latin typeface="Calibri"/>
              </a:rPr>
              <a:t>BCO</a:t>
            </a:r>
          </a:p>
        </p:txBody>
      </p:sp>
      <p:sp>
        <p:nvSpPr>
          <p:cNvPr id="183" name="c"/>
          <p:cNvSpPr txBox="1">
            <a:spLocks noGrp="1"/>
          </p:cNvSpPr>
          <p:nvPr/>
        </p:nvSpPr>
        <p:spPr>
          <a:xfrm>
            <a:off x="2075688" y="4407408"/>
            <a:ext cx="347472" cy="274320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680" dirty="0" b="1">
                <a:solidFill>
                  <a:srgbClr val="C00000"/>
                </a:solidFill>
                <a:latin typeface="Calibri"/>
              </a:rPr>
              <a:t>N1</a:t>
            </a:r>
          </a:p>
        </p:txBody>
      </p:sp>
      <p:sp>
        <p:nvSpPr>
          <p:cNvPr id="184" name="c"/>
          <p:cNvSpPr txBox="1">
            <a:spLocks noGrp="1"/>
          </p:cNvSpPr>
          <p:nvPr/>
        </p:nvSpPr>
        <p:spPr>
          <a:xfrm>
            <a:off x="2423160" y="4407408"/>
            <a:ext cx="310896" cy="274320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680" dirty="0">
                <a:solidFill>
                  <a:srgbClr val="0D1B5E"/>
                </a:solidFill>
                <a:latin typeface="Calibri"/>
              </a:rPr>
              <a:t>1</a:t>
            </a:r>
          </a:p>
        </p:txBody>
      </p:sp>
      <p:sp>
        <p:nvSpPr>
          <p:cNvPr id="185" name="c"/>
          <p:cNvSpPr txBox="1">
            <a:spLocks noGrp="1"/>
          </p:cNvSpPr>
          <p:nvPr/>
        </p:nvSpPr>
        <p:spPr>
          <a:xfrm>
            <a:off x="2734056" y="4407408"/>
            <a:ext cx="493776" cy="274320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680" dirty="0">
                <a:solidFill>
                  <a:srgbClr val="0D1B5E"/>
                </a:solidFill>
                <a:latin typeface="Calibri"/>
              </a:rPr>
              <a:t>N/D</a:t>
            </a:r>
          </a:p>
        </p:txBody>
      </p:sp>
      <p:sp>
        <p:nvSpPr>
          <p:cNvPr id="186" name="c"/>
          <p:cNvSpPr txBox="1">
            <a:spLocks noGrp="1"/>
          </p:cNvSpPr>
          <p:nvPr/>
        </p:nvSpPr>
        <p:spPr>
          <a:xfrm>
            <a:off x="3227832" y="4407408"/>
            <a:ext cx="384048" cy="274320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680" dirty="0">
                <a:solidFill>
                  <a:srgbClr val="1B7B85"/>
                </a:solidFill>
                <a:latin typeface="Calibri"/>
              </a:rPr>
              <a:t>N/D</a:t>
            </a:r>
          </a:p>
        </p:txBody>
      </p:sp>
      <p:sp>
        <p:nvSpPr>
          <p:cNvPr id="187" name="c"/>
          <p:cNvSpPr txBox="1">
            <a:spLocks noGrp="1"/>
          </p:cNvSpPr>
          <p:nvPr/>
        </p:nvSpPr>
        <p:spPr>
          <a:xfrm>
            <a:off x="3611880" y="4407408"/>
            <a:ext cx="493776" cy="274320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680" dirty="0">
                <a:solidFill>
                  <a:srgbClr val="1B7B85"/>
                </a:solidFill>
                <a:latin typeface="Calibri"/>
              </a:rPr>
              <a:t>160h</a:t>
            </a:r>
          </a:p>
        </p:txBody>
      </p:sp>
      <p:sp>
        <p:nvSpPr>
          <p:cNvPr id="188" name="c"/>
          <p:cNvSpPr txBox="1">
            <a:spLocks noGrp="1"/>
          </p:cNvSpPr>
          <p:nvPr/>
        </p:nvSpPr>
        <p:spPr>
          <a:xfrm>
            <a:off x="4105656" y="440740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680" dirty="0">
                <a:solidFill>
                  <a:srgbClr val="6B7280"/>
                </a:solidFill>
                <a:latin typeface="Calibri"/>
              </a:rPr>
              <a:t>N/D</a:t>
            </a:r>
          </a:p>
        </p:txBody>
      </p:sp>
      <p:sp>
        <p:nvSpPr>
          <p:cNvPr id="189" name="c"/>
          <p:cNvSpPr txBox="1">
            <a:spLocks noGrp="1"/>
          </p:cNvSpPr>
          <p:nvPr/>
        </p:nvSpPr>
        <p:spPr>
          <a:xfrm>
            <a:off x="4562856" y="4407408"/>
            <a:ext cx="402336" cy="274320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680" dirty="0">
                <a:solidFill>
                  <a:srgbClr val="6B7280"/>
                </a:solidFill>
                <a:latin typeface="Calibri"/>
              </a:rPr>
              <a:t>N/D</a:t>
            </a:r>
          </a:p>
        </p:txBody>
      </p:sp>
      <p:sp>
        <p:nvSpPr>
          <p:cNvPr id="190" name="c"/>
          <p:cNvSpPr txBox="1">
            <a:spLocks noGrp="1"/>
          </p:cNvSpPr>
          <p:nvPr/>
        </p:nvSpPr>
        <p:spPr>
          <a:xfrm>
            <a:off x="4965192" y="4407408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680" dirty="0">
                <a:solidFill>
                  <a:srgbClr val="0D1B5E"/>
                </a:solidFill>
                <a:latin typeface="Calibri"/>
              </a:rPr>
              <a:t>$14.1M</a:t>
            </a:r>
          </a:p>
        </p:txBody>
      </p:sp>
      <p:sp>
        <p:nvSpPr>
          <p:cNvPr id="191" name="c"/>
          <p:cNvSpPr txBox="1">
            <a:spLocks noGrp="1"/>
          </p:cNvSpPr>
          <p:nvPr/>
        </p:nvSpPr>
        <p:spPr>
          <a:xfrm>
            <a:off x="5788152" y="4407408"/>
            <a:ext cx="749808" cy="274320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680" dirty="0">
                <a:solidFill>
                  <a:srgbClr val="6B2D5E"/>
                </a:solidFill>
                <a:latin typeface="Calibri"/>
              </a:rPr>
              <a:t>N/D</a:t>
            </a:r>
          </a:p>
        </p:txBody>
      </p:sp>
      <p:sp>
        <p:nvSpPr>
          <p:cNvPr id="192" name="c"/>
          <p:cNvSpPr txBox="1">
            <a:spLocks noGrp="1"/>
          </p:cNvSpPr>
          <p:nvPr/>
        </p:nvSpPr>
        <p:spPr>
          <a:xfrm>
            <a:off x="6537960" y="4407408"/>
            <a:ext cx="676656" cy="274320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680" dirty="0">
                <a:solidFill>
                  <a:srgbClr val="6B2D5E"/>
                </a:solidFill>
                <a:latin typeface="Calibri"/>
              </a:rPr>
              <a:t>N/D</a:t>
            </a:r>
          </a:p>
        </p:txBody>
      </p:sp>
      <p:sp>
        <p:nvSpPr>
          <p:cNvPr id="193" name="c"/>
          <p:cNvSpPr txBox="1">
            <a:spLocks noGrp="1"/>
          </p:cNvSpPr>
          <p:nvPr/>
        </p:nvSpPr>
        <p:spPr>
          <a:xfrm>
            <a:off x="7214616" y="4407408"/>
            <a:ext cx="585216" cy="274320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680" dirty="0" b="1">
                <a:solidFill>
                  <a:srgbClr val="6B7280"/>
                </a:solidFill>
                <a:latin typeface="Calibri"/>
              </a:rPr>
              <a:t>N/D</a:t>
            </a:r>
          </a:p>
        </p:txBody>
      </p:sp>
      <p:sp>
        <p:nvSpPr>
          <p:cNvPr id="195" name="rb"/>
          <p:cNvSpPr>
            <a:spLocks noGrp="1"/>
          </p:cNvSpPr>
          <p:nvPr/>
        </p:nvSpPr>
        <p:spPr>
          <a:xfrm>
            <a:off x="320040" y="4681728"/>
            <a:ext cx="7955279" cy="274320"/>
          </a:xfrm>
          <a:prstGeom prst="rect">
            <a:avLst/>
          </a:prstGeom>
          <a:solidFill>
            <a:srgbClr val="F7F9FC"/>
          </a:solidFill>
          <a:ln w="6350">
            <a:solidFill>
              <a:srgbClr val="D1D5DB"/>
            </a:solidFill>
          </a:ln>
        </p:spPr>
      </p:sp>
      <p:sp>
        <p:nvSpPr>
          <p:cNvPr id="196" name="c"/>
          <p:cNvSpPr txBox="1">
            <a:spLocks noGrp="1"/>
          </p:cNvSpPr>
          <p:nvPr/>
        </p:nvSpPr>
        <p:spPr>
          <a:xfrm>
            <a:off x="320040" y="4681728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l"/>
            <a:r>
              <a:rPr lang="es-ES" sz="700" dirty="0" b="1">
                <a:solidFill>
                  <a:srgbClr val="0D1B5E"/>
                </a:solidFill>
                <a:latin typeface="Calibri"/>
              </a:rPr>
              <a:t>MEDICARTE</a:t>
            </a:r>
          </a:p>
        </p:txBody>
      </p:sp>
      <p:sp>
        <p:nvSpPr>
          <p:cNvPr id="197" name="c"/>
          <p:cNvSpPr txBox="1">
            <a:spLocks noGrp="1"/>
          </p:cNvSpPr>
          <p:nvPr/>
        </p:nvSpPr>
        <p:spPr>
          <a:xfrm>
            <a:off x="1508760" y="4681728"/>
            <a:ext cx="566928" cy="274320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680" dirty="0">
                <a:solidFill>
                  <a:srgbClr val="6B7280"/>
                </a:solidFill>
                <a:latin typeface="Calibri"/>
              </a:rPr>
              <a:t>MEDI</a:t>
            </a:r>
          </a:p>
        </p:txBody>
      </p:sp>
      <p:sp>
        <p:nvSpPr>
          <p:cNvPr id="198" name="c"/>
          <p:cNvSpPr txBox="1">
            <a:spLocks noGrp="1"/>
          </p:cNvSpPr>
          <p:nvPr/>
        </p:nvSpPr>
        <p:spPr>
          <a:xfrm>
            <a:off x="2075688" y="4681728"/>
            <a:ext cx="347472" cy="274320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680" dirty="0" b="1">
                <a:solidFill>
                  <a:srgbClr val="C00000"/>
                </a:solidFill>
                <a:latin typeface="Calibri"/>
              </a:rPr>
              <a:t>N1</a:t>
            </a:r>
          </a:p>
        </p:txBody>
      </p:sp>
      <p:sp>
        <p:nvSpPr>
          <p:cNvPr id="199" name="c"/>
          <p:cNvSpPr txBox="1">
            <a:spLocks noGrp="1"/>
          </p:cNvSpPr>
          <p:nvPr/>
        </p:nvSpPr>
        <p:spPr>
          <a:xfrm>
            <a:off x="2423160" y="4681728"/>
            <a:ext cx="310896" cy="274320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680" dirty="0">
                <a:solidFill>
                  <a:srgbClr val="0D1B5E"/>
                </a:solidFill>
                <a:latin typeface="Calibri"/>
              </a:rPr>
              <a:t>12</a:t>
            </a:r>
          </a:p>
        </p:txBody>
      </p:sp>
      <p:sp>
        <p:nvSpPr>
          <p:cNvPr id="200" name="c"/>
          <p:cNvSpPr txBox="1">
            <a:spLocks noGrp="1"/>
          </p:cNvSpPr>
          <p:nvPr/>
        </p:nvSpPr>
        <p:spPr>
          <a:xfrm>
            <a:off x="2734056" y="4681728"/>
            <a:ext cx="493776" cy="274320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680" dirty="0">
                <a:solidFill>
                  <a:srgbClr val="0D1B5E"/>
                </a:solidFill>
                <a:latin typeface="Calibri"/>
              </a:rPr>
              <a:t>N/D</a:t>
            </a:r>
          </a:p>
        </p:txBody>
      </p:sp>
      <p:sp>
        <p:nvSpPr>
          <p:cNvPr id="201" name="c"/>
          <p:cNvSpPr txBox="1">
            <a:spLocks noGrp="1"/>
          </p:cNvSpPr>
          <p:nvPr/>
        </p:nvSpPr>
        <p:spPr>
          <a:xfrm>
            <a:off x="3227832" y="4681728"/>
            <a:ext cx="384048" cy="274320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680" dirty="0">
                <a:solidFill>
                  <a:srgbClr val="1B7B85"/>
                </a:solidFill>
                <a:latin typeface="Calibri"/>
              </a:rPr>
              <a:t>N/D</a:t>
            </a:r>
          </a:p>
        </p:txBody>
      </p:sp>
      <p:sp>
        <p:nvSpPr>
          <p:cNvPr id="202" name="c"/>
          <p:cNvSpPr txBox="1">
            <a:spLocks noGrp="1"/>
          </p:cNvSpPr>
          <p:nvPr/>
        </p:nvSpPr>
        <p:spPr>
          <a:xfrm>
            <a:off x="3611880" y="4681728"/>
            <a:ext cx="493776" cy="274320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680" dirty="0">
                <a:solidFill>
                  <a:srgbClr val="1B7B85"/>
                </a:solidFill>
                <a:latin typeface="Calibri"/>
              </a:rPr>
              <a:t>1,920h</a:t>
            </a:r>
          </a:p>
        </p:txBody>
      </p:sp>
      <p:sp>
        <p:nvSpPr>
          <p:cNvPr id="203" name="c"/>
          <p:cNvSpPr txBox="1">
            <a:spLocks noGrp="1"/>
          </p:cNvSpPr>
          <p:nvPr/>
        </p:nvSpPr>
        <p:spPr>
          <a:xfrm>
            <a:off x="4105656" y="468172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680" dirty="0">
                <a:solidFill>
                  <a:srgbClr val="1A6B3C"/>
                </a:solidFill>
                <a:latin typeface="Calibri"/>
              </a:rPr>
              <a:t>0.55h</a:t>
            </a:r>
          </a:p>
        </p:txBody>
      </p:sp>
      <p:sp>
        <p:nvSpPr>
          <p:cNvPr id="204" name="c"/>
          <p:cNvSpPr txBox="1">
            <a:spLocks noGrp="1"/>
          </p:cNvSpPr>
          <p:nvPr/>
        </p:nvSpPr>
        <p:spPr>
          <a:xfrm>
            <a:off x="4562856" y="4681728"/>
            <a:ext cx="402336" cy="274320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680" dirty="0">
                <a:solidFill>
                  <a:srgbClr val="92400E"/>
                </a:solidFill>
                <a:latin typeface="Calibri"/>
              </a:rPr>
              <a:t>89%</a:t>
            </a:r>
          </a:p>
        </p:txBody>
      </p:sp>
      <p:sp>
        <p:nvSpPr>
          <p:cNvPr id="205" name="c"/>
          <p:cNvSpPr txBox="1">
            <a:spLocks noGrp="1"/>
          </p:cNvSpPr>
          <p:nvPr/>
        </p:nvSpPr>
        <p:spPr>
          <a:xfrm>
            <a:off x="4965192" y="4681728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680" dirty="0">
                <a:solidFill>
                  <a:srgbClr val="0D1B5E"/>
                </a:solidFill>
                <a:latin typeface="Calibri"/>
              </a:rPr>
              <a:t>$169.0M</a:t>
            </a:r>
          </a:p>
        </p:txBody>
      </p:sp>
      <p:sp>
        <p:nvSpPr>
          <p:cNvPr id="206" name="c"/>
          <p:cNvSpPr txBox="1">
            <a:spLocks noGrp="1"/>
          </p:cNvSpPr>
          <p:nvPr/>
        </p:nvSpPr>
        <p:spPr>
          <a:xfrm>
            <a:off x="5788152" y="4681728"/>
            <a:ext cx="749808" cy="274320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680" dirty="0">
                <a:solidFill>
                  <a:srgbClr val="6B2D5E"/>
                </a:solidFill>
                <a:latin typeface="Calibri"/>
              </a:rPr>
              <a:t>N/D</a:t>
            </a:r>
          </a:p>
        </p:txBody>
      </p:sp>
      <p:sp>
        <p:nvSpPr>
          <p:cNvPr id="207" name="c"/>
          <p:cNvSpPr txBox="1">
            <a:spLocks noGrp="1"/>
          </p:cNvSpPr>
          <p:nvPr/>
        </p:nvSpPr>
        <p:spPr>
          <a:xfrm>
            <a:off x="6537960" y="4681728"/>
            <a:ext cx="676656" cy="274320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680" dirty="0">
                <a:solidFill>
                  <a:srgbClr val="6B2D5E"/>
                </a:solidFill>
                <a:latin typeface="Calibri"/>
              </a:rPr>
              <a:t>N/D</a:t>
            </a:r>
          </a:p>
        </p:txBody>
      </p:sp>
      <p:sp>
        <p:nvSpPr>
          <p:cNvPr id="208" name="c"/>
          <p:cNvSpPr txBox="1">
            <a:spLocks noGrp="1"/>
          </p:cNvSpPr>
          <p:nvPr/>
        </p:nvSpPr>
        <p:spPr>
          <a:xfrm>
            <a:off x="7214616" y="4681728"/>
            <a:ext cx="585216" cy="274320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680" dirty="0" b="1">
                <a:solidFill>
                  <a:srgbClr val="6B7280"/>
                </a:solidFill>
                <a:latin typeface="Calibri"/>
              </a:rPr>
              <a:t>N/D</a:t>
            </a:r>
          </a:p>
        </p:txBody>
      </p:sp>
      <p:sp>
        <p:nvSpPr>
          <p:cNvPr id="200" name="tot"/>
          <p:cNvSpPr>
            <a:spLocks noGrp="1"/>
          </p:cNvSpPr>
          <p:nvPr/>
        </p:nvSpPr>
        <p:spPr>
          <a:xfrm>
            <a:off x="320040" y="4956048"/>
            <a:ext cx="7955279" cy="274320"/>
          </a:xfrm>
          <a:prstGeom prst="rect">
            <a:avLst/>
          </a:prstGeom>
          <a:solidFill>
            <a:srgbClr val="EDE9FE"/>
          </a:solidFill>
          <a:ln w="12700">
            <a:solidFill>
              <a:srgbClr val="6B2D5E"/>
            </a:solidFill>
          </a:ln>
        </p:spPr>
      </p:sp>
      <p:sp>
        <p:nvSpPr>
          <p:cNvPr id="201" name="tc"/>
          <p:cNvSpPr txBox="1">
            <a:spLocks noGrp="1"/>
          </p:cNvSpPr>
          <p:nvPr/>
        </p:nvSpPr>
        <p:spPr>
          <a:xfrm>
            <a:off x="320040" y="4956048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l"/>
            <a:r>
              <a:rPr lang="es-ES" sz="680" dirty="0" b="1">
                <a:solidFill>
                  <a:srgbClr val="6B2D5E"/>
                </a:solidFill>
                <a:latin typeface="Calibri"/>
              </a:rPr>
              <a:t>TOTAL SURA (4 mesas)</a:t>
            </a:r>
          </a:p>
        </p:txBody>
      </p:sp>
      <p:sp>
        <p:nvSpPr>
          <p:cNvPr id="202" name="tc"/>
          <p:cNvSpPr txBox="1">
            <a:spLocks noGrp="1"/>
          </p:cNvSpPr>
          <p:nvPr/>
        </p:nvSpPr>
        <p:spPr>
          <a:xfrm>
            <a:off x="1508760" y="4956048"/>
            <a:ext cx="566928" cy="274320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680" dirty="0" b="1">
                <a:solidFill>
                  <a:srgbClr val="6B2D5E"/>
                </a:solidFill>
                <a:latin typeface="Calibri"/>
              </a:rPr>
              <a:t>SURA</a:t>
            </a:r>
          </a:p>
        </p:txBody>
      </p:sp>
      <p:sp>
        <p:nvSpPr>
          <p:cNvPr id="203" name="tc"/>
          <p:cNvSpPr txBox="1">
            <a:spLocks noGrp="1"/>
          </p:cNvSpPr>
          <p:nvPr/>
        </p:nvSpPr>
        <p:spPr>
          <a:xfrm>
            <a:off x="2075688" y="4956048"/>
            <a:ext cx="347472" cy="274320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680" dirty="0" b="1">
                <a:solidFill>
                  <a:srgbClr val="6B2D5E"/>
                </a:solidFill>
                <a:latin typeface="Calibri"/>
              </a:rPr>
              <a:t>N2</a:t>
            </a:r>
          </a:p>
        </p:txBody>
      </p:sp>
      <p:sp>
        <p:nvSpPr>
          <p:cNvPr id="204" name="tc"/>
          <p:cNvSpPr txBox="1">
            <a:spLocks noGrp="1"/>
          </p:cNvSpPr>
          <p:nvPr/>
        </p:nvSpPr>
        <p:spPr>
          <a:xfrm>
            <a:off x="2423160" y="4956048"/>
            <a:ext cx="310896" cy="274320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680" dirty="0" b="1">
                <a:solidFill>
                  <a:srgbClr val="6B2D5E"/>
                </a:solidFill>
                <a:latin typeface="Calibri"/>
              </a:rPr>
              <a:t>17</a:t>
            </a:r>
          </a:p>
        </p:txBody>
      </p:sp>
      <p:sp>
        <p:nvSpPr>
          <p:cNvPr id="205" name="tc"/>
          <p:cNvSpPr txBox="1">
            <a:spLocks noGrp="1"/>
          </p:cNvSpPr>
          <p:nvPr/>
        </p:nvSpPr>
        <p:spPr>
          <a:xfrm>
            <a:off x="2734056" y="4956048"/>
            <a:ext cx="493776" cy="274320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680" dirty="0" b="1">
                <a:solidFill>
                  <a:srgbClr val="6B2D5E"/>
                </a:solidFill>
                <a:latin typeface="Calibri"/>
              </a:rPr>
              <a:t>1,525</a:t>
            </a:r>
          </a:p>
        </p:txBody>
      </p:sp>
      <p:sp>
        <p:nvSpPr>
          <p:cNvPr id="206" name="tc"/>
          <p:cNvSpPr txBox="1">
            <a:spLocks noGrp="1"/>
          </p:cNvSpPr>
          <p:nvPr/>
        </p:nvSpPr>
        <p:spPr>
          <a:xfrm>
            <a:off x="3227832" y="4956048"/>
            <a:ext cx="384048" cy="274320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680" dirty="0" b="1">
                <a:solidFill>
                  <a:srgbClr val="6B2D5E"/>
                </a:solidFill>
                <a:latin typeface="Calibri"/>
              </a:rPr>
              <a:t>89</a:t>
            </a:r>
          </a:p>
        </p:txBody>
      </p:sp>
      <p:sp>
        <p:nvSpPr>
          <p:cNvPr id="207" name="tc"/>
          <p:cNvSpPr txBox="1">
            <a:spLocks noGrp="1"/>
          </p:cNvSpPr>
          <p:nvPr/>
        </p:nvSpPr>
        <p:spPr>
          <a:xfrm>
            <a:off x="3611880" y="4956048"/>
            <a:ext cx="493776" cy="274320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680" dirty="0" b="1">
                <a:solidFill>
                  <a:srgbClr val="6B2D5E"/>
                </a:solidFill>
                <a:latin typeface="Calibri"/>
              </a:rPr>
              <a:t>2,720h</a:t>
            </a:r>
          </a:p>
        </p:txBody>
      </p:sp>
      <p:sp>
        <p:nvSpPr>
          <p:cNvPr id="208" name="tc"/>
          <p:cNvSpPr txBox="1">
            <a:spLocks noGrp="1"/>
          </p:cNvSpPr>
          <p:nvPr/>
        </p:nvSpPr>
        <p:spPr>
          <a:xfrm>
            <a:off x="4105656" y="495604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680" dirty="0" b="1">
                <a:solidFill>
                  <a:srgbClr val="6B2D5E"/>
                </a:solidFill>
                <a:latin typeface="Calibri"/>
              </a:rPr>
              <a:t>14.5h prom</a:t>
            </a:r>
          </a:p>
        </p:txBody>
      </p:sp>
      <p:sp>
        <p:nvSpPr>
          <p:cNvPr id="209" name="tc"/>
          <p:cNvSpPr txBox="1">
            <a:spLocks noGrp="1"/>
          </p:cNvSpPr>
          <p:nvPr/>
        </p:nvSpPr>
        <p:spPr>
          <a:xfrm>
            <a:off x="4562856" y="4956048"/>
            <a:ext cx="402336" cy="274320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680" dirty="0" b="1">
                <a:solidFill>
                  <a:srgbClr val="C00000"/>
                </a:solidFill>
                <a:latin typeface="Calibri"/>
              </a:rPr>
              <a:t>78.5%</a:t>
            </a:r>
          </a:p>
        </p:txBody>
      </p:sp>
      <p:sp>
        <p:nvSpPr>
          <p:cNvPr id="210" name="tc"/>
          <p:cNvSpPr txBox="1">
            <a:spLocks noGrp="1"/>
          </p:cNvSpPr>
          <p:nvPr/>
        </p:nvSpPr>
        <p:spPr>
          <a:xfrm>
            <a:off x="4965192" y="4956048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680" dirty="0" b="1">
                <a:solidFill>
                  <a:srgbClr val="C00000"/>
                </a:solidFill>
                <a:latin typeface="Calibri"/>
              </a:rPr>
              <a:t>$239M</a:t>
            </a:r>
          </a:p>
        </p:txBody>
      </p:sp>
      <p:sp>
        <p:nvSpPr>
          <p:cNvPr id="211" name="tc"/>
          <p:cNvSpPr txBox="1">
            <a:spLocks noGrp="1"/>
          </p:cNvSpPr>
          <p:nvPr/>
        </p:nvSpPr>
        <p:spPr>
          <a:xfrm>
            <a:off x="5788152" y="4956048"/>
            <a:ext cx="749808" cy="274320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680" dirty="0" b="1">
                <a:solidFill>
                  <a:srgbClr val="6B2D5E"/>
                </a:solidFill>
                <a:latin typeface="Calibri"/>
              </a:rPr>
              <a:t>$156,957</a:t>
            </a:r>
          </a:p>
        </p:txBody>
      </p:sp>
      <p:sp>
        <p:nvSpPr>
          <p:cNvPr id="212" name="tc"/>
          <p:cNvSpPr txBox="1">
            <a:spLocks noGrp="1"/>
          </p:cNvSpPr>
          <p:nvPr/>
        </p:nvSpPr>
        <p:spPr>
          <a:xfrm>
            <a:off x="6537960" y="4956048"/>
            <a:ext cx="676656" cy="274320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680" dirty="0" b="1">
                <a:solidFill>
                  <a:srgbClr val="6B2D5E"/>
                </a:solidFill>
                <a:latin typeface="Calibri"/>
              </a:rPr>
              <a:t>$37</a:t>
            </a:r>
          </a:p>
        </p:txBody>
      </p:sp>
      <p:sp>
        <p:nvSpPr>
          <p:cNvPr id="213" name="tc"/>
          <p:cNvSpPr txBox="1">
            <a:spLocks noGrp="1"/>
          </p:cNvSpPr>
          <p:nvPr/>
        </p:nvSpPr>
        <p:spPr>
          <a:xfrm>
            <a:off x="7214616" y="4956048"/>
            <a:ext cx="585216" cy="274320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680" dirty="0" b="1">
                <a:solidFill>
                  <a:srgbClr val="C00000"/>
                </a:solidFill>
                <a:latin typeface="Calibri"/>
              </a:rPr>
              <a:t>+$2</a:t>
            </a:r>
          </a:p>
        </p:txBody>
      </p:sp>
      <p:sp>
        <p:nvSpPr>
          <p:cNvPr id="215" name="bco_tot"/>
          <p:cNvSpPr>
            <a:spLocks noGrp="1"/>
          </p:cNvSpPr>
          <p:nvPr/>
        </p:nvSpPr>
        <p:spPr>
          <a:xfrm>
            <a:off x="320040" y="5266944"/>
            <a:ext cx="7955279" cy="274320"/>
          </a:xfrm>
          <a:prstGeom prst="rect">
            <a:avLst/>
          </a:prstGeom>
          <a:solidFill>
            <a:srgbClr val="EBF5FF"/>
          </a:solidFill>
          <a:ln w="12700">
            <a:solidFill>
              <a:srgbClr val="1A3A8F"/>
            </a:solidFill>
          </a:ln>
        </p:spPr>
      </p:sp>
      <p:sp>
        <p:nvSpPr>
          <p:cNvPr id="216" name="bc"/>
          <p:cNvSpPr txBox="1">
            <a:spLocks noGrp="1"/>
          </p:cNvSpPr>
          <p:nvPr/>
        </p:nvSpPr>
        <p:spPr>
          <a:xfrm>
            <a:off x="320040" y="5266944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l"/>
            <a:r>
              <a:rPr lang="es-ES" sz="660" dirty="0" b="1">
                <a:solidFill>
                  <a:srgbClr val="1A3A8F"/>
                </a:solidFill>
                <a:latin typeface="Calibri"/>
              </a:rPr>
              <a:t>TOTAL BCO (5 mesas)</a:t>
            </a:r>
          </a:p>
        </p:txBody>
      </p:sp>
      <p:sp>
        <p:nvSpPr>
          <p:cNvPr id="217" name="bc"/>
          <p:cNvSpPr txBox="1">
            <a:spLocks noGrp="1"/>
          </p:cNvSpPr>
          <p:nvPr/>
        </p:nvSpPr>
        <p:spPr>
          <a:xfrm>
            <a:off x="1508760" y="5266944"/>
            <a:ext cx="566928" cy="274320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660" dirty="0" b="1">
                <a:solidFill>
                  <a:srgbClr val="1A3A8F"/>
                </a:solidFill>
                <a:latin typeface="Calibri"/>
              </a:rPr>
              <a:t>BCO</a:t>
            </a:r>
          </a:p>
        </p:txBody>
      </p:sp>
      <p:sp>
        <p:nvSpPr>
          <p:cNvPr id="218" name="bc"/>
          <p:cNvSpPr txBox="1">
            <a:spLocks noGrp="1"/>
          </p:cNvSpPr>
          <p:nvPr/>
        </p:nvSpPr>
        <p:spPr>
          <a:xfrm>
            <a:off x="2075688" y="5266944"/>
            <a:ext cx="347472" cy="274320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660" dirty="0" b="1">
                <a:solidFill>
                  <a:srgbClr val="1A3A8F"/>
                </a:solidFill>
                <a:latin typeface="Calibri"/>
              </a:rPr>
              <a:t>N1</a:t>
            </a:r>
          </a:p>
        </p:txBody>
      </p:sp>
      <p:sp>
        <p:nvSpPr>
          <p:cNvPr id="219" name="bc"/>
          <p:cNvSpPr txBox="1">
            <a:spLocks noGrp="1"/>
          </p:cNvSpPr>
          <p:nvPr/>
        </p:nvSpPr>
        <p:spPr>
          <a:xfrm>
            <a:off x="2423160" y="5266944"/>
            <a:ext cx="310896" cy="274320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660" dirty="0" b="1">
                <a:solidFill>
                  <a:srgbClr val="1A3A8F"/>
                </a:solidFill>
                <a:latin typeface="Calibri"/>
              </a:rPr>
              <a:t>32</a:t>
            </a:r>
          </a:p>
        </p:txBody>
      </p:sp>
      <p:sp>
        <p:nvSpPr>
          <p:cNvPr id="220" name="bc"/>
          <p:cNvSpPr txBox="1">
            <a:spLocks noGrp="1"/>
          </p:cNvSpPr>
          <p:nvPr/>
        </p:nvSpPr>
        <p:spPr>
          <a:xfrm>
            <a:off x="2734056" y="5266944"/>
            <a:ext cx="493776" cy="274320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660" dirty="0" b="1">
                <a:solidFill>
                  <a:srgbClr val="1A3A8F"/>
                </a:solidFill>
                <a:latin typeface="Calibri"/>
              </a:rPr>
              <a:t>N/D (700-3000/mesa)</a:t>
            </a:r>
          </a:p>
        </p:txBody>
      </p:sp>
      <p:sp>
        <p:nvSpPr>
          <p:cNvPr id="221" name="bc"/>
          <p:cNvSpPr txBox="1">
            <a:spLocks noGrp="1"/>
          </p:cNvSpPr>
          <p:nvPr/>
        </p:nvSpPr>
        <p:spPr>
          <a:xfrm>
            <a:off x="3227832" y="5266944"/>
            <a:ext cx="384048" cy="274320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660" dirty="0" b="1">
                <a:solidFill>
                  <a:srgbClr val="1A3A8F"/>
                </a:solidFill>
                <a:latin typeface="Calibri"/>
              </a:rPr>
              <a:t>80-250</a:t>
            </a:r>
          </a:p>
        </p:txBody>
      </p:sp>
      <p:sp>
        <p:nvSpPr>
          <p:cNvPr id="222" name="bc"/>
          <p:cNvSpPr txBox="1">
            <a:spLocks noGrp="1"/>
          </p:cNvSpPr>
          <p:nvPr/>
        </p:nvSpPr>
        <p:spPr>
          <a:xfrm>
            <a:off x="3611880" y="5266944"/>
            <a:ext cx="493776" cy="274320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660" dirty="0" b="1">
                <a:solidFill>
                  <a:srgbClr val="1A3A8F"/>
                </a:solidFill>
                <a:latin typeface="Calibri"/>
              </a:rPr>
              <a:t>5,120h</a:t>
            </a:r>
          </a:p>
        </p:txBody>
      </p:sp>
      <p:sp>
        <p:nvSpPr>
          <p:cNvPr id="223" name="bc"/>
          <p:cNvSpPr txBox="1">
            <a:spLocks noGrp="1"/>
          </p:cNvSpPr>
          <p:nvPr/>
        </p:nvSpPr>
        <p:spPr>
          <a:xfrm>
            <a:off x="4105656" y="5266944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660" dirty="0" b="1">
                <a:solidFill>
                  <a:srgbClr val="1A3A8F"/>
                </a:solidFill>
                <a:latin typeface="Calibri"/>
              </a:rPr>
              <a:t>0.5-3h</a:t>
            </a:r>
          </a:p>
        </p:txBody>
      </p:sp>
      <p:sp>
        <p:nvSpPr>
          <p:cNvPr id="224" name="bc"/>
          <p:cNvSpPr txBox="1">
            <a:spLocks noGrp="1"/>
          </p:cNvSpPr>
          <p:nvPr/>
        </p:nvSpPr>
        <p:spPr>
          <a:xfrm>
            <a:off x="4562856" y="5266944"/>
            <a:ext cx="402336" cy="274320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660" dirty="0" b="1">
                <a:solidFill>
                  <a:srgbClr val="1A3A8F"/>
                </a:solidFill>
                <a:latin typeface="Calibri"/>
              </a:rPr>
              <a:t>Sin ANS formal</a:t>
            </a:r>
          </a:p>
        </p:txBody>
      </p:sp>
      <p:sp>
        <p:nvSpPr>
          <p:cNvPr id="225" name="bc"/>
          <p:cNvSpPr txBox="1">
            <a:spLocks noGrp="1"/>
          </p:cNvSpPr>
          <p:nvPr/>
        </p:nvSpPr>
        <p:spPr>
          <a:xfrm>
            <a:off x="4965192" y="5266944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660" dirty="0" b="1">
                <a:solidFill>
                  <a:srgbClr val="1A3A8F"/>
                </a:solidFill>
                <a:latin typeface="Calibri"/>
              </a:rPr>
              <a:t>$451M</a:t>
            </a:r>
          </a:p>
        </p:txBody>
      </p:sp>
      <p:sp>
        <p:nvSpPr>
          <p:cNvPr id="226" name="bc"/>
          <p:cNvSpPr txBox="1">
            <a:spLocks noGrp="1"/>
          </p:cNvSpPr>
          <p:nvPr/>
        </p:nvSpPr>
        <p:spPr>
          <a:xfrm>
            <a:off x="5788152" y="5266944"/>
            <a:ext cx="749808" cy="274320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660" dirty="0" b="1">
                <a:solidFill>
                  <a:srgbClr val="1A3A8F"/>
                </a:solidFill>
                <a:latin typeface="Calibri"/>
              </a:rPr>
              <a:t>N/D</a:t>
            </a:r>
          </a:p>
        </p:txBody>
      </p:sp>
      <p:sp>
        <p:nvSpPr>
          <p:cNvPr id="227" name="bc"/>
          <p:cNvSpPr txBox="1">
            <a:spLocks noGrp="1"/>
          </p:cNvSpPr>
          <p:nvPr/>
        </p:nvSpPr>
        <p:spPr>
          <a:xfrm>
            <a:off x="6537960" y="5266944"/>
            <a:ext cx="676656" cy="274320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660" dirty="0" b="1">
                <a:solidFill>
                  <a:srgbClr val="1A3A8F"/>
                </a:solidFill>
                <a:latin typeface="Calibri"/>
              </a:rPr>
              <a:t>N/D</a:t>
            </a:r>
          </a:p>
        </p:txBody>
      </p:sp>
      <p:sp>
        <p:nvSpPr>
          <p:cNvPr id="228" name="bc"/>
          <p:cNvSpPr txBox="1">
            <a:spLocks noGrp="1"/>
          </p:cNvSpPr>
          <p:nvPr/>
        </p:nvSpPr>
        <p:spPr>
          <a:xfrm>
            <a:off x="7214616" y="5266944"/>
            <a:ext cx="585216" cy="274320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660" dirty="0" b="1">
                <a:solidFill>
                  <a:srgbClr val="1A3A8F"/>
                </a:solidFill>
                <a:latin typeface="Calibri"/>
              </a:rPr>
              <a:t>N/D</a:t>
            </a:r>
          </a:p>
        </p:txBody>
      </p:sp>
      <p:sp>
        <p:nvSpPr>
          <p:cNvPr id="230" name="nb1"/>
          <p:cNvSpPr>
            <a:spLocks noGrp="1"/>
          </p:cNvSpPr>
          <p:nvPr/>
        </p:nvSpPr>
        <p:spPr>
          <a:xfrm>
            <a:off x="320040" y="5596128"/>
            <a:ext cx="3794760" cy="493776"/>
          </a:xfrm>
          <a:prstGeom prst="roundRect">
            <a:avLst>
              <a:gd name="adj" fmla="val 8000"/>
            </a:avLst>
          </a:prstGeom>
          <a:solidFill>
            <a:srgbClr val="FEF3C7"/>
          </a:solidFill>
          <a:ln w="12700">
            <a:solidFill>
              <a:srgbClr val="B45309"/>
            </a:solidFill>
          </a:ln>
        </p:spPr>
      </p:sp>
      <p:sp>
        <p:nvSpPr>
          <p:cNvPr id="231" name="nt1"/>
          <p:cNvSpPr txBox="1">
            <a:spLocks noGrp="1"/>
          </p:cNvSpPr>
          <p:nvPr/>
        </p:nvSpPr>
        <p:spPr>
          <a:xfrm>
            <a:off x="411480" y="5632704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="t" wrap="square" lIns="91440" rIns="91440" tIns="45720" bIns="45720">
            <a:noAutofit/>
          </a:bodyPr>
          <a:lstStyle/>
          <a:p>
            <a:pPr algn="l"/>
            <a:r>
              <a:rPr lang="es-ES" sz="860" dirty="0" b="1">
                <a:solidFill>
                  <a:srgbClr val="92400E"/>
                </a:solidFill>
                <a:latin typeface="Calibri"/>
              </a:rPr>
              <a:t>⚠  XM — Anomalia: </a:t>
            </a:r>
            <a:r>
              <a:rPr lang="es-ES" sz="840" dirty="0">
                <a:solidFill>
                  <a:srgbClr val="92400E"/>
                </a:solidFill>
                <a:latin typeface="Calibri"/>
              </a:rPr>
              <a:t>USD $149/ticket porque 4 FTE resuelven solo 90 tix/mes (22 tix/FTE vs 80+ industria). Mucho trabajo no-ticketado — soporte 24x7 a 14 componentes criticos.</a:t>
            </a:r>
          </a:p>
        </p:txBody>
      </p:sp>
      <p:sp>
        <p:nvSpPr>
          <p:cNvPr id="232" name="nb2"/>
          <p:cNvSpPr>
            <a:spLocks noGrp="1"/>
          </p:cNvSpPr>
          <p:nvPr/>
        </p:nvSpPr>
        <p:spPr>
          <a:xfrm>
            <a:off x="4041648" y="5596128"/>
            <a:ext cx="3904487" cy="493776"/>
          </a:xfrm>
          <a:prstGeom prst="roundRect">
            <a:avLst>
              <a:gd name="adj" fmla="val 8000"/>
            </a:avLst>
          </a:prstGeom>
          <a:solidFill>
            <a:srgbClr val="E8F5EE"/>
          </a:solidFill>
          <a:ln w="12700">
            <a:solidFill>
              <a:srgbClr val="1A6B3C"/>
            </a:solidFill>
          </a:ln>
        </p:spPr>
      </p:sp>
      <p:sp>
        <p:nvSpPr>
          <p:cNvPr id="233" name="nt2"/>
          <p:cNvSpPr txBox="1">
            <a:spLocks noGrp="1"/>
          </p:cNvSpPr>
          <p:nvPr/>
        </p:nvSpPr>
        <p:spPr>
          <a:xfrm>
            <a:off x="4133087" y="5632704"/>
            <a:ext cx="3767328" cy="457200"/>
          </a:xfrm>
          <a:prstGeom prst="rect">
            <a:avLst/>
          </a:prstGeom>
          <a:noFill/>
          <a:ln>
            <a:noFill/>
          </a:ln>
        </p:spPr>
        <p:txBody>
          <a:bodyPr anchor="t" wrap="square" lIns="91440" rIns="91440" tIns="45720" bIns="45720">
            <a:noAutofit/>
          </a:bodyPr>
          <a:lstStyle/>
          <a:p>
            <a:pPr algn="l"/>
            <a:r>
              <a:rPr lang="es-ES" sz="860" dirty="0" b="1">
                <a:solidFill>
                  <a:srgbClr val="1A6B3C"/>
                </a:solidFill>
                <a:latin typeface="Calibri"/>
              </a:rPr>
              <a:t>✓  MEDICARTE — Mejor desempeño: </a:t>
            </a:r>
            <a:r>
              <a:rPr lang="es-ES" sz="840" dirty="0">
                <a:solidFill>
                  <a:srgbClr val="1A6B3C"/>
                </a:solidFill>
                <a:latin typeface="Calibri"/>
              </a:rPr>
              <a:t>FCR 68% · MTTR 0.55h · SLA 89% · 8% autoservicio N0. Unica mesa con metricas formales. Referencia de como deberian verse todas.</a:t>
            </a:r>
          </a:p>
        </p:txBody>
      </p:sp>
      <p:sp>
        <p:nvSpPr>
          <p:cNvPr id="240" name="src"/>
          <p:cNvSpPr txBox="1">
            <a:spLocks noGrp="1"/>
          </p:cNvSpPr>
          <p:nvPr/>
        </p:nvSpPr>
        <p:spPr>
          <a:xfrm>
            <a:off x="320040" y="4462272"/>
            <a:ext cx="7772400" cy="164592"/>
          </a:xfrm>
          <a:prstGeom prst="rect">
            <a:avLst/>
          </a:prstGeom>
          <a:noFill/>
          <a:ln>
            <a:noFill/>
          </a:ln>
        </p:spPr>
        <p:txBody>
          <a:bodyPr anchor="t" wrap="square" lIns="91440" rIns="91440" tIns="45720" bIns="45720">
            <a:noAutofit/>
          </a:bodyPr>
          <a:lstStyle/>
          <a:p>
            <a:pPr algn="l"/>
            <a:r>
              <a:rPr lang="es-ES" sz="780" dirty="0" i="1">
                <a:solidFill>
                  <a:srgbClr val="6B7280"/>
                </a:solidFill>
                <a:latin typeface="Calibri"/>
              </a:rPr>
              <a:t>Fuente: Levantamiento interno PersonalSoft · Excel Levantamiento_Mesas_Julio_2026 · Transcripts: Elsy Marin (SURA), Michael Arevalo (AES), Diego Serna (XM), Virginia &amp; Lina (BCO), Bancolombia · Benchmarks: </a:t>
            </a:r>
            <a:r>
              <a:rPr lang="es-ES" sz="780" dirty="0" u="sng">
                <a:solidFill>
                  <a:srgbClr val="1A3A8F"/>
                </a:solidFill>
                <a:latin typeface="Calibri"/>
                <a:hlinkClick r:id="rId101"/>
              </a:rPr>
              <a:t>HDI Standard</a:t>
            </a:r>
            <a:r>
              <a:rPr lang="es-ES" sz="780" dirty="0">
                <a:solidFill>
                  <a:srgbClr val="6B7280"/>
                </a:solidFill>
                <a:latin typeface="Calibri"/>
              </a:rPr>
              <a:t>  ·  </a:t>
            </a:r>
            <a:r>
              <a:rPr lang="es-ES" sz="780" dirty="0" u="sng">
                <a:solidFill>
                  <a:srgbClr val="1A3A8F"/>
                </a:solidFill>
                <a:latin typeface="Calibri"/>
                <a:hlinkClick r:id="rId102"/>
              </a:rPr>
              <a:t>MetricNet MTTR</a:t>
            </a:r>
            <a:r>
              <a:rPr lang="es-ES" sz="780" dirty="0">
                <a:solidFill>
                  <a:srgbClr val="6B7280"/>
                </a:solidFill>
                <a:latin typeface="Calibri"/>
              </a:rPr>
              <a:t>  ·  </a:t>
            </a:r>
            <a:r>
              <a:rPr lang="es-ES" sz="780" dirty="0" u="sng">
                <a:solidFill>
                  <a:srgbClr val="1A3A8F"/>
                </a:solidFill>
                <a:latin typeface="Calibri"/>
                <a:hlinkClick r:id="rId104"/>
              </a:rPr>
              <a:t>Gartner Cost per Ticket</a:t>
            </a:r>
          </a:p>
        </p:txBody>
      </p:sp>
    </p:spTree>
  </p:cSld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bg"/>
          <p:cNvSpPr>
            <a:spLocks noGrp="1"/>
          </p:cNvSpPr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6F2"/>
          </a:solidFill>
          <a:ln>
            <a:noFill/>
          </a:ln>
        </p:spPr>
      </p:sp>
      <p:sp>
        <p:nvSpPr>
          <p:cNvPr id="3" name="hdr"/>
          <p:cNvSpPr>
            <a:spLocks noGrp="1"/>
          </p:cNvSpPr>
          <p:nvPr/>
        </p:nvSpPr>
        <p:spPr>
          <a:xfrm>
            <a:off x="457200" y="274320"/>
            <a:ext cx="11247120" cy="530352"/>
          </a:xfrm>
          <a:prstGeom prst="roundRect">
            <a:avLst>
              <a:gd name="adj" fmla="val 8000"/>
            </a:avLst>
          </a:prstGeom>
          <a:solidFill>
            <a:srgbClr val="132346"/>
          </a:solidFill>
          <a:ln>
            <a:noFill/>
          </a:ln>
        </p:spPr>
      </p:sp>
      <p:sp>
        <p:nvSpPr>
          <p:cNvPr id="4" name="nb"/>
          <p:cNvSpPr>
            <a:spLocks noGrp="1"/>
          </p:cNvSpPr>
          <p:nvPr/>
        </p:nvSpPr>
        <p:spPr>
          <a:xfrm>
            <a:off x="457200" y="274320"/>
            <a:ext cx="585216" cy="530352"/>
          </a:xfrm>
          <a:prstGeom prst="roundRect">
            <a:avLst>
              <a:gd name="adj" fmla="val 8000"/>
            </a:avLst>
          </a:prstGeom>
          <a:solidFill>
            <a:srgbClr val="B3261E"/>
          </a:solidFill>
          <a:ln>
            <a:noFill/>
          </a:ln>
        </p:spPr>
      </p:sp>
      <p:sp>
        <p:nvSpPr>
          <p:cNvPr id="5" name="nt"/>
          <p:cNvSpPr txBox="1">
            <a:spLocks noGrp="1"/>
          </p:cNvSpPr>
          <p:nvPr/>
        </p:nvSpPr>
        <p:spPr>
          <a:xfrm>
            <a:off x="457200" y="274320"/>
            <a:ext cx="585216" cy="530352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1200" dirty="0" b="1">
                <a:solidFill>
                  <a:srgbClr val="FFFFFF"/>
                </a:solidFill>
                <a:latin typeface="Calibri"/>
              </a:rPr>
              <a:t>N1</a:t>
            </a:r>
          </a:p>
        </p:txBody>
      </p:sp>
      <p:sp>
        <p:nvSpPr>
          <p:cNvPr id="6" name="ttl"/>
          <p:cNvSpPr txBox="1">
            <a:spLocks noGrp="1"/>
          </p:cNvSpPr>
          <p:nvPr/>
        </p:nvSpPr>
        <p:spPr>
          <a:xfrm>
            <a:off x="1097280" y="329184"/>
            <a:ext cx="8686800" cy="420624"/>
          </a:xfrm>
          <a:prstGeom prst="rect">
            <a:avLst/>
          </a:prstGeom>
          <a:noFill/>
          <a:ln>
            <a:noFill/>
          </a:ln>
        </p:spPr>
        <p:txBody>
          <a:bodyPr anchor="t" wrap="square" lIns="91440" rIns="91440" tIns="45720" bIns="45720">
            <a:noAutofit/>
          </a:bodyPr>
          <a:lstStyle/>
          <a:p>
            <a:pPr algn="l"/>
            <a:r>
              <a:rPr lang="es-ES" sz="1700" dirty="0" b="1">
                <a:solidFill>
                  <a:srgbClr val="FFFFFF"/>
                </a:solidFill>
                <a:latin typeface="Calibri"/>
              </a:rPr>
              <a:t>AES · Soporte IT/OT en Planta · Energía</a:t>
            </a:r>
          </a:p>
        </p:txBody>
      </p:sp>
      <p:sp>
        <p:nvSpPr>
          <p:cNvPr id="7" name="abg"/>
          <p:cNvSpPr>
            <a:spLocks noGrp="1"/>
          </p:cNvSpPr>
          <p:nvPr/>
        </p:nvSpPr>
        <p:spPr>
          <a:xfrm>
            <a:off x="9875520" y="320040"/>
            <a:ext cx="1828800" cy="420624"/>
          </a:xfrm>
          <a:prstGeom prst="roundRect">
            <a:avLst>
              <a:gd name="adj" fmla="val 6000"/>
            </a:avLst>
          </a:prstGeom>
          <a:solidFill>
            <a:srgbClr val="B3261E"/>
          </a:solidFill>
          <a:ln>
            <a:noFill/>
          </a:ln>
        </p:spPr>
      </p:sp>
      <p:sp>
        <p:nvSpPr>
          <p:cNvPr id="8" name="at"/>
          <p:cNvSpPr txBox="1">
            <a:spLocks noGrp="1"/>
          </p:cNvSpPr>
          <p:nvPr/>
        </p:nvSpPr>
        <p:spPr>
          <a:xfrm>
            <a:off x="9875520" y="320040"/>
            <a:ext cx="1828800" cy="420624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820" dirty="0" b="1">
                <a:solidFill>
                  <a:srgbClr val="FFFFFF"/>
                </a:solidFill>
                <a:latin typeface="Calibri"/>
              </a:rPr>
              <a:t>⚠ N1 · OPORTUNIDAD</a:t>
            </a:r>
          </a:p>
        </p:txBody>
      </p:sp>
      <p:sp>
        <p:nvSpPr>
          <p:cNvPr id="9" name="sub_bg"/>
          <p:cNvSpPr>
            <a:spLocks noGrp="1"/>
          </p:cNvSpPr>
          <p:nvPr/>
        </p:nvSpPr>
        <p:spPr>
          <a:xfrm>
            <a:off x="457200" y="859536"/>
            <a:ext cx="11247120" cy="347472"/>
          </a:xfrm>
          <a:prstGeom prst="rect">
            <a:avLst/>
          </a:prstGeom>
          <a:solidFill>
            <a:srgbClr val="E8EDF4"/>
          </a:solidFill>
          <a:ln>
            <a:noFill/>
          </a:ln>
        </p:spPr>
      </p:sp>
      <p:sp>
        <p:nvSpPr>
          <p:cNvPr id="10" name="sub"/>
          <p:cNvSpPr txBox="1">
            <a:spLocks noGrp="1"/>
          </p:cNvSpPr>
          <p:nvPr/>
        </p:nvSpPr>
        <p:spPr>
          <a:xfrm>
            <a:off x="548640" y="896112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="t" wrap="square" lIns="91440" rIns="91440" tIns="45720" bIns="45720">
            <a:noAutofit/>
          </a:bodyPr>
          <a:lstStyle/>
          <a:p>
            <a:pPr algn="l"/>
            <a:r>
              <a:rPr lang="es-ES" sz="940" dirty="0">
                <a:solidFill>
                  <a:srgbClr val="132346"/>
                </a:solidFill>
                <a:latin typeface="Calibri"/>
              </a:rPr>
              <a:t>Contrato actual: Staffing · Vence agosto 2026 · Extensión posible a noviembre 2026 · RFP activo con 4-5 competidores · 3 años de operación</a:t>
            </a:r>
          </a:p>
        </p:txBody>
      </p:sp>
      <p:sp>
        <p:nvSpPr>
          <p:cNvPr id="20" name="kb"/>
          <p:cNvSpPr>
            <a:spLocks noGrp="1"/>
          </p:cNvSpPr>
          <p:nvPr/>
        </p:nvSpPr>
        <p:spPr>
          <a:xfrm>
            <a:off x="457200" y="1261872"/>
            <a:ext cx="246888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3EC"/>
            </a:solidFill>
          </a:ln>
        </p:spPr>
      </p:sp>
      <p:sp>
        <p:nvSpPr>
          <p:cNvPr id="21" name="kv"/>
          <p:cNvSpPr txBox="1">
            <a:spLocks noGrp="1"/>
          </p:cNvSpPr>
          <p:nvPr/>
        </p:nvSpPr>
        <p:spPr>
          <a:xfrm>
            <a:off x="457200" y="1298448"/>
            <a:ext cx="2468880" cy="347472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2000" dirty="0" b="1">
                <a:solidFill>
                  <a:srgbClr val="132346"/>
                </a:solidFill>
                <a:latin typeface="Calibri"/>
              </a:rPr>
              <a:t>4</a:t>
            </a:r>
          </a:p>
        </p:txBody>
      </p:sp>
      <p:sp>
        <p:nvSpPr>
          <p:cNvPr id="22" name="kl"/>
          <p:cNvSpPr txBox="1">
            <a:spLocks noGrp="1"/>
          </p:cNvSpPr>
          <p:nvPr/>
        </p:nvSpPr>
        <p:spPr>
          <a:xfrm>
            <a:off x="457200" y="1645920"/>
            <a:ext cx="2468880" cy="237744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780" dirty="0">
                <a:solidFill>
                  <a:srgbClr val="5A6472"/>
                </a:solidFill>
                <a:latin typeface="Calibri"/>
              </a:rPr>
              <a:t>FTE en planta</a:t>
            </a:r>
          </a:p>
        </p:txBody>
      </p:sp>
      <p:sp>
        <p:nvSpPr>
          <p:cNvPr id="25" name="kb"/>
          <p:cNvSpPr>
            <a:spLocks noGrp="1"/>
          </p:cNvSpPr>
          <p:nvPr/>
        </p:nvSpPr>
        <p:spPr>
          <a:xfrm>
            <a:off x="3072384" y="1261872"/>
            <a:ext cx="246888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3EC"/>
            </a:solidFill>
          </a:ln>
        </p:spPr>
      </p:sp>
      <p:sp>
        <p:nvSpPr>
          <p:cNvPr id="26" name="kv"/>
          <p:cNvSpPr txBox="1">
            <a:spLocks noGrp="1"/>
          </p:cNvSpPr>
          <p:nvPr/>
        </p:nvSpPr>
        <p:spPr>
          <a:xfrm>
            <a:off x="3072384" y="1298448"/>
            <a:ext cx="2468880" cy="347472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2000" dirty="0" b="1">
                <a:solidFill>
                  <a:srgbClr val="8A8F98"/>
                </a:solidFill>
                <a:latin typeface="Calibri"/>
              </a:rPr>
              <a:t>N/D</a:t>
            </a:r>
          </a:p>
        </p:txBody>
      </p:sp>
      <p:sp>
        <p:nvSpPr>
          <p:cNvPr id="27" name="kl"/>
          <p:cNvSpPr txBox="1">
            <a:spLocks noGrp="1"/>
          </p:cNvSpPr>
          <p:nvPr/>
        </p:nvSpPr>
        <p:spPr>
          <a:xfrm>
            <a:off x="3072384" y="1645920"/>
            <a:ext cx="2468880" cy="237744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780" dirty="0">
                <a:solidFill>
                  <a:srgbClr val="5A6472"/>
                </a:solidFill>
                <a:latin typeface="Calibri"/>
              </a:rPr>
              <a:t>Tickets/mes</a:t>
            </a:r>
          </a:p>
        </p:txBody>
      </p:sp>
      <p:sp>
        <p:nvSpPr>
          <p:cNvPr id="30" name="kb"/>
          <p:cNvSpPr>
            <a:spLocks noGrp="1"/>
          </p:cNvSpPr>
          <p:nvPr/>
        </p:nvSpPr>
        <p:spPr>
          <a:xfrm>
            <a:off x="5687568" y="1261872"/>
            <a:ext cx="246888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3EC"/>
            </a:solidFill>
          </a:ln>
        </p:spPr>
      </p:sp>
      <p:sp>
        <p:nvSpPr>
          <p:cNvPr id="31" name="kv"/>
          <p:cNvSpPr txBox="1">
            <a:spLocks noGrp="1"/>
          </p:cNvSpPr>
          <p:nvPr/>
        </p:nvSpPr>
        <p:spPr>
          <a:xfrm>
            <a:off x="5687568" y="1298448"/>
            <a:ext cx="2468880" cy="347472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2000" dirty="0" b="1">
                <a:solidFill>
                  <a:srgbClr val="8A8F98"/>
                </a:solidFill>
                <a:latin typeface="Calibri"/>
              </a:rPr>
              <a:t>N/D</a:t>
            </a:r>
          </a:p>
        </p:txBody>
      </p:sp>
      <p:sp>
        <p:nvSpPr>
          <p:cNvPr id="32" name="kl"/>
          <p:cNvSpPr txBox="1">
            <a:spLocks noGrp="1"/>
          </p:cNvSpPr>
          <p:nvPr/>
        </p:nvSpPr>
        <p:spPr>
          <a:xfrm>
            <a:off x="5687568" y="1645920"/>
            <a:ext cx="2468880" cy="237744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780" dirty="0">
                <a:solidFill>
                  <a:srgbClr val="5A6472"/>
                </a:solidFill>
                <a:latin typeface="Calibri"/>
              </a:rPr>
              <a:t>MTTR</a:t>
            </a:r>
          </a:p>
        </p:txBody>
      </p:sp>
      <p:sp>
        <p:nvSpPr>
          <p:cNvPr id="35" name="kb"/>
          <p:cNvSpPr>
            <a:spLocks noGrp="1"/>
          </p:cNvSpPr>
          <p:nvPr/>
        </p:nvSpPr>
        <p:spPr>
          <a:xfrm>
            <a:off x="8302752" y="1261872"/>
            <a:ext cx="246888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3EC"/>
            </a:solidFill>
          </a:ln>
        </p:spPr>
      </p:sp>
      <p:sp>
        <p:nvSpPr>
          <p:cNvPr id="36" name="kv"/>
          <p:cNvSpPr txBox="1">
            <a:spLocks noGrp="1"/>
          </p:cNvSpPr>
          <p:nvPr/>
        </p:nvSpPr>
        <p:spPr>
          <a:xfrm>
            <a:off x="8302752" y="1298448"/>
            <a:ext cx="2468880" cy="347472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2000" dirty="0" b="1">
                <a:solidFill>
                  <a:srgbClr val="8A8F98"/>
                </a:solidFill>
                <a:latin typeface="Calibri"/>
              </a:rPr>
              <a:t>N/D</a:t>
            </a:r>
          </a:p>
        </p:txBody>
      </p:sp>
      <p:sp>
        <p:nvSpPr>
          <p:cNvPr id="37" name="kl"/>
          <p:cNvSpPr txBox="1">
            <a:spLocks noGrp="1"/>
          </p:cNvSpPr>
          <p:nvPr/>
        </p:nvSpPr>
        <p:spPr>
          <a:xfrm>
            <a:off x="8302752" y="1645920"/>
            <a:ext cx="2468880" cy="237744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780" dirty="0">
                <a:solidFill>
                  <a:srgbClr val="5A6472"/>
                </a:solidFill>
                <a:latin typeface="Calibri"/>
              </a:rPr>
              <a:t>SLA contractual</a:t>
            </a:r>
          </a:p>
        </p:txBody>
      </p:sp>
      <p:sp>
        <p:nvSpPr>
          <p:cNvPr id="50" name="ch"/>
          <p:cNvSpPr>
            <a:spLocks noGrp="1"/>
          </p:cNvSpPr>
          <p:nvPr/>
        </p:nvSpPr>
        <p:spPr>
          <a:xfrm>
            <a:off x="457200" y="2011680"/>
            <a:ext cx="5303520" cy="256032"/>
          </a:xfrm>
          <a:prstGeom prst="rect">
            <a:avLst/>
          </a:prstGeom>
          <a:solidFill>
            <a:srgbClr val="DCE3EC"/>
          </a:solidFill>
          <a:ln>
            <a:noFill/>
          </a:ln>
        </p:spPr>
      </p:sp>
      <p:sp>
        <p:nvSpPr>
          <p:cNvPr id="51" name="cht"/>
          <p:cNvSpPr txBox="1">
            <a:spLocks noGrp="1"/>
          </p:cNvSpPr>
          <p:nvPr/>
        </p:nvSpPr>
        <p:spPr>
          <a:xfrm>
            <a:off x="566928" y="2011680"/>
            <a:ext cx="5120640" cy="256032"/>
          </a:xfrm>
          <a:prstGeom prst="rect">
            <a:avLst/>
          </a:prstGeom>
          <a:noFill/>
          <a:ln>
            <a:noFill/>
          </a:ln>
        </p:spPr>
        <p:txBody>
          <a:bodyPr anchor="t" wrap="square" lIns="91440" rIns="91440" tIns="45720" bIns="45720">
            <a:noAutofit/>
          </a:bodyPr>
          <a:lstStyle/>
          <a:p>
            <a:pPr algn="l"/>
            <a:r>
              <a:rPr lang="es-ES" sz="880" dirty="0" b="1">
                <a:solidFill>
                  <a:srgbClr val="132346"/>
                </a:solidFill>
                <a:latin typeface="Calibri"/>
              </a:rPr>
              <a:t>CONTEXTO</a:t>
            </a:r>
          </a:p>
        </p:txBody>
      </p:sp>
      <p:sp>
        <p:nvSpPr>
          <p:cNvPr id="52" name="cbg"/>
          <p:cNvSpPr>
            <a:spLocks noGrp="1"/>
          </p:cNvSpPr>
          <p:nvPr/>
        </p:nvSpPr>
        <p:spPr>
          <a:xfrm>
            <a:off x="457200" y="2267712"/>
            <a:ext cx="5303520" cy="173736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53" name="cl"/>
          <p:cNvSpPr txBox="1">
            <a:spLocks noGrp="1"/>
          </p:cNvSpPr>
          <p:nvPr/>
        </p:nvSpPr>
        <p:spPr>
          <a:xfrm>
            <a:off x="566928" y="2322576"/>
            <a:ext cx="5084064" cy="256032"/>
          </a:xfrm>
          <a:prstGeom prst="rect">
            <a:avLst/>
          </a:prstGeom>
          <a:noFill/>
          <a:ln>
            <a:noFill/>
          </a:ln>
        </p:spPr>
        <p:txBody>
          <a:bodyPr anchor="t" wrap="square" lIns="91440" rIns="91440" tIns="45720" bIns="45720">
            <a:noAutofit/>
          </a:bodyPr>
          <a:lstStyle/>
          <a:p>
            <a:pPr algn="l"/>
            <a:r>
              <a:rPr lang="es-ES" sz="860" dirty="0">
                <a:solidFill>
                  <a:srgbClr val="1C1C1C"/>
                </a:solidFill>
                <a:latin typeface="Calibri"/>
              </a:rPr>
              <a:t>·  Soporte IT/OT e infraestructura física en central hidroeléctrica</a:t>
            </a:r>
          </a:p>
        </p:txBody>
      </p:sp>
      <p:sp>
        <p:nvSpPr>
          <p:cNvPr id="54" name="cl"/>
          <p:cNvSpPr txBox="1">
            <a:spLocks noGrp="1"/>
          </p:cNvSpPr>
          <p:nvPr/>
        </p:nvSpPr>
        <p:spPr>
          <a:xfrm>
            <a:off x="566928" y="2596896"/>
            <a:ext cx="5084064" cy="256032"/>
          </a:xfrm>
          <a:prstGeom prst="rect">
            <a:avLst/>
          </a:prstGeom>
          <a:noFill/>
          <a:ln>
            <a:noFill/>
          </a:ln>
        </p:spPr>
        <p:txBody>
          <a:bodyPr anchor="t" wrap="square" lIns="91440" rIns="91440" tIns="45720" bIns="45720">
            <a:noAutofit/>
          </a:bodyPr>
          <a:lstStyle/>
          <a:p>
            <a:pPr algn="l"/>
            <a:r>
              <a:rPr lang="es-ES" sz="860" dirty="0">
                <a:solidFill>
                  <a:srgbClr val="1C1C1C"/>
                </a:solidFill>
                <a:latin typeface="Calibri"/>
              </a:rPr>
              <a:t>·  Modelo actual: staffing puro · PersonalSoft compra y re-cobra equipos al cliente</a:t>
            </a:r>
          </a:p>
        </p:txBody>
      </p:sp>
      <p:sp>
        <p:nvSpPr>
          <p:cNvPr id="55" name="cl"/>
          <p:cNvSpPr txBox="1">
            <a:spLocks noGrp="1"/>
          </p:cNvSpPr>
          <p:nvPr/>
        </p:nvSpPr>
        <p:spPr>
          <a:xfrm>
            <a:off x="566928" y="2871216"/>
            <a:ext cx="5084064" cy="256032"/>
          </a:xfrm>
          <a:prstGeom prst="rect">
            <a:avLst/>
          </a:prstGeom>
          <a:noFill/>
          <a:ln>
            <a:noFill/>
          </a:ln>
        </p:spPr>
        <p:txBody>
          <a:bodyPr anchor="t" wrap="square" lIns="91440" rIns="91440" tIns="45720" bIns="45720">
            <a:noAutofit/>
          </a:bodyPr>
          <a:lstStyle/>
          <a:p>
            <a:pPr algn="l"/>
            <a:r>
              <a:rPr lang="es-ES" sz="860" dirty="0">
                <a:solidFill>
                  <a:srgbClr val="1C1C1C"/>
                </a:solidFill>
                <a:latin typeface="Calibri"/>
              </a:rPr>
              <a:t>·  Herramienta: tickets via ARUS (tercero del cliente) · Sin ITSM propio</a:t>
            </a:r>
          </a:p>
        </p:txBody>
      </p:sp>
      <p:sp>
        <p:nvSpPr>
          <p:cNvPr id="56" name="cl"/>
          <p:cNvSpPr txBox="1">
            <a:spLocks noGrp="1"/>
          </p:cNvSpPr>
          <p:nvPr/>
        </p:nvSpPr>
        <p:spPr>
          <a:xfrm>
            <a:off x="566928" y="3145536"/>
            <a:ext cx="5084064" cy="256032"/>
          </a:xfrm>
          <a:prstGeom prst="rect">
            <a:avLst/>
          </a:prstGeom>
          <a:noFill/>
          <a:ln>
            <a:noFill/>
          </a:ln>
        </p:spPr>
        <p:txBody>
          <a:bodyPr anchor="t" wrap="square" lIns="91440" rIns="91440" tIns="45720" bIns="45720">
            <a:noAutofit/>
          </a:bodyPr>
          <a:lstStyle/>
          <a:p>
            <a:pPr algn="l"/>
            <a:r>
              <a:rPr lang="es-ES" sz="860" dirty="0">
                <a:solidFill>
                  <a:srgbClr val="1C1C1C"/>
                </a:solidFill>
                <a:latin typeface="Calibri"/>
              </a:rPr>
              <a:t>·  Disponibilidad: 8x5 · Soporte en planta con presencia física obligatoria</a:t>
            </a:r>
          </a:p>
        </p:txBody>
      </p:sp>
      <p:sp>
        <p:nvSpPr>
          <p:cNvPr id="57" name="cl"/>
          <p:cNvSpPr txBox="1">
            <a:spLocks noGrp="1"/>
          </p:cNvSpPr>
          <p:nvPr/>
        </p:nvSpPr>
        <p:spPr>
          <a:xfrm>
            <a:off x="566928" y="3419856"/>
            <a:ext cx="5084064" cy="256032"/>
          </a:xfrm>
          <a:prstGeom prst="rect">
            <a:avLst/>
          </a:prstGeom>
          <a:noFill/>
          <a:ln>
            <a:noFill/>
          </a:ln>
        </p:spPr>
        <p:txBody>
          <a:bodyPr anchor="t" wrap="square" lIns="91440" rIns="91440" tIns="45720" bIns="45720">
            <a:noAutofit/>
          </a:bodyPr>
          <a:lstStyle/>
          <a:p>
            <a:pPr algn="l"/>
            <a:r>
              <a:rPr lang="es-ES" sz="860" dirty="0">
                <a:solidFill>
                  <a:srgbClr val="1C1C1C"/>
                </a:solidFill>
                <a:latin typeface="Calibri"/>
              </a:rPr>
              <a:t>·  Tiempo en el cliente: 3 años · Líder comercial: Michael Arevalo</a:t>
            </a:r>
          </a:p>
        </p:txBody>
      </p:sp>
      <p:sp>
        <p:nvSpPr>
          <p:cNvPr id="58" name="cl"/>
          <p:cNvSpPr txBox="1">
            <a:spLocks noGrp="1"/>
          </p:cNvSpPr>
          <p:nvPr/>
        </p:nvSpPr>
        <p:spPr>
          <a:xfrm>
            <a:off x="566928" y="3694176"/>
            <a:ext cx="5084064" cy="256032"/>
          </a:xfrm>
          <a:prstGeom prst="rect">
            <a:avLst/>
          </a:prstGeom>
          <a:noFill/>
          <a:ln>
            <a:noFill/>
          </a:ln>
        </p:spPr>
        <p:txBody>
          <a:bodyPr anchor="t" wrap="square" lIns="91440" rIns="91440" tIns="45720" bIns="45720">
            <a:noAutofit/>
          </a:bodyPr>
          <a:lstStyle/>
          <a:p>
            <a:pPr algn="l"/>
            <a:r>
              <a:rPr lang="es-ES" sz="860" dirty="0">
                <a:solidFill>
                  <a:srgbClr val="1C1C1C"/>
                </a:solidFill>
                <a:latin typeface="Calibri"/>
              </a:rPr>
              <a:t>·  Sin SLA contractual documentado · Sin métricas formales de ningún tipo</a:t>
            </a:r>
          </a:p>
        </p:txBody>
      </p:sp>
      <p:sp>
        <p:nvSpPr>
          <p:cNvPr id="70" name="dh"/>
          <p:cNvSpPr>
            <a:spLocks noGrp="1"/>
          </p:cNvSpPr>
          <p:nvPr/>
        </p:nvSpPr>
        <p:spPr>
          <a:xfrm>
            <a:off x="5943600" y="2011680"/>
            <a:ext cx="5760720" cy="256032"/>
          </a:xfrm>
          <a:prstGeom prst="rect">
            <a:avLst/>
          </a:prstGeom>
          <a:solidFill>
            <a:srgbClr val="DCE3EC"/>
          </a:solidFill>
          <a:ln>
            <a:noFill/>
          </a:ln>
        </p:spPr>
      </p:sp>
      <p:sp>
        <p:nvSpPr>
          <p:cNvPr id="71" name="dht"/>
          <p:cNvSpPr txBox="1">
            <a:spLocks noGrp="1"/>
          </p:cNvSpPr>
          <p:nvPr/>
        </p:nvSpPr>
        <p:spPr>
          <a:xfrm>
            <a:off x="6053328" y="2011680"/>
            <a:ext cx="5577840" cy="256032"/>
          </a:xfrm>
          <a:prstGeom prst="rect">
            <a:avLst/>
          </a:prstGeom>
          <a:noFill/>
          <a:ln>
            <a:noFill/>
          </a:ln>
        </p:spPr>
        <p:txBody>
          <a:bodyPr anchor="t" wrap="square" lIns="91440" rIns="91440" tIns="45720" bIns="45720">
            <a:noAutofit/>
          </a:bodyPr>
          <a:lstStyle/>
          <a:p>
            <a:pPr algn="l"/>
            <a:r>
              <a:rPr lang="es-ES" sz="880" dirty="0" b="1">
                <a:solidFill>
                  <a:srgbClr val="132346"/>
                </a:solidFill>
                <a:latin typeface="Calibri"/>
              </a:rPr>
              <a:t>BRECHAS CRÍTICAS</a:t>
            </a:r>
          </a:p>
        </p:txBody>
      </p:sp>
      <p:sp>
        <p:nvSpPr>
          <p:cNvPr id="72" name="dbg"/>
          <p:cNvSpPr>
            <a:spLocks noGrp="1"/>
          </p:cNvSpPr>
          <p:nvPr/>
        </p:nvSpPr>
        <p:spPr>
          <a:xfrm>
            <a:off x="5943600" y="2267712"/>
            <a:ext cx="5760720" cy="1883664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80" name="d"/>
          <p:cNvSpPr txBox="1">
            <a:spLocks noGrp="1"/>
          </p:cNvSpPr>
          <p:nvPr/>
        </p:nvSpPr>
        <p:spPr>
          <a:xfrm>
            <a:off x="6053328" y="2340864"/>
            <a:ext cx="5394960" cy="274320"/>
          </a:xfrm>
          <a:prstGeom prst="rect">
            <a:avLst/>
          </a:prstGeom>
          <a:noFill/>
          <a:ln>
            <a:noFill/>
          </a:ln>
        </p:spPr>
        <p:txBody>
          <a:bodyPr anchor="t" wrap="square" lIns="91440" rIns="91440" tIns="45720" bIns="45720">
            <a:noAutofit/>
          </a:bodyPr>
          <a:lstStyle/>
          <a:p>
            <a:pPr algn="l"/>
            <a:r>
              <a:rPr lang="es-ES" sz="880" dirty="0" b="1">
                <a:solidFill>
                  <a:srgbClr val="B3261E"/>
                </a:solidFill>
                <a:latin typeface="Calibri"/>
              </a:rPr>
              <a:t>●  </a:t>
            </a:r>
            <a:r>
              <a:rPr lang="es-ES" sz="840" dirty="0">
                <a:solidFill>
                  <a:srgbClr val="1C1C1C"/>
                </a:solidFill>
                <a:latin typeface="Calibri"/>
              </a:rPr>
              <a:t>D11 · Postura 100% reactiva — sin proceso formal de gestión</a:t>
            </a:r>
          </a:p>
        </p:txBody>
      </p:sp>
      <p:sp>
        <p:nvSpPr>
          <p:cNvPr id="81" name="d"/>
          <p:cNvSpPr txBox="1">
            <a:spLocks noGrp="1"/>
          </p:cNvSpPr>
          <p:nvPr/>
        </p:nvSpPr>
        <p:spPr>
          <a:xfrm>
            <a:off x="6053328" y="2651760"/>
            <a:ext cx="5394960" cy="274320"/>
          </a:xfrm>
          <a:prstGeom prst="rect">
            <a:avLst/>
          </a:prstGeom>
          <a:noFill/>
          <a:ln>
            <a:noFill/>
          </a:ln>
        </p:spPr>
        <p:txBody>
          <a:bodyPr anchor="t" wrap="square" lIns="91440" rIns="91440" tIns="45720" bIns="45720">
            <a:noAutofit/>
          </a:bodyPr>
          <a:lstStyle/>
          <a:p>
            <a:pPr algn="l"/>
            <a:r>
              <a:rPr lang="es-ES" sz="880" dirty="0" b="1">
                <a:solidFill>
                  <a:srgbClr val="B3261E"/>
                </a:solidFill>
                <a:latin typeface="Calibri"/>
              </a:rPr>
              <a:t>●  </a:t>
            </a:r>
            <a:r>
              <a:rPr lang="es-ES" sz="840" dirty="0">
                <a:solidFill>
                  <a:srgbClr val="1C1C1C"/>
                </a:solidFill>
                <a:latin typeface="Calibri"/>
              </a:rPr>
              <a:t>D16 · Brechas vendido vs ejecutado — volumetría mal estimada</a:t>
            </a:r>
          </a:p>
        </p:txBody>
      </p:sp>
      <p:sp>
        <p:nvSpPr>
          <p:cNvPr id="82" name="d"/>
          <p:cNvSpPr txBox="1">
            <a:spLocks noGrp="1"/>
          </p:cNvSpPr>
          <p:nvPr/>
        </p:nvSpPr>
        <p:spPr>
          <a:xfrm>
            <a:off x="6053328" y="2962656"/>
            <a:ext cx="5394960" cy="274320"/>
          </a:xfrm>
          <a:prstGeom prst="rect">
            <a:avLst/>
          </a:prstGeom>
          <a:noFill/>
          <a:ln>
            <a:noFill/>
          </a:ln>
        </p:spPr>
        <p:txBody>
          <a:bodyPr anchor="t" wrap="square" lIns="91440" rIns="91440" tIns="45720" bIns="45720">
            <a:noAutofit/>
          </a:bodyPr>
          <a:lstStyle/>
          <a:p>
            <a:pPr algn="l"/>
            <a:r>
              <a:rPr lang="es-ES" sz="880" dirty="0" b="1">
                <a:solidFill>
                  <a:srgbClr val="B3261E"/>
                </a:solidFill>
                <a:latin typeface="Calibri"/>
              </a:rPr>
              <a:t>●  </a:t>
            </a:r>
            <a:r>
              <a:rPr lang="es-ES" sz="840" dirty="0">
                <a:solidFill>
                  <a:srgbClr val="1C1C1C"/>
                </a:solidFill>
                <a:latin typeface="Calibri"/>
              </a:rPr>
              <a:t>D17 · Sin métricas ni KPIs — nadie sabe si el servicio es bueno</a:t>
            </a:r>
          </a:p>
        </p:txBody>
      </p:sp>
      <p:sp>
        <p:nvSpPr>
          <p:cNvPr id="83" name="d"/>
          <p:cNvSpPr txBox="1">
            <a:spLocks noGrp="1"/>
          </p:cNvSpPr>
          <p:nvPr/>
        </p:nvSpPr>
        <p:spPr>
          <a:xfrm>
            <a:off x="6053328" y="3273552"/>
            <a:ext cx="5394960" cy="274320"/>
          </a:xfrm>
          <a:prstGeom prst="rect">
            <a:avLst/>
          </a:prstGeom>
          <a:noFill/>
          <a:ln>
            <a:noFill/>
          </a:ln>
        </p:spPr>
        <p:txBody>
          <a:bodyPr anchor="t" wrap="square" lIns="91440" rIns="91440" tIns="45720" bIns="45720">
            <a:noAutofit/>
          </a:bodyPr>
          <a:lstStyle/>
          <a:p>
            <a:pPr algn="l"/>
            <a:r>
              <a:rPr lang="es-ES" sz="880" dirty="0" b="1">
                <a:solidFill>
                  <a:srgbClr val="B3261E"/>
                </a:solidFill>
                <a:latin typeface="Calibri"/>
              </a:rPr>
              <a:t>●  </a:t>
            </a:r>
            <a:r>
              <a:rPr lang="es-ES" sz="840" dirty="0">
                <a:solidFill>
                  <a:srgbClr val="1C1C1C"/>
                </a:solidFill>
                <a:latin typeface="Calibri"/>
              </a:rPr>
              <a:t>D20 · Asignación sin modelo de demanda estandarizado</a:t>
            </a:r>
          </a:p>
        </p:txBody>
      </p:sp>
      <p:sp>
        <p:nvSpPr>
          <p:cNvPr id="88" name="dsep"/>
          <p:cNvSpPr>
            <a:spLocks noGrp="1"/>
          </p:cNvSpPr>
          <p:nvPr/>
        </p:nvSpPr>
        <p:spPr>
          <a:xfrm>
            <a:off x="6053328" y="3639312"/>
            <a:ext cx="5303520" cy="9144"/>
          </a:xfrm>
          <a:prstGeom prst="rect">
            <a:avLst/>
          </a:prstGeom>
          <a:solidFill>
            <a:srgbClr val="DCE3EC"/>
          </a:solidFill>
          <a:ln>
            <a:noFill/>
          </a:ln>
        </p:spPr>
      </p:sp>
      <p:sp>
        <p:nvSpPr>
          <p:cNvPr id="90" name="d"/>
          <p:cNvSpPr txBox="1">
            <a:spLocks noGrp="1"/>
          </p:cNvSpPr>
          <p:nvPr/>
        </p:nvSpPr>
        <p:spPr>
          <a:xfrm>
            <a:off x="6053328" y="3694176"/>
            <a:ext cx="5394960" cy="274320"/>
          </a:xfrm>
          <a:prstGeom prst="rect">
            <a:avLst/>
          </a:prstGeom>
          <a:noFill/>
          <a:ln>
            <a:noFill/>
          </a:ln>
        </p:spPr>
        <p:txBody>
          <a:bodyPr anchor="t" wrap="square" lIns="91440" rIns="91440" tIns="45720" bIns="45720">
            <a:noAutofit/>
          </a:bodyPr>
          <a:lstStyle/>
          <a:p>
            <a:pPr algn="l"/>
            <a:r>
              <a:rPr lang="es-ES" sz="880" dirty="0" b="1">
                <a:solidFill>
                  <a:srgbClr val="D4A017"/>
                </a:solidFill>
                <a:latin typeface="Calibri"/>
              </a:rPr>
              <a:t>◐  </a:t>
            </a:r>
            <a:r>
              <a:rPr lang="es-ES" sz="840" dirty="0">
                <a:solidFill>
                  <a:srgbClr val="1C1C1C"/>
                </a:solidFill>
                <a:latin typeface="Calibri"/>
              </a:rPr>
              <a:t>D4 · Herramientas fragmentadas — ARUS es del cliente, no de PS</a:t>
            </a:r>
          </a:p>
        </p:txBody>
      </p:sp>
      <p:sp>
        <p:nvSpPr>
          <p:cNvPr id="91" name="d"/>
          <p:cNvSpPr txBox="1">
            <a:spLocks noGrp="1"/>
          </p:cNvSpPr>
          <p:nvPr/>
        </p:nvSpPr>
        <p:spPr>
          <a:xfrm>
            <a:off x="6053328" y="3968496"/>
            <a:ext cx="5394960" cy="274320"/>
          </a:xfrm>
          <a:prstGeom prst="rect">
            <a:avLst/>
          </a:prstGeom>
          <a:noFill/>
          <a:ln>
            <a:noFill/>
          </a:ln>
        </p:spPr>
        <p:txBody>
          <a:bodyPr anchor="t" wrap="square" lIns="91440" rIns="91440" tIns="45720" bIns="45720">
            <a:noAutofit/>
          </a:bodyPr>
          <a:lstStyle/>
          <a:p>
            <a:pPr algn="l"/>
            <a:r>
              <a:rPr lang="es-ES" sz="880" dirty="0" b="1">
                <a:solidFill>
                  <a:srgbClr val="D4A017"/>
                </a:solidFill>
                <a:latin typeface="Calibri"/>
              </a:rPr>
              <a:t>◐  </a:t>
            </a:r>
            <a:r>
              <a:rPr lang="es-ES" sz="840" dirty="0">
                <a:solidFill>
                  <a:srgbClr val="1C1C1C"/>
                </a:solidFill>
                <a:latin typeface="Calibri"/>
              </a:rPr>
              <a:t>D12 · Sin gobierno claro — sin RACI ni ANS formales</a:t>
            </a:r>
          </a:p>
        </p:txBody>
      </p:sp>
      <p:sp>
        <p:nvSpPr>
          <p:cNvPr id="92" name="d"/>
          <p:cNvSpPr txBox="1">
            <a:spLocks noGrp="1"/>
          </p:cNvSpPr>
          <p:nvPr/>
        </p:nvSpPr>
        <p:spPr>
          <a:xfrm>
            <a:off x="6053328" y="4242816"/>
            <a:ext cx="5394960" cy="274320"/>
          </a:xfrm>
          <a:prstGeom prst="rect">
            <a:avLst/>
          </a:prstGeom>
          <a:noFill/>
          <a:ln>
            <a:noFill/>
          </a:ln>
        </p:spPr>
        <p:txBody>
          <a:bodyPr anchor="t" wrap="square" lIns="91440" rIns="91440" tIns="45720" bIns="45720">
            <a:noAutofit/>
          </a:bodyPr>
          <a:lstStyle/>
          <a:p>
            <a:pPr algn="l"/>
            <a:r>
              <a:rPr lang="es-ES" sz="880" dirty="0" b="1">
                <a:solidFill>
                  <a:srgbClr val="D4A017"/>
                </a:solidFill>
                <a:latin typeface="Calibri"/>
              </a:rPr>
              <a:t>◐  </a:t>
            </a:r>
            <a:r>
              <a:rPr lang="es-ES" sz="840" dirty="0">
                <a:solidFill>
                  <a:srgbClr val="1C1C1C"/>
                </a:solidFill>
                <a:latin typeface="Calibri"/>
              </a:rPr>
              <a:t>D13 · Roles sin definir — criterio individual, no modelo</a:t>
            </a:r>
          </a:p>
        </p:txBody>
      </p:sp>
      <p:sp>
        <p:nvSpPr>
          <p:cNvPr id="100" name="conc_bg"/>
          <p:cNvSpPr>
            <a:spLocks noGrp="1"/>
          </p:cNvSpPr>
          <p:nvPr/>
        </p:nvSpPr>
        <p:spPr>
          <a:xfrm>
            <a:off x="457200" y="3968496"/>
            <a:ext cx="11247120" cy="402336"/>
          </a:xfrm>
          <a:prstGeom prst="roundRect">
            <a:avLst>
              <a:gd name="adj" fmla="val 8000"/>
            </a:avLst>
          </a:prstGeom>
          <a:solidFill>
            <a:srgbClr val="E8EDF4"/>
          </a:solidFill>
          <a:ln>
            <a:noFill/>
          </a:ln>
        </p:spPr>
      </p:sp>
      <p:sp>
        <p:nvSpPr>
          <p:cNvPr id="101" name="conc"/>
          <p:cNvSpPr txBox="1">
            <a:spLocks noGrp="1"/>
          </p:cNvSpPr>
          <p:nvPr/>
        </p:nvSpPr>
        <p:spPr>
          <a:xfrm>
            <a:off x="566928" y="4005072"/>
            <a:ext cx="10972800" cy="329184"/>
          </a:xfrm>
          <a:prstGeom prst="rect">
            <a:avLst/>
          </a:prstGeom>
          <a:noFill/>
          <a:ln>
            <a:noFill/>
          </a:ln>
        </p:spPr>
        <p:txBody>
          <a:bodyPr anchor="t" wrap="square" lIns="91440" rIns="91440" tIns="45720" bIns="45720">
            <a:noAutofit/>
          </a:bodyPr>
          <a:lstStyle/>
          <a:p>
            <a:pPr algn="l"/>
            <a:r>
              <a:rPr lang="es-ES" sz="900" dirty="0">
                <a:solidFill>
                  <a:srgbClr val="132346"/>
                </a:solidFill>
                <a:latin typeface="Calibri"/>
              </a:rPr>
              <a:t>AES es la única mesa en N1. El RFP es una ventana de reconversión: pasar de staffing puro a modelo Gen Next con gobierno, métricas y RACI — o se pierde el cliente.</a:t>
            </a:r>
          </a:p>
        </p:txBody>
      </p:sp>
      <p:sp>
        <p:nvSpPr>
          <p:cNvPr id="110" name="src"/>
          <p:cNvSpPr txBox="1">
            <a:spLocks noGrp="1"/>
          </p:cNvSpPr>
          <p:nvPr/>
        </p:nvSpPr>
        <p:spPr>
          <a:xfrm>
            <a:off x="457200" y="4453128"/>
            <a:ext cx="11155680" cy="164592"/>
          </a:xfrm>
          <a:prstGeom prst="rect">
            <a:avLst/>
          </a:prstGeom>
          <a:noFill/>
          <a:ln>
            <a:noFill/>
          </a:ln>
        </p:spPr>
        <p:txBody>
          <a:bodyPr anchor="t" wrap="square" lIns="91440" rIns="91440" tIns="45720" bIns="45720">
            <a:noAutofit/>
          </a:bodyPr>
          <a:lstStyle/>
          <a:p>
            <a:pPr algn="l"/>
            <a:r>
              <a:rPr lang="es-ES" sz="750" dirty="0" i="1">
                <a:solidFill>
                  <a:srgbClr val="5A6472"/>
                </a:solidFill>
                <a:latin typeface="Calibri"/>
              </a:rPr>
              <a:t>Fuente: Levantamiento interno PersonalSoft · Julio 2026 · Transcript: Michael Arevalo (AES) · Excel Levantamiento_Mesas_Julio_2026</a:t>
            </a:r>
          </a:p>
        </p:txBody>
      </p:sp>
    </p:spTree>
  </p:cSld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bg"/>
          <p:cNvSpPr>
            <a:spLocks noGrp="1"/>
          </p:cNvSpPr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6F2"/>
          </a:solidFill>
          <a:ln>
            <a:noFill/>
          </a:ln>
        </p:spPr>
      </p:sp>
      <p:sp>
        <p:nvSpPr>
          <p:cNvPr id="3" name="hdr"/>
          <p:cNvSpPr>
            <a:spLocks noGrp="1"/>
          </p:cNvSpPr>
          <p:nvPr/>
        </p:nvSpPr>
        <p:spPr>
          <a:xfrm>
            <a:off x="457200" y="274320"/>
            <a:ext cx="11247120" cy="530352"/>
          </a:xfrm>
          <a:prstGeom prst="roundRect">
            <a:avLst>
              <a:gd name="adj" fmla="val 8000"/>
            </a:avLst>
          </a:prstGeom>
          <a:solidFill>
            <a:srgbClr val="132346"/>
          </a:solidFill>
          <a:ln>
            <a:noFill/>
          </a:ln>
        </p:spPr>
      </p:sp>
      <p:sp>
        <p:nvSpPr>
          <p:cNvPr id="4" name="nb"/>
          <p:cNvSpPr>
            <a:spLocks noGrp="1"/>
          </p:cNvSpPr>
          <p:nvPr/>
        </p:nvSpPr>
        <p:spPr>
          <a:xfrm>
            <a:off x="457200" y="274320"/>
            <a:ext cx="585216" cy="530352"/>
          </a:xfrm>
          <a:prstGeom prst="roundRect">
            <a:avLst>
              <a:gd name="adj" fmla="val 8000"/>
            </a:avLst>
          </a:prstGeom>
          <a:solidFill>
            <a:srgbClr val="017490"/>
          </a:solidFill>
          <a:ln>
            <a:noFill/>
          </a:ln>
        </p:spPr>
      </p:sp>
      <p:sp>
        <p:nvSpPr>
          <p:cNvPr id="5" name="nt"/>
          <p:cNvSpPr txBox="1">
            <a:spLocks noGrp="1"/>
          </p:cNvSpPr>
          <p:nvPr/>
        </p:nvSpPr>
        <p:spPr>
          <a:xfrm>
            <a:off x="457200" y="274320"/>
            <a:ext cx="585216" cy="530352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1200" dirty="0" b="1">
                <a:solidFill>
                  <a:srgbClr val="FFFFFF"/>
                </a:solidFill>
                <a:latin typeface="Calibri"/>
              </a:rPr>
              <a:t>N2</a:t>
            </a:r>
          </a:p>
        </p:txBody>
      </p:sp>
      <p:sp>
        <p:nvSpPr>
          <p:cNvPr id="6" name="ttl"/>
          <p:cNvSpPr txBox="1">
            <a:spLocks noGrp="1"/>
          </p:cNvSpPr>
          <p:nvPr/>
        </p:nvSpPr>
        <p:spPr>
          <a:xfrm>
            <a:off x="1097280" y="329184"/>
            <a:ext cx="8686800" cy="420624"/>
          </a:xfrm>
          <a:prstGeom prst="rect">
            <a:avLst/>
          </a:prstGeom>
          <a:noFill/>
          <a:ln>
            <a:noFill/>
          </a:ln>
        </p:spPr>
        <p:txBody>
          <a:bodyPr anchor="t" wrap="square" lIns="91440" rIns="91440" tIns="45720" bIns="45720">
            <a:noAutofit/>
          </a:bodyPr>
          <a:lstStyle/>
          <a:p>
            <a:pPr algn="l"/>
            <a:r>
              <a:rPr lang="es-ES" sz="1700" dirty="0" b="1">
                <a:solidFill>
                  <a:srgbClr val="FFFFFF"/>
                </a:solidFill>
                <a:latin typeface="Calibri"/>
              </a:rPr>
              <a:t>SURA · 4 Mesas Activas · Seguros · Renovaciones Agosto–Diciembre 2026</a:t>
            </a:r>
          </a:p>
        </p:txBody>
      </p:sp>
      <p:sp>
        <p:nvSpPr>
          <p:cNvPr id="7" name="abg"/>
          <p:cNvSpPr>
            <a:spLocks noGrp="1"/>
          </p:cNvSpPr>
          <p:nvPr/>
        </p:nvSpPr>
        <p:spPr>
          <a:xfrm>
            <a:off x="9875520" y="320040"/>
            <a:ext cx="1828800" cy="420624"/>
          </a:xfrm>
          <a:prstGeom prst="roundRect">
            <a:avLst>
              <a:gd name="adj" fmla="val 6000"/>
            </a:avLst>
          </a:prstGeom>
          <a:solidFill>
            <a:srgbClr val="D4A017"/>
          </a:solidFill>
          <a:ln>
            <a:noFill/>
          </a:ln>
        </p:spPr>
      </p:sp>
      <p:sp>
        <p:nvSpPr>
          <p:cNvPr id="8" name="at"/>
          <p:cNvSpPr txBox="1">
            <a:spLocks noGrp="1"/>
          </p:cNvSpPr>
          <p:nvPr/>
        </p:nvSpPr>
        <p:spPr>
          <a:xfrm>
            <a:off x="9875520" y="320040"/>
            <a:ext cx="1828800" cy="420624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800" dirty="0" b="1">
                <a:solidFill>
                  <a:srgbClr val="FFFFFF"/>
                </a:solidFill>
                <a:latin typeface="Calibri"/>
              </a:rPr>
              <a:t>⚠ RENOVACIÓN AUG</a:t>
            </a:r>
          </a:p>
        </p:txBody>
      </p:sp>
      <p:sp>
        <p:nvSpPr>
          <p:cNvPr id="9" name="sub_bg"/>
          <p:cNvSpPr>
            <a:spLocks noGrp="1"/>
          </p:cNvSpPr>
          <p:nvPr/>
        </p:nvSpPr>
        <p:spPr>
          <a:xfrm>
            <a:off x="457200" y="859536"/>
            <a:ext cx="11247120" cy="347472"/>
          </a:xfrm>
          <a:prstGeom prst="rect">
            <a:avLst/>
          </a:prstGeom>
          <a:solidFill>
            <a:srgbClr val="E8EDF4"/>
          </a:solidFill>
          <a:ln>
            <a:noFill/>
          </a:ln>
        </p:spPr>
      </p:sp>
      <p:sp>
        <p:nvSpPr>
          <p:cNvPr id="10" name="sub"/>
          <p:cNvSpPr txBox="1">
            <a:spLocks noGrp="1"/>
          </p:cNvSpPr>
          <p:nvPr/>
        </p:nvSpPr>
        <p:spPr>
          <a:xfrm>
            <a:off x="548640" y="896112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="t" wrap="square" lIns="91440" rIns="91440" tIns="45720" bIns="45720">
            <a:noAutofit/>
          </a:bodyPr>
          <a:lstStyle/>
          <a:p>
            <a:pPr algn="l"/>
            <a:r>
              <a:rPr lang="es-ES" sz="940" dirty="0">
                <a:solidFill>
                  <a:srgbClr val="132346"/>
                </a:solidFill>
                <a:latin typeface="Calibri"/>
              </a:rPr>
              <a:t>Lideradas por Elsy Marin · Herramienta: BMC Helix ITSM · 17 FTE totales · 1.525 tickets/mes · Modelo: FTE Dedicado</a:t>
            </a:r>
          </a:p>
        </p:txBody>
      </p:sp>
      <p:sp>
        <p:nvSpPr>
          <p:cNvPr id="20" name="th"/>
          <p:cNvSpPr>
            <a:spLocks noGrp="1"/>
          </p:cNvSpPr>
          <p:nvPr/>
        </p:nvSpPr>
        <p:spPr>
          <a:xfrm>
            <a:off x="457200" y="1280160"/>
            <a:ext cx="11247120" cy="329184"/>
          </a:xfrm>
          <a:prstGeom prst="rect">
            <a:avLst/>
          </a:prstGeom>
          <a:solidFill>
            <a:srgbClr val="017490"/>
          </a:solidFill>
          <a:ln>
            <a:noFill/>
          </a:ln>
        </p:spPr>
      </p:sp>
      <p:sp>
        <p:nvSpPr>
          <p:cNvPr id="21" name="th0"/>
          <p:cNvSpPr txBox="1">
            <a:spLocks noGrp="1"/>
          </p:cNvSpPr>
          <p:nvPr/>
        </p:nvSpPr>
        <p:spPr>
          <a:xfrm>
            <a:off x="457200" y="1280160"/>
            <a:ext cx="2011680" cy="329184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820" dirty="0" b="1">
                <a:solidFill>
                  <a:srgbClr val="FFFFFF"/>
                </a:solidFill>
                <a:latin typeface="Calibri"/>
              </a:rPr>
              <a:t>Mesa</a:t>
            </a:r>
          </a:p>
        </p:txBody>
      </p:sp>
      <p:sp>
        <p:nvSpPr>
          <p:cNvPr id="22" name="th1"/>
          <p:cNvSpPr txBox="1">
            <a:spLocks noGrp="1"/>
          </p:cNvSpPr>
          <p:nvPr/>
        </p:nvSpPr>
        <p:spPr>
          <a:xfrm>
            <a:off x="2468880" y="1280160"/>
            <a:ext cx="457200" cy="329184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820" dirty="0" b="1">
                <a:solidFill>
                  <a:srgbClr val="FFFFFF"/>
                </a:solidFill>
                <a:latin typeface="Calibri"/>
              </a:rPr>
              <a:t>FTE</a:t>
            </a:r>
          </a:p>
        </p:txBody>
      </p:sp>
      <p:sp>
        <p:nvSpPr>
          <p:cNvPr id="23" name="th2"/>
          <p:cNvSpPr txBox="1">
            <a:spLocks noGrp="1"/>
          </p:cNvSpPr>
          <p:nvPr/>
        </p:nvSpPr>
        <p:spPr>
          <a:xfrm>
            <a:off x="2926080" y="1280160"/>
            <a:ext cx="731520" cy="329184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820" dirty="0" b="1">
                <a:solidFill>
                  <a:srgbClr val="FFFFFF"/>
                </a:solidFill>
                <a:latin typeface="Calibri"/>
              </a:rPr>
              <a:t>Tix/mes</a:t>
            </a:r>
          </a:p>
        </p:txBody>
      </p:sp>
      <p:sp>
        <p:nvSpPr>
          <p:cNvPr id="24" name="th3"/>
          <p:cNvSpPr txBox="1">
            <a:spLocks noGrp="1"/>
          </p:cNvSpPr>
          <p:nvPr/>
        </p:nvSpPr>
        <p:spPr>
          <a:xfrm>
            <a:off x="3657600" y="1280160"/>
            <a:ext cx="731520" cy="329184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820" dirty="0" b="1">
                <a:solidFill>
                  <a:srgbClr val="FFFFFF"/>
                </a:solidFill>
                <a:latin typeface="Calibri"/>
              </a:rPr>
              <a:t>MTTR</a:t>
            </a:r>
          </a:p>
        </p:txBody>
      </p:sp>
      <p:sp>
        <p:nvSpPr>
          <p:cNvPr id="25" name="th4"/>
          <p:cNvSpPr txBox="1">
            <a:spLocks noGrp="1"/>
          </p:cNvSpPr>
          <p:nvPr/>
        </p:nvSpPr>
        <p:spPr>
          <a:xfrm>
            <a:off x="4389120" y="1280160"/>
            <a:ext cx="640080" cy="329184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820" dirty="0" b="1">
                <a:solidFill>
                  <a:srgbClr val="FFFFFF"/>
                </a:solidFill>
                <a:latin typeface="Calibri"/>
              </a:rPr>
              <a:t>SLA</a:t>
            </a:r>
          </a:p>
        </p:txBody>
      </p:sp>
      <p:sp>
        <p:nvSpPr>
          <p:cNvPr id="26" name="th5"/>
          <p:cNvSpPr txBox="1">
            <a:spLocks noGrp="1"/>
          </p:cNvSpPr>
          <p:nvPr/>
        </p:nvSpPr>
        <p:spPr>
          <a:xfrm>
            <a:off x="5029200" y="1280160"/>
            <a:ext cx="731520" cy="329184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820" dirty="0" b="1">
                <a:solidFill>
                  <a:srgbClr val="FFFFFF"/>
                </a:solidFill>
                <a:latin typeface="Calibri"/>
              </a:rPr>
              <a:t>USD/tix</a:t>
            </a:r>
          </a:p>
        </p:txBody>
      </p:sp>
      <p:sp>
        <p:nvSpPr>
          <p:cNvPr id="27" name="th6"/>
          <p:cNvSpPr txBox="1">
            <a:spLocks noGrp="1"/>
          </p:cNvSpPr>
          <p:nvPr/>
        </p:nvSpPr>
        <p:spPr>
          <a:xfrm>
            <a:off x="5760720" y="1280160"/>
            <a:ext cx="731520" cy="329184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820" dirty="0" b="1">
                <a:solidFill>
                  <a:srgbClr val="FFFFFF"/>
                </a:solidFill>
                <a:latin typeface="Calibri"/>
              </a:rPr>
              <a:t>Backlog</a:t>
            </a:r>
          </a:p>
        </p:txBody>
      </p:sp>
      <p:sp>
        <p:nvSpPr>
          <p:cNvPr id="28" name="th7"/>
          <p:cNvSpPr txBox="1">
            <a:spLocks noGrp="1"/>
          </p:cNvSpPr>
          <p:nvPr/>
        </p:nvSpPr>
        <p:spPr>
          <a:xfrm>
            <a:off x="6492240" y="1280160"/>
            <a:ext cx="4937760" cy="329184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820" dirty="0" b="1">
                <a:solidFill>
                  <a:srgbClr val="FFFFFF"/>
                </a:solidFill>
                <a:latin typeface="Calibri"/>
              </a:rPr>
              <a:t>Estado</a:t>
            </a:r>
          </a:p>
        </p:txBody>
      </p:sp>
      <p:sp>
        <p:nvSpPr>
          <p:cNvPr id="30" name="rb"/>
          <p:cNvSpPr>
            <a:spLocks noGrp="1"/>
          </p:cNvSpPr>
          <p:nvPr/>
        </p:nvSpPr>
        <p:spPr>
          <a:xfrm>
            <a:off x="457200" y="1609344"/>
            <a:ext cx="112471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CE3EC"/>
            </a:solidFill>
          </a:ln>
        </p:spPr>
      </p:sp>
      <p:sp>
        <p:nvSpPr>
          <p:cNvPr id="31" name="c"/>
          <p:cNvSpPr txBox="1">
            <a:spLocks noGrp="1"/>
          </p:cNvSpPr>
          <p:nvPr/>
        </p:nvSpPr>
        <p:spPr>
          <a:xfrm>
            <a:off x="457200" y="1609344"/>
            <a:ext cx="2011680" cy="347472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l"/>
            <a:r>
              <a:rPr lang="es-ES" sz="820" dirty="0" b="1">
                <a:solidFill>
                  <a:srgbClr val="132346"/>
                </a:solidFill>
                <a:latin typeface="Calibri"/>
              </a:rPr>
              <a:t>Cotizadores</a:t>
            </a:r>
          </a:p>
        </p:txBody>
      </p:sp>
      <p:sp>
        <p:nvSpPr>
          <p:cNvPr id="32" name="c"/>
          <p:cNvSpPr txBox="1">
            <a:spLocks noGrp="1"/>
          </p:cNvSpPr>
          <p:nvPr/>
        </p:nvSpPr>
        <p:spPr>
          <a:xfrm>
            <a:off x="2468880" y="1609344"/>
            <a:ext cx="457200" cy="347472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820" dirty="0">
                <a:solidFill>
                  <a:srgbClr val="1C1C1C"/>
                </a:solidFill>
                <a:latin typeface="Calibri"/>
              </a:rPr>
              <a:t>8</a:t>
            </a:r>
          </a:p>
        </p:txBody>
      </p:sp>
      <p:sp>
        <p:nvSpPr>
          <p:cNvPr id="33" name="c"/>
          <p:cNvSpPr txBox="1">
            <a:spLocks noGrp="1"/>
          </p:cNvSpPr>
          <p:nvPr/>
        </p:nvSpPr>
        <p:spPr>
          <a:xfrm>
            <a:off x="2926080" y="1609344"/>
            <a:ext cx="731520" cy="347472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820" dirty="0">
                <a:solidFill>
                  <a:srgbClr val="1C1C1C"/>
                </a:solidFill>
                <a:latin typeface="Calibri"/>
              </a:rPr>
              <a:t>668</a:t>
            </a:r>
          </a:p>
        </p:txBody>
      </p:sp>
      <p:sp>
        <p:nvSpPr>
          <p:cNvPr id="34" name="c"/>
          <p:cNvSpPr txBox="1">
            <a:spLocks noGrp="1"/>
          </p:cNvSpPr>
          <p:nvPr/>
        </p:nvSpPr>
        <p:spPr>
          <a:xfrm>
            <a:off x="3657600" y="1609344"/>
            <a:ext cx="731520" cy="347472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820" dirty="0">
                <a:solidFill>
                  <a:srgbClr val="B3261E"/>
                </a:solidFill>
                <a:latin typeface="Calibri"/>
              </a:rPr>
              <a:t>24.58h</a:t>
            </a:r>
          </a:p>
        </p:txBody>
      </p:sp>
      <p:sp>
        <p:nvSpPr>
          <p:cNvPr id="35" name="c"/>
          <p:cNvSpPr txBox="1">
            <a:spLocks noGrp="1"/>
          </p:cNvSpPr>
          <p:nvPr/>
        </p:nvSpPr>
        <p:spPr>
          <a:xfrm>
            <a:off x="4389120" y="1609344"/>
            <a:ext cx="640080" cy="347472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820" dirty="0">
                <a:solidFill>
                  <a:srgbClr val="B3261E"/>
                </a:solidFill>
                <a:latin typeface="Calibri"/>
              </a:rPr>
              <a:t>70%</a:t>
            </a:r>
          </a:p>
        </p:txBody>
      </p:sp>
      <p:sp>
        <p:nvSpPr>
          <p:cNvPr id="36" name="c"/>
          <p:cNvSpPr txBox="1">
            <a:spLocks noGrp="1"/>
          </p:cNvSpPr>
          <p:nvPr/>
        </p:nvSpPr>
        <p:spPr>
          <a:xfrm>
            <a:off x="5029200" y="1609344"/>
            <a:ext cx="731520" cy="347472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820" dirty="0">
                <a:solidFill>
                  <a:srgbClr val="1C1C1C"/>
                </a:solidFill>
                <a:latin typeface="Calibri"/>
              </a:rPr>
              <a:t>$40</a:t>
            </a:r>
          </a:p>
        </p:txBody>
      </p:sp>
      <p:sp>
        <p:nvSpPr>
          <p:cNvPr id="37" name="c"/>
          <p:cNvSpPr txBox="1">
            <a:spLocks noGrp="1"/>
          </p:cNvSpPr>
          <p:nvPr/>
        </p:nvSpPr>
        <p:spPr>
          <a:xfrm>
            <a:off x="5760720" y="1609344"/>
            <a:ext cx="731520" cy="347472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820" dirty="0">
                <a:solidFill>
                  <a:srgbClr val="1C1C1C"/>
                </a:solidFill>
                <a:latin typeface="Calibri"/>
              </a:rPr>
              <a:t>65</a:t>
            </a:r>
          </a:p>
        </p:txBody>
      </p:sp>
      <p:sp>
        <p:nvSpPr>
          <p:cNvPr id="38" name="c"/>
          <p:cNvSpPr txBox="1">
            <a:spLocks noGrp="1"/>
          </p:cNvSpPr>
          <p:nvPr/>
        </p:nvSpPr>
        <p:spPr>
          <a:xfrm>
            <a:off x="6492240" y="1609344"/>
            <a:ext cx="4937760" cy="347472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l"/>
            <a:r>
              <a:rPr lang="es-ES" sz="820" dirty="0">
                <a:solidFill>
                  <a:srgbClr val="5A6472"/>
                </a:solidFill>
                <a:latin typeface="Calibri"/>
              </a:rPr>
              <a:t>⚠ SLA/MTTR críticos · Penalizaciones activas · Competencia 2027</a:t>
            </a:r>
          </a:p>
        </p:txBody>
      </p:sp>
      <p:sp>
        <p:nvSpPr>
          <p:cNvPr id="40" name="rb"/>
          <p:cNvSpPr>
            <a:spLocks noGrp="1"/>
          </p:cNvSpPr>
          <p:nvPr/>
        </p:nvSpPr>
        <p:spPr>
          <a:xfrm>
            <a:off x="457200" y="1956816"/>
            <a:ext cx="11247120" cy="347472"/>
          </a:xfrm>
          <a:prstGeom prst="rect">
            <a:avLst/>
          </a:prstGeom>
          <a:solidFill>
            <a:srgbClr val="F7F6F2"/>
          </a:solidFill>
          <a:ln w="6350">
            <a:solidFill>
              <a:srgbClr val="DCE3EC"/>
            </a:solidFill>
          </a:ln>
        </p:spPr>
      </p:sp>
      <p:sp>
        <p:nvSpPr>
          <p:cNvPr id="41" name="c"/>
          <p:cNvSpPr txBox="1">
            <a:spLocks noGrp="1"/>
          </p:cNvSpPr>
          <p:nvPr/>
        </p:nvSpPr>
        <p:spPr>
          <a:xfrm>
            <a:off x="457200" y="1956816"/>
            <a:ext cx="2011680" cy="347472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l"/>
            <a:r>
              <a:rPr lang="es-ES" sz="820" dirty="0" b="1">
                <a:solidFill>
                  <a:srgbClr val="132346"/>
                </a:solidFill>
                <a:latin typeface="Calibri"/>
              </a:rPr>
              <a:t>Venta Digital</a:t>
            </a:r>
          </a:p>
        </p:txBody>
      </p:sp>
      <p:sp>
        <p:nvSpPr>
          <p:cNvPr id="42" name="c"/>
          <p:cNvSpPr txBox="1">
            <a:spLocks noGrp="1"/>
          </p:cNvSpPr>
          <p:nvPr/>
        </p:nvSpPr>
        <p:spPr>
          <a:xfrm>
            <a:off x="2468880" y="1956816"/>
            <a:ext cx="457200" cy="347472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820" dirty="0">
                <a:solidFill>
                  <a:srgbClr val="1C1C1C"/>
                </a:solidFill>
                <a:latin typeface="Calibri"/>
              </a:rPr>
              <a:t>2</a:t>
            </a:r>
          </a:p>
        </p:txBody>
      </p:sp>
      <p:sp>
        <p:nvSpPr>
          <p:cNvPr id="43" name="c"/>
          <p:cNvSpPr txBox="1">
            <a:spLocks noGrp="1"/>
          </p:cNvSpPr>
          <p:nvPr/>
        </p:nvSpPr>
        <p:spPr>
          <a:xfrm>
            <a:off x="2926080" y="1956816"/>
            <a:ext cx="731520" cy="347472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820" dirty="0">
                <a:solidFill>
                  <a:srgbClr val="1C1C1C"/>
                </a:solidFill>
                <a:latin typeface="Calibri"/>
              </a:rPr>
              <a:t>174</a:t>
            </a:r>
          </a:p>
        </p:txBody>
      </p:sp>
      <p:sp>
        <p:nvSpPr>
          <p:cNvPr id="44" name="c"/>
          <p:cNvSpPr txBox="1">
            <a:spLocks noGrp="1"/>
          </p:cNvSpPr>
          <p:nvPr/>
        </p:nvSpPr>
        <p:spPr>
          <a:xfrm>
            <a:off x="3657600" y="1956816"/>
            <a:ext cx="731520" cy="347472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820" dirty="0">
                <a:solidFill>
                  <a:srgbClr val="B3261E"/>
                </a:solidFill>
                <a:latin typeface="Calibri"/>
              </a:rPr>
              <a:t>12.38h</a:t>
            </a:r>
          </a:p>
        </p:txBody>
      </p:sp>
      <p:sp>
        <p:nvSpPr>
          <p:cNvPr id="45" name="c"/>
          <p:cNvSpPr txBox="1">
            <a:spLocks noGrp="1"/>
          </p:cNvSpPr>
          <p:nvPr/>
        </p:nvSpPr>
        <p:spPr>
          <a:xfrm>
            <a:off x="4389120" y="1956816"/>
            <a:ext cx="640080" cy="347472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820" dirty="0">
                <a:solidFill>
                  <a:srgbClr val="B3261E"/>
                </a:solidFill>
                <a:latin typeface="Calibri"/>
              </a:rPr>
              <a:t>74%</a:t>
            </a:r>
          </a:p>
        </p:txBody>
      </p:sp>
      <p:sp>
        <p:nvSpPr>
          <p:cNvPr id="46" name="c"/>
          <p:cNvSpPr txBox="1">
            <a:spLocks noGrp="1"/>
          </p:cNvSpPr>
          <p:nvPr/>
        </p:nvSpPr>
        <p:spPr>
          <a:xfrm>
            <a:off x="5029200" y="1956816"/>
            <a:ext cx="731520" cy="347472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820" dirty="0">
                <a:solidFill>
                  <a:srgbClr val="1C1C1C"/>
                </a:solidFill>
                <a:latin typeface="Calibri"/>
              </a:rPr>
              <a:t>$39</a:t>
            </a:r>
          </a:p>
        </p:txBody>
      </p:sp>
      <p:sp>
        <p:nvSpPr>
          <p:cNvPr id="47" name="c"/>
          <p:cNvSpPr txBox="1">
            <a:spLocks noGrp="1"/>
          </p:cNvSpPr>
          <p:nvPr/>
        </p:nvSpPr>
        <p:spPr>
          <a:xfrm>
            <a:off x="5760720" y="1956816"/>
            <a:ext cx="731520" cy="347472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820" dirty="0">
                <a:solidFill>
                  <a:srgbClr val="1C1C1C"/>
                </a:solidFill>
                <a:latin typeface="Calibri"/>
              </a:rPr>
              <a:t>12</a:t>
            </a:r>
          </a:p>
        </p:txBody>
      </p:sp>
      <p:sp>
        <p:nvSpPr>
          <p:cNvPr id="48" name="c"/>
          <p:cNvSpPr txBox="1">
            <a:spLocks noGrp="1"/>
          </p:cNvSpPr>
          <p:nvPr/>
        </p:nvSpPr>
        <p:spPr>
          <a:xfrm>
            <a:off x="6492240" y="1956816"/>
            <a:ext cx="4937760" cy="347472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l"/>
            <a:r>
              <a:rPr lang="es-ES" sz="820" dirty="0">
                <a:solidFill>
                  <a:srgbClr val="5A6472"/>
                </a:solidFill>
                <a:latin typeface="Calibri"/>
              </a:rPr>
              <a:t>⚠ SLA incumplido · Sin dashboard · Mesa joven (7 meses)</a:t>
            </a:r>
          </a:p>
        </p:txBody>
      </p:sp>
      <p:sp>
        <p:nvSpPr>
          <p:cNvPr id="50" name="rb"/>
          <p:cNvSpPr>
            <a:spLocks noGrp="1"/>
          </p:cNvSpPr>
          <p:nvPr/>
        </p:nvSpPr>
        <p:spPr>
          <a:xfrm>
            <a:off x="457200" y="2304288"/>
            <a:ext cx="112471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CE3EC"/>
            </a:solidFill>
          </a:ln>
        </p:spPr>
      </p:sp>
      <p:sp>
        <p:nvSpPr>
          <p:cNvPr id="51" name="c"/>
          <p:cNvSpPr txBox="1">
            <a:spLocks noGrp="1"/>
          </p:cNvSpPr>
          <p:nvPr/>
        </p:nvSpPr>
        <p:spPr>
          <a:xfrm>
            <a:off x="457200" y="2304288"/>
            <a:ext cx="2011680" cy="347472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l"/>
            <a:r>
              <a:rPr lang="es-ES" sz="820" dirty="0" b="1">
                <a:solidFill>
                  <a:srgbClr val="132346"/>
                </a:solidFill>
                <a:latin typeface="Calibri"/>
              </a:rPr>
              <a:t>Automatización</a:t>
            </a:r>
          </a:p>
        </p:txBody>
      </p:sp>
      <p:sp>
        <p:nvSpPr>
          <p:cNvPr id="52" name="c"/>
          <p:cNvSpPr txBox="1">
            <a:spLocks noGrp="1"/>
          </p:cNvSpPr>
          <p:nvPr/>
        </p:nvSpPr>
        <p:spPr>
          <a:xfrm>
            <a:off x="2468880" y="2304288"/>
            <a:ext cx="457200" cy="347472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820" dirty="0">
                <a:solidFill>
                  <a:srgbClr val="1C1C1C"/>
                </a:solidFill>
                <a:latin typeface="Calibri"/>
              </a:rPr>
              <a:t>6</a:t>
            </a:r>
          </a:p>
        </p:txBody>
      </p:sp>
      <p:sp>
        <p:nvSpPr>
          <p:cNvPr id="53" name="c"/>
          <p:cNvSpPr txBox="1">
            <a:spLocks noGrp="1"/>
          </p:cNvSpPr>
          <p:nvPr/>
        </p:nvSpPr>
        <p:spPr>
          <a:xfrm>
            <a:off x="2926080" y="2304288"/>
            <a:ext cx="731520" cy="347472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820" dirty="0">
                <a:solidFill>
                  <a:srgbClr val="1C1C1C"/>
                </a:solidFill>
                <a:latin typeface="Calibri"/>
              </a:rPr>
              <a:t>512</a:t>
            </a:r>
          </a:p>
        </p:txBody>
      </p:sp>
      <p:sp>
        <p:nvSpPr>
          <p:cNvPr id="54" name="c"/>
          <p:cNvSpPr txBox="1">
            <a:spLocks noGrp="1"/>
          </p:cNvSpPr>
          <p:nvPr/>
        </p:nvSpPr>
        <p:spPr>
          <a:xfrm>
            <a:off x="3657600" y="2304288"/>
            <a:ext cx="731520" cy="347472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820" dirty="0">
                <a:solidFill>
                  <a:srgbClr val="0E6B3C"/>
                </a:solidFill>
                <a:latin typeface="Calibri"/>
              </a:rPr>
              <a:t>2.98h</a:t>
            </a:r>
          </a:p>
        </p:txBody>
      </p:sp>
      <p:sp>
        <p:nvSpPr>
          <p:cNvPr id="55" name="c"/>
          <p:cNvSpPr txBox="1">
            <a:spLocks noGrp="1"/>
          </p:cNvSpPr>
          <p:nvPr/>
        </p:nvSpPr>
        <p:spPr>
          <a:xfrm>
            <a:off x="4389120" y="2304288"/>
            <a:ext cx="640080" cy="347472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820" dirty="0">
                <a:solidFill>
                  <a:srgbClr val="0E6B3C"/>
                </a:solidFill>
                <a:latin typeface="Calibri"/>
              </a:rPr>
              <a:t>98%</a:t>
            </a:r>
          </a:p>
        </p:txBody>
      </p:sp>
      <p:sp>
        <p:nvSpPr>
          <p:cNvPr id="56" name="c"/>
          <p:cNvSpPr txBox="1">
            <a:spLocks noGrp="1"/>
          </p:cNvSpPr>
          <p:nvPr/>
        </p:nvSpPr>
        <p:spPr>
          <a:xfrm>
            <a:off x="5029200" y="2304288"/>
            <a:ext cx="731520" cy="347472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820" dirty="0">
                <a:solidFill>
                  <a:srgbClr val="1C1C1C"/>
                </a:solidFill>
                <a:latin typeface="Calibri"/>
              </a:rPr>
              <a:t>$39</a:t>
            </a:r>
          </a:p>
        </p:txBody>
      </p:sp>
      <p:sp>
        <p:nvSpPr>
          <p:cNvPr id="57" name="c"/>
          <p:cNvSpPr txBox="1">
            <a:spLocks noGrp="1"/>
          </p:cNvSpPr>
          <p:nvPr/>
        </p:nvSpPr>
        <p:spPr>
          <a:xfrm>
            <a:off x="5760720" y="2304288"/>
            <a:ext cx="731520" cy="347472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820" dirty="0">
                <a:solidFill>
                  <a:srgbClr val="1C1C1C"/>
                </a:solidFill>
                <a:latin typeface="Calibri"/>
              </a:rPr>
              <a:t>9</a:t>
            </a:r>
          </a:p>
        </p:txBody>
      </p:sp>
      <p:sp>
        <p:nvSpPr>
          <p:cNvPr id="58" name="c"/>
          <p:cNvSpPr txBox="1">
            <a:spLocks noGrp="1"/>
          </p:cNvSpPr>
          <p:nvPr/>
        </p:nvSpPr>
        <p:spPr>
          <a:xfrm>
            <a:off x="6492240" y="2304288"/>
            <a:ext cx="4937760" cy="347472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l"/>
            <a:r>
              <a:rPr lang="es-ES" sz="820" dirty="0">
                <a:solidFill>
                  <a:srgbClr val="5A6472"/>
                </a:solidFill>
                <a:latin typeface="Calibri"/>
              </a:rPr>
              <a:t>✓ Mejor mesa SURA — SLA 98% y MTTR 2.98h · Oportunidad N3</a:t>
            </a:r>
          </a:p>
        </p:txBody>
      </p:sp>
      <p:sp>
        <p:nvSpPr>
          <p:cNvPr id="60" name="rb"/>
          <p:cNvSpPr>
            <a:spLocks noGrp="1"/>
          </p:cNvSpPr>
          <p:nvPr/>
        </p:nvSpPr>
        <p:spPr>
          <a:xfrm>
            <a:off x="457200" y="2651760"/>
            <a:ext cx="11247120" cy="347472"/>
          </a:xfrm>
          <a:prstGeom prst="rect">
            <a:avLst/>
          </a:prstGeom>
          <a:solidFill>
            <a:srgbClr val="F7F6F2"/>
          </a:solidFill>
          <a:ln w="6350">
            <a:solidFill>
              <a:srgbClr val="DCE3EC"/>
            </a:solidFill>
          </a:ln>
        </p:spPr>
      </p:sp>
      <p:sp>
        <p:nvSpPr>
          <p:cNvPr id="61" name="c"/>
          <p:cNvSpPr txBox="1">
            <a:spLocks noGrp="1"/>
          </p:cNvSpPr>
          <p:nvPr/>
        </p:nvSpPr>
        <p:spPr>
          <a:xfrm>
            <a:off x="457200" y="2651760"/>
            <a:ext cx="2011680" cy="347472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l"/>
            <a:r>
              <a:rPr lang="es-ES" sz="820" dirty="0" b="1">
                <a:solidFill>
                  <a:srgbClr val="132346"/>
                </a:solidFill>
                <a:latin typeface="Calibri"/>
              </a:rPr>
              <a:t>Canales Masivos</a:t>
            </a:r>
          </a:p>
        </p:txBody>
      </p:sp>
      <p:sp>
        <p:nvSpPr>
          <p:cNvPr id="62" name="c"/>
          <p:cNvSpPr txBox="1">
            <a:spLocks noGrp="1"/>
          </p:cNvSpPr>
          <p:nvPr/>
        </p:nvSpPr>
        <p:spPr>
          <a:xfrm>
            <a:off x="2468880" y="2651760"/>
            <a:ext cx="457200" cy="347472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820" dirty="0">
                <a:solidFill>
                  <a:srgbClr val="1C1C1C"/>
                </a:solidFill>
                <a:latin typeface="Calibri"/>
              </a:rPr>
              <a:t>1</a:t>
            </a:r>
          </a:p>
        </p:txBody>
      </p:sp>
      <p:sp>
        <p:nvSpPr>
          <p:cNvPr id="63" name="c"/>
          <p:cNvSpPr txBox="1">
            <a:spLocks noGrp="1"/>
          </p:cNvSpPr>
          <p:nvPr/>
        </p:nvSpPr>
        <p:spPr>
          <a:xfrm>
            <a:off x="2926080" y="2651760"/>
            <a:ext cx="731520" cy="347472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820" dirty="0">
                <a:solidFill>
                  <a:srgbClr val="1C1C1C"/>
                </a:solidFill>
                <a:latin typeface="Calibri"/>
              </a:rPr>
              <a:t>171</a:t>
            </a:r>
          </a:p>
        </p:txBody>
      </p:sp>
      <p:sp>
        <p:nvSpPr>
          <p:cNvPr id="64" name="c"/>
          <p:cNvSpPr txBox="1">
            <a:spLocks noGrp="1"/>
          </p:cNvSpPr>
          <p:nvPr/>
        </p:nvSpPr>
        <p:spPr>
          <a:xfrm>
            <a:off x="3657600" y="2651760"/>
            <a:ext cx="731520" cy="347472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820" dirty="0">
                <a:solidFill>
                  <a:srgbClr val="B3261E"/>
                </a:solidFill>
                <a:latin typeface="Calibri"/>
              </a:rPr>
              <a:t>17.92h</a:t>
            </a:r>
          </a:p>
        </p:txBody>
      </p:sp>
      <p:sp>
        <p:nvSpPr>
          <p:cNvPr id="65" name="c"/>
          <p:cNvSpPr txBox="1">
            <a:spLocks noGrp="1"/>
          </p:cNvSpPr>
          <p:nvPr/>
        </p:nvSpPr>
        <p:spPr>
          <a:xfrm>
            <a:off x="4389120" y="2651760"/>
            <a:ext cx="640080" cy="347472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820" dirty="0">
                <a:solidFill>
                  <a:srgbClr val="B3261E"/>
                </a:solidFill>
                <a:latin typeface="Calibri"/>
              </a:rPr>
              <a:t>72%</a:t>
            </a:r>
          </a:p>
        </p:txBody>
      </p:sp>
      <p:sp>
        <p:nvSpPr>
          <p:cNvPr id="66" name="c"/>
          <p:cNvSpPr txBox="1">
            <a:spLocks noGrp="1"/>
          </p:cNvSpPr>
          <p:nvPr/>
        </p:nvSpPr>
        <p:spPr>
          <a:xfrm>
            <a:off x="5029200" y="2651760"/>
            <a:ext cx="731520" cy="347472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820" dirty="0">
                <a:solidFill>
                  <a:srgbClr val="1C1C1C"/>
                </a:solidFill>
                <a:latin typeface="Calibri"/>
              </a:rPr>
              <a:t>$20</a:t>
            </a:r>
          </a:p>
        </p:txBody>
      </p:sp>
      <p:sp>
        <p:nvSpPr>
          <p:cNvPr id="67" name="c"/>
          <p:cNvSpPr txBox="1">
            <a:spLocks noGrp="1"/>
          </p:cNvSpPr>
          <p:nvPr/>
        </p:nvSpPr>
        <p:spPr>
          <a:xfrm>
            <a:off x="5760720" y="2651760"/>
            <a:ext cx="731520" cy="347472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820" dirty="0">
                <a:solidFill>
                  <a:srgbClr val="1C1C1C"/>
                </a:solidFill>
                <a:latin typeface="Calibri"/>
              </a:rPr>
              <a:t>11</a:t>
            </a:r>
          </a:p>
        </p:txBody>
      </p:sp>
      <p:sp>
        <p:nvSpPr>
          <p:cNvPr id="68" name="c"/>
          <p:cNvSpPr txBox="1">
            <a:spLocks noGrp="1"/>
          </p:cNvSpPr>
          <p:nvPr/>
        </p:nvSpPr>
        <p:spPr>
          <a:xfrm>
            <a:off x="6492240" y="2651760"/>
            <a:ext cx="4937760" cy="347472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l"/>
            <a:r>
              <a:rPr lang="es-ES" sz="820" dirty="0">
                <a:solidFill>
                  <a:srgbClr val="5A6472"/>
                </a:solidFill>
                <a:latin typeface="Calibri"/>
              </a:rPr>
              <a:t>🚨 Bus factor 1 FTE · SLA incumplido · Riesgo operacional</a:t>
            </a:r>
          </a:p>
        </p:txBody>
      </p:sp>
      <p:sp>
        <p:nvSpPr>
          <p:cNvPr id="80" name="dh"/>
          <p:cNvSpPr>
            <a:spLocks noGrp="1"/>
          </p:cNvSpPr>
          <p:nvPr/>
        </p:nvSpPr>
        <p:spPr>
          <a:xfrm>
            <a:off x="457200" y="3163824"/>
            <a:ext cx="5394960" cy="256032"/>
          </a:xfrm>
          <a:prstGeom prst="rect">
            <a:avLst/>
          </a:prstGeom>
          <a:solidFill>
            <a:srgbClr val="DCE3EC"/>
          </a:solidFill>
          <a:ln>
            <a:noFill/>
          </a:ln>
        </p:spPr>
      </p:sp>
      <p:sp>
        <p:nvSpPr>
          <p:cNvPr id="81" name="dht"/>
          <p:cNvSpPr txBox="1">
            <a:spLocks noGrp="1"/>
          </p:cNvSpPr>
          <p:nvPr/>
        </p:nvSpPr>
        <p:spPr>
          <a:xfrm>
            <a:off x="566928" y="3163824"/>
            <a:ext cx="5212080" cy="256032"/>
          </a:xfrm>
          <a:prstGeom prst="rect">
            <a:avLst/>
          </a:prstGeom>
          <a:noFill/>
          <a:ln>
            <a:noFill/>
          </a:ln>
        </p:spPr>
        <p:txBody>
          <a:bodyPr anchor="t" wrap="square" lIns="91440" rIns="91440" tIns="45720" bIns="45720">
            <a:noAutofit/>
          </a:bodyPr>
          <a:lstStyle/>
          <a:p>
            <a:pPr algn="l"/>
            <a:r>
              <a:rPr lang="es-ES" sz="860" dirty="0" b="1">
                <a:solidFill>
                  <a:srgbClr val="132346"/>
                </a:solidFill>
                <a:latin typeface="Calibri"/>
              </a:rPr>
              <a:t>DOLORES COMUNES (todas las mesas)</a:t>
            </a:r>
          </a:p>
        </p:txBody>
      </p:sp>
      <p:sp>
        <p:nvSpPr>
          <p:cNvPr id="82" name="dbg"/>
          <p:cNvSpPr>
            <a:spLocks noGrp="1"/>
          </p:cNvSpPr>
          <p:nvPr/>
        </p:nvSpPr>
        <p:spPr>
          <a:xfrm>
            <a:off x="457200" y="3419856"/>
            <a:ext cx="5394960" cy="1536192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83" name="d"/>
          <p:cNvSpPr txBox="1">
            <a:spLocks noGrp="1"/>
          </p:cNvSpPr>
          <p:nvPr/>
        </p:nvSpPr>
        <p:spPr>
          <a:xfrm>
            <a:off x="566928" y="3493008"/>
            <a:ext cx="5120640" cy="256032"/>
          </a:xfrm>
          <a:prstGeom prst="rect">
            <a:avLst/>
          </a:prstGeom>
          <a:noFill/>
          <a:ln>
            <a:noFill/>
          </a:ln>
        </p:spPr>
        <p:txBody>
          <a:bodyPr anchor="t" wrap="square" lIns="91440" rIns="91440" tIns="45720" bIns="45720">
            <a:noAutofit/>
          </a:bodyPr>
          <a:lstStyle/>
          <a:p>
            <a:pPr algn="l"/>
            <a:r>
              <a:rPr lang="es-ES" sz="880" dirty="0" b="1">
                <a:solidFill>
                  <a:srgbClr val="B3261E"/>
                </a:solidFill>
                <a:latin typeface="Calibri"/>
              </a:rPr>
              <a:t>●  </a:t>
            </a:r>
            <a:r>
              <a:rPr lang="es-ES" sz="820" dirty="0">
                <a:solidFill>
                  <a:srgbClr val="1C1C1C"/>
                </a:solidFill>
                <a:latin typeface="Calibri"/>
              </a:rPr>
              <a:t>D3 · Sin autoservicio — todo llega por call o correo</a:t>
            </a:r>
          </a:p>
        </p:txBody>
      </p:sp>
      <p:sp>
        <p:nvSpPr>
          <p:cNvPr id="84" name="d"/>
          <p:cNvSpPr txBox="1">
            <a:spLocks noGrp="1"/>
          </p:cNvSpPr>
          <p:nvPr/>
        </p:nvSpPr>
        <p:spPr>
          <a:xfrm>
            <a:off x="566928" y="3767328"/>
            <a:ext cx="5120640" cy="256032"/>
          </a:xfrm>
          <a:prstGeom prst="rect">
            <a:avLst/>
          </a:prstGeom>
          <a:noFill/>
          <a:ln>
            <a:noFill/>
          </a:ln>
        </p:spPr>
        <p:txBody>
          <a:bodyPr anchor="t" wrap="square" lIns="91440" rIns="91440" tIns="45720" bIns="45720">
            <a:noAutofit/>
          </a:bodyPr>
          <a:lstStyle/>
          <a:p>
            <a:pPr algn="l"/>
            <a:r>
              <a:rPr lang="es-ES" sz="880" dirty="0" b="1">
                <a:solidFill>
                  <a:srgbClr val="B3261E"/>
                </a:solidFill>
                <a:latin typeface="Calibri"/>
              </a:rPr>
              <a:t>●  </a:t>
            </a:r>
            <a:r>
              <a:rPr lang="es-ES" sz="820" dirty="0">
                <a:solidFill>
                  <a:srgbClr val="1C1C1C"/>
                </a:solidFill>
                <a:latin typeface="Calibri"/>
              </a:rPr>
              <a:t>D9 · Scope creep — alcance no controlado en ninguna mesa</a:t>
            </a:r>
          </a:p>
        </p:txBody>
      </p:sp>
      <p:sp>
        <p:nvSpPr>
          <p:cNvPr id="85" name="d"/>
          <p:cNvSpPr txBox="1">
            <a:spLocks noGrp="1"/>
          </p:cNvSpPr>
          <p:nvPr/>
        </p:nvSpPr>
        <p:spPr>
          <a:xfrm>
            <a:off x="566928" y="4041648"/>
            <a:ext cx="5120640" cy="256032"/>
          </a:xfrm>
          <a:prstGeom prst="rect">
            <a:avLst/>
          </a:prstGeom>
          <a:noFill/>
          <a:ln>
            <a:noFill/>
          </a:ln>
        </p:spPr>
        <p:txBody>
          <a:bodyPr anchor="t" wrap="square" lIns="91440" rIns="91440" tIns="45720" bIns="45720">
            <a:noAutofit/>
          </a:bodyPr>
          <a:lstStyle/>
          <a:p>
            <a:pPr algn="l"/>
            <a:r>
              <a:rPr lang="es-ES" sz="880" dirty="0" b="1">
                <a:solidFill>
                  <a:srgbClr val="B3261E"/>
                </a:solidFill>
                <a:latin typeface="Calibri"/>
              </a:rPr>
              <a:t>●  </a:t>
            </a:r>
            <a:r>
              <a:rPr lang="es-ES" sz="820" dirty="0">
                <a:solidFill>
                  <a:srgbClr val="1C1C1C"/>
                </a:solidFill>
                <a:latin typeface="Calibri"/>
              </a:rPr>
              <a:t>D13 · Sin roles definidos — N1, N2 y N3 en la misma persona</a:t>
            </a:r>
          </a:p>
        </p:txBody>
      </p:sp>
      <p:sp>
        <p:nvSpPr>
          <p:cNvPr id="86" name="d"/>
          <p:cNvSpPr txBox="1">
            <a:spLocks noGrp="1"/>
          </p:cNvSpPr>
          <p:nvPr/>
        </p:nvSpPr>
        <p:spPr>
          <a:xfrm>
            <a:off x="566928" y="4315968"/>
            <a:ext cx="5120640" cy="256032"/>
          </a:xfrm>
          <a:prstGeom prst="rect">
            <a:avLst/>
          </a:prstGeom>
          <a:noFill/>
          <a:ln>
            <a:noFill/>
          </a:ln>
        </p:spPr>
        <p:txBody>
          <a:bodyPr anchor="t" wrap="square" lIns="91440" rIns="91440" tIns="45720" bIns="45720">
            <a:noAutofit/>
          </a:bodyPr>
          <a:lstStyle/>
          <a:p>
            <a:pPr algn="l"/>
            <a:r>
              <a:rPr lang="es-ES" sz="880" dirty="0" b="1">
                <a:solidFill>
                  <a:srgbClr val="B3261E"/>
                </a:solidFill>
                <a:latin typeface="Calibri"/>
              </a:rPr>
              <a:t>●  </a:t>
            </a:r>
            <a:r>
              <a:rPr lang="es-ES" sz="820" dirty="0">
                <a:solidFill>
                  <a:srgbClr val="1C1C1C"/>
                </a:solidFill>
                <a:latin typeface="Calibri"/>
              </a:rPr>
              <a:t>D16 · Brechas vendido vs ejecutado — volumetría mal estimada</a:t>
            </a:r>
          </a:p>
        </p:txBody>
      </p:sp>
      <p:sp>
        <p:nvSpPr>
          <p:cNvPr id="87" name="d"/>
          <p:cNvSpPr txBox="1">
            <a:spLocks noGrp="1"/>
          </p:cNvSpPr>
          <p:nvPr/>
        </p:nvSpPr>
        <p:spPr>
          <a:xfrm>
            <a:off x="566928" y="4590288"/>
            <a:ext cx="5120640" cy="256032"/>
          </a:xfrm>
          <a:prstGeom prst="rect">
            <a:avLst/>
          </a:prstGeom>
          <a:noFill/>
          <a:ln>
            <a:noFill/>
          </a:ln>
        </p:spPr>
        <p:txBody>
          <a:bodyPr anchor="t" wrap="square" lIns="91440" rIns="91440" tIns="45720" bIns="45720">
            <a:noAutofit/>
          </a:bodyPr>
          <a:lstStyle/>
          <a:p>
            <a:pPr algn="l"/>
            <a:r>
              <a:rPr lang="es-ES" sz="880" dirty="0" b="1">
                <a:solidFill>
                  <a:srgbClr val="B3261E"/>
                </a:solidFill>
                <a:latin typeface="Calibri"/>
              </a:rPr>
              <a:t>●  </a:t>
            </a:r>
            <a:r>
              <a:rPr lang="es-ES" sz="820" dirty="0">
                <a:solidFill>
                  <a:srgbClr val="1C1C1C"/>
                </a:solidFill>
                <a:latin typeface="Calibri"/>
              </a:rPr>
              <a:t>D20 · Asignación sin modelo de demanda estandarizado</a:t>
            </a:r>
          </a:p>
        </p:txBody>
      </p:sp>
      <p:sp>
        <p:nvSpPr>
          <p:cNvPr id="90" name="dh2"/>
          <p:cNvSpPr>
            <a:spLocks noGrp="1"/>
          </p:cNvSpPr>
          <p:nvPr/>
        </p:nvSpPr>
        <p:spPr>
          <a:xfrm>
            <a:off x="6035040" y="3163824"/>
            <a:ext cx="5669280" cy="256032"/>
          </a:xfrm>
          <a:prstGeom prst="rect">
            <a:avLst/>
          </a:prstGeom>
          <a:solidFill>
            <a:srgbClr val="DCE3EC"/>
          </a:solidFill>
          <a:ln>
            <a:noFill/>
          </a:ln>
        </p:spPr>
      </p:sp>
      <p:sp>
        <p:nvSpPr>
          <p:cNvPr id="91" name="dht2"/>
          <p:cNvSpPr txBox="1">
            <a:spLocks noGrp="1"/>
          </p:cNvSpPr>
          <p:nvPr/>
        </p:nvSpPr>
        <p:spPr>
          <a:xfrm>
            <a:off x="6144768" y="3163824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anchor="t" wrap="square" lIns="91440" rIns="91440" tIns="45720" bIns="45720">
            <a:noAutofit/>
          </a:bodyPr>
          <a:lstStyle/>
          <a:p>
            <a:pPr algn="l"/>
            <a:r>
              <a:rPr lang="es-ES" sz="860" dirty="0" b="1">
                <a:solidFill>
                  <a:srgbClr val="132346"/>
                </a:solidFill>
                <a:latin typeface="Calibri"/>
              </a:rPr>
              <a:t>DOLORES ESPECÍFICOS POR MESA</a:t>
            </a:r>
          </a:p>
        </p:txBody>
      </p:sp>
      <p:sp>
        <p:nvSpPr>
          <p:cNvPr id="92" name="dbg2"/>
          <p:cNvSpPr>
            <a:spLocks noGrp="1"/>
          </p:cNvSpPr>
          <p:nvPr/>
        </p:nvSpPr>
        <p:spPr>
          <a:xfrm>
            <a:off x="6035040" y="3419856"/>
            <a:ext cx="5669280" cy="1536192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93" name="d2"/>
          <p:cNvSpPr txBox="1">
            <a:spLocks noGrp="1"/>
          </p:cNvSpPr>
          <p:nvPr/>
        </p:nvSpPr>
        <p:spPr>
          <a:xfrm>
            <a:off x="6144768" y="3493008"/>
            <a:ext cx="5394960" cy="237744"/>
          </a:xfrm>
          <a:prstGeom prst="rect">
            <a:avLst/>
          </a:prstGeom>
          <a:noFill/>
          <a:ln>
            <a:noFill/>
          </a:ln>
        </p:spPr>
        <p:txBody>
          <a:bodyPr anchor="t" wrap="square" lIns="91440" rIns="91440" tIns="45720" bIns="45720">
            <a:noAutofit/>
          </a:bodyPr>
          <a:lstStyle/>
          <a:p>
            <a:pPr algn="l"/>
            <a:r>
              <a:rPr lang="es-ES" sz="820" dirty="0" b="1">
                <a:solidFill>
                  <a:srgbClr val="B3261E"/>
                </a:solidFill>
                <a:latin typeface="Calibri"/>
              </a:rPr>
              <a:t>Cotizadores: </a:t>
            </a:r>
            <a:r>
              <a:rPr lang="es-ES" sz="800" dirty="0">
                <a:solidFill>
                  <a:srgbClr val="1C1C1C"/>
                </a:solidFill>
                <a:latin typeface="Calibri"/>
              </a:rPr>
              <a:t>D2 SLAs incumplidos con penalizaciones activas</a:t>
            </a:r>
          </a:p>
        </p:txBody>
      </p:sp>
      <p:sp>
        <p:nvSpPr>
          <p:cNvPr id="94" name="d2"/>
          <p:cNvSpPr txBox="1">
            <a:spLocks noGrp="1"/>
          </p:cNvSpPr>
          <p:nvPr/>
        </p:nvSpPr>
        <p:spPr>
          <a:xfrm>
            <a:off x="6144768" y="3749040"/>
            <a:ext cx="5394960" cy="237744"/>
          </a:xfrm>
          <a:prstGeom prst="rect">
            <a:avLst/>
          </a:prstGeom>
          <a:noFill/>
          <a:ln>
            <a:noFill/>
          </a:ln>
        </p:spPr>
        <p:txBody>
          <a:bodyPr anchor="t" wrap="square" lIns="91440" rIns="91440" tIns="45720" bIns="45720">
            <a:noAutofit/>
          </a:bodyPr>
          <a:lstStyle/>
          <a:p>
            <a:pPr algn="l"/>
            <a:r>
              <a:rPr lang="es-ES" sz="820" dirty="0" b="1">
                <a:solidFill>
                  <a:srgbClr val="B3261E"/>
                </a:solidFill>
                <a:latin typeface="Calibri"/>
              </a:rPr>
              <a:t>Cotizadores: </a:t>
            </a:r>
            <a:r>
              <a:rPr lang="es-ES" sz="800" dirty="0">
                <a:solidFill>
                  <a:srgbClr val="1C1C1C"/>
                </a:solidFill>
                <a:latin typeface="Calibri"/>
              </a:rPr>
              <a:t>D19 Asignación por perfil, no por modelo</a:t>
            </a:r>
          </a:p>
        </p:txBody>
      </p:sp>
      <p:sp>
        <p:nvSpPr>
          <p:cNvPr id="95" name="d2"/>
          <p:cNvSpPr txBox="1">
            <a:spLocks noGrp="1"/>
          </p:cNvSpPr>
          <p:nvPr/>
        </p:nvSpPr>
        <p:spPr>
          <a:xfrm>
            <a:off x="6144768" y="4005072"/>
            <a:ext cx="5394960" cy="237744"/>
          </a:xfrm>
          <a:prstGeom prst="rect">
            <a:avLst/>
          </a:prstGeom>
          <a:noFill/>
          <a:ln>
            <a:noFill/>
          </a:ln>
        </p:spPr>
        <p:txBody>
          <a:bodyPr anchor="t" wrap="square" lIns="91440" rIns="91440" tIns="45720" bIns="45720">
            <a:noAutofit/>
          </a:bodyPr>
          <a:lstStyle/>
          <a:p>
            <a:pPr algn="l"/>
            <a:r>
              <a:rPr lang="es-ES" sz="820" dirty="0" b="1">
                <a:solidFill>
                  <a:srgbClr val="B3261E"/>
                </a:solidFill>
                <a:latin typeface="Calibri"/>
              </a:rPr>
              <a:t>Venta Digital: </a:t>
            </a:r>
            <a:r>
              <a:rPr lang="es-ES" sz="800" dirty="0">
                <a:solidFill>
                  <a:srgbClr val="1C1C1C"/>
                </a:solidFill>
                <a:latin typeface="Calibri"/>
              </a:rPr>
              <a:t>D7 Sin dashboard — sin visibilidad en tiempo real</a:t>
            </a:r>
          </a:p>
        </p:txBody>
      </p:sp>
      <p:sp>
        <p:nvSpPr>
          <p:cNvPr id="96" name="d2"/>
          <p:cNvSpPr txBox="1">
            <a:spLocks noGrp="1"/>
          </p:cNvSpPr>
          <p:nvPr/>
        </p:nvSpPr>
        <p:spPr>
          <a:xfrm>
            <a:off x="6144768" y="4261104"/>
            <a:ext cx="5394960" cy="237744"/>
          </a:xfrm>
          <a:prstGeom prst="rect">
            <a:avLst/>
          </a:prstGeom>
          <a:noFill/>
          <a:ln>
            <a:noFill/>
          </a:ln>
        </p:spPr>
        <p:txBody>
          <a:bodyPr anchor="t" wrap="square" lIns="91440" rIns="91440" tIns="45720" bIns="45720">
            <a:noAutofit/>
          </a:bodyPr>
          <a:lstStyle/>
          <a:p>
            <a:pPr algn="l"/>
            <a:r>
              <a:rPr lang="es-ES" sz="820" dirty="0" b="1">
                <a:solidFill>
                  <a:srgbClr val="B3261E"/>
                </a:solidFill>
                <a:latin typeface="Calibri"/>
              </a:rPr>
              <a:t>Automatización: </a:t>
            </a:r>
            <a:r>
              <a:rPr lang="es-ES" sz="800" dirty="0">
                <a:solidFill>
                  <a:srgbClr val="1C1C1C"/>
                </a:solidFill>
                <a:latin typeface="Calibri"/>
              </a:rPr>
              <a:t>D7 Sin visibilidad — modernizaciones disfrazadas de soporte</a:t>
            </a:r>
          </a:p>
        </p:txBody>
      </p:sp>
      <p:sp>
        <p:nvSpPr>
          <p:cNvPr id="97" name="d2"/>
          <p:cNvSpPr txBox="1">
            <a:spLocks noGrp="1"/>
          </p:cNvSpPr>
          <p:nvPr/>
        </p:nvSpPr>
        <p:spPr>
          <a:xfrm>
            <a:off x="6144768" y="4517136"/>
            <a:ext cx="5394960" cy="237744"/>
          </a:xfrm>
          <a:prstGeom prst="rect">
            <a:avLst/>
          </a:prstGeom>
          <a:noFill/>
          <a:ln>
            <a:noFill/>
          </a:ln>
        </p:spPr>
        <p:txBody>
          <a:bodyPr anchor="t" wrap="square" lIns="91440" rIns="91440" tIns="45720" bIns="45720">
            <a:noAutofit/>
          </a:bodyPr>
          <a:lstStyle/>
          <a:p>
            <a:pPr algn="l"/>
            <a:r>
              <a:rPr lang="es-ES" sz="820" dirty="0" b="1">
                <a:solidFill>
                  <a:srgbClr val="B3261E"/>
                </a:solidFill>
                <a:latin typeface="Calibri"/>
              </a:rPr>
              <a:t>Canales Masivos: </a:t>
            </a:r>
            <a:r>
              <a:rPr lang="es-ES" sz="800" dirty="0">
                <a:solidFill>
                  <a:srgbClr val="1C1C1C"/>
                </a:solidFill>
                <a:latin typeface="Calibri"/>
              </a:rPr>
              <a:t>D2+D14 SLA incumplido + penalización de la eficiencia</a:t>
            </a:r>
          </a:p>
        </p:txBody>
      </p:sp>
      <p:sp>
        <p:nvSpPr>
          <p:cNvPr id="98" name="d2"/>
          <p:cNvSpPr txBox="1">
            <a:spLocks noGrp="1"/>
          </p:cNvSpPr>
          <p:nvPr/>
        </p:nvSpPr>
        <p:spPr>
          <a:xfrm>
            <a:off x="6144768" y="4773168"/>
            <a:ext cx="5394960" cy="237744"/>
          </a:xfrm>
          <a:prstGeom prst="rect">
            <a:avLst/>
          </a:prstGeom>
          <a:noFill/>
          <a:ln>
            <a:noFill/>
          </a:ln>
        </p:spPr>
        <p:txBody>
          <a:bodyPr anchor="t" wrap="square" lIns="91440" rIns="91440" tIns="45720" bIns="45720">
            <a:noAutofit/>
          </a:bodyPr>
          <a:lstStyle/>
          <a:p>
            <a:pPr algn="l"/>
            <a:r>
              <a:rPr lang="es-ES" sz="820" dirty="0" b="1">
                <a:solidFill>
                  <a:srgbClr val="B3261E"/>
                </a:solidFill>
                <a:latin typeface="Calibri"/>
              </a:rPr>
              <a:t>Canales Masivos: </a:t>
            </a:r>
            <a:r>
              <a:rPr lang="es-ES" sz="800" dirty="0">
                <a:solidFill>
                  <a:srgbClr val="1C1C1C"/>
                </a:solidFill>
                <a:latin typeface="Calibri"/>
              </a:rPr>
              <a:t>D17 Sin métricas de ningún tipo (1 FTE solo)</a:t>
            </a:r>
          </a:p>
        </p:txBody>
      </p:sp>
      <p:sp>
        <p:nvSpPr>
          <p:cNvPr id="100" name="conc_bg"/>
          <p:cNvSpPr>
            <a:spLocks noGrp="1"/>
          </p:cNvSpPr>
          <p:nvPr/>
        </p:nvSpPr>
        <p:spPr>
          <a:xfrm>
            <a:off x="457200" y="3968496"/>
            <a:ext cx="11247120" cy="402336"/>
          </a:xfrm>
          <a:prstGeom prst="roundRect">
            <a:avLst>
              <a:gd name="adj" fmla="val 8000"/>
            </a:avLst>
          </a:prstGeom>
          <a:solidFill>
            <a:srgbClr val="E8EDF4"/>
          </a:solidFill>
          <a:ln>
            <a:noFill/>
          </a:ln>
        </p:spPr>
      </p:sp>
      <p:sp>
        <p:nvSpPr>
          <p:cNvPr id="101" name="conc"/>
          <p:cNvSpPr txBox="1">
            <a:spLocks noGrp="1"/>
          </p:cNvSpPr>
          <p:nvPr/>
        </p:nvSpPr>
        <p:spPr>
          <a:xfrm>
            <a:off x="566928" y="4005072"/>
            <a:ext cx="10972800" cy="329184"/>
          </a:xfrm>
          <a:prstGeom prst="rect">
            <a:avLst/>
          </a:prstGeom>
          <a:noFill/>
          <a:ln>
            <a:noFill/>
          </a:ln>
        </p:spPr>
        <p:txBody>
          <a:bodyPr anchor="t" wrap="square" lIns="91440" rIns="91440" tIns="45720" bIns="45720">
            <a:noAutofit/>
          </a:bodyPr>
          <a:lstStyle/>
          <a:p>
            <a:pPr algn="l"/>
            <a:r>
              <a:rPr lang="es-ES" sz="900" dirty="0">
                <a:solidFill>
                  <a:srgbClr val="132346"/>
                </a:solidFill>
                <a:latin typeface="Calibri"/>
              </a:rPr>
              <a:t>SURA es el cliente con más mesas activas y la renovación más urgente (Agosto 2026). Automatización es la referencia positiva (SLA 98%, MTTR 2.98h). Canales Masivos es el riesgo mayor: 1 solo FTE sin contingencia.</a:t>
            </a:r>
          </a:p>
        </p:txBody>
      </p:sp>
      <p:sp>
        <p:nvSpPr>
          <p:cNvPr id="110" name="src"/>
          <p:cNvSpPr txBox="1">
            <a:spLocks noGrp="1"/>
          </p:cNvSpPr>
          <p:nvPr/>
        </p:nvSpPr>
        <p:spPr>
          <a:xfrm>
            <a:off x="457200" y="4453128"/>
            <a:ext cx="11155680" cy="164592"/>
          </a:xfrm>
          <a:prstGeom prst="rect">
            <a:avLst/>
          </a:prstGeom>
          <a:noFill/>
          <a:ln>
            <a:noFill/>
          </a:ln>
        </p:spPr>
        <p:txBody>
          <a:bodyPr anchor="t" wrap="square" lIns="91440" rIns="91440" tIns="45720" bIns="45720">
            <a:noAutofit/>
          </a:bodyPr>
          <a:lstStyle/>
          <a:p>
            <a:pPr algn="l"/>
            <a:r>
              <a:rPr lang="es-ES" sz="750" dirty="0" i="1">
                <a:solidFill>
                  <a:srgbClr val="5A6472"/>
                </a:solidFill>
                <a:latin typeface="Calibri"/>
              </a:rPr>
              <a:t>Fuente: Levantamiento interno PersonalSoft · Julio 2026 · Transcript: Elsy Marin (SURA) · Excel Levantamiento_Mesas_Julio_2026</a:t>
            </a:r>
          </a:p>
        </p:txBody>
      </p:sp>
    </p:spTree>
  </p:cSld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bg"/>
          <p:cNvSpPr>
            <a:spLocks noGrp="1"/>
          </p:cNvSpPr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6F2"/>
          </a:solidFill>
          <a:ln>
            <a:noFill/>
          </a:ln>
        </p:spPr>
      </p:sp>
      <p:sp>
        <p:nvSpPr>
          <p:cNvPr id="3" name="hdr"/>
          <p:cNvSpPr>
            <a:spLocks noGrp="1"/>
          </p:cNvSpPr>
          <p:nvPr/>
        </p:nvSpPr>
        <p:spPr>
          <a:xfrm>
            <a:off x="457200" y="274320"/>
            <a:ext cx="11247120" cy="530352"/>
          </a:xfrm>
          <a:prstGeom prst="roundRect">
            <a:avLst>
              <a:gd name="adj" fmla="val 8000"/>
            </a:avLst>
          </a:prstGeom>
          <a:solidFill>
            <a:srgbClr val="132346"/>
          </a:solidFill>
          <a:ln>
            <a:noFill/>
          </a:ln>
        </p:spPr>
      </p:sp>
      <p:sp>
        <p:nvSpPr>
          <p:cNvPr id="4" name="nb"/>
          <p:cNvSpPr>
            <a:spLocks noGrp="1"/>
          </p:cNvSpPr>
          <p:nvPr/>
        </p:nvSpPr>
        <p:spPr>
          <a:xfrm>
            <a:off x="457200" y="274320"/>
            <a:ext cx="585216" cy="530352"/>
          </a:xfrm>
          <a:prstGeom prst="roundRect">
            <a:avLst>
              <a:gd name="adj" fmla="val 8000"/>
            </a:avLst>
          </a:prstGeom>
          <a:solidFill>
            <a:srgbClr val="017490"/>
          </a:solidFill>
          <a:ln>
            <a:noFill/>
          </a:ln>
        </p:spPr>
      </p:sp>
      <p:sp>
        <p:nvSpPr>
          <p:cNvPr id="5" name="nt"/>
          <p:cNvSpPr txBox="1">
            <a:spLocks noGrp="1"/>
          </p:cNvSpPr>
          <p:nvPr/>
        </p:nvSpPr>
        <p:spPr>
          <a:xfrm>
            <a:off x="457200" y="274320"/>
            <a:ext cx="585216" cy="530352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1200" dirty="0" b="1">
                <a:solidFill>
                  <a:srgbClr val="FFFFFF"/>
                </a:solidFill>
                <a:latin typeface="Calibri"/>
              </a:rPr>
              <a:t>N2</a:t>
            </a:r>
          </a:p>
        </p:txBody>
      </p:sp>
      <p:sp>
        <p:nvSpPr>
          <p:cNvPr id="6" name="ttl"/>
          <p:cNvSpPr txBox="1">
            <a:spLocks noGrp="1"/>
          </p:cNvSpPr>
          <p:nvPr/>
        </p:nvSpPr>
        <p:spPr>
          <a:xfrm>
            <a:off x="1097280" y="329184"/>
            <a:ext cx="8686800" cy="420624"/>
          </a:xfrm>
          <a:prstGeom prst="rect">
            <a:avLst/>
          </a:prstGeom>
          <a:noFill/>
          <a:ln>
            <a:noFill/>
          </a:ln>
        </p:spPr>
        <p:txBody>
          <a:bodyPr anchor="t" wrap="square" lIns="91440" rIns="91440" tIns="45720" bIns="45720">
            <a:noAutofit/>
          </a:bodyPr>
          <a:lstStyle/>
          <a:p>
            <a:pPr algn="l"/>
            <a:r>
              <a:rPr lang="es-ES" sz="1700" dirty="0" b="1">
                <a:solidFill>
                  <a:srgbClr val="FFFFFF"/>
                </a:solidFill>
                <a:latin typeface="Calibri"/>
              </a:rPr>
              <a:t>XM · Mesa de Servicio · Apps Críticas · Energía</a:t>
            </a:r>
          </a:p>
        </p:txBody>
      </p:sp>
      <p:sp>
        <p:nvSpPr>
          <p:cNvPr id="7" name="abg"/>
          <p:cNvSpPr>
            <a:spLocks noGrp="1"/>
          </p:cNvSpPr>
          <p:nvPr/>
        </p:nvSpPr>
        <p:spPr>
          <a:xfrm>
            <a:off x="9875520" y="320040"/>
            <a:ext cx="1828800" cy="420624"/>
          </a:xfrm>
          <a:prstGeom prst="roundRect">
            <a:avLst>
              <a:gd name="adj" fmla="val 6000"/>
            </a:avLst>
          </a:prstGeom>
          <a:solidFill>
            <a:srgbClr val="017490"/>
          </a:solidFill>
          <a:ln>
            <a:noFill/>
          </a:ln>
        </p:spPr>
      </p:sp>
      <p:sp>
        <p:nvSpPr>
          <p:cNvPr id="8" name="at"/>
          <p:cNvSpPr txBox="1">
            <a:spLocks noGrp="1"/>
          </p:cNvSpPr>
          <p:nvPr/>
        </p:nvSpPr>
        <p:spPr>
          <a:xfrm>
            <a:off x="9875520" y="320040"/>
            <a:ext cx="1828800" cy="420624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820" dirty="0" b="1">
                <a:solidFill>
                  <a:srgbClr val="FFFFFF"/>
                </a:solidFill>
                <a:latin typeface="Calibri"/>
              </a:rPr>
              <a:t>N2 · Vigente 2027</a:t>
            </a:r>
          </a:p>
        </p:txBody>
      </p:sp>
      <p:sp>
        <p:nvSpPr>
          <p:cNvPr id="9" name="sub_bg"/>
          <p:cNvSpPr>
            <a:spLocks noGrp="1"/>
          </p:cNvSpPr>
          <p:nvPr/>
        </p:nvSpPr>
        <p:spPr>
          <a:xfrm>
            <a:off x="457200" y="859536"/>
            <a:ext cx="11247120" cy="347472"/>
          </a:xfrm>
          <a:prstGeom prst="rect">
            <a:avLst/>
          </a:prstGeom>
          <a:solidFill>
            <a:srgbClr val="E8EDF4"/>
          </a:solidFill>
          <a:ln>
            <a:noFill/>
          </a:ln>
        </p:spPr>
      </p:sp>
      <p:sp>
        <p:nvSpPr>
          <p:cNvPr id="10" name="sub"/>
          <p:cNvSpPr txBox="1">
            <a:spLocks noGrp="1"/>
          </p:cNvSpPr>
          <p:nvPr/>
        </p:nvSpPr>
        <p:spPr>
          <a:xfrm>
            <a:off x="548640" y="896112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="t" wrap="square" lIns="91440" rIns="91440" tIns="45720" bIns="45720">
            <a:noAutofit/>
          </a:bodyPr>
          <a:lstStyle/>
          <a:p>
            <a:pPr algn="l"/>
            <a:r>
              <a:rPr lang="es-ES" sz="940" dirty="0">
                <a:solidFill>
                  <a:srgbClr val="132346"/>
                </a:solidFill>
                <a:latin typeface="Calibri"/>
              </a:rPr>
              <a:t>Contrato: Staffing · Vigente hasta Julio 2027 · Soporte 24x7 a 14 componentes críticos (11 apps + 3 tareas) · Líder: Diego Serna</a:t>
            </a:r>
          </a:p>
        </p:txBody>
      </p:sp>
      <p:sp>
        <p:nvSpPr>
          <p:cNvPr id="20" name="kb"/>
          <p:cNvSpPr>
            <a:spLocks noGrp="1"/>
          </p:cNvSpPr>
          <p:nvPr/>
        </p:nvSpPr>
        <p:spPr>
          <a:xfrm>
            <a:off x="457200" y="1261872"/>
            <a:ext cx="246888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3EC"/>
            </a:solidFill>
          </a:ln>
        </p:spPr>
      </p:sp>
      <p:sp>
        <p:nvSpPr>
          <p:cNvPr id="21" name="kv"/>
          <p:cNvSpPr txBox="1">
            <a:spLocks noGrp="1"/>
          </p:cNvSpPr>
          <p:nvPr/>
        </p:nvSpPr>
        <p:spPr>
          <a:xfrm>
            <a:off x="457200" y="1298448"/>
            <a:ext cx="2468880" cy="347472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2000" dirty="0" b="1">
                <a:solidFill>
                  <a:srgbClr val="132346"/>
                </a:solidFill>
                <a:latin typeface="Calibri"/>
              </a:rPr>
              <a:t>4</a:t>
            </a:r>
          </a:p>
        </p:txBody>
      </p:sp>
      <p:sp>
        <p:nvSpPr>
          <p:cNvPr id="22" name="kl"/>
          <p:cNvSpPr txBox="1">
            <a:spLocks noGrp="1"/>
          </p:cNvSpPr>
          <p:nvPr/>
        </p:nvSpPr>
        <p:spPr>
          <a:xfrm>
            <a:off x="457200" y="1645920"/>
            <a:ext cx="2468880" cy="237744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780" dirty="0">
                <a:solidFill>
                  <a:srgbClr val="5A6472"/>
                </a:solidFill>
                <a:latin typeface="Calibri"/>
              </a:rPr>
              <a:t>FTE</a:t>
            </a:r>
          </a:p>
        </p:txBody>
      </p:sp>
      <p:sp>
        <p:nvSpPr>
          <p:cNvPr id="25" name="kb"/>
          <p:cNvSpPr>
            <a:spLocks noGrp="1"/>
          </p:cNvSpPr>
          <p:nvPr/>
        </p:nvSpPr>
        <p:spPr>
          <a:xfrm>
            <a:off x="3072384" y="1261872"/>
            <a:ext cx="246888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3EC"/>
            </a:solidFill>
          </a:ln>
        </p:spPr>
      </p:sp>
      <p:sp>
        <p:nvSpPr>
          <p:cNvPr id="26" name="kv"/>
          <p:cNvSpPr txBox="1">
            <a:spLocks noGrp="1"/>
          </p:cNvSpPr>
          <p:nvPr/>
        </p:nvSpPr>
        <p:spPr>
          <a:xfrm>
            <a:off x="3072384" y="1298448"/>
            <a:ext cx="2468880" cy="347472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2000" dirty="0" b="1">
                <a:solidFill>
                  <a:srgbClr val="B3261E"/>
                </a:solidFill>
                <a:latin typeface="Calibri"/>
              </a:rPr>
              <a:t>90</a:t>
            </a:r>
          </a:p>
        </p:txBody>
      </p:sp>
      <p:sp>
        <p:nvSpPr>
          <p:cNvPr id="27" name="kl"/>
          <p:cNvSpPr txBox="1">
            <a:spLocks noGrp="1"/>
          </p:cNvSpPr>
          <p:nvPr/>
        </p:nvSpPr>
        <p:spPr>
          <a:xfrm>
            <a:off x="3072384" y="1645920"/>
            <a:ext cx="2468880" cy="237744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780" dirty="0">
                <a:solidFill>
                  <a:srgbClr val="5A6472"/>
                </a:solidFill>
                <a:latin typeface="Calibri"/>
              </a:rPr>
              <a:t>Tickets/mes</a:t>
            </a:r>
          </a:p>
        </p:txBody>
      </p:sp>
      <p:sp>
        <p:nvSpPr>
          <p:cNvPr id="30" name="kb"/>
          <p:cNvSpPr>
            <a:spLocks noGrp="1"/>
          </p:cNvSpPr>
          <p:nvPr/>
        </p:nvSpPr>
        <p:spPr>
          <a:xfrm>
            <a:off x="5687568" y="1261872"/>
            <a:ext cx="246888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3EC"/>
            </a:solidFill>
          </a:ln>
        </p:spPr>
      </p:sp>
      <p:sp>
        <p:nvSpPr>
          <p:cNvPr id="31" name="kv"/>
          <p:cNvSpPr txBox="1">
            <a:spLocks noGrp="1"/>
          </p:cNvSpPr>
          <p:nvPr/>
        </p:nvSpPr>
        <p:spPr>
          <a:xfrm>
            <a:off x="5687568" y="1298448"/>
            <a:ext cx="2468880" cy="347472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2000" dirty="0" b="1">
                <a:solidFill>
                  <a:srgbClr val="B3261E"/>
                </a:solidFill>
                <a:latin typeface="Calibri"/>
              </a:rPr>
              <a:t>22.5</a:t>
            </a:r>
          </a:p>
        </p:txBody>
      </p:sp>
      <p:sp>
        <p:nvSpPr>
          <p:cNvPr id="32" name="kl"/>
          <p:cNvSpPr txBox="1">
            <a:spLocks noGrp="1"/>
          </p:cNvSpPr>
          <p:nvPr/>
        </p:nvSpPr>
        <p:spPr>
          <a:xfrm>
            <a:off x="5687568" y="1645920"/>
            <a:ext cx="2468880" cy="237744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780" dirty="0">
                <a:solidFill>
                  <a:srgbClr val="5A6472"/>
                </a:solidFill>
                <a:latin typeface="Calibri"/>
              </a:rPr>
              <a:t>Tix/FTE/mes</a:t>
            </a:r>
          </a:p>
        </p:txBody>
      </p:sp>
      <p:sp>
        <p:nvSpPr>
          <p:cNvPr id="35" name="kb"/>
          <p:cNvSpPr>
            <a:spLocks noGrp="1"/>
          </p:cNvSpPr>
          <p:nvPr/>
        </p:nvSpPr>
        <p:spPr>
          <a:xfrm>
            <a:off x="8302752" y="1261872"/>
            <a:ext cx="246888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3EC"/>
            </a:solidFill>
          </a:ln>
        </p:spPr>
      </p:sp>
      <p:sp>
        <p:nvSpPr>
          <p:cNvPr id="36" name="kv"/>
          <p:cNvSpPr txBox="1">
            <a:spLocks noGrp="1"/>
          </p:cNvSpPr>
          <p:nvPr/>
        </p:nvSpPr>
        <p:spPr>
          <a:xfrm>
            <a:off x="8302752" y="1298448"/>
            <a:ext cx="2468880" cy="347472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2000" dirty="0" b="1">
                <a:solidFill>
                  <a:srgbClr val="8A8F98"/>
                </a:solidFill>
                <a:latin typeface="Calibri"/>
              </a:rPr>
              <a:t>N/D</a:t>
            </a:r>
          </a:p>
        </p:txBody>
      </p:sp>
      <p:sp>
        <p:nvSpPr>
          <p:cNvPr id="37" name="kl"/>
          <p:cNvSpPr txBox="1">
            <a:spLocks noGrp="1"/>
          </p:cNvSpPr>
          <p:nvPr/>
        </p:nvSpPr>
        <p:spPr>
          <a:xfrm>
            <a:off x="8302752" y="1645920"/>
            <a:ext cx="2468880" cy="237744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780" dirty="0">
                <a:solidFill>
                  <a:srgbClr val="5A6472"/>
                </a:solidFill>
                <a:latin typeface="Calibri"/>
              </a:rPr>
              <a:t>SLA / MTTR</a:t>
            </a:r>
          </a:p>
        </p:txBody>
      </p:sp>
      <p:sp>
        <p:nvSpPr>
          <p:cNvPr id="50" name="ch"/>
          <p:cNvSpPr>
            <a:spLocks noGrp="1"/>
          </p:cNvSpPr>
          <p:nvPr/>
        </p:nvSpPr>
        <p:spPr>
          <a:xfrm>
            <a:off x="457200" y="2011680"/>
            <a:ext cx="5303520" cy="256032"/>
          </a:xfrm>
          <a:prstGeom prst="rect">
            <a:avLst/>
          </a:prstGeom>
          <a:solidFill>
            <a:srgbClr val="DCE3EC"/>
          </a:solidFill>
          <a:ln>
            <a:noFill/>
          </a:ln>
        </p:spPr>
      </p:sp>
      <p:sp>
        <p:nvSpPr>
          <p:cNvPr id="51" name="cht"/>
          <p:cNvSpPr txBox="1">
            <a:spLocks noGrp="1"/>
          </p:cNvSpPr>
          <p:nvPr/>
        </p:nvSpPr>
        <p:spPr>
          <a:xfrm>
            <a:off x="566928" y="2011680"/>
            <a:ext cx="5120640" cy="256032"/>
          </a:xfrm>
          <a:prstGeom prst="rect">
            <a:avLst/>
          </a:prstGeom>
          <a:noFill/>
          <a:ln>
            <a:noFill/>
          </a:ln>
        </p:spPr>
        <p:txBody>
          <a:bodyPr anchor="t" wrap="square" lIns="91440" rIns="91440" tIns="45720" bIns="45720">
            <a:noAutofit/>
          </a:bodyPr>
          <a:lstStyle/>
          <a:p>
            <a:pPr algn="l"/>
            <a:r>
              <a:rPr lang="es-ES" sz="880" dirty="0" b="1">
                <a:solidFill>
                  <a:srgbClr val="132346"/>
                </a:solidFill>
                <a:latin typeface="Calibri"/>
              </a:rPr>
              <a:t>CONTEXTO</a:t>
            </a:r>
          </a:p>
        </p:txBody>
      </p:sp>
      <p:sp>
        <p:nvSpPr>
          <p:cNvPr id="52" name="cbg"/>
          <p:cNvSpPr>
            <a:spLocks noGrp="1"/>
          </p:cNvSpPr>
          <p:nvPr/>
        </p:nvSpPr>
        <p:spPr>
          <a:xfrm>
            <a:off x="457200" y="2267712"/>
            <a:ext cx="5303520" cy="173736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53" name="cl"/>
          <p:cNvSpPr txBox="1">
            <a:spLocks noGrp="1"/>
          </p:cNvSpPr>
          <p:nvPr/>
        </p:nvSpPr>
        <p:spPr>
          <a:xfrm>
            <a:off x="566928" y="2322576"/>
            <a:ext cx="5084064" cy="256032"/>
          </a:xfrm>
          <a:prstGeom prst="rect">
            <a:avLst/>
          </a:prstGeom>
          <a:noFill/>
          <a:ln>
            <a:noFill/>
          </a:ln>
        </p:spPr>
        <p:txBody>
          <a:bodyPr anchor="t" wrap="square" lIns="91440" rIns="91440" tIns="45720" bIns="45720">
            <a:noAutofit/>
          </a:bodyPr>
          <a:lstStyle/>
          <a:p>
            <a:pPr algn="l"/>
            <a:r>
              <a:rPr lang="es-ES" sz="860" dirty="0">
                <a:solidFill>
                  <a:srgbClr val="1C1C1C"/>
                </a:solidFill>
                <a:latin typeface="Calibri"/>
              </a:rPr>
              <a:t>·  Soporte a 14 componentes: 11 aplicaciones + 3 tareas críticas del mercado eléctrico</a:t>
            </a:r>
          </a:p>
        </p:txBody>
      </p:sp>
      <p:sp>
        <p:nvSpPr>
          <p:cNvPr id="54" name="cl"/>
          <p:cNvSpPr txBox="1">
            <a:spLocks noGrp="1"/>
          </p:cNvSpPr>
          <p:nvPr/>
        </p:nvSpPr>
        <p:spPr>
          <a:xfrm>
            <a:off x="566928" y="2596896"/>
            <a:ext cx="5084064" cy="256032"/>
          </a:xfrm>
          <a:prstGeom prst="rect">
            <a:avLst/>
          </a:prstGeom>
          <a:noFill/>
          <a:ln>
            <a:noFill/>
          </a:ln>
        </p:spPr>
        <p:txBody>
          <a:bodyPr anchor="t" wrap="square" lIns="91440" rIns="91440" tIns="45720" bIns="45720">
            <a:noAutofit/>
          </a:bodyPr>
          <a:lstStyle/>
          <a:p>
            <a:pPr algn="l"/>
            <a:r>
              <a:rPr lang="es-ES" sz="860" dirty="0">
                <a:solidFill>
                  <a:srgbClr val="1C1C1C"/>
                </a:solidFill>
                <a:latin typeface="Calibri"/>
              </a:rPr>
              <a:t>·  Herramienta: ServiceNow (del cliente) — PersonalSoft paga la licencia</a:t>
            </a:r>
          </a:p>
        </p:txBody>
      </p:sp>
      <p:sp>
        <p:nvSpPr>
          <p:cNvPr id="55" name="cl"/>
          <p:cNvSpPr txBox="1">
            <a:spLocks noGrp="1"/>
          </p:cNvSpPr>
          <p:nvPr/>
        </p:nvSpPr>
        <p:spPr>
          <a:xfrm>
            <a:off x="566928" y="2871216"/>
            <a:ext cx="5084064" cy="256032"/>
          </a:xfrm>
          <a:prstGeom prst="rect">
            <a:avLst/>
          </a:prstGeom>
          <a:noFill/>
          <a:ln>
            <a:noFill/>
          </a:ln>
        </p:spPr>
        <p:txBody>
          <a:bodyPr anchor="t" wrap="square" lIns="91440" rIns="91440" tIns="45720" bIns="45720">
            <a:noAutofit/>
          </a:bodyPr>
          <a:lstStyle/>
          <a:p>
            <a:pPr algn="l"/>
            <a:r>
              <a:rPr lang="es-ES" sz="860" dirty="0">
                <a:solidFill>
                  <a:srgbClr val="1C1C1C"/>
                </a:solidFill>
                <a:latin typeface="Calibri"/>
              </a:rPr>
              <a:t>·  Disponibilidad: 24x7 · Solo 4 FTE para cobertura completa (muy justo)</a:t>
            </a:r>
          </a:p>
        </p:txBody>
      </p:sp>
      <p:sp>
        <p:nvSpPr>
          <p:cNvPr id="56" name="cl"/>
          <p:cNvSpPr txBox="1">
            <a:spLocks noGrp="1"/>
          </p:cNvSpPr>
          <p:nvPr/>
        </p:nvSpPr>
        <p:spPr>
          <a:xfrm>
            <a:off x="566928" y="3145536"/>
            <a:ext cx="5084064" cy="256032"/>
          </a:xfrm>
          <a:prstGeom prst="rect">
            <a:avLst/>
          </a:prstGeom>
          <a:noFill/>
          <a:ln>
            <a:noFill/>
          </a:ln>
        </p:spPr>
        <p:txBody>
          <a:bodyPr anchor="t" wrap="square" lIns="91440" rIns="91440" tIns="45720" bIns="45720">
            <a:noAutofit/>
          </a:bodyPr>
          <a:lstStyle/>
          <a:p>
            <a:pPr algn="l"/>
            <a:r>
              <a:rPr lang="es-ES" sz="860" dirty="0">
                <a:solidFill>
                  <a:srgbClr val="1C1C1C"/>
                </a:solidFill>
                <a:latin typeface="Calibri"/>
              </a:rPr>
              <a:t>·  Modelo: Staffing · Contrato vigente hasta julio 2027</a:t>
            </a:r>
          </a:p>
        </p:txBody>
      </p:sp>
      <p:sp>
        <p:nvSpPr>
          <p:cNvPr id="57" name="cl"/>
          <p:cNvSpPr txBox="1">
            <a:spLocks noGrp="1"/>
          </p:cNvSpPr>
          <p:nvPr/>
        </p:nvSpPr>
        <p:spPr>
          <a:xfrm>
            <a:off x="566928" y="3419856"/>
            <a:ext cx="5084064" cy="256032"/>
          </a:xfrm>
          <a:prstGeom prst="rect">
            <a:avLst/>
          </a:prstGeom>
          <a:noFill/>
          <a:ln>
            <a:noFill/>
          </a:ln>
        </p:spPr>
        <p:txBody>
          <a:bodyPr anchor="t" wrap="square" lIns="91440" rIns="91440" tIns="45720" bIns="45720">
            <a:noAutofit/>
          </a:bodyPr>
          <a:lstStyle/>
          <a:p>
            <a:pPr algn="l"/>
            <a:r>
              <a:rPr lang="es-ES" sz="860" dirty="0">
                <a:solidFill>
                  <a:srgbClr val="1C1C1C"/>
                </a:solidFill>
                <a:latin typeface="Calibri"/>
              </a:rPr>
              <a:t>·  90 tickets/mes pero cada componente tiene alta complejidad técnica</a:t>
            </a:r>
          </a:p>
        </p:txBody>
      </p:sp>
      <p:sp>
        <p:nvSpPr>
          <p:cNvPr id="58" name="cl"/>
          <p:cNvSpPr txBox="1">
            <a:spLocks noGrp="1"/>
          </p:cNvSpPr>
          <p:nvPr/>
        </p:nvSpPr>
        <p:spPr>
          <a:xfrm>
            <a:off x="566928" y="3694176"/>
            <a:ext cx="5084064" cy="256032"/>
          </a:xfrm>
          <a:prstGeom prst="rect">
            <a:avLst/>
          </a:prstGeom>
          <a:noFill/>
          <a:ln>
            <a:noFill/>
          </a:ln>
        </p:spPr>
        <p:txBody>
          <a:bodyPr anchor="t" wrap="square" lIns="91440" rIns="91440" tIns="45720" bIns="45720">
            <a:noAutofit/>
          </a:bodyPr>
          <a:lstStyle/>
          <a:p>
            <a:pPr algn="l"/>
            <a:r>
              <a:rPr lang="es-ES" sz="860" dirty="0">
                <a:solidFill>
                  <a:srgbClr val="1C1C1C"/>
                </a:solidFill>
                <a:latin typeface="Calibri"/>
              </a:rPr>
              <a:t>·  Tix/FTE = 22.5 vs industria 80+ → trabajo no ticketado o subutilización</a:t>
            </a:r>
          </a:p>
        </p:txBody>
      </p:sp>
      <p:sp>
        <p:nvSpPr>
          <p:cNvPr id="70" name="dh"/>
          <p:cNvSpPr>
            <a:spLocks noGrp="1"/>
          </p:cNvSpPr>
          <p:nvPr/>
        </p:nvSpPr>
        <p:spPr>
          <a:xfrm>
            <a:off x="5943600" y="2011680"/>
            <a:ext cx="5760720" cy="256032"/>
          </a:xfrm>
          <a:prstGeom prst="rect">
            <a:avLst/>
          </a:prstGeom>
          <a:solidFill>
            <a:srgbClr val="DCE3EC"/>
          </a:solidFill>
          <a:ln>
            <a:noFill/>
          </a:ln>
        </p:spPr>
      </p:sp>
      <p:sp>
        <p:nvSpPr>
          <p:cNvPr id="71" name="dht"/>
          <p:cNvSpPr txBox="1">
            <a:spLocks noGrp="1"/>
          </p:cNvSpPr>
          <p:nvPr/>
        </p:nvSpPr>
        <p:spPr>
          <a:xfrm>
            <a:off x="6053328" y="2011680"/>
            <a:ext cx="5577840" cy="256032"/>
          </a:xfrm>
          <a:prstGeom prst="rect">
            <a:avLst/>
          </a:prstGeom>
          <a:noFill/>
          <a:ln>
            <a:noFill/>
          </a:ln>
        </p:spPr>
        <p:txBody>
          <a:bodyPr anchor="t" wrap="square" lIns="91440" rIns="91440" tIns="45720" bIns="45720">
            <a:noAutofit/>
          </a:bodyPr>
          <a:lstStyle/>
          <a:p>
            <a:pPr algn="l"/>
            <a:r>
              <a:rPr lang="es-ES" sz="880" dirty="0" b="1">
                <a:solidFill>
                  <a:srgbClr val="132346"/>
                </a:solidFill>
                <a:latin typeface="Calibri"/>
              </a:rPr>
              <a:t>BRECHAS CRÍTICAS</a:t>
            </a:r>
          </a:p>
        </p:txBody>
      </p:sp>
      <p:sp>
        <p:nvSpPr>
          <p:cNvPr id="72" name="dbg"/>
          <p:cNvSpPr>
            <a:spLocks noGrp="1"/>
          </p:cNvSpPr>
          <p:nvPr/>
        </p:nvSpPr>
        <p:spPr>
          <a:xfrm>
            <a:off x="5943600" y="2267712"/>
            <a:ext cx="5760720" cy="1883664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80" name="d"/>
          <p:cNvSpPr txBox="1">
            <a:spLocks noGrp="1"/>
          </p:cNvSpPr>
          <p:nvPr/>
        </p:nvSpPr>
        <p:spPr>
          <a:xfrm>
            <a:off x="6053328" y="2340864"/>
            <a:ext cx="5394960" cy="274320"/>
          </a:xfrm>
          <a:prstGeom prst="rect">
            <a:avLst/>
          </a:prstGeom>
          <a:noFill/>
          <a:ln>
            <a:noFill/>
          </a:ln>
        </p:spPr>
        <p:txBody>
          <a:bodyPr anchor="t" wrap="square" lIns="91440" rIns="91440" tIns="45720" bIns="45720">
            <a:noAutofit/>
          </a:bodyPr>
          <a:lstStyle/>
          <a:p>
            <a:pPr algn="l"/>
            <a:r>
              <a:rPr lang="es-ES" sz="880" dirty="0" b="1">
                <a:solidFill>
                  <a:srgbClr val="B3261E"/>
                </a:solidFill>
                <a:latin typeface="Calibri"/>
              </a:rPr>
              <a:t>●  </a:t>
            </a:r>
            <a:r>
              <a:rPr lang="es-ES" sz="840" dirty="0">
                <a:solidFill>
                  <a:srgbClr val="1C1C1C"/>
                </a:solidFill>
                <a:latin typeface="Calibri"/>
              </a:rPr>
              <a:t>D3 · Sin autoservicio — todo llega por call o correo</a:t>
            </a:r>
          </a:p>
        </p:txBody>
      </p:sp>
      <p:sp>
        <p:nvSpPr>
          <p:cNvPr id="81" name="d"/>
          <p:cNvSpPr txBox="1">
            <a:spLocks noGrp="1"/>
          </p:cNvSpPr>
          <p:nvPr/>
        </p:nvSpPr>
        <p:spPr>
          <a:xfrm>
            <a:off x="6053328" y="2651760"/>
            <a:ext cx="5394960" cy="274320"/>
          </a:xfrm>
          <a:prstGeom prst="rect">
            <a:avLst/>
          </a:prstGeom>
          <a:noFill/>
          <a:ln>
            <a:noFill/>
          </a:ln>
        </p:spPr>
        <p:txBody>
          <a:bodyPr anchor="t" wrap="square" lIns="91440" rIns="91440" tIns="45720" bIns="45720">
            <a:noAutofit/>
          </a:bodyPr>
          <a:lstStyle/>
          <a:p>
            <a:pPr algn="l"/>
            <a:r>
              <a:rPr lang="es-ES" sz="880" dirty="0" b="1">
                <a:solidFill>
                  <a:srgbClr val="B3261E"/>
                </a:solidFill>
                <a:latin typeface="Calibri"/>
              </a:rPr>
              <a:t>●  </a:t>
            </a:r>
            <a:r>
              <a:rPr lang="es-ES" sz="840" dirty="0">
                <a:solidFill>
                  <a:srgbClr val="1C1C1C"/>
                </a:solidFill>
                <a:latin typeface="Calibri"/>
              </a:rPr>
              <a:t>D7 · Sin dashboard — sin visibilidad ejecutiva en tiempo real</a:t>
            </a:r>
          </a:p>
        </p:txBody>
      </p:sp>
      <p:sp>
        <p:nvSpPr>
          <p:cNvPr id="82" name="d"/>
          <p:cNvSpPr txBox="1">
            <a:spLocks noGrp="1"/>
          </p:cNvSpPr>
          <p:nvPr/>
        </p:nvSpPr>
        <p:spPr>
          <a:xfrm>
            <a:off x="6053328" y="2962656"/>
            <a:ext cx="5394960" cy="274320"/>
          </a:xfrm>
          <a:prstGeom prst="rect">
            <a:avLst/>
          </a:prstGeom>
          <a:noFill/>
          <a:ln>
            <a:noFill/>
          </a:ln>
        </p:spPr>
        <p:txBody>
          <a:bodyPr anchor="t" wrap="square" lIns="91440" rIns="91440" tIns="45720" bIns="45720">
            <a:noAutofit/>
          </a:bodyPr>
          <a:lstStyle/>
          <a:p>
            <a:pPr algn="l"/>
            <a:r>
              <a:rPr lang="es-ES" sz="880" dirty="0" b="1">
                <a:solidFill>
                  <a:srgbClr val="B3261E"/>
                </a:solidFill>
                <a:latin typeface="Calibri"/>
              </a:rPr>
              <a:t>●  </a:t>
            </a:r>
            <a:r>
              <a:rPr lang="es-ES" sz="840" dirty="0">
                <a:solidFill>
                  <a:srgbClr val="1C1C1C"/>
                </a:solidFill>
                <a:latin typeface="Calibri"/>
              </a:rPr>
              <a:t>D11 · Postura 100% reactiva — sin anticipación ni prevencion</a:t>
            </a:r>
          </a:p>
        </p:txBody>
      </p:sp>
      <p:sp>
        <p:nvSpPr>
          <p:cNvPr id="83" name="d"/>
          <p:cNvSpPr txBox="1">
            <a:spLocks noGrp="1"/>
          </p:cNvSpPr>
          <p:nvPr/>
        </p:nvSpPr>
        <p:spPr>
          <a:xfrm>
            <a:off x="6053328" y="3273552"/>
            <a:ext cx="5394960" cy="274320"/>
          </a:xfrm>
          <a:prstGeom prst="rect">
            <a:avLst/>
          </a:prstGeom>
          <a:noFill/>
          <a:ln>
            <a:noFill/>
          </a:ln>
        </p:spPr>
        <p:txBody>
          <a:bodyPr anchor="t" wrap="square" lIns="91440" rIns="91440" tIns="45720" bIns="45720">
            <a:noAutofit/>
          </a:bodyPr>
          <a:lstStyle/>
          <a:p>
            <a:pPr algn="l"/>
            <a:r>
              <a:rPr lang="es-ES" sz="880" dirty="0" b="1">
                <a:solidFill>
                  <a:srgbClr val="B3261E"/>
                </a:solidFill>
                <a:latin typeface="Calibri"/>
              </a:rPr>
              <a:t>●  </a:t>
            </a:r>
            <a:r>
              <a:rPr lang="es-ES" sz="840" dirty="0">
                <a:solidFill>
                  <a:srgbClr val="1C1C1C"/>
                </a:solidFill>
                <a:latin typeface="Calibri"/>
              </a:rPr>
              <a:t>D12 · Sin gobierno claro — sin RACI ni ANS formales con XM</a:t>
            </a:r>
          </a:p>
        </p:txBody>
      </p:sp>
      <p:sp>
        <p:nvSpPr>
          <p:cNvPr id="84" name="d"/>
          <p:cNvSpPr txBox="1">
            <a:spLocks noGrp="1"/>
          </p:cNvSpPr>
          <p:nvPr/>
        </p:nvSpPr>
        <p:spPr>
          <a:xfrm>
            <a:off x="6053328" y="3584448"/>
            <a:ext cx="5394960" cy="274320"/>
          </a:xfrm>
          <a:prstGeom prst="rect">
            <a:avLst/>
          </a:prstGeom>
          <a:noFill/>
          <a:ln>
            <a:noFill/>
          </a:ln>
        </p:spPr>
        <p:txBody>
          <a:bodyPr anchor="t" wrap="square" lIns="91440" rIns="91440" tIns="45720" bIns="45720">
            <a:noAutofit/>
          </a:bodyPr>
          <a:lstStyle/>
          <a:p>
            <a:pPr algn="l"/>
            <a:r>
              <a:rPr lang="es-ES" sz="880" dirty="0" b="1">
                <a:solidFill>
                  <a:srgbClr val="B3261E"/>
                </a:solidFill>
                <a:latin typeface="Calibri"/>
              </a:rPr>
              <a:t>●  </a:t>
            </a:r>
            <a:r>
              <a:rPr lang="es-ES" sz="840" dirty="0">
                <a:solidFill>
                  <a:srgbClr val="1C1C1C"/>
                </a:solidFill>
                <a:latin typeface="Calibri"/>
              </a:rPr>
              <a:t>D16 · Brechas vendido vs ejecutado — volumetría mal estimada</a:t>
            </a:r>
          </a:p>
        </p:txBody>
      </p:sp>
      <p:sp>
        <p:nvSpPr>
          <p:cNvPr id="88" name="dsep"/>
          <p:cNvSpPr>
            <a:spLocks noGrp="1"/>
          </p:cNvSpPr>
          <p:nvPr/>
        </p:nvSpPr>
        <p:spPr>
          <a:xfrm>
            <a:off x="6053328" y="3950208"/>
            <a:ext cx="5303520" cy="9144"/>
          </a:xfrm>
          <a:prstGeom prst="rect">
            <a:avLst/>
          </a:prstGeom>
          <a:solidFill>
            <a:srgbClr val="DCE3EC"/>
          </a:solidFill>
          <a:ln>
            <a:noFill/>
          </a:ln>
        </p:spPr>
      </p:sp>
      <p:sp>
        <p:nvSpPr>
          <p:cNvPr id="90" name="d"/>
          <p:cNvSpPr txBox="1">
            <a:spLocks noGrp="1"/>
          </p:cNvSpPr>
          <p:nvPr/>
        </p:nvSpPr>
        <p:spPr>
          <a:xfrm>
            <a:off x="6053328" y="4005072"/>
            <a:ext cx="5394960" cy="274320"/>
          </a:xfrm>
          <a:prstGeom prst="rect">
            <a:avLst/>
          </a:prstGeom>
          <a:noFill/>
          <a:ln>
            <a:noFill/>
          </a:ln>
        </p:spPr>
        <p:txBody>
          <a:bodyPr anchor="t" wrap="square" lIns="91440" rIns="91440" tIns="45720" bIns="45720">
            <a:noAutofit/>
          </a:bodyPr>
          <a:lstStyle/>
          <a:p>
            <a:pPr algn="l"/>
            <a:r>
              <a:rPr lang="es-ES" sz="880" dirty="0" b="1">
                <a:solidFill>
                  <a:srgbClr val="D4A017"/>
                </a:solidFill>
                <a:latin typeface="Calibri"/>
              </a:rPr>
              <a:t>◐  </a:t>
            </a:r>
            <a:r>
              <a:rPr lang="es-ES" sz="840" dirty="0">
                <a:solidFill>
                  <a:srgbClr val="1C1C1C"/>
                </a:solidFill>
                <a:latin typeface="Calibri"/>
              </a:rPr>
              <a:t>D1 · Bus factor — conocimiento concentrado en 4 personas en 14 componentes</a:t>
            </a:r>
          </a:p>
        </p:txBody>
      </p:sp>
      <p:sp>
        <p:nvSpPr>
          <p:cNvPr id="91" name="d"/>
          <p:cNvSpPr txBox="1">
            <a:spLocks noGrp="1"/>
          </p:cNvSpPr>
          <p:nvPr/>
        </p:nvSpPr>
        <p:spPr>
          <a:xfrm>
            <a:off x="6053328" y="4279392"/>
            <a:ext cx="5394960" cy="274320"/>
          </a:xfrm>
          <a:prstGeom prst="rect">
            <a:avLst/>
          </a:prstGeom>
          <a:noFill/>
          <a:ln>
            <a:noFill/>
          </a:ln>
        </p:spPr>
        <p:txBody>
          <a:bodyPr anchor="t" wrap="square" lIns="91440" rIns="91440" tIns="45720" bIns="45720">
            <a:noAutofit/>
          </a:bodyPr>
          <a:lstStyle/>
          <a:p>
            <a:pPr algn="l"/>
            <a:r>
              <a:rPr lang="es-ES" sz="880" dirty="0" b="1">
                <a:solidFill>
                  <a:srgbClr val="D4A017"/>
                </a:solidFill>
                <a:latin typeface="Calibri"/>
              </a:rPr>
              <a:t>◐  </a:t>
            </a:r>
            <a:r>
              <a:rPr lang="es-ES" sz="840" dirty="0">
                <a:solidFill>
                  <a:srgbClr val="1C1C1C"/>
                </a:solidFill>
                <a:latin typeface="Calibri"/>
              </a:rPr>
              <a:t>D4 · Herramientas: ServiceNow del cliente, PS paga licencia sin control</a:t>
            </a:r>
          </a:p>
        </p:txBody>
      </p:sp>
      <p:sp>
        <p:nvSpPr>
          <p:cNvPr id="92" name="d"/>
          <p:cNvSpPr txBox="1">
            <a:spLocks noGrp="1"/>
          </p:cNvSpPr>
          <p:nvPr/>
        </p:nvSpPr>
        <p:spPr>
          <a:xfrm>
            <a:off x="6053328" y="4553712"/>
            <a:ext cx="5394960" cy="274320"/>
          </a:xfrm>
          <a:prstGeom prst="rect">
            <a:avLst/>
          </a:prstGeom>
          <a:noFill/>
          <a:ln>
            <a:noFill/>
          </a:ln>
        </p:spPr>
        <p:txBody>
          <a:bodyPr anchor="t" wrap="square" lIns="91440" rIns="91440" tIns="45720" bIns="45720">
            <a:noAutofit/>
          </a:bodyPr>
          <a:lstStyle/>
          <a:p>
            <a:pPr algn="l"/>
            <a:r>
              <a:rPr lang="es-ES" sz="880" dirty="0" b="1">
                <a:solidFill>
                  <a:srgbClr val="D4A017"/>
                </a:solidFill>
                <a:latin typeface="Calibri"/>
              </a:rPr>
              <a:t>◐  </a:t>
            </a:r>
            <a:r>
              <a:rPr lang="es-ES" sz="840" dirty="0">
                <a:solidFill>
                  <a:srgbClr val="1C1C1C"/>
                </a:solidFill>
                <a:latin typeface="Calibri"/>
              </a:rPr>
              <a:t>D13 · Roles sin definir claramente entre N1/N2/N3 dentro del equipo</a:t>
            </a:r>
          </a:p>
        </p:txBody>
      </p:sp>
      <p:sp>
        <p:nvSpPr>
          <p:cNvPr id="100" name="conc_bg"/>
          <p:cNvSpPr>
            <a:spLocks noGrp="1"/>
          </p:cNvSpPr>
          <p:nvPr/>
        </p:nvSpPr>
        <p:spPr>
          <a:xfrm>
            <a:off x="457200" y="3968496"/>
            <a:ext cx="11247120" cy="402336"/>
          </a:xfrm>
          <a:prstGeom prst="roundRect">
            <a:avLst>
              <a:gd name="adj" fmla="val 8000"/>
            </a:avLst>
          </a:prstGeom>
          <a:solidFill>
            <a:srgbClr val="E8EDF4"/>
          </a:solidFill>
          <a:ln>
            <a:noFill/>
          </a:ln>
        </p:spPr>
      </p:sp>
      <p:sp>
        <p:nvSpPr>
          <p:cNvPr id="101" name="conc"/>
          <p:cNvSpPr txBox="1">
            <a:spLocks noGrp="1"/>
          </p:cNvSpPr>
          <p:nvPr/>
        </p:nvSpPr>
        <p:spPr>
          <a:xfrm>
            <a:off x="566928" y="4005072"/>
            <a:ext cx="10972800" cy="329184"/>
          </a:xfrm>
          <a:prstGeom prst="rect">
            <a:avLst/>
          </a:prstGeom>
          <a:noFill/>
          <a:ln>
            <a:noFill/>
          </a:ln>
        </p:spPr>
        <p:txBody>
          <a:bodyPr anchor="t" wrap="square" lIns="91440" rIns="91440" tIns="45720" bIns="45720">
            <a:noAutofit/>
          </a:bodyPr>
          <a:lstStyle/>
          <a:p>
            <a:pPr algn="l"/>
            <a:r>
              <a:rPr lang="es-ES" sz="900" dirty="0">
                <a:solidFill>
                  <a:srgbClr val="132346"/>
                </a:solidFill>
                <a:latin typeface="Calibri"/>
              </a:rPr>
              <a:t>XM es rentable (vigente 2027) pero tiene $149 USD/ticket — anomalía por 4 FTE en 90 tickets/mes con soporte 24x7. El costo se dispara por disponibilidad, no por ineficiencia. Oportunidad: formalizar RACI, KEDB y métricas antes de la próxima negociación.</a:t>
            </a:r>
          </a:p>
        </p:txBody>
      </p:sp>
      <p:sp>
        <p:nvSpPr>
          <p:cNvPr id="110" name="src"/>
          <p:cNvSpPr txBox="1">
            <a:spLocks noGrp="1"/>
          </p:cNvSpPr>
          <p:nvPr/>
        </p:nvSpPr>
        <p:spPr>
          <a:xfrm>
            <a:off x="457200" y="4453128"/>
            <a:ext cx="11155680" cy="164592"/>
          </a:xfrm>
          <a:prstGeom prst="rect">
            <a:avLst/>
          </a:prstGeom>
          <a:noFill/>
          <a:ln>
            <a:noFill/>
          </a:ln>
        </p:spPr>
        <p:txBody>
          <a:bodyPr anchor="t" wrap="square" lIns="91440" rIns="91440" tIns="45720" bIns="45720">
            <a:noAutofit/>
          </a:bodyPr>
          <a:lstStyle/>
          <a:p>
            <a:pPr algn="l"/>
            <a:r>
              <a:rPr lang="es-ES" sz="750" dirty="0" i="1">
                <a:solidFill>
                  <a:srgbClr val="5A6472"/>
                </a:solidFill>
                <a:latin typeface="Calibri"/>
              </a:rPr>
              <a:t>Fuente: Levantamiento interno PersonalSoft · Julio 2026 · Transcript: Diego Serna (XM) · Excel Levantamiento_Mesas_Julio_2026</a:t>
            </a:r>
          </a:p>
        </p:txBody>
      </p:sp>
    </p:spTree>
  </p:cSld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bg"/>
          <p:cNvSpPr>
            <a:spLocks noGrp="1"/>
          </p:cNvSpPr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6F2"/>
          </a:solidFill>
          <a:ln>
            <a:noFill/>
          </a:ln>
        </p:spPr>
      </p:sp>
      <p:sp>
        <p:nvSpPr>
          <p:cNvPr id="3" name="hdr"/>
          <p:cNvSpPr>
            <a:spLocks noGrp="1"/>
          </p:cNvSpPr>
          <p:nvPr/>
        </p:nvSpPr>
        <p:spPr>
          <a:xfrm>
            <a:off x="457200" y="274320"/>
            <a:ext cx="11247120" cy="530352"/>
          </a:xfrm>
          <a:prstGeom prst="roundRect">
            <a:avLst>
              <a:gd name="adj" fmla="val 8000"/>
            </a:avLst>
          </a:prstGeom>
          <a:solidFill>
            <a:srgbClr val="132346"/>
          </a:solidFill>
          <a:ln>
            <a:noFill/>
          </a:ln>
        </p:spPr>
      </p:sp>
      <p:sp>
        <p:nvSpPr>
          <p:cNvPr id="4" name="nb"/>
          <p:cNvSpPr>
            <a:spLocks noGrp="1"/>
          </p:cNvSpPr>
          <p:nvPr/>
        </p:nvSpPr>
        <p:spPr>
          <a:xfrm>
            <a:off x="457200" y="274320"/>
            <a:ext cx="585216" cy="530352"/>
          </a:xfrm>
          <a:prstGeom prst="roundRect">
            <a:avLst>
              <a:gd name="adj" fmla="val 8000"/>
            </a:avLst>
          </a:prstGeom>
          <a:solidFill>
            <a:srgbClr val="017490"/>
          </a:solidFill>
          <a:ln>
            <a:noFill/>
          </a:ln>
        </p:spPr>
      </p:sp>
      <p:sp>
        <p:nvSpPr>
          <p:cNvPr id="5" name="nt"/>
          <p:cNvSpPr txBox="1">
            <a:spLocks noGrp="1"/>
          </p:cNvSpPr>
          <p:nvPr/>
        </p:nvSpPr>
        <p:spPr>
          <a:xfrm>
            <a:off x="457200" y="274320"/>
            <a:ext cx="585216" cy="530352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1200" dirty="0" b="1">
                <a:solidFill>
                  <a:srgbClr val="FFFFFF"/>
                </a:solidFill>
                <a:latin typeface="Calibri"/>
              </a:rPr>
              <a:t>N2</a:t>
            </a:r>
          </a:p>
        </p:txBody>
      </p:sp>
      <p:sp>
        <p:nvSpPr>
          <p:cNvPr id="6" name="ttl"/>
          <p:cNvSpPr txBox="1">
            <a:spLocks noGrp="1"/>
          </p:cNvSpPr>
          <p:nvPr/>
        </p:nvSpPr>
        <p:spPr>
          <a:xfrm>
            <a:off x="1097280" y="329184"/>
            <a:ext cx="8686800" cy="420624"/>
          </a:xfrm>
          <a:prstGeom prst="rect">
            <a:avLst/>
          </a:prstGeom>
          <a:noFill/>
          <a:ln>
            <a:noFill/>
          </a:ln>
        </p:spPr>
        <p:txBody>
          <a:bodyPr anchor="t" wrap="square" lIns="91440" rIns="91440" tIns="45720" bIns="45720">
            <a:noAutofit/>
          </a:bodyPr>
          <a:lstStyle/>
          <a:p>
            <a:pPr algn="l"/>
            <a:r>
              <a:rPr lang="es-ES" sz="1700" dirty="0" b="1">
                <a:solidFill>
                  <a:srgbClr val="FFFFFF"/>
                </a:solidFill>
                <a:latin typeface="Calibri"/>
              </a:rPr>
              <a:t>Bancolombia · 5 Mesas COES · Banca Digital · Contrato 5 años</a:t>
            </a:r>
          </a:p>
        </p:txBody>
      </p:sp>
      <p:sp>
        <p:nvSpPr>
          <p:cNvPr id="7" name="abg"/>
          <p:cNvSpPr>
            <a:spLocks noGrp="1"/>
          </p:cNvSpPr>
          <p:nvPr/>
        </p:nvSpPr>
        <p:spPr>
          <a:xfrm>
            <a:off x="9875520" y="320040"/>
            <a:ext cx="1828800" cy="420624"/>
          </a:xfrm>
          <a:prstGeom prst="roundRect">
            <a:avLst>
              <a:gd name="adj" fmla="val 6000"/>
            </a:avLst>
          </a:prstGeom>
          <a:solidFill>
            <a:srgbClr val="017490"/>
          </a:solidFill>
          <a:ln>
            <a:noFill/>
          </a:ln>
        </p:spPr>
      </p:sp>
      <p:sp>
        <p:nvSpPr>
          <p:cNvPr id="8" name="at"/>
          <p:cNvSpPr txBox="1">
            <a:spLocks noGrp="1"/>
          </p:cNvSpPr>
          <p:nvPr/>
        </p:nvSpPr>
        <p:spPr>
          <a:xfrm>
            <a:off x="9875520" y="320040"/>
            <a:ext cx="1828800" cy="420624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800" dirty="0" b="1">
                <a:solidFill>
                  <a:srgbClr val="FFFFFF"/>
                </a:solidFill>
                <a:latin typeface="Calibri"/>
              </a:rPr>
              <a:t>N2 · Bolsa horas</a:t>
            </a:r>
          </a:p>
        </p:txBody>
      </p:sp>
      <p:sp>
        <p:nvSpPr>
          <p:cNvPr id="9" name="sub_bg"/>
          <p:cNvSpPr>
            <a:spLocks noGrp="1"/>
          </p:cNvSpPr>
          <p:nvPr/>
        </p:nvSpPr>
        <p:spPr>
          <a:xfrm>
            <a:off x="457200" y="859536"/>
            <a:ext cx="11247120" cy="347472"/>
          </a:xfrm>
          <a:prstGeom prst="rect">
            <a:avLst/>
          </a:prstGeom>
          <a:solidFill>
            <a:srgbClr val="E8EDF4"/>
          </a:solidFill>
          <a:ln>
            <a:noFill/>
          </a:ln>
        </p:spPr>
      </p:sp>
      <p:sp>
        <p:nvSpPr>
          <p:cNvPr id="10" name="sub"/>
          <p:cNvSpPr txBox="1">
            <a:spLocks noGrp="1"/>
          </p:cNvSpPr>
          <p:nvPr/>
        </p:nvSpPr>
        <p:spPr>
          <a:xfrm>
            <a:off x="548640" y="896112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="t" wrap="square" lIns="91440" rIns="91440" tIns="45720" bIns="45720">
            <a:noAutofit/>
          </a:bodyPr>
          <a:lstStyle/>
          <a:p>
            <a:pPr algn="l"/>
            <a:r>
              <a:rPr lang="es-ES" sz="940" dirty="0">
                <a:solidFill>
                  <a:srgbClr val="132346"/>
                </a:solidFill>
                <a:latin typeface="Calibri"/>
              </a:rPr>
              <a:t>Lideradas por Virginia &amp; Lina · Herramienta: Helix (Bancolombia) · 32 FTE totales · 700–3.000 tickets/mesa/mes · Sin SLA — rige ANS del Banco y COES</a:t>
            </a:r>
          </a:p>
        </p:txBody>
      </p:sp>
      <p:sp>
        <p:nvSpPr>
          <p:cNvPr id="20" name="th"/>
          <p:cNvSpPr>
            <a:spLocks noGrp="1"/>
          </p:cNvSpPr>
          <p:nvPr/>
        </p:nvSpPr>
        <p:spPr>
          <a:xfrm>
            <a:off x="457200" y="1280160"/>
            <a:ext cx="11247120" cy="329184"/>
          </a:xfrm>
          <a:prstGeom prst="rect">
            <a:avLst/>
          </a:prstGeom>
          <a:solidFill>
            <a:srgbClr val="017490"/>
          </a:solidFill>
          <a:ln>
            <a:noFill/>
          </a:ln>
        </p:spPr>
      </p:sp>
      <p:sp>
        <p:nvSpPr>
          <p:cNvPr id="21" name="th0"/>
          <p:cNvSpPr txBox="1">
            <a:spLocks noGrp="1"/>
          </p:cNvSpPr>
          <p:nvPr/>
        </p:nvSpPr>
        <p:spPr>
          <a:xfrm>
            <a:off x="457200" y="1280160"/>
            <a:ext cx="1828800" cy="329184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800" dirty="0" b="1">
                <a:solidFill>
                  <a:srgbClr val="FFFFFF"/>
                </a:solidFill>
                <a:latin typeface="Calibri"/>
              </a:rPr>
              <a:t>Mesa</a:t>
            </a:r>
          </a:p>
        </p:txBody>
      </p:sp>
      <p:sp>
        <p:nvSpPr>
          <p:cNvPr id="22" name="th1"/>
          <p:cNvSpPr txBox="1">
            <a:spLocks noGrp="1"/>
          </p:cNvSpPr>
          <p:nvPr/>
        </p:nvSpPr>
        <p:spPr>
          <a:xfrm>
            <a:off x="2286000" y="1280160"/>
            <a:ext cx="457200" cy="329184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800" dirty="0" b="1">
                <a:solidFill>
                  <a:srgbClr val="FFFFFF"/>
                </a:solidFill>
                <a:latin typeface="Calibri"/>
              </a:rPr>
              <a:t>FTE</a:t>
            </a:r>
          </a:p>
        </p:txBody>
      </p:sp>
      <p:sp>
        <p:nvSpPr>
          <p:cNvPr id="23" name="th2"/>
          <p:cNvSpPr txBox="1">
            <a:spLocks noGrp="1"/>
          </p:cNvSpPr>
          <p:nvPr/>
        </p:nvSpPr>
        <p:spPr>
          <a:xfrm>
            <a:off x="2743200" y="1280160"/>
            <a:ext cx="1005840" cy="329184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800" dirty="0" b="1">
                <a:solidFill>
                  <a:srgbClr val="FFFFFF"/>
                </a:solidFill>
                <a:latin typeface="Calibri"/>
              </a:rPr>
              <a:t>Modelo</a:t>
            </a:r>
          </a:p>
        </p:txBody>
      </p:sp>
      <p:sp>
        <p:nvSpPr>
          <p:cNvPr id="24" name="th3"/>
          <p:cNvSpPr txBox="1">
            <a:spLocks noGrp="1"/>
          </p:cNvSpPr>
          <p:nvPr/>
        </p:nvSpPr>
        <p:spPr>
          <a:xfrm>
            <a:off x="3749040" y="1280160"/>
            <a:ext cx="1005840" cy="329184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800" dirty="0" b="1">
                <a:solidFill>
                  <a:srgbClr val="FFFFFF"/>
                </a:solidFill>
                <a:latin typeface="Calibri"/>
              </a:rPr>
              <a:t>Tickets/mes</a:t>
            </a:r>
          </a:p>
        </p:txBody>
      </p:sp>
      <p:sp>
        <p:nvSpPr>
          <p:cNvPr id="25" name="th4"/>
          <p:cNvSpPr txBox="1">
            <a:spLocks noGrp="1"/>
          </p:cNvSpPr>
          <p:nvPr/>
        </p:nvSpPr>
        <p:spPr>
          <a:xfrm>
            <a:off x="4754880" y="1280160"/>
            <a:ext cx="914400" cy="329184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800" dirty="0" b="1">
                <a:solidFill>
                  <a:srgbClr val="FFFFFF"/>
                </a:solidFill>
                <a:latin typeface="Calibri"/>
              </a:rPr>
              <a:t>MTTR</a:t>
            </a:r>
          </a:p>
        </p:txBody>
      </p:sp>
      <p:sp>
        <p:nvSpPr>
          <p:cNvPr id="26" name="th5"/>
          <p:cNvSpPr txBox="1">
            <a:spLocks noGrp="1"/>
          </p:cNvSpPr>
          <p:nvPr/>
        </p:nvSpPr>
        <p:spPr>
          <a:xfrm>
            <a:off x="5669280" y="1280160"/>
            <a:ext cx="1005840" cy="329184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800" dirty="0" b="1">
                <a:solidFill>
                  <a:srgbClr val="FFFFFF"/>
                </a:solidFill>
                <a:latin typeface="Calibri"/>
              </a:rPr>
              <a:t>SLA</a:t>
            </a:r>
          </a:p>
        </p:txBody>
      </p:sp>
      <p:sp>
        <p:nvSpPr>
          <p:cNvPr id="27" name="th6"/>
          <p:cNvSpPr txBox="1">
            <a:spLocks noGrp="1"/>
          </p:cNvSpPr>
          <p:nvPr/>
        </p:nvSpPr>
        <p:spPr>
          <a:xfrm>
            <a:off x="6675120" y="1280160"/>
            <a:ext cx="1005840" cy="329184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800" dirty="0" b="1">
                <a:solidFill>
                  <a:srgbClr val="FFFFFF"/>
                </a:solidFill>
                <a:latin typeface="Calibri"/>
              </a:rPr>
              <a:t>Contrato</a:t>
            </a:r>
          </a:p>
        </p:txBody>
      </p:sp>
      <p:sp>
        <p:nvSpPr>
          <p:cNvPr id="28" name="th7"/>
          <p:cNvSpPr txBox="1">
            <a:spLocks noGrp="1"/>
          </p:cNvSpPr>
          <p:nvPr/>
        </p:nvSpPr>
        <p:spPr>
          <a:xfrm>
            <a:off x="7680960" y="1280160"/>
            <a:ext cx="3931920" cy="329184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800" dirty="0" b="1">
                <a:solidFill>
                  <a:srgbClr val="FFFFFF"/>
                </a:solidFill>
                <a:latin typeface="Calibri"/>
              </a:rPr>
              <a:t>Dolores top</a:t>
            </a:r>
          </a:p>
        </p:txBody>
      </p:sp>
      <p:sp>
        <p:nvSpPr>
          <p:cNvPr id="30" name="rb"/>
          <p:cNvSpPr>
            <a:spLocks noGrp="1"/>
          </p:cNvSpPr>
          <p:nvPr/>
        </p:nvSpPr>
        <p:spPr>
          <a:xfrm>
            <a:off x="457200" y="1609344"/>
            <a:ext cx="1124712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CE3EC"/>
            </a:solidFill>
          </a:ln>
        </p:spPr>
      </p:sp>
      <p:sp>
        <p:nvSpPr>
          <p:cNvPr id="31" name="c"/>
          <p:cNvSpPr txBox="1">
            <a:spLocks noGrp="1"/>
          </p:cNvSpPr>
          <p:nvPr/>
        </p:nvSpPr>
        <p:spPr>
          <a:xfrm>
            <a:off x="457200" y="1609344"/>
            <a:ext cx="1828800" cy="329184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l"/>
            <a:r>
              <a:rPr lang="es-ES" sz="780" dirty="0" b="1">
                <a:solidFill>
                  <a:srgbClr val="132346"/>
                </a:solidFill>
                <a:latin typeface="Calibri"/>
              </a:rPr>
              <a:t>COES Integración</a:t>
            </a:r>
          </a:p>
        </p:txBody>
      </p:sp>
      <p:sp>
        <p:nvSpPr>
          <p:cNvPr id="32" name="c"/>
          <p:cNvSpPr txBox="1">
            <a:spLocks noGrp="1"/>
          </p:cNvSpPr>
          <p:nvPr/>
        </p:nvSpPr>
        <p:spPr>
          <a:xfrm>
            <a:off x="2286000" y="1609344"/>
            <a:ext cx="457200" cy="329184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780" dirty="0">
                <a:solidFill>
                  <a:srgbClr val="1C1C1C"/>
                </a:solidFill>
                <a:latin typeface="Calibri"/>
              </a:rPr>
              <a:t>7</a:t>
            </a:r>
          </a:p>
        </p:txBody>
      </p:sp>
      <p:sp>
        <p:nvSpPr>
          <p:cNvPr id="33" name="c"/>
          <p:cNvSpPr txBox="1">
            <a:spLocks noGrp="1"/>
          </p:cNvSpPr>
          <p:nvPr/>
        </p:nvSpPr>
        <p:spPr>
          <a:xfrm>
            <a:off x="2743200" y="1609344"/>
            <a:ext cx="1005840" cy="329184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780" dirty="0">
                <a:solidFill>
                  <a:srgbClr val="1C1C1C"/>
                </a:solidFill>
                <a:latin typeface="Calibri"/>
              </a:rPr>
              <a:t>Bolsa horas</a:t>
            </a:r>
          </a:p>
        </p:txBody>
      </p:sp>
      <p:sp>
        <p:nvSpPr>
          <p:cNvPr id="34" name="c"/>
          <p:cNvSpPr txBox="1">
            <a:spLocks noGrp="1"/>
          </p:cNvSpPr>
          <p:nvPr/>
        </p:nvSpPr>
        <p:spPr>
          <a:xfrm>
            <a:off x="3749040" y="1609344"/>
            <a:ext cx="1005840" cy="329184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780" dirty="0">
                <a:solidFill>
                  <a:srgbClr val="1C1C1C"/>
                </a:solidFill>
                <a:latin typeface="Calibri"/>
              </a:rPr>
              <a:t>700-3.000</a:t>
            </a:r>
          </a:p>
        </p:txBody>
      </p:sp>
      <p:sp>
        <p:nvSpPr>
          <p:cNvPr id="35" name="c"/>
          <p:cNvSpPr txBox="1">
            <a:spLocks noGrp="1"/>
          </p:cNvSpPr>
          <p:nvPr/>
        </p:nvSpPr>
        <p:spPr>
          <a:xfrm>
            <a:off x="4754880" y="1609344"/>
            <a:ext cx="914400" cy="329184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780" dirty="0">
                <a:solidFill>
                  <a:srgbClr val="1C1C1C"/>
                </a:solidFill>
                <a:latin typeface="Calibri"/>
              </a:rPr>
              <a:t>30min-3h</a:t>
            </a:r>
          </a:p>
        </p:txBody>
      </p:sp>
      <p:sp>
        <p:nvSpPr>
          <p:cNvPr id="36" name="c"/>
          <p:cNvSpPr txBox="1">
            <a:spLocks noGrp="1"/>
          </p:cNvSpPr>
          <p:nvPr/>
        </p:nvSpPr>
        <p:spPr>
          <a:xfrm>
            <a:off x="5669280" y="1609344"/>
            <a:ext cx="1005840" cy="329184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780" dirty="0">
                <a:solidFill>
                  <a:srgbClr val="D4A017"/>
                </a:solidFill>
                <a:latin typeface="Calibri"/>
              </a:rPr>
              <a:t>ANS Banco</a:t>
            </a:r>
          </a:p>
        </p:txBody>
      </p:sp>
      <p:sp>
        <p:nvSpPr>
          <p:cNvPr id="37" name="c"/>
          <p:cNvSpPr txBox="1">
            <a:spLocks noGrp="1"/>
          </p:cNvSpPr>
          <p:nvPr/>
        </p:nvSpPr>
        <p:spPr>
          <a:xfrm>
            <a:off x="6675120" y="1609344"/>
            <a:ext cx="1005840" cy="329184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780" dirty="0">
                <a:solidFill>
                  <a:srgbClr val="5A6472"/>
                </a:solidFill>
                <a:latin typeface="Calibri"/>
              </a:rPr>
              <a:t>5 años</a:t>
            </a:r>
          </a:p>
        </p:txBody>
      </p:sp>
      <p:sp>
        <p:nvSpPr>
          <p:cNvPr id="38" name="c"/>
          <p:cNvSpPr txBox="1">
            <a:spLocks noGrp="1"/>
          </p:cNvSpPr>
          <p:nvPr/>
        </p:nvSpPr>
        <p:spPr>
          <a:xfrm>
            <a:off x="7680960" y="1609344"/>
            <a:ext cx="3931920" cy="329184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l"/>
            <a:r>
              <a:rPr lang="es-ES" sz="780" dirty="0">
                <a:solidFill>
                  <a:srgbClr val="5A6472"/>
                </a:solidFill>
                <a:latin typeface="Calibri"/>
              </a:rPr>
              <a:t>D16 Brechas · D20 Asignación sin modelo · D23 Recargo jornada</a:t>
            </a:r>
          </a:p>
        </p:txBody>
      </p:sp>
      <p:sp>
        <p:nvSpPr>
          <p:cNvPr id="40" name="rb"/>
          <p:cNvSpPr>
            <a:spLocks noGrp="1"/>
          </p:cNvSpPr>
          <p:nvPr/>
        </p:nvSpPr>
        <p:spPr>
          <a:xfrm>
            <a:off x="457200" y="1938528"/>
            <a:ext cx="11247120" cy="329184"/>
          </a:xfrm>
          <a:prstGeom prst="rect">
            <a:avLst/>
          </a:prstGeom>
          <a:solidFill>
            <a:srgbClr val="F7F6F2"/>
          </a:solidFill>
          <a:ln w="6350">
            <a:solidFill>
              <a:srgbClr val="DCE3EC"/>
            </a:solidFill>
          </a:ln>
        </p:spPr>
      </p:sp>
      <p:sp>
        <p:nvSpPr>
          <p:cNvPr id="41" name="c"/>
          <p:cNvSpPr txBox="1">
            <a:spLocks noGrp="1"/>
          </p:cNvSpPr>
          <p:nvPr/>
        </p:nvSpPr>
        <p:spPr>
          <a:xfrm>
            <a:off x="457200" y="1938528"/>
            <a:ext cx="1828800" cy="329184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l"/>
            <a:r>
              <a:rPr lang="es-ES" sz="780" dirty="0" b="1">
                <a:solidFill>
                  <a:srgbClr val="132346"/>
                </a:solidFill>
                <a:latin typeface="Calibri"/>
              </a:rPr>
              <a:t>COES Datos</a:t>
            </a:r>
          </a:p>
        </p:txBody>
      </p:sp>
      <p:sp>
        <p:nvSpPr>
          <p:cNvPr id="42" name="c"/>
          <p:cNvSpPr txBox="1">
            <a:spLocks noGrp="1"/>
          </p:cNvSpPr>
          <p:nvPr/>
        </p:nvSpPr>
        <p:spPr>
          <a:xfrm>
            <a:off x="2286000" y="1938528"/>
            <a:ext cx="457200" cy="329184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780" dirty="0">
                <a:solidFill>
                  <a:srgbClr val="1C1C1C"/>
                </a:solidFill>
                <a:latin typeface="Calibri"/>
              </a:rPr>
              <a:t>7</a:t>
            </a:r>
          </a:p>
        </p:txBody>
      </p:sp>
      <p:sp>
        <p:nvSpPr>
          <p:cNvPr id="43" name="c"/>
          <p:cNvSpPr txBox="1">
            <a:spLocks noGrp="1"/>
          </p:cNvSpPr>
          <p:nvPr/>
        </p:nvSpPr>
        <p:spPr>
          <a:xfrm>
            <a:off x="2743200" y="1938528"/>
            <a:ext cx="1005840" cy="329184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780" dirty="0">
                <a:solidFill>
                  <a:srgbClr val="1C1C1C"/>
                </a:solidFill>
                <a:latin typeface="Calibri"/>
              </a:rPr>
              <a:t>Bolsa horas</a:t>
            </a:r>
          </a:p>
        </p:txBody>
      </p:sp>
      <p:sp>
        <p:nvSpPr>
          <p:cNvPr id="44" name="c"/>
          <p:cNvSpPr txBox="1">
            <a:spLocks noGrp="1"/>
          </p:cNvSpPr>
          <p:nvPr/>
        </p:nvSpPr>
        <p:spPr>
          <a:xfrm>
            <a:off x="3749040" y="1938528"/>
            <a:ext cx="1005840" cy="329184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780" dirty="0">
                <a:solidFill>
                  <a:srgbClr val="1C1C1C"/>
                </a:solidFill>
                <a:latin typeface="Calibri"/>
              </a:rPr>
              <a:t>700-3.000</a:t>
            </a:r>
          </a:p>
        </p:txBody>
      </p:sp>
      <p:sp>
        <p:nvSpPr>
          <p:cNvPr id="45" name="c"/>
          <p:cNvSpPr txBox="1">
            <a:spLocks noGrp="1"/>
          </p:cNvSpPr>
          <p:nvPr/>
        </p:nvSpPr>
        <p:spPr>
          <a:xfrm>
            <a:off x="4754880" y="1938528"/>
            <a:ext cx="914400" cy="329184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780" dirty="0">
                <a:solidFill>
                  <a:srgbClr val="1C1C1C"/>
                </a:solidFill>
                <a:latin typeface="Calibri"/>
              </a:rPr>
              <a:t>30min-3h</a:t>
            </a:r>
          </a:p>
        </p:txBody>
      </p:sp>
      <p:sp>
        <p:nvSpPr>
          <p:cNvPr id="46" name="c"/>
          <p:cNvSpPr txBox="1">
            <a:spLocks noGrp="1"/>
          </p:cNvSpPr>
          <p:nvPr/>
        </p:nvSpPr>
        <p:spPr>
          <a:xfrm>
            <a:off x="5669280" y="1938528"/>
            <a:ext cx="1005840" cy="329184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780" dirty="0">
                <a:solidFill>
                  <a:srgbClr val="D4A017"/>
                </a:solidFill>
                <a:latin typeface="Calibri"/>
              </a:rPr>
              <a:t>ANS Banco</a:t>
            </a:r>
          </a:p>
        </p:txBody>
      </p:sp>
      <p:sp>
        <p:nvSpPr>
          <p:cNvPr id="47" name="c"/>
          <p:cNvSpPr txBox="1">
            <a:spLocks noGrp="1"/>
          </p:cNvSpPr>
          <p:nvPr/>
        </p:nvSpPr>
        <p:spPr>
          <a:xfrm>
            <a:off x="6675120" y="1938528"/>
            <a:ext cx="1005840" cy="329184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780" dirty="0">
                <a:solidFill>
                  <a:srgbClr val="5A6472"/>
                </a:solidFill>
                <a:latin typeface="Calibri"/>
              </a:rPr>
              <a:t>5 años</a:t>
            </a:r>
          </a:p>
        </p:txBody>
      </p:sp>
      <p:sp>
        <p:nvSpPr>
          <p:cNvPr id="48" name="c"/>
          <p:cNvSpPr txBox="1">
            <a:spLocks noGrp="1"/>
          </p:cNvSpPr>
          <p:nvPr/>
        </p:nvSpPr>
        <p:spPr>
          <a:xfrm>
            <a:off x="7680960" y="1938528"/>
            <a:ext cx="3931920" cy="329184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l"/>
            <a:r>
              <a:rPr lang="es-ES" sz="780" dirty="0">
                <a:solidFill>
                  <a:srgbClr val="5A6472"/>
                </a:solidFill>
                <a:latin typeface="Calibri"/>
              </a:rPr>
              <a:t>D16 Brechas · D20 Asignación sin modelo · D23 Recargo jornada</a:t>
            </a:r>
          </a:p>
        </p:txBody>
      </p:sp>
      <p:sp>
        <p:nvSpPr>
          <p:cNvPr id="50" name="rb"/>
          <p:cNvSpPr>
            <a:spLocks noGrp="1"/>
          </p:cNvSpPr>
          <p:nvPr/>
        </p:nvSpPr>
        <p:spPr>
          <a:xfrm>
            <a:off x="457200" y="2267712"/>
            <a:ext cx="1124712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CE3EC"/>
            </a:solidFill>
          </a:ln>
        </p:spPr>
      </p:sp>
      <p:sp>
        <p:nvSpPr>
          <p:cNvPr id="51" name="c"/>
          <p:cNvSpPr txBox="1">
            <a:spLocks noGrp="1"/>
          </p:cNvSpPr>
          <p:nvPr/>
        </p:nvSpPr>
        <p:spPr>
          <a:xfrm>
            <a:off x="457200" y="2267712"/>
            <a:ext cx="1828800" cy="329184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l"/>
            <a:r>
              <a:rPr lang="es-ES" sz="780" dirty="0" b="1">
                <a:solidFill>
                  <a:srgbClr val="132346"/>
                </a:solidFill>
                <a:latin typeface="Calibri"/>
              </a:rPr>
              <a:t>COES Soporte</a:t>
            </a:r>
          </a:p>
        </p:txBody>
      </p:sp>
      <p:sp>
        <p:nvSpPr>
          <p:cNvPr id="52" name="c"/>
          <p:cNvSpPr txBox="1">
            <a:spLocks noGrp="1"/>
          </p:cNvSpPr>
          <p:nvPr/>
        </p:nvSpPr>
        <p:spPr>
          <a:xfrm>
            <a:off x="2286000" y="2267712"/>
            <a:ext cx="457200" cy="329184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780" dirty="0">
                <a:solidFill>
                  <a:srgbClr val="1C1C1C"/>
                </a:solidFill>
                <a:latin typeface="Calibri"/>
              </a:rPr>
              <a:t>13</a:t>
            </a:r>
          </a:p>
        </p:txBody>
      </p:sp>
      <p:sp>
        <p:nvSpPr>
          <p:cNvPr id="53" name="c"/>
          <p:cNvSpPr txBox="1">
            <a:spLocks noGrp="1"/>
          </p:cNvSpPr>
          <p:nvPr/>
        </p:nvSpPr>
        <p:spPr>
          <a:xfrm>
            <a:off x="2743200" y="2267712"/>
            <a:ext cx="1005840" cy="329184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780" dirty="0">
                <a:solidFill>
                  <a:srgbClr val="1C1C1C"/>
                </a:solidFill>
                <a:latin typeface="Calibri"/>
              </a:rPr>
              <a:t>Bolsa horas</a:t>
            </a:r>
          </a:p>
        </p:txBody>
      </p:sp>
      <p:sp>
        <p:nvSpPr>
          <p:cNvPr id="54" name="c"/>
          <p:cNvSpPr txBox="1">
            <a:spLocks noGrp="1"/>
          </p:cNvSpPr>
          <p:nvPr/>
        </p:nvSpPr>
        <p:spPr>
          <a:xfrm>
            <a:off x="3749040" y="2267712"/>
            <a:ext cx="1005840" cy="329184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780" dirty="0">
                <a:solidFill>
                  <a:srgbClr val="1C1C1C"/>
                </a:solidFill>
                <a:latin typeface="Calibri"/>
              </a:rPr>
              <a:t>700-3.000</a:t>
            </a:r>
          </a:p>
        </p:txBody>
      </p:sp>
      <p:sp>
        <p:nvSpPr>
          <p:cNvPr id="55" name="c"/>
          <p:cNvSpPr txBox="1">
            <a:spLocks noGrp="1"/>
          </p:cNvSpPr>
          <p:nvPr/>
        </p:nvSpPr>
        <p:spPr>
          <a:xfrm>
            <a:off x="4754880" y="2267712"/>
            <a:ext cx="914400" cy="329184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780" dirty="0">
                <a:solidFill>
                  <a:srgbClr val="1C1C1C"/>
                </a:solidFill>
                <a:latin typeface="Calibri"/>
              </a:rPr>
              <a:t>30min-3h</a:t>
            </a:r>
          </a:p>
        </p:txBody>
      </p:sp>
      <p:sp>
        <p:nvSpPr>
          <p:cNvPr id="56" name="c"/>
          <p:cNvSpPr txBox="1">
            <a:spLocks noGrp="1"/>
          </p:cNvSpPr>
          <p:nvPr/>
        </p:nvSpPr>
        <p:spPr>
          <a:xfrm>
            <a:off x="5669280" y="2267712"/>
            <a:ext cx="1005840" cy="329184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780" dirty="0">
                <a:solidFill>
                  <a:srgbClr val="D4A017"/>
                </a:solidFill>
                <a:latin typeface="Calibri"/>
              </a:rPr>
              <a:t>ANS Banco</a:t>
            </a:r>
          </a:p>
        </p:txBody>
      </p:sp>
      <p:sp>
        <p:nvSpPr>
          <p:cNvPr id="57" name="c"/>
          <p:cNvSpPr txBox="1">
            <a:spLocks noGrp="1"/>
          </p:cNvSpPr>
          <p:nvPr/>
        </p:nvSpPr>
        <p:spPr>
          <a:xfrm>
            <a:off x="6675120" y="2267712"/>
            <a:ext cx="1005840" cy="329184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780" dirty="0">
                <a:solidFill>
                  <a:srgbClr val="5A6472"/>
                </a:solidFill>
                <a:latin typeface="Calibri"/>
              </a:rPr>
              <a:t>5 años</a:t>
            </a:r>
          </a:p>
        </p:txBody>
      </p:sp>
      <p:sp>
        <p:nvSpPr>
          <p:cNvPr id="58" name="c"/>
          <p:cNvSpPr txBox="1">
            <a:spLocks noGrp="1"/>
          </p:cNvSpPr>
          <p:nvPr/>
        </p:nvSpPr>
        <p:spPr>
          <a:xfrm>
            <a:off x="7680960" y="2267712"/>
            <a:ext cx="3931920" cy="329184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l"/>
            <a:r>
              <a:rPr lang="es-ES" sz="780" dirty="0">
                <a:solidFill>
                  <a:srgbClr val="5A6472"/>
                </a:solidFill>
                <a:latin typeface="Calibri"/>
              </a:rPr>
              <a:t>D15 Catálogo desact. · D18 Reskilling · D23 Recargo jornada</a:t>
            </a:r>
          </a:p>
        </p:txBody>
      </p:sp>
      <p:sp>
        <p:nvSpPr>
          <p:cNvPr id="60" name="rb"/>
          <p:cNvSpPr>
            <a:spLocks noGrp="1"/>
          </p:cNvSpPr>
          <p:nvPr/>
        </p:nvSpPr>
        <p:spPr>
          <a:xfrm>
            <a:off x="457200" y="2596896"/>
            <a:ext cx="11247120" cy="329184"/>
          </a:xfrm>
          <a:prstGeom prst="rect">
            <a:avLst/>
          </a:prstGeom>
          <a:solidFill>
            <a:srgbClr val="F7F6F2"/>
          </a:solidFill>
          <a:ln w="6350">
            <a:solidFill>
              <a:srgbClr val="DCE3EC"/>
            </a:solidFill>
          </a:ln>
        </p:spPr>
      </p:sp>
      <p:sp>
        <p:nvSpPr>
          <p:cNvPr id="61" name="c"/>
          <p:cNvSpPr txBox="1">
            <a:spLocks noGrp="1"/>
          </p:cNvSpPr>
          <p:nvPr/>
        </p:nvSpPr>
        <p:spPr>
          <a:xfrm>
            <a:off x="457200" y="2596896"/>
            <a:ext cx="1828800" cy="329184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l"/>
            <a:r>
              <a:rPr lang="es-ES" sz="780" dirty="0" b="1">
                <a:solidFill>
                  <a:srgbClr val="132346"/>
                </a:solidFill>
                <a:latin typeface="Calibri"/>
              </a:rPr>
              <a:t>COES Emma</a:t>
            </a:r>
          </a:p>
        </p:txBody>
      </p:sp>
      <p:sp>
        <p:nvSpPr>
          <p:cNvPr id="62" name="c"/>
          <p:cNvSpPr txBox="1">
            <a:spLocks noGrp="1"/>
          </p:cNvSpPr>
          <p:nvPr/>
        </p:nvSpPr>
        <p:spPr>
          <a:xfrm>
            <a:off x="2286000" y="2596896"/>
            <a:ext cx="457200" cy="329184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780" dirty="0">
                <a:solidFill>
                  <a:srgbClr val="1C1C1C"/>
                </a:solidFill>
                <a:latin typeface="Calibri"/>
              </a:rPr>
              <a:t>4</a:t>
            </a:r>
          </a:p>
        </p:txBody>
      </p:sp>
      <p:sp>
        <p:nvSpPr>
          <p:cNvPr id="63" name="c"/>
          <p:cNvSpPr txBox="1">
            <a:spLocks noGrp="1"/>
          </p:cNvSpPr>
          <p:nvPr/>
        </p:nvSpPr>
        <p:spPr>
          <a:xfrm>
            <a:off x="2743200" y="2596896"/>
            <a:ext cx="1005840" cy="329184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780" dirty="0">
                <a:solidFill>
                  <a:srgbClr val="1C1C1C"/>
                </a:solidFill>
                <a:latin typeface="Calibri"/>
              </a:rPr>
              <a:t>Bolsa horas</a:t>
            </a:r>
          </a:p>
        </p:txBody>
      </p:sp>
      <p:sp>
        <p:nvSpPr>
          <p:cNvPr id="64" name="c"/>
          <p:cNvSpPr txBox="1">
            <a:spLocks noGrp="1"/>
          </p:cNvSpPr>
          <p:nvPr/>
        </p:nvSpPr>
        <p:spPr>
          <a:xfrm>
            <a:off x="3749040" y="2596896"/>
            <a:ext cx="1005840" cy="329184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780" dirty="0">
                <a:solidFill>
                  <a:srgbClr val="1C1C1C"/>
                </a:solidFill>
                <a:latin typeface="Calibri"/>
              </a:rPr>
              <a:t>700-3.000</a:t>
            </a:r>
          </a:p>
        </p:txBody>
      </p:sp>
      <p:sp>
        <p:nvSpPr>
          <p:cNvPr id="65" name="c"/>
          <p:cNvSpPr txBox="1">
            <a:spLocks noGrp="1"/>
          </p:cNvSpPr>
          <p:nvPr/>
        </p:nvSpPr>
        <p:spPr>
          <a:xfrm>
            <a:off x="4754880" y="2596896"/>
            <a:ext cx="914400" cy="329184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780" dirty="0">
                <a:solidFill>
                  <a:srgbClr val="1C1C1C"/>
                </a:solidFill>
                <a:latin typeface="Calibri"/>
              </a:rPr>
              <a:t>30min-3h</a:t>
            </a:r>
          </a:p>
        </p:txBody>
      </p:sp>
      <p:sp>
        <p:nvSpPr>
          <p:cNvPr id="66" name="c"/>
          <p:cNvSpPr txBox="1">
            <a:spLocks noGrp="1"/>
          </p:cNvSpPr>
          <p:nvPr/>
        </p:nvSpPr>
        <p:spPr>
          <a:xfrm>
            <a:off x="5669280" y="2596896"/>
            <a:ext cx="1005840" cy="329184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780" dirty="0">
                <a:solidFill>
                  <a:srgbClr val="D4A017"/>
                </a:solidFill>
                <a:latin typeface="Calibri"/>
              </a:rPr>
              <a:t>ANS Banco</a:t>
            </a:r>
          </a:p>
        </p:txBody>
      </p:sp>
      <p:sp>
        <p:nvSpPr>
          <p:cNvPr id="67" name="c"/>
          <p:cNvSpPr txBox="1">
            <a:spLocks noGrp="1"/>
          </p:cNvSpPr>
          <p:nvPr/>
        </p:nvSpPr>
        <p:spPr>
          <a:xfrm>
            <a:off x="6675120" y="2596896"/>
            <a:ext cx="1005840" cy="329184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780" dirty="0">
                <a:solidFill>
                  <a:srgbClr val="5A6472"/>
                </a:solidFill>
                <a:latin typeface="Calibri"/>
              </a:rPr>
              <a:t>5 años</a:t>
            </a:r>
          </a:p>
        </p:txBody>
      </p:sp>
      <p:sp>
        <p:nvSpPr>
          <p:cNvPr id="68" name="c"/>
          <p:cNvSpPr txBox="1">
            <a:spLocks noGrp="1"/>
          </p:cNvSpPr>
          <p:nvPr/>
        </p:nvSpPr>
        <p:spPr>
          <a:xfrm>
            <a:off x="7680960" y="2596896"/>
            <a:ext cx="3931920" cy="329184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l"/>
            <a:r>
              <a:rPr lang="es-ES" sz="780" dirty="0">
                <a:solidFill>
                  <a:srgbClr val="5A6472"/>
                </a:solidFill>
                <a:latin typeface="Calibri"/>
              </a:rPr>
              <a:t>D16 Brechas · D20 Asignación sin modelo · D23 Recargo jornada</a:t>
            </a:r>
          </a:p>
        </p:txBody>
      </p:sp>
      <p:sp>
        <p:nvSpPr>
          <p:cNvPr id="70" name="rb"/>
          <p:cNvSpPr>
            <a:spLocks noGrp="1"/>
          </p:cNvSpPr>
          <p:nvPr/>
        </p:nvSpPr>
        <p:spPr>
          <a:xfrm>
            <a:off x="457200" y="2926080"/>
            <a:ext cx="1124712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CE3EC"/>
            </a:solidFill>
          </a:ln>
        </p:spPr>
      </p:sp>
      <p:sp>
        <p:nvSpPr>
          <p:cNvPr id="71" name="c"/>
          <p:cNvSpPr txBox="1">
            <a:spLocks noGrp="1"/>
          </p:cNvSpPr>
          <p:nvPr/>
        </p:nvSpPr>
        <p:spPr>
          <a:xfrm>
            <a:off x="457200" y="2926080"/>
            <a:ext cx="1828800" cy="329184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l"/>
            <a:r>
              <a:rPr lang="es-ES" sz="780" dirty="0" b="1">
                <a:solidFill>
                  <a:srgbClr val="132346"/>
                </a:solidFill>
                <a:latin typeface="Calibri"/>
              </a:rPr>
              <a:t>Emma iSeries</a:t>
            </a:r>
          </a:p>
        </p:txBody>
      </p:sp>
      <p:sp>
        <p:nvSpPr>
          <p:cNvPr id="72" name="c"/>
          <p:cNvSpPr txBox="1">
            <a:spLocks noGrp="1"/>
          </p:cNvSpPr>
          <p:nvPr/>
        </p:nvSpPr>
        <p:spPr>
          <a:xfrm>
            <a:off x="2286000" y="2926080"/>
            <a:ext cx="457200" cy="329184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780" dirty="0">
                <a:solidFill>
                  <a:srgbClr val="1C1C1C"/>
                </a:solidFill>
                <a:latin typeface="Calibri"/>
              </a:rPr>
              <a:t>1</a:t>
            </a:r>
          </a:p>
        </p:txBody>
      </p:sp>
      <p:sp>
        <p:nvSpPr>
          <p:cNvPr id="73" name="c"/>
          <p:cNvSpPr txBox="1">
            <a:spLocks noGrp="1"/>
          </p:cNvSpPr>
          <p:nvPr/>
        </p:nvSpPr>
        <p:spPr>
          <a:xfrm>
            <a:off x="2743200" y="2926080"/>
            <a:ext cx="1005840" cy="329184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780" dirty="0">
                <a:solidFill>
                  <a:srgbClr val="1C1C1C"/>
                </a:solidFill>
                <a:latin typeface="Calibri"/>
              </a:rPr>
              <a:t>Bolsa horas</a:t>
            </a:r>
          </a:p>
        </p:txBody>
      </p:sp>
      <p:sp>
        <p:nvSpPr>
          <p:cNvPr id="74" name="c"/>
          <p:cNvSpPr txBox="1">
            <a:spLocks noGrp="1"/>
          </p:cNvSpPr>
          <p:nvPr/>
        </p:nvSpPr>
        <p:spPr>
          <a:xfrm>
            <a:off x="3749040" y="2926080"/>
            <a:ext cx="1005840" cy="329184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780" dirty="0">
                <a:solidFill>
                  <a:srgbClr val="1C1C1C"/>
                </a:solidFill>
                <a:latin typeface="Calibri"/>
              </a:rPr>
              <a:t>700-3.000</a:t>
            </a:r>
          </a:p>
        </p:txBody>
      </p:sp>
      <p:sp>
        <p:nvSpPr>
          <p:cNvPr id="75" name="c"/>
          <p:cNvSpPr txBox="1">
            <a:spLocks noGrp="1"/>
          </p:cNvSpPr>
          <p:nvPr/>
        </p:nvSpPr>
        <p:spPr>
          <a:xfrm>
            <a:off x="4754880" y="2926080"/>
            <a:ext cx="914400" cy="329184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780" dirty="0">
                <a:solidFill>
                  <a:srgbClr val="1C1C1C"/>
                </a:solidFill>
                <a:latin typeface="Calibri"/>
              </a:rPr>
              <a:t>30min-3h</a:t>
            </a:r>
          </a:p>
        </p:txBody>
      </p:sp>
      <p:sp>
        <p:nvSpPr>
          <p:cNvPr id="76" name="c"/>
          <p:cNvSpPr txBox="1">
            <a:spLocks noGrp="1"/>
          </p:cNvSpPr>
          <p:nvPr/>
        </p:nvSpPr>
        <p:spPr>
          <a:xfrm>
            <a:off x="5669280" y="2926080"/>
            <a:ext cx="1005840" cy="329184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780" dirty="0">
                <a:solidFill>
                  <a:srgbClr val="D4A017"/>
                </a:solidFill>
                <a:latin typeface="Calibri"/>
              </a:rPr>
              <a:t>ANS Banco</a:t>
            </a:r>
          </a:p>
        </p:txBody>
      </p:sp>
      <p:sp>
        <p:nvSpPr>
          <p:cNvPr id="77" name="c"/>
          <p:cNvSpPr txBox="1">
            <a:spLocks noGrp="1"/>
          </p:cNvSpPr>
          <p:nvPr/>
        </p:nvSpPr>
        <p:spPr>
          <a:xfrm>
            <a:off x="6675120" y="2926080"/>
            <a:ext cx="1005840" cy="329184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780" dirty="0">
                <a:solidFill>
                  <a:srgbClr val="5A6472"/>
                </a:solidFill>
                <a:latin typeface="Calibri"/>
              </a:rPr>
              <a:t>5 años</a:t>
            </a:r>
          </a:p>
        </p:txBody>
      </p:sp>
      <p:sp>
        <p:nvSpPr>
          <p:cNvPr id="78" name="c"/>
          <p:cNvSpPr txBox="1">
            <a:spLocks noGrp="1"/>
          </p:cNvSpPr>
          <p:nvPr/>
        </p:nvSpPr>
        <p:spPr>
          <a:xfrm>
            <a:off x="7680960" y="2926080"/>
            <a:ext cx="3931920" cy="329184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l"/>
            <a:r>
              <a:rPr lang="es-ES" sz="780" dirty="0">
                <a:solidFill>
                  <a:srgbClr val="5A6472"/>
                </a:solidFill>
                <a:latin typeface="Calibri"/>
              </a:rPr>
              <a:t>D20 Asignación sin modelo · D23 Recargo jornada</a:t>
            </a:r>
          </a:p>
        </p:txBody>
      </p:sp>
      <p:sp>
        <p:nvSpPr>
          <p:cNvPr id="80" name="ch"/>
          <p:cNvSpPr>
            <a:spLocks noGrp="1"/>
          </p:cNvSpPr>
          <p:nvPr/>
        </p:nvSpPr>
        <p:spPr>
          <a:xfrm>
            <a:off x="457200" y="3419856"/>
            <a:ext cx="5394960" cy="256032"/>
          </a:xfrm>
          <a:prstGeom prst="rect">
            <a:avLst/>
          </a:prstGeom>
          <a:solidFill>
            <a:srgbClr val="DCE3EC"/>
          </a:solidFill>
          <a:ln>
            <a:noFill/>
          </a:ln>
        </p:spPr>
      </p:sp>
      <p:sp>
        <p:nvSpPr>
          <p:cNvPr id="81" name="cht"/>
          <p:cNvSpPr txBox="1">
            <a:spLocks noGrp="1"/>
          </p:cNvSpPr>
          <p:nvPr/>
        </p:nvSpPr>
        <p:spPr>
          <a:xfrm>
            <a:off x="566928" y="3419856"/>
            <a:ext cx="5212080" cy="256032"/>
          </a:xfrm>
          <a:prstGeom prst="rect">
            <a:avLst/>
          </a:prstGeom>
          <a:noFill/>
          <a:ln>
            <a:noFill/>
          </a:ln>
        </p:spPr>
        <p:txBody>
          <a:bodyPr anchor="t" wrap="square" lIns="91440" rIns="91440" tIns="45720" bIns="45720">
            <a:noAutofit/>
          </a:bodyPr>
          <a:lstStyle/>
          <a:p>
            <a:pPr algn="l"/>
            <a:r>
              <a:rPr lang="es-ES" sz="860" dirty="0" b="1">
                <a:solidFill>
                  <a:srgbClr val="132346"/>
                </a:solidFill>
                <a:latin typeface="Calibri"/>
              </a:rPr>
              <a:t>CONTEXTO DE OPERACIÓN</a:t>
            </a:r>
          </a:p>
        </p:txBody>
      </p:sp>
      <p:sp>
        <p:nvSpPr>
          <p:cNvPr id="82" name="cbg"/>
          <p:cNvSpPr>
            <a:spLocks noGrp="1"/>
          </p:cNvSpPr>
          <p:nvPr/>
        </p:nvSpPr>
        <p:spPr>
          <a:xfrm>
            <a:off x="457200" y="3675888"/>
            <a:ext cx="5394960" cy="1481328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83" name="cl"/>
          <p:cNvSpPr txBox="1">
            <a:spLocks noGrp="1"/>
          </p:cNvSpPr>
          <p:nvPr/>
        </p:nvSpPr>
        <p:spPr>
          <a:xfrm>
            <a:off x="566928" y="3749040"/>
            <a:ext cx="5120640" cy="256032"/>
          </a:xfrm>
          <a:prstGeom prst="rect">
            <a:avLst/>
          </a:prstGeom>
          <a:noFill/>
          <a:ln>
            <a:noFill/>
          </a:ln>
        </p:spPr>
        <p:txBody>
          <a:bodyPr anchor="t" wrap="square" lIns="91440" rIns="91440" tIns="45720" bIns="45720">
            <a:noAutofit/>
          </a:bodyPr>
          <a:lstStyle/>
          <a:p>
            <a:pPr algn="l"/>
            <a:r>
              <a:rPr lang="es-ES" sz="840" dirty="0">
                <a:solidFill>
                  <a:srgbClr val="1C1C1C"/>
                </a:solidFill>
                <a:latin typeface="Calibri"/>
              </a:rPr>
              <a:t>·  Todas las mesas operan con herramienta Helix de Bancolombia (no PS)</a:t>
            </a:r>
          </a:p>
        </p:txBody>
      </p:sp>
      <p:sp>
        <p:nvSpPr>
          <p:cNvPr id="84" name="cl"/>
          <p:cNvSpPr txBox="1">
            <a:spLocks noGrp="1"/>
          </p:cNvSpPr>
          <p:nvPr/>
        </p:nvSpPr>
        <p:spPr>
          <a:xfrm>
            <a:off x="566928" y="4023360"/>
            <a:ext cx="5120640" cy="256032"/>
          </a:xfrm>
          <a:prstGeom prst="rect">
            <a:avLst/>
          </a:prstGeom>
          <a:noFill/>
          <a:ln>
            <a:noFill/>
          </a:ln>
        </p:spPr>
        <p:txBody>
          <a:bodyPr anchor="t" wrap="square" lIns="91440" rIns="91440" tIns="45720" bIns="45720">
            <a:noAutofit/>
          </a:bodyPr>
          <a:lstStyle/>
          <a:p>
            <a:pPr algn="l"/>
            <a:r>
              <a:rPr lang="es-ES" sz="840" dirty="0">
                <a:solidFill>
                  <a:srgbClr val="1C1C1C"/>
                </a:solidFill>
                <a:latin typeface="Calibri"/>
              </a:rPr>
              <a:t>·  No hay SLA de PS — rige solo el ANS del Banco y el ANS de cada COES</a:t>
            </a:r>
          </a:p>
        </p:txBody>
      </p:sp>
      <p:sp>
        <p:nvSpPr>
          <p:cNvPr id="85" name="cl"/>
          <p:cNvSpPr txBox="1">
            <a:spLocks noGrp="1"/>
          </p:cNvSpPr>
          <p:nvPr/>
        </p:nvSpPr>
        <p:spPr>
          <a:xfrm>
            <a:off x="566928" y="4297680"/>
            <a:ext cx="5120640" cy="256032"/>
          </a:xfrm>
          <a:prstGeom prst="rect">
            <a:avLst/>
          </a:prstGeom>
          <a:noFill/>
          <a:ln>
            <a:noFill/>
          </a:ln>
        </p:spPr>
        <p:txBody>
          <a:bodyPr anchor="t" wrap="square" lIns="91440" rIns="91440" tIns="45720" bIns="45720">
            <a:noAutofit/>
          </a:bodyPr>
          <a:lstStyle/>
          <a:p>
            <a:pPr algn="l"/>
            <a:r>
              <a:rPr lang="es-ES" sz="840" dirty="0">
                <a:solidFill>
                  <a:srgbClr val="1C1C1C"/>
                </a:solidFill>
                <a:latin typeface="Calibri"/>
              </a:rPr>
              <a:t>·  Tickets: 700 a 3.000/mesa/mes · MTTR: 30min a 3h (muy bueno)</a:t>
            </a:r>
          </a:p>
        </p:txBody>
      </p:sp>
      <p:sp>
        <p:nvSpPr>
          <p:cNvPr id="86" name="cl"/>
          <p:cNvSpPr txBox="1">
            <a:spLocks noGrp="1"/>
          </p:cNvSpPr>
          <p:nvPr/>
        </p:nvSpPr>
        <p:spPr>
          <a:xfrm>
            <a:off x="566928" y="4572000"/>
            <a:ext cx="5120640" cy="256032"/>
          </a:xfrm>
          <a:prstGeom prst="rect">
            <a:avLst/>
          </a:prstGeom>
          <a:noFill/>
          <a:ln>
            <a:noFill/>
          </a:ln>
        </p:spPr>
        <p:txBody>
          <a:bodyPr anchor="t" wrap="square" lIns="91440" rIns="91440" tIns="45720" bIns="45720">
            <a:noAutofit/>
          </a:bodyPr>
          <a:lstStyle/>
          <a:p>
            <a:pPr algn="l"/>
            <a:r>
              <a:rPr lang="es-ES" sz="840" dirty="0">
                <a:solidFill>
                  <a:srgbClr val="1C1C1C"/>
                </a:solidFill>
                <a:latin typeface="Calibri"/>
              </a:rPr>
              <a:t>·  Sin costo/ticket calculado — 'no manejamos esa información'</a:t>
            </a:r>
          </a:p>
        </p:txBody>
      </p:sp>
      <p:sp>
        <p:nvSpPr>
          <p:cNvPr id="87" name="cl"/>
          <p:cNvSpPr txBox="1">
            <a:spLocks noGrp="1"/>
          </p:cNvSpPr>
          <p:nvPr/>
        </p:nvSpPr>
        <p:spPr>
          <a:xfrm>
            <a:off x="566928" y="4846320"/>
            <a:ext cx="5120640" cy="256032"/>
          </a:xfrm>
          <a:prstGeom prst="rect">
            <a:avLst/>
          </a:prstGeom>
          <a:noFill/>
          <a:ln>
            <a:noFill/>
          </a:ln>
        </p:spPr>
        <p:txBody>
          <a:bodyPr anchor="t" wrap="square" lIns="91440" rIns="91440" tIns="45720" bIns="45720">
            <a:noAutofit/>
          </a:bodyPr>
          <a:lstStyle/>
          <a:p>
            <a:pPr algn="l"/>
            <a:r>
              <a:rPr lang="es-ES" sz="840" dirty="0">
                <a:solidFill>
                  <a:srgbClr val="1C1C1C"/>
                </a:solidFill>
                <a:latin typeface="Calibri"/>
              </a:rPr>
              <a:t>·  Emma iSeries: 1 FTE — alta especialización · bus factor crítico</a:t>
            </a:r>
          </a:p>
        </p:txBody>
      </p:sp>
      <p:sp>
        <p:nvSpPr>
          <p:cNvPr id="90" name="dh"/>
          <p:cNvSpPr>
            <a:spLocks noGrp="1"/>
          </p:cNvSpPr>
          <p:nvPr/>
        </p:nvSpPr>
        <p:spPr>
          <a:xfrm>
            <a:off x="6035040" y="3419856"/>
            <a:ext cx="5669280" cy="256032"/>
          </a:xfrm>
          <a:prstGeom prst="rect">
            <a:avLst/>
          </a:prstGeom>
          <a:solidFill>
            <a:srgbClr val="DCE3EC"/>
          </a:solidFill>
          <a:ln>
            <a:noFill/>
          </a:ln>
        </p:spPr>
      </p:sp>
      <p:sp>
        <p:nvSpPr>
          <p:cNvPr id="91" name="dht"/>
          <p:cNvSpPr txBox="1">
            <a:spLocks noGrp="1"/>
          </p:cNvSpPr>
          <p:nvPr/>
        </p:nvSpPr>
        <p:spPr>
          <a:xfrm>
            <a:off x="6144768" y="3419856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anchor="t" wrap="square" lIns="91440" rIns="91440" tIns="45720" bIns="45720">
            <a:noAutofit/>
          </a:bodyPr>
          <a:lstStyle/>
          <a:p>
            <a:pPr algn="l"/>
            <a:r>
              <a:rPr lang="es-ES" sz="860" dirty="0" b="1">
                <a:solidFill>
                  <a:srgbClr val="132346"/>
                </a:solidFill>
                <a:latin typeface="Calibri"/>
              </a:rPr>
              <a:t>BRECHAS CRÍTICAS (comunes a todas las mesas)</a:t>
            </a:r>
          </a:p>
        </p:txBody>
      </p:sp>
      <p:sp>
        <p:nvSpPr>
          <p:cNvPr id="92" name="dbg"/>
          <p:cNvSpPr>
            <a:spLocks noGrp="1"/>
          </p:cNvSpPr>
          <p:nvPr/>
        </p:nvSpPr>
        <p:spPr>
          <a:xfrm>
            <a:off x="6035040" y="3675888"/>
            <a:ext cx="5669280" cy="1481328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93" name="d"/>
          <p:cNvSpPr txBox="1">
            <a:spLocks noGrp="1"/>
          </p:cNvSpPr>
          <p:nvPr/>
        </p:nvSpPr>
        <p:spPr>
          <a:xfrm>
            <a:off x="6144768" y="3749040"/>
            <a:ext cx="5394960" cy="256032"/>
          </a:xfrm>
          <a:prstGeom prst="rect">
            <a:avLst/>
          </a:prstGeom>
          <a:noFill/>
          <a:ln>
            <a:noFill/>
          </a:ln>
        </p:spPr>
        <p:txBody>
          <a:bodyPr anchor="t" wrap="square" lIns="91440" rIns="91440" tIns="45720" bIns="45720">
            <a:noAutofit/>
          </a:bodyPr>
          <a:lstStyle/>
          <a:p>
            <a:pPr algn="l"/>
            <a:r>
              <a:rPr lang="es-ES" sz="880" dirty="0" b="1">
                <a:solidFill>
                  <a:srgbClr val="B3261E"/>
                </a:solidFill>
                <a:latin typeface="Calibri"/>
              </a:rPr>
              <a:t>●  </a:t>
            </a:r>
            <a:r>
              <a:rPr lang="es-ES" sz="820" dirty="0">
                <a:solidFill>
                  <a:srgbClr val="1C1C1C"/>
                </a:solidFill>
                <a:latin typeface="Calibri"/>
              </a:rPr>
              <a:t>D16 · Brechas vendido vs ejecutado — volumetría sin datos reales</a:t>
            </a:r>
          </a:p>
        </p:txBody>
      </p:sp>
      <p:sp>
        <p:nvSpPr>
          <p:cNvPr id="94" name="d"/>
          <p:cNvSpPr txBox="1">
            <a:spLocks noGrp="1"/>
          </p:cNvSpPr>
          <p:nvPr/>
        </p:nvSpPr>
        <p:spPr>
          <a:xfrm>
            <a:off x="6144768" y="4023360"/>
            <a:ext cx="5394960" cy="256032"/>
          </a:xfrm>
          <a:prstGeom prst="rect">
            <a:avLst/>
          </a:prstGeom>
          <a:noFill/>
          <a:ln>
            <a:noFill/>
          </a:ln>
        </p:spPr>
        <p:txBody>
          <a:bodyPr anchor="t" wrap="square" lIns="91440" rIns="91440" tIns="45720" bIns="45720">
            <a:noAutofit/>
          </a:bodyPr>
          <a:lstStyle/>
          <a:p>
            <a:pPr algn="l"/>
            <a:r>
              <a:rPr lang="es-ES" sz="880" dirty="0" b="1">
                <a:solidFill>
                  <a:srgbClr val="B3261E"/>
                </a:solidFill>
                <a:latin typeface="Calibri"/>
              </a:rPr>
              <a:t>●  </a:t>
            </a:r>
            <a:r>
              <a:rPr lang="es-ES" sz="820" dirty="0">
                <a:solidFill>
                  <a:srgbClr val="1C1C1C"/>
                </a:solidFill>
                <a:latin typeface="Calibri"/>
              </a:rPr>
              <a:t>D20 · Asignación sin modelo de demanda estandarizado</a:t>
            </a:r>
          </a:p>
        </p:txBody>
      </p:sp>
      <p:sp>
        <p:nvSpPr>
          <p:cNvPr id="95" name="d"/>
          <p:cNvSpPr txBox="1">
            <a:spLocks noGrp="1"/>
          </p:cNvSpPr>
          <p:nvPr/>
        </p:nvSpPr>
        <p:spPr>
          <a:xfrm>
            <a:off x="6144768" y="4297680"/>
            <a:ext cx="5394960" cy="256032"/>
          </a:xfrm>
          <a:prstGeom prst="rect">
            <a:avLst/>
          </a:prstGeom>
          <a:noFill/>
          <a:ln>
            <a:noFill/>
          </a:ln>
        </p:spPr>
        <p:txBody>
          <a:bodyPr anchor="t" wrap="square" lIns="91440" rIns="91440" tIns="45720" bIns="45720">
            <a:noAutofit/>
          </a:bodyPr>
          <a:lstStyle/>
          <a:p>
            <a:pPr algn="l"/>
            <a:r>
              <a:rPr lang="es-ES" sz="880" dirty="0" b="1">
                <a:solidFill>
                  <a:srgbClr val="B3261E"/>
                </a:solidFill>
                <a:latin typeface="Calibri"/>
              </a:rPr>
              <a:t>●  </a:t>
            </a:r>
            <a:r>
              <a:rPr lang="es-ES" sz="820" dirty="0">
                <a:solidFill>
                  <a:srgbClr val="1C1C1C"/>
                </a:solidFill>
                <a:latin typeface="Calibri"/>
              </a:rPr>
              <a:t>D23 · Recargo económico por trabajo fuera de jornada — costo oculto</a:t>
            </a:r>
          </a:p>
        </p:txBody>
      </p:sp>
      <p:sp>
        <p:nvSpPr>
          <p:cNvPr id="96" name="d"/>
          <p:cNvSpPr txBox="1">
            <a:spLocks noGrp="1"/>
          </p:cNvSpPr>
          <p:nvPr/>
        </p:nvSpPr>
        <p:spPr>
          <a:xfrm>
            <a:off x="6144768" y="4572000"/>
            <a:ext cx="5394960" cy="256032"/>
          </a:xfrm>
          <a:prstGeom prst="rect">
            <a:avLst/>
          </a:prstGeom>
          <a:noFill/>
          <a:ln>
            <a:noFill/>
          </a:ln>
        </p:spPr>
        <p:txBody>
          <a:bodyPr anchor="t" wrap="square" lIns="91440" rIns="91440" tIns="45720" bIns="45720">
            <a:noAutofit/>
          </a:bodyPr>
          <a:lstStyle/>
          <a:p>
            <a:pPr algn="l"/>
            <a:r>
              <a:rPr lang="es-ES" sz="880" dirty="0" b="1">
                <a:solidFill>
                  <a:srgbClr val="D4A017"/>
                </a:solidFill>
                <a:latin typeface="Calibri"/>
              </a:rPr>
              <a:t>◐  </a:t>
            </a:r>
            <a:r>
              <a:rPr lang="es-ES" sz="820" dirty="0">
                <a:solidFill>
                  <a:srgbClr val="1C1C1C"/>
                </a:solidFill>
                <a:latin typeface="Calibri"/>
              </a:rPr>
              <a:t>D1 · Bus factor — concentración de conocimiento por mesa</a:t>
            </a:r>
          </a:p>
        </p:txBody>
      </p:sp>
      <p:sp>
        <p:nvSpPr>
          <p:cNvPr id="97" name="d"/>
          <p:cNvSpPr txBox="1">
            <a:spLocks noGrp="1"/>
          </p:cNvSpPr>
          <p:nvPr/>
        </p:nvSpPr>
        <p:spPr>
          <a:xfrm>
            <a:off x="6144768" y="4846320"/>
            <a:ext cx="5394960" cy="256032"/>
          </a:xfrm>
          <a:prstGeom prst="rect">
            <a:avLst/>
          </a:prstGeom>
          <a:noFill/>
          <a:ln>
            <a:noFill/>
          </a:ln>
        </p:spPr>
        <p:txBody>
          <a:bodyPr anchor="t" wrap="square" lIns="91440" rIns="91440" tIns="45720" bIns="45720">
            <a:noAutofit/>
          </a:bodyPr>
          <a:lstStyle/>
          <a:p>
            <a:pPr algn="l"/>
            <a:r>
              <a:rPr lang="es-ES" sz="880" dirty="0" b="1">
                <a:solidFill>
                  <a:srgbClr val="D4A017"/>
                </a:solidFill>
                <a:latin typeface="Calibri"/>
              </a:rPr>
              <a:t>◐  </a:t>
            </a:r>
            <a:r>
              <a:rPr lang="es-ES" sz="820" dirty="0">
                <a:solidFill>
                  <a:srgbClr val="1C1C1C"/>
                </a:solidFill>
                <a:latin typeface="Calibri"/>
              </a:rPr>
              <a:t>D3 · Sin autoservicio — todo entra por call o correo</a:t>
            </a:r>
          </a:p>
        </p:txBody>
      </p:sp>
      <p:sp>
        <p:nvSpPr>
          <p:cNvPr id="98" name="d"/>
          <p:cNvSpPr txBox="1">
            <a:spLocks noGrp="1"/>
          </p:cNvSpPr>
          <p:nvPr/>
        </p:nvSpPr>
        <p:spPr>
          <a:xfrm>
            <a:off x="6144768" y="5120640"/>
            <a:ext cx="5394960" cy="256032"/>
          </a:xfrm>
          <a:prstGeom prst="rect">
            <a:avLst/>
          </a:prstGeom>
          <a:noFill/>
          <a:ln>
            <a:noFill/>
          </a:ln>
        </p:spPr>
        <p:txBody>
          <a:bodyPr anchor="t" wrap="square" lIns="91440" rIns="91440" tIns="45720" bIns="45720">
            <a:noAutofit/>
          </a:bodyPr>
          <a:lstStyle/>
          <a:p>
            <a:pPr algn="l"/>
            <a:r>
              <a:rPr lang="es-ES" sz="880" dirty="0" b="1">
                <a:solidFill>
                  <a:srgbClr val="D4A017"/>
                </a:solidFill>
                <a:latin typeface="Calibri"/>
              </a:rPr>
              <a:t>◐  </a:t>
            </a:r>
            <a:r>
              <a:rPr lang="es-ES" sz="820" dirty="0">
                <a:solidFill>
                  <a:srgbClr val="1C1C1C"/>
                </a:solidFill>
                <a:latin typeface="Calibri"/>
              </a:rPr>
              <a:t>D8 · Reportes manuales — sin visibilidad ejecutiva consolidada</a:t>
            </a:r>
          </a:p>
        </p:txBody>
      </p:sp>
      <p:sp>
        <p:nvSpPr>
          <p:cNvPr id="100" name="conc_bg"/>
          <p:cNvSpPr>
            <a:spLocks noGrp="1"/>
          </p:cNvSpPr>
          <p:nvPr/>
        </p:nvSpPr>
        <p:spPr>
          <a:xfrm>
            <a:off x="457200" y="3968496"/>
            <a:ext cx="11247120" cy="402336"/>
          </a:xfrm>
          <a:prstGeom prst="roundRect">
            <a:avLst>
              <a:gd name="adj" fmla="val 8000"/>
            </a:avLst>
          </a:prstGeom>
          <a:solidFill>
            <a:srgbClr val="E8EDF4"/>
          </a:solidFill>
          <a:ln>
            <a:noFill/>
          </a:ln>
        </p:spPr>
      </p:sp>
      <p:sp>
        <p:nvSpPr>
          <p:cNvPr id="101" name="conc"/>
          <p:cNvSpPr txBox="1">
            <a:spLocks noGrp="1"/>
          </p:cNvSpPr>
          <p:nvPr/>
        </p:nvSpPr>
        <p:spPr>
          <a:xfrm>
            <a:off x="566928" y="4005072"/>
            <a:ext cx="10972800" cy="329184"/>
          </a:xfrm>
          <a:prstGeom prst="rect">
            <a:avLst/>
          </a:prstGeom>
          <a:noFill/>
          <a:ln>
            <a:noFill/>
          </a:ln>
        </p:spPr>
        <p:txBody>
          <a:bodyPr anchor="t" wrap="square" lIns="91440" rIns="91440" tIns="45720" bIns="45720">
            <a:noAutofit/>
          </a:bodyPr>
          <a:lstStyle/>
          <a:p>
            <a:pPr algn="l"/>
            <a:r>
              <a:rPr lang="es-ES" sz="900" dirty="0">
                <a:solidFill>
                  <a:srgbClr val="132346"/>
                </a:solidFill>
                <a:latin typeface="Calibri"/>
              </a:rPr>
              <a:t>BCO/COES es el cliente con más FTE (32) y mejor MTTR (30min-3h). El modelo de Bolsa de Horas con 5 mesas especializadas es el más complejo de PS. La falta de costo/ticket y la dependencia de Helix/Bancolombia son los principales riesgos de visibilidad.</a:t>
            </a:r>
          </a:p>
        </p:txBody>
      </p:sp>
      <p:sp>
        <p:nvSpPr>
          <p:cNvPr id="110" name="src"/>
          <p:cNvSpPr txBox="1">
            <a:spLocks noGrp="1"/>
          </p:cNvSpPr>
          <p:nvPr/>
        </p:nvSpPr>
        <p:spPr>
          <a:xfrm>
            <a:off x="457200" y="4453128"/>
            <a:ext cx="11155680" cy="164592"/>
          </a:xfrm>
          <a:prstGeom prst="rect">
            <a:avLst/>
          </a:prstGeom>
          <a:noFill/>
          <a:ln>
            <a:noFill/>
          </a:ln>
        </p:spPr>
        <p:txBody>
          <a:bodyPr anchor="t" wrap="square" lIns="91440" rIns="91440" tIns="45720" bIns="45720">
            <a:noAutofit/>
          </a:bodyPr>
          <a:lstStyle/>
          <a:p>
            <a:pPr algn="l"/>
            <a:r>
              <a:rPr lang="es-ES" sz="750" dirty="0" i="1">
                <a:solidFill>
                  <a:srgbClr val="5A6472"/>
                </a:solidFill>
                <a:latin typeface="Calibri"/>
              </a:rPr>
              <a:t>Fuente: Levantamiento interno PersonalSoft · Julio 2026 · Transcript: Virginia &amp; Lina (BCO/COES) · Transcript Bancolombia · Excel Levantamiento_Mesas_Julio_2026</a:t>
            </a:r>
          </a:p>
        </p:txBody>
      </p:sp>
    </p:spTree>
  </p:cSld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bg"/>
          <p:cNvSpPr>
            <a:spLocks noGrp="1"/>
          </p:cNvSpPr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6F2"/>
          </a:solidFill>
          <a:ln>
            <a:noFill/>
          </a:ln>
        </p:spPr>
      </p:sp>
      <p:sp>
        <p:nvSpPr>
          <p:cNvPr id="3" name="hdr"/>
          <p:cNvSpPr>
            <a:spLocks noGrp="1"/>
          </p:cNvSpPr>
          <p:nvPr/>
        </p:nvSpPr>
        <p:spPr>
          <a:xfrm>
            <a:off x="457200" y="274320"/>
            <a:ext cx="11247120" cy="530352"/>
          </a:xfrm>
          <a:prstGeom prst="roundRect">
            <a:avLst>
              <a:gd name="adj" fmla="val 8000"/>
            </a:avLst>
          </a:prstGeom>
          <a:solidFill>
            <a:srgbClr val="132346"/>
          </a:solidFill>
          <a:ln>
            <a:noFill/>
          </a:ln>
        </p:spPr>
      </p:sp>
      <p:sp>
        <p:nvSpPr>
          <p:cNvPr id="4" name="nb"/>
          <p:cNvSpPr>
            <a:spLocks noGrp="1"/>
          </p:cNvSpPr>
          <p:nvPr/>
        </p:nvSpPr>
        <p:spPr>
          <a:xfrm>
            <a:off x="457200" y="274320"/>
            <a:ext cx="585216" cy="530352"/>
          </a:xfrm>
          <a:prstGeom prst="roundRect">
            <a:avLst>
              <a:gd name="adj" fmla="val 8000"/>
            </a:avLst>
          </a:prstGeom>
          <a:solidFill>
            <a:srgbClr val="B3261E"/>
          </a:solidFill>
          <a:ln>
            <a:noFill/>
          </a:ln>
        </p:spPr>
      </p:sp>
      <p:sp>
        <p:nvSpPr>
          <p:cNvPr id="5" name="nt"/>
          <p:cNvSpPr txBox="1">
            <a:spLocks noGrp="1"/>
          </p:cNvSpPr>
          <p:nvPr/>
        </p:nvSpPr>
        <p:spPr>
          <a:xfrm>
            <a:off x="457200" y="274320"/>
            <a:ext cx="585216" cy="530352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1200" dirty="0" b="1">
                <a:solidFill>
                  <a:srgbClr val="FFFFFF"/>
                </a:solidFill>
                <a:latin typeface="Calibri"/>
              </a:rPr>
              <a:t>N1</a:t>
            </a:r>
          </a:p>
        </p:txBody>
      </p:sp>
      <p:sp>
        <p:nvSpPr>
          <p:cNvPr id="6" name="ttl"/>
          <p:cNvSpPr txBox="1">
            <a:spLocks noGrp="1"/>
          </p:cNvSpPr>
          <p:nvPr/>
        </p:nvSpPr>
        <p:spPr>
          <a:xfrm>
            <a:off x="1097280" y="329184"/>
            <a:ext cx="8686800" cy="420624"/>
          </a:xfrm>
          <a:prstGeom prst="rect">
            <a:avLst/>
          </a:prstGeom>
          <a:noFill/>
          <a:ln>
            <a:noFill/>
          </a:ln>
        </p:spPr>
        <p:txBody>
          <a:bodyPr anchor="t" wrap="square" lIns="91440" rIns="91440" tIns="45720" bIns="45720">
            <a:noAutofit/>
          </a:bodyPr>
          <a:lstStyle/>
          <a:p>
            <a:pPr algn="l"/>
            <a:r>
              <a:rPr lang="es-ES" sz="1700" dirty="0" b="1">
                <a:solidFill>
                  <a:srgbClr val="FFFFFF"/>
                </a:solidFill>
                <a:latin typeface="Calibri"/>
              </a:rPr>
              <a:t>MEDICARTE · Mesa IT · Salud (EPS/IPS) · Referencia</a:t>
            </a:r>
          </a:p>
        </p:txBody>
      </p:sp>
      <p:sp>
        <p:nvSpPr>
          <p:cNvPr id="7" name="abg"/>
          <p:cNvSpPr>
            <a:spLocks noGrp="1"/>
          </p:cNvSpPr>
          <p:nvPr/>
        </p:nvSpPr>
        <p:spPr>
          <a:xfrm>
            <a:off x="9875520" y="320040"/>
            <a:ext cx="1828800" cy="420624"/>
          </a:xfrm>
          <a:prstGeom prst="roundRect">
            <a:avLst>
              <a:gd name="adj" fmla="val 6000"/>
            </a:avLst>
          </a:prstGeom>
          <a:solidFill>
            <a:srgbClr val="0E6B3C"/>
          </a:solidFill>
          <a:ln>
            <a:noFill/>
          </a:ln>
        </p:spPr>
      </p:sp>
      <p:sp>
        <p:nvSpPr>
          <p:cNvPr id="8" name="at"/>
          <p:cNvSpPr txBox="1">
            <a:spLocks noGrp="1"/>
          </p:cNvSpPr>
          <p:nvPr/>
        </p:nvSpPr>
        <p:spPr>
          <a:xfrm>
            <a:off x="9875520" y="320040"/>
            <a:ext cx="1828800" cy="420624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820" dirty="0" b="1">
                <a:solidFill>
                  <a:srgbClr val="FFFFFF"/>
                </a:solidFill>
                <a:latin typeface="Calibri"/>
              </a:rPr>
              <a:t>★ MEJOR DESEMPEÑO</a:t>
            </a:r>
          </a:p>
        </p:txBody>
      </p:sp>
      <p:sp>
        <p:nvSpPr>
          <p:cNvPr id="9" name="sub_bg"/>
          <p:cNvSpPr>
            <a:spLocks noGrp="1"/>
          </p:cNvSpPr>
          <p:nvPr/>
        </p:nvSpPr>
        <p:spPr>
          <a:xfrm>
            <a:off x="457200" y="859536"/>
            <a:ext cx="11247120" cy="347472"/>
          </a:xfrm>
          <a:prstGeom prst="rect">
            <a:avLst/>
          </a:prstGeom>
          <a:solidFill>
            <a:srgbClr val="E8EDF4"/>
          </a:solidFill>
          <a:ln>
            <a:noFill/>
          </a:ln>
        </p:spPr>
      </p:sp>
      <p:sp>
        <p:nvSpPr>
          <p:cNvPr id="10" name="sub"/>
          <p:cNvSpPr txBox="1">
            <a:spLocks noGrp="1"/>
          </p:cNvSpPr>
          <p:nvPr/>
        </p:nvSpPr>
        <p:spPr>
          <a:xfrm>
            <a:off x="548640" y="896112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="t" wrap="square" lIns="91440" rIns="91440" tIns="45720" bIns="45720">
            <a:noAutofit/>
          </a:bodyPr>
          <a:lstStyle/>
          <a:p>
            <a:pPr algn="l"/>
            <a:r>
              <a:rPr lang="es-ES" sz="940" dirty="0">
                <a:solidFill>
                  <a:srgbClr val="132346"/>
                </a:solidFill>
                <a:latin typeface="Calibri"/>
              </a:rPr>
              <a:t>Levantamiento: Julio 2026 · Modalidad: Virtual · 12 FTE · Herramienta ITSM por definir · Contacto: Andres Posso</a:t>
            </a:r>
          </a:p>
        </p:txBody>
      </p:sp>
      <p:sp>
        <p:nvSpPr>
          <p:cNvPr id="20" name="kb"/>
          <p:cNvSpPr>
            <a:spLocks noGrp="1"/>
          </p:cNvSpPr>
          <p:nvPr/>
        </p:nvSpPr>
        <p:spPr>
          <a:xfrm>
            <a:off x="457200" y="1261872"/>
            <a:ext cx="246888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3EC"/>
            </a:solidFill>
          </a:ln>
        </p:spPr>
      </p:sp>
      <p:sp>
        <p:nvSpPr>
          <p:cNvPr id="21" name="kv"/>
          <p:cNvSpPr txBox="1">
            <a:spLocks noGrp="1"/>
          </p:cNvSpPr>
          <p:nvPr/>
        </p:nvSpPr>
        <p:spPr>
          <a:xfrm>
            <a:off x="457200" y="1298448"/>
            <a:ext cx="2468880" cy="347472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2000" dirty="0" b="1">
                <a:solidFill>
                  <a:srgbClr val="132346"/>
                </a:solidFill>
                <a:latin typeface="Calibri"/>
              </a:rPr>
              <a:t>12</a:t>
            </a:r>
          </a:p>
        </p:txBody>
      </p:sp>
      <p:sp>
        <p:nvSpPr>
          <p:cNvPr id="22" name="kl"/>
          <p:cNvSpPr txBox="1">
            <a:spLocks noGrp="1"/>
          </p:cNvSpPr>
          <p:nvPr/>
        </p:nvSpPr>
        <p:spPr>
          <a:xfrm>
            <a:off x="457200" y="1645920"/>
            <a:ext cx="2468880" cy="237744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780" dirty="0">
                <a:solidFill>
                  <a:srgbClr val="5A6472"/>
                </a:solidFill>
                <a:latin typeface="Calibri"/>
              </a:rPr>
              <a:t>FTE</a:t>
            </a:r>
          </a:p>
        </p:txBody>
      </p:sp>
      <p:sp>
        <p:nvSpPr>
          <p:cNvPr id="25" name="kb"/>
          <p:cNvSpPr>
            <a:spLocks noGrp="1"/>
          </p:cNvSpPr>
          <p:nvPr/>
        </p:nvSpPr>
        <p:spPr>
          <a:xfrm>
            <a:off x="3072384" y="1261872"/>
            <a:ext cx="246888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3EC"/>
            </a:solidFill>
          </a:ln>
        </p:spPr>
      </p:sp>
      <p:sp>
        <p:nvSpPr>
          <p:cNvPr id="26" name="kv"/>
          <p:cNvSpPr txBox="1">
            <a:spLocks noGrp="1"/>
          </p:cNvSpPr>
          <p:nvPr/>
        </p:nvSpPr>
        <p:spPr>
          <a:xfrm>
            <a:off x="3072384" y="1298448"/>
            <a:ext cx="2468880" cy="347472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2000" dirty="0" b="1">
                <a:solidFill>
                  <a:srgbClr val="0E6B3C"/>
                </a:solidFill>
                <a:latin typeface="Calibri"/>
              </a:rPr>
              <a:t>68% ✓</a:t>
            </a:r>
          </a:p>
        </p:txBody>
      </p:sp>
      <p:sp>
        <p:nvSpPr>
          <p:cNvPr id="27" name="kl"/>
          <p:cNvSpPr txBox="1">
            <a:spLocks noGrp="1"/>
          </p:cNvSpPr>
          <p:nvPr/>
        </p:nvSpPr>
        <p:spPr>
          <a:xfrm>
            <a:off x="3072384" y="1645920"/>
            <a:ext cx="2468880" cy="237744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780" dirty="0">
                <a:solidFill>
                  <a:srgbClr val="5A6472"/>
                </a:solidFill>
                <a:latin typeface="Calibri"/>
              </a:rPr>
              <a:t>FCR</a:t>
            </a:r>
          </a:p>
        </p:txBody>
      </p:sp>
      <p:sp>
        <p:nvSpPr>
          <p:cNvPr id="30" name="kb"/>
          <p:cNvSpPr>
            <a:spLocks noGrp="1"/>
          </p:cNvSpPr>
          <p:nvPr/>
        </p:nvSpPr>
        <p:spPr>
          <a:xfrm>
            <a:off x="5687568" y="1261872"/>
            <a:ext cx="246888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3EC"/>
            </a:solidFill>
          </a:ln>
        </p:spPr>
      </p:sp>
      <p:sp>
        <p:nvSpPr>
          <p:cNvPr id="31" name="kv"/>
          <p:cNvSpPr txBox="1">
            <a:spLocks noGrp="1"/>
          </p:cNvSpPr>
          <p:nvPr/>
        </p:nvSpPr>
        <p:spPr>
          <a:xfrm>
            <a:off x="5687568" y="1298448"/>
            <a:ext cx="2468880" cy="347472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2000" dirty="0" b="1">
                <a:solidFill>
                  <a:srgbClr val="0E6B3C"/>
                </a:solidFill>
                <a:latin typeface="Calibri"/>
              </a:rPr>
              <a:t>0.55h ✓</a:t>
            </a:r>
          </a:p>
        </p:txBody>
      </p:sp>
      <p:sp>
        <p:nvSpPr>
          <p:cNvPr id="32" name="kl"/>
          <p:cNvSpPr txBox="1">
            <a:spLocks noGrp="1"/>
          </p:cNvSpPr>
          <p:nvPr/>
        </p:nvSpPr>
        <p:spPr>
          <a:xfrm>
            <a:off x="5687568" y="1645920"/>
            <a:ext cx="2468880" cy="237744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780" dirty="0">
                <a:solidFill>
                  <a:srgbClr val="5A6472"/>
                </a:solidFill>
                <a:latin typeface="Calibri"/>
              </a:rPr>
              <a:t>MTTR</a:t>
            </a:r>
          </a:p>
        </p:txBody>
      </p:sp>
      <p:sp>
        <p:nvSpPr>
          <p:cNvPr id="35" name="kb"/>
          <p:cNvSpPr>
            <a:spLocks noGrp="1"/>
          </p:cNvSpPr>
          <p:nvPr/>
        </p:nvSpPr>
        <p:spPr>
          <a:xfrm>
            <a:off x="8302752" y="1261872"/>
            <a:ext cx="246888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3EC"/>
            </a:solidFill>
          </a:ln>
        </p:spPr>
      </p:sp>
      <p:sp>
        <p:nvSpPr>
          <p:cNvPr id="36" name="kv"/>
          <p:cNvSpPr txBox="1">
            <a:spLocks noGrp="1"/>
          </p:cNvSpPr>
          <p:nvPr/>
        </p:nvSpPr>
        <p:spPr>
          <a:xfrm>
            <a:off x="8302752" y="1298448"/>
            <a:ext cx="2468880" cy="347472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2000" dirty="0" b="1">
                <a:solidFill>
                  <a:srgbClr val="0E6B3C"/>
                </a:solidFill>
                <a:latin typeface="Calibri"/>
              </a:rPr>
              <a:t>89% ✓</a:t>
            </a:r>
          </a:p>
        </p:txBody>
      </p:sp>
      <p:sp>
        <p:nvSpPr>
          <p:cNvPr id="37" name="kl"/>
          <p:cNvSpPr txBox="1">
            <a:spLocks noGrp="1"/>
          </p:cNvSpPr>
          <p:nvPr/>
        </p:nvSpPr>
        <p:spPr>
          <a:xfrm>
            <a:off x="8302752" y="1645920"/>
            <a:ext cx="2468880" cy="237744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rIns="91440" tIns="45720" bIns="45720">
            <a:noAutofit/>
          </a:bodyPr>
          <a:lstStyle/>
          <a:p>
            <a:pPr algn="ctr"/>
            <a:r>
              <a:rPr lang="es-ES" sz="780" dirty="0">
                <a:solidFill>
                  <a:srgbClr val="5A6472"/>
                </a:solidFill>
                <a:latin typeface="Calibri"/>
              </a:rPr>
              <a:t>SLA</a:t>
            </a:r>
          </a:p>
        </p:txBody>
      </p:sp>
      <p:sp>
        <p:nvSpPr>
          <p:cNvPr id="50" name="ch"/>
          <p:cNvSpPr>
            <a:spLocks noGrp="1"/>
          </p:cNvSpPr>
          <p:nvPr/>
        </p:nvSpPr>
        <p:spPr>
          <a:xfrm>
            <a:off x="457200" y="2011680"/>
            <a:ext cx="5303520" cy="256032"/>
          </a:xfrm>
          <a:prstGeom prst="rect">
            <a:avLst/>
          </a:prstGeom>
          <a:solidFill>
            <a:srgbClr val="DCE3EC"/>
          </a:solidFill>
          <a:ln>
            <a:noFill/>
          </a:ln>
        </p:spPr>
      </p:sp>
      <p:sp>
        <p:nvSpPr>
          <p:cNvPr id="51" name="cht"/>
          <p:cNvSpPr txBox="1">
            <a:spLocks noGrp="1"/>
          </p:cNvSpPr>
          <p:nvPr/>
        </p:nvSpPr>
        <p:spPr>
          <a:xfrm>
            <a:off x="566928" y="2011680"/>
            <a:ext cx="5120640" cy="256032"/>
          </a:xfrm>
          <a:prstGeom prst="rect">
            <a:avLst/>
          </a:prstGeom>
          <a:noFill/>
          <a:ln>
            <a:noFill/>
          </a:ln>
        </p:spPr>
        <p:txBody>
          <a:bodyPr anchor="t" wrap="square" lIns="91440" rIns="91440" tIns="45720" bIns="45720">
            <a:noAutofit/>
          </a:bodyPr>
          <a:lstStyle/>
          <a:p>
            <a:pPr algn="l"/>
            <a:r>
              <a:rPr lang="es-ES" sz="880" dirty="0" b="1">
                <a:solidFill>
                  <a:srgbClr val="132346"/>
                </a:solidFill>
                <a:latin typeface="Calibri"/>
              </a:rPr>
              <a:t>CONTEXTO</a:t>
            </a:r>
          </a:p>
        </p:txBody>
      </p:sp>
      <p:sp>
        <p:nvSpPr>
          <p:cNvPr id="52" name="cbg"/>
          <p:cNvSpPr>
            <a:spLocks noGrp="1"/>
          </p:cNvSpPr>
          <p:nvPr/>
        </p:nvSpPr>
        <p:spPr>
          <a:xfrm>
            <a:off x="457200" y="2267712"/>
            <a:ext cx="5303520" cy="173736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53" name="cl"/>
          <p:cNvSpPr txBox="1">
            <a:spLocks noGrp="1"/>
          </p:cNvSpPr>
          <p:nvPr/>
        </p:nvSpPr>
        <p:spPr>
          <a:xfrm>
            <a:off x="566928" y="2322576"/>
            <a:ext cx="5084064" cy="256032"/>
          </a:xfrm>
          <a:prstGeom prst="rect">
            <a:avLst/>
          </a:prstGeom>
          <a:noFill/>
          <a:ln>
            <a:noFill/>
          </a:ln>
        </p:spPr>
        <p:txBody>
          <a:bodyPr anchor="t" wrap="square" lIns="91440" rIns="91440" tIns="45720" bIns="45720">
            <a:noAutofit/>
          </a:bodyPr>
          <a:lstStyle/>
          <a:p>
            <a:pPr algn="l"/>
            <a:r>
              <a:rPr lang="es-ES" sz="860" dirty="0">
                <a:solidFill>
                  <a:srgbClr val="1C1C1C"/>
                </a:solidFill>
                <a:latin typeface="Calibri"/>
              </a:rPr>
              <a:t>·  Única mesa con métricas formales levantadas · FCR, MTTR y SLA registrados</a:t>
            </a:r>
          </a:p>
        </p:txBody>
      </p:sp>
      <p:sp>
        <p:nvSpPr>
          <p:cNvPr id="54" name="cl"/>
          <p:cNvSpPr txBox="1">
            <a:spLocks noGrp="1"/>
          </p:cNvSpPr>
          <p:nvPr/>
        </p:nvSpPr>
        <p:spPr>
          <a:xfrm>
            <a:off x="566928" y="2596896"/>
            <a:ext cx="5084064" cy="256032"/>
          </a:xfrm>
          <a:prstGeom prst="rect">
            <a:avLst/>
          </a:prstGeom>
          <a:noFill/>
          <a:ln>
            <a:noFill/>
          </a:ln>
        </p:spPr>
        <p:txBody>
          <a:bodyPr anchor="t" wrap="square" lIns="91440" rIns="91440" tIns="45720" bIns="45720">
            <a:noAutofit/>
          </a:bodyPr>
          <a:lstStyle/>
          <a:p>
            <a:pPr algn="l"/>
            <a:r>
              <a:rPr lang="es-ES" sz="860" dirty="0">
                <a:solidFill>
                  <a:srgbClr val="1C1C1C"/>
                </a:solidFill>
                <a:latin typeface="Calibri"/>
              </a:rPr>
              <a:t>·  FCR 68% — referencia para todas las demás mesas (ninguna lo mide)</a:t>
            </a:r>
          </a:p>
        </p:txBody>
      </p:sp>
      <p:sp>
        <p:nvSpPr>
          <p:cNvPr id="55" name="cl"/>
          <p:cNvSpPr txBox="1">
            <a:spLocks noGrp="1"/>
          </p:cNvSpPr>
          <p:nvPr/>
        </p:nvSpPr>
        <p:spPr>
          <a:xfrm>
            <a:off x="566928" y="2871216"/>
            <a:ext cx="5084064" cy="256032"/>
          </a:xfrm>
          <a:prstGeom prst="rect">
            <a:avLst/>
          </a:prstGeom>
          <a:noFill/>
          <a:ln>
            <a:noFill/>
          </a:ln>
        </p:spPr>
        <p:txBody>
          <a:bodyPr anchor="t" wrap="square" lIns="91440" rIns="91440" tIns="45720" bIns="45720">
            <a:noAutofit/>
          </a:bodyPr>
          <a:lstStyle/>
          <a:p>
            <a:pPr algn="l"/>
            <a:r>
              <a:rPr lang="es-ES" sz="860" dirty="0">
                <a:solidFill>
                  <a:srgbClr val="1C1C1C"/>
                </a:solidFill>
                <a:latin typeface="Calibri"/>
              </a:rPr>
              <a:t>·  MTTR 0.55h — única mesa bajo 4h · cerca de world-class (&lt;1h)</a:t>
            </a:r>
          </a:p>
        </p:txBody>
      </p:sp>
      <p:sp>
        <p:nvSpPr>
          <p:cNvPr id="56" name="cl"/>
          <p:cNvSpPr txBox="1">
            <a:spLocks noGrp="1"/>
          </p:cNvSpPr>
          <p:nvPr/>
        </p:nvSpPr>
        <p:spPr>
          <a:xfrm>
            <a:off x="566928" y="3145536"/>
            <a:ext cx="5084064" cy="256032"/>
          </a:xfrm>
          <a:prstGeom prst="rect">
            <a:avLst/>
          </a:prstGeom>
          <a:noFill/>
          <a:ln>
            <a:noFill/>
          </a:ln>
        </p:spPr>
        <p:txBody>
          <a:bodyPr anchor="t" wrap="square" lIns="91440" rIns="91440" tIns="45720" bIns="45720">
            <a:noAutofit/>
          </a:bodyPr>
          <a:lstStyle/>
          <a:p>
            <a:pPr algn="l"/>
            <a:r>
              <a:rPr lang="es-ES" sz="860" dirty="0">
                <a:solidFill>
                  <a:srgbClr val="1C1C1C"/>
                </a:solidFill>
                <a:latin typeface="Calibri"/>
              </a:rPr>
              <a:t>·  8% autoservicio / N0 — única mesa con deflexión activa en PS</a:t>
            </a:r>
          </a:p>
        </p:txBody>
      </p:sp>
      <p:sp>
        <p:nvSpPr>
          <p:cNvPr id="57" name="cl"/>
          <p:cNvSpPr txBox="1">
            <a:spLocks noGrp="1"/>
          </p:cNvSpPr>
          <p:nvPr/>
        </p:nvSpPr>
        <p:spPr>
          <a:xfrm>
            <a:off x="566928" y="3419856"/>
            <a:ext cx="5084064" cy="256032"/>
          </a:xfrm>
          <a:prstGeom prst="rect">
            <a:avLst/>
          </a:prstGeom>
          <a:noFill/>
          <a:ln>
            <a:noFill/>
          </a:ln>
        </p:spPr>
        <p:txBody>
          <a:bodyPr anchor="t" wrap="square" lIns="91440" rIns="91440" tIns="45720" bIns="45720">
            <a:noAutofit/>
          </a:bodyPr>
          <a:lstStyle/>
          <a:p>
            <a:pPr algn="l"/>
            <a:r>
              <a:rPr lang="es-ES" sz="860" dirty="0">
                <a:solidFill>
                  <a:srgbClr val="1C1C1C"/>
                </a:solidFill>
                <a:latin typeface="Calibri"/>
              </a:rPr>
              <a:t>·  SLA 89% — cerca de la meta 92% · mejor SLA de las 12 mesas</a:t>
            </a:r>
          </a:p>
        </p:txBody>
      </p:sp>
      <p:sp>
        <p:nvSpPr>
          <p:cNvPr id="58" name="cl"/>
          <p:cNvSpPr txBox="1">
            <a:spLocks noGrp="1"/>
          </p:cNvSpPr>
          <p:nvPr/>
        </p:nvSpPr>
        <p:spPr>
          <a:xfrm>
            <a:off x="566928" y="3694176"/>
            <a:ext cx="5084064" cy="256032"/>
          </a:xfrm>
          <a:prstGeom prst="rect">
            <a:avLst/>
          </a:prstGeom>
          <a:noFill/>
          <a:ln>
            <a:noFill/>
          </a:ln>
        </p:spPr>
        <p:txBody>
          <a:bodyPr anchor="t" wrap="square" lIns="91440" rIns="91440" tIns="45720" bIns="45720">
            <a:noAutofit/>
          </a:bodyPr>
          <a:lstStyle/>
          <a:p>
            <a:pPr algn="l"/>
            <a:r>
              <a:rPr lang="es-ES" sz="860" dirty="0">
                <a:solidFill>
                  <a:srgbClr val="1C1C1C"/>
                </a:solidFill>
                <a:latin typeface="Calibri"/>
              </a:rPr>
              <a:t>·  Alta presión regulatoria: Minsalud, Habeas Data, RIPS/PISIS · Compliance crítico</a:t>
            </a:r>
          </a:p>
        </p:txBody>
      </p:sp>
      <p:sp>
        <p:nvSpPr>
          <p:cNvPr id="70" name="dh"/>
          <p:cNvSpPr>
            <a:spLocks noGrp="1"/>
          </p:cNvSpPr>
          <p:nvPr/>
        </p:nvSpPr>
        <p:spPr>
          <a:xfrm>
            <a:off x="5943600" y="2011680"/>
            <a:ext cx="5760720" cy="256032"/>
          </a:xfrm>
          <a:prstGeom prst="rect">
            <a:avLst/>
          </a:prstGeom>
          <a:solidFill>
            <a:srgbClr val="DCE3EC"/>
          </a:solidFill>
          <a:ln>
            <a:noFill/>
          </a:ln>
        </p:spPr>
      </p:sp>
      <p:sp>
        <p:nvSpPr>
          <p:cNvPr id="71" name="dht"/>
          <p:cNvSpPr txBox="1">
            <a:spLocks noGrp="1"/>
          </p:cNvSpPr>
          <p:nvPr/>
        </p:nvSpPr>
        <p:spPr>
          <a:xfrm>
            <a:off x="6053328" y="2011680"/>
            <a:ext cx="5577840" cy="256032"/>
          </a:xfrm>
          <a:prstGeom prst="rect">
            <a:avLst/>
          </a:prstGeom>
          <a:noFill/>
          <a:ln>
            <a:noFill/>
          </a:ln>
        </p:spPr>
        <p:txBody>
          <a:bodyPr anchor="t" wrap="square" lIns="91440" rIns="91440" tIns="45720" bIns="45720">
            <a:noAutofit/>
          </a:bodyPr>
          <a:lstStyle/>
          <a:p>
            <a:pPr algn="l"/>
            <a:r>
              <a:rPr lang="es-ES" sz="880" dirty="0" b="1">
                <a:solidFill>
                  <a:srgbClr val="132346"/>
                </a:solidFill>
                <a:latin typeface="Calibri"/>
              </a:rPr>
              <a:t>BRECHAS CRÍTICAS</a:t>
            </a:r>
          </a:p>
        </p:txBody>
      </p:sp>
      <p:sp>
        <p:nvSpPr>
          <p:cNvPr id="72" name="dbg"/>
          <p:cNvSpPr>
            <a:spLocks noGrp="1"/>
          </p:cNvSpPr>
          <p:nvPr/>
        </p:nvSpPr>
        <p:spPr>
          <a:xfrm>
            <a:off x="5943600" y="2267712"/>
            <a:ext cx="5760720" cy="1883664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80" name="d"/>
          <p:cNvSpPr txBox="1">
            <a:spLocks noGrp="1"/>
          </p:cNvSpPr>
          <p:nvPr/>
        </p:nvSpPr>
        <p:spPr>
          <a:xfrm>
            <a:off x="6053328" y="2340864"/>
            <a:ext cx="5394960" cy="274320"/>
          </a:xfrm>
          <a:prstGeom prst="rect">
            <a:avLst/>
          </a:prstGeom>
          <a:noFill/>
          <a:ln>
            <a:noFill/>
          </a:ln>
        </p:spPr>
        <p:txBody>
          <a:bodyPr anchor="t" wrap="square" lIns="91440" rIns="91440" tIns="45720" bIns="45720">
            <a:noAutofit/>
          </a:bodyPr>
          <a:lstStyle/>
          <a:p>
            <a:pPr algn="l"/>
            <a:r>
              <a:rPr lang="es-ES" sz="880" dirty="0" b="1">
                <a:solidFill>
                  <a:srgbClr val="B3261E"/>
                </a:solidFill>
                <a:latin typeface="Calibri"/>
              </a:rPr>
              <a:t>●  </a:t>
            </a:r>
            <a:r>
              <a:rPr lang="es-ES" sz="840" dirty="0">
                <a:solidFill>
                  <a:srgbClr val="1C1C1C"/>
                </a:solidFill>
                <a:latin typeface="Calibri"/>
              </a:rPr>
              <a:t>D20 · Asignación sin modelo de demanda estandarizado (único confirmado)</a:t>
            </a:r>
          </a:p>
        </p:txBody>
      </p:sp>
      <p:sp>
        <p:nvSpPr>
          <p:cNvPr id="88" name="dsep"/>
          <p:cNvSpPr>
            <a:spLocks noGrp="1"/>
          </p:cNvSpPr>
          <p:nvPr/>
        </p:nvSpPr>
        <p:spPr>
          <a:xfrm>
            <a:off x="6053328" y="2706624"/>
            <a:ext cx="5303520" cy="9144"/>
          </a:xfrm>
          <a:prstGeom prst="rect">
            <a:avLst/>
          </a:prstGeom>
          <a:solidFill>
            <a:srgbClr val="DCE3EC"/>
          </a:solidFill>
          <a:ln>
            <a:noFill/>
          </a:ln>
        </p:spPr>
      </p:sp>
      <p:sp>
        <p:nvSpPr>
          <p:cNvPr id="90" name="d"/>
          <p:cNvSpPr txBox="1">
            <a:spLocks noGrp="1"/>
          </p:cNvSpPr>
          <p:nvPr/>
        </p:nvSpPr>
        <p:spPr>
          <a:xfrm>
            <a:off x="6053328" y="2761488"/>
            <a:ext cx="5394960" cy="274320"/>
          </a:xfrm>
          <a:prstGeom prst="rect">
            <a:avLst/>
          </a:prstGeom>
          <a:noFill/>
          <a:ln>
            <a:noFill/>
          </a:ln>
        </p:spPr>
        <p:txBody>
          <a:bodyPr anchor="t" wrap="square" lIns="91440" rIns="91440" tIns="45720" bIns="45720">
            <a:noAutofit/>
          </a:bodyPr>
          <a:lstStyle/>
          <a:p>
            <a:pPr algn="l"/>
            <a:r>
              <a:rPr lang="es-ES" sz="880" dirty="0" b="1">
                <a:solidFill>
                  <a:srgbClr val="D4A017"/>
                </a:solidFill>
                <a:latin typeface="Calibri"/>
              </a:rPr>
              <a:t>◐  </a:t>
            </a:r>
            <a:r>
              <a:rPr lang="es-ES" sz="840" dirty="0">
                <a:solidFill>
                  <a:srgbClr val="1C1C1C"/>
                </a:solidFill>
                <a:latin typeface="Calibri"/>
              </a:rPr>
              <a:t>Backlog promedio 0.78 — se puede mejorar con autoservicio N0</a:t>
            </a:r>
          </a:p>
        </p:txBody>
      </p:sp>
      <p:sp>
        <p:nvSpPr>
          <p:cNvPr id="91" name="d"/>
          <p:cNvSpPr txBox="1">
            <a:spLocks noGrp="1"/>
          </p:cNvSpPr>
          <p:nvPr/>
        </p:nvSpPr>
        <p:spPr>
          <a:xfrm>
            <a:off x="6053328" y="3035808"/>
            <a:ext cx="5394960" cy="274320"/>
          </a:xfrm>
          <a:prstGeom prst="rect">
            <a:avLst/>
          </a:prstGeom>
          <a:noFill/>
          <a:ln>
            <a:noFill/>
          </a:ln>
        </p:spPr>
        <p:txBody>
          <a:bodyPr anchor="t" wrap="square" lIns="91440" rIns="91440" tIns="45720" bIns="45720">
            <a:noAutofit/>
          </a:bodyPr>
          <a:lstStyle/>
          <a:p>
            <a:pPr algn="l"/>
            <a:r>
              <a:rPr lang="es-ES" sz="880" dirty="0" b="1">
                <a:solidFill>
                  <a:srgbClr val="D4A017"/>
                </a:solidFill>
                <a:latin typeface="Calibri"/>
              </a:rPr>
              <a:t>◐  </a:t>
            </a:r>
            <a:r>
              <a:rPr lang="es-ES" sz="840" dirty="0">
                <a:solidFill>
                  <a:srgbClr val="1C1C1C"/>
                </a:solidFill>
                <a:latin typeface="Calibri"/>
              </a:rPr>
              <a:t>Herramienta ITSM sin formalizar — riesgo de continuidad del conocimiento</a:t>
            </a:r>
          </a:p>
        </p:txBody>
      </p:sp>
      <p:sp>
        <p:nvSpPr>
          <p:cNvPr id="92" name="d"/>
          <p:cNvSpPr txBox="1">
            <a:spLocks noGrp="1"/>
          </p:cNvSpPr>
          <p:nvPr/>
        </p:nvSpPr>
        <p:spPr>
          <a:xfrm>
            <a:off x="6053328" y="3310128"/>
            <a:ext cx="5394960" cy="274320"/>
          </a:xfrm>
          <a:prstGeom prst="rect">
            <a:avLst/>
          </a:prstGeom>
          <a:noFill/>
          <a:ln>
            <a:noFill/>
          </a:ln>
        </p:spPr>
        <p:txBody>
          <a:bodyPr anchor="t" wrap="square" lIns="91440" rIns="91440" tIns="45720" bIns="45720">
            <a:noAutofit/>
          </a:bodyPr>
          <a:lstStyle/>
          <a:p>
            <a:pPr algn="l"/>
            <a:r>
              <a:rPr lang="es-ES" sz="880" dirty="0" b="1">
                <a:solidFill>
                  <a:srgbClr val="D4A017"/>
                </a:solidFill>
                <a:latin typeface="Calibri"/>
              </a:rPr>
              <a:t>◐  </a:t>
            </a:r>
            <a:r>
              <a:rPr lang="es-ES" sz="840" dirty="0">
                <a:solidFill>
                  <a:srgbClr val="1C1C1C"/>
                </a:solidFill>
                <a:latin typeface="Calibri"/>
              </a:rPr>
              <a:t>Tickets/mes aún sin levantar formalmente en el Excel</a:t>
            </a:r>
          </a:p>
        </p:txBody>
      </p:sp>
      <p:sp>
        <p:nvSpPr>
          <p:cNvPr id="100" name="conc_bg"/>
          <p:cNvSpPr>
            <a:spLocks noGrp="1"/>
          </p:cNvSpPr>
          <p:nvPr/>
        </p:nvSpPr>
        <p:spPr>
          <a:xfrm>
            <a:off x="457200" y="3968496"/>
            <a:ext cx="11247120" cy="402336"/>
          </a:xfrm>
          <a:prstGeom prst="roundRect">
            <a:avLst>
              <a:gd name="adj" fmla="val 8000"/>
            </a:avLst>
          </a:prstGeom>
          <a:solidFill>
            <a:srgbClr val="E8EDF4"/>
          </a:solidFill>
          <a:ln>
            <a:noFill/>
          </a:ln>
        </p:spPr>
      </p:sp>
      <p:sp>
        <p:nvSpPr>
          <p:cNvPr id="101" name="conc"/>
          <p:cNvSpPr txBox="1">
            <a:spLocks noGrp="1"/>
          </p:cNvSpPr>
          <p:nvPr/>
        </p:nvSpPr>
        <p:spPr>
          <a:xfrm>
            <a:off x="566928" y="4005072"/>
            <a:ext cx="10972800" cy="329184"/>
          </a:xfrm>
          <a:prstGeom prst="rect">
            <a:avLst/>
          </a:prstGeom>
          <a:noFill/>
          <a:ln>
            <a:noFill/>
          </a:ln>
        </p:spPr>
        <p:txBody>
          <a:bodyPr anchor="t" wrap="square" lIns="91440" rIns="91440" tIns="45720" bIns="45720">
            <a:noAutofit/>
          </a:bodyPr>
          <a:lstStyle/>
          <a:p>
            <a:pPr algn="l"/>
            <a:r>
              <a:rPr lang="es-ES" sz="900" dirty="0">
                <a:solidFill>
                  <a:srgbClr val="132346"/>
                </a:solidFill>
                <a:latin typeface="Calibri"/>
              </a:rPr>
              <a:t>MEDICARTE es la mesa de referencia de PS: la única con FCR (68%), MTTR (0.55h) y SLA (89%) medidos. Demuestra que con 12 FTE y procesos claros se puede llegar cerca de world-class. Es el modelo a replicar en las otras 11 mesas.</a:t>
            </a:r>
          </a:p>
        </p:txBody>
      </p:sp>
      <p:sp>
        <p:nvSpPr>
          <p:cNvPr id="110" name="src"/>
          <p:cNvSpPr txBox="1">
            <a:spLocks noGrp="1"/>
          </p:cNvSpPr>
          <p:nvPr/>
        </p:nvSpPr>
        <p:spPr>
          <a:xfrm>
            <a:off x="457200" y="4453128"/>
            <a:ext cx="11155680" cy="164592"/>
          </a:xfrm>
          <a:prstGeom prst="rect">
            <a:avLst/>
          </a:prstGeom>
          <a:noFill/>
          <a:ln>
            <a:noFill/>
          </a:ln>
        </p:spPr>
        <p:txBody>
          <a:bodyPr anchor="t" wrap="square" lIns="91440" rIns="91440" tIns="45720" bIns="45720">
            <a:noAutofit/>
          </a:bodyPr>
          <a:lstStyle/>
          <a:p>
            <a:pPr algn="l"/>
            <a:r>
              <a:rPr lang="es-ES" sz="750" dirty="0" i="1">
                <a:solidFill>
                  <a:srgbClr val="5A6472"/>
                </a:solidFill>
                <a:latin typeface="Calibri"/>
              </a:rPr>
              <a:t>Fuente: Levantamiento interno PersonalSoft · Julio 2026 · Transcript: Andres Posso (MEDICARTE) · Excel Levantamiento_Mesas_Julio_2026</a:t>
            </a:r>
          </a:p>
        </p:txBody>
      </p:sp>
    </p:spTree>
  </p:cSld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1119</Words>
  <Application>Microsoft Office PowerPoint</Application>
  <PresentationFormat>Presentación en pantalla (16:9)</PresentationFormat>
  <Paragraphs>251</Paragraphs>
  <Slides>5</Slides>
  <Notes>3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5</vt:i4>
      </vt:variant>
    </vt:vector>
  </HeadingPairs>
  <TitlesOfParts>
    <vt:vector size="13" baseType="lpstr">
      <vt:lpstr>Calibri</vt:lpstr>
      <vt:lpstr>Reddit Sans Light</vt:lpstr>
      <vt:lpstr>Reddit Sans</vt:lpstr>
      <vt:lpstr>Reddit Sans SemiBold</vt:lpstr>
      <vt:lpstr>Reddit Sans Black</vt:lpstr>
      <vt:lpstr>Arial</vt:lpstr>
      <vt:lpstr>Simple Light</vt:lpstr>
      <vt:lpstr>Simple Light</vt:lpstr>
      <vt:lpstr>Mesas de Servicio de Nueva Generación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ASUS</dc:creator>
  <cp:lastModifiedBy>Natalia Zartha Suarez</cp:lastModifiedBy>
  <cp:revision>1364</cp:revision>
  <dcterms:modified xsi:type="dcterms:W3CDTF">2026-07-10T14:27:40Z</dcterms:modified>
</cp:coreProperties>
</file>