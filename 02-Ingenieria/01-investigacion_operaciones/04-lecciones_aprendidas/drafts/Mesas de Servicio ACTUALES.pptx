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6" r:id="rId1"/>
    <p:sldMasterId id="2147483648" r:id="rId2"/>
  </p:sldMasterIdLst>
  <p:notesMasterIdLst>
    <p:notesMasterId r:id="rId8"/>
  </p:notesMasterIdLst>
  <p:sldIdLst>
    <p:sldId id="293" r:id="rId3"/>
    <p:sldId id="306" r:id="rId4"/>
    <p:sldId id="318" r:id="rId5"/>
    <p:sldId id="273" r:id="rId6"/>
    <p:sldId id="274" r:id="rId7"/>
  </p:sldIdLst>
  <p:sldSz cx="9144000" cy="5143500" type="screen16x9"/>
  <p:notesSz cx="6858000" cy="9144000"/>
  <p:embeddedFontLst>
    <p:embeddedFont>
      <p:font typeface="Reddit Sans" panose="020B0604020202020204" charset="0"/>
      <p:regular r:id="rId9"/>
      <p:bold r:id="rId10"/>
      <p:italic r:id="rId11"/>
      <p:boldItalic r:id="rId12"/>
    </p:embeddedFont>
    <p:embeddedFont>
      <p:font typeface="Reddit Sans SemiBold" panose="020B0604020202020204" charset="0"/>
      <p:regular r:id="rId13"/>
      <p:bold r:id="rId14"/>
      <p:italic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5" roundtripDataSignature="AMtx7mjbXstnVTn4VoWkkWw8RkcDPqyOe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9C7AEB-803E-58E8-3032-67EAC5529C77}" v="1406" dt="2026-07-08T21:07:31.329"/>
    <p1510:client id="{8CFE1048-07CD-42CF-A5E3-F35DEFEF98BF}" v="1632" dt="2026-07-08T20:34:32.701"/>
    <p1510:client id="{C5740E76-A8B1-842A-8097-940ADCC85B94}" v="225" dt="2026-07-07T22:26:35.199"/>
  </p1510:revLst>
</p1510:revInfo>
</file>

<file path=ppt/tableStyles.xml><?xml version="1.0" encoding="utf-8"?>
<a:tblStyleLst xmlns:a="http://schemas.openxmlformats.org/drawingml/2006/main" def="{1FEE7CD7-7DD5-4E0E-8F7E-406774204185}">
  <a:tblStyle styleId="{1FEE7CD7-7DD5-4E0E-8F7E-40677420418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3" d="100"/>
          <a:sy n="93" d="100"/>
        </p:scale>
        <p:origin x="54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3" Type="http://schemas.openxmlformats.org/officeDocument/2006/relationships/slide" Target="slides/slide1.xml"/><Relationship Id="rId55" Type="http://customschemas.google.com/relationships/presentationmetadata" Target="metadata"/><Relationship Id="rId7" Type="http://schemas.openxmlformats.org/officeDocument/2006/relationships/slide" Target="slides/slide5.xml"/><Relationship Id="rId12" Type="http://schemas.openxmlformats.org/officeDocument/2006/relationships/font" Target="fonts/font4.fntdata"/><Relationship Id="rId59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font" Target="fonts/font3.fntdata"/><Relationship Id="rId58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font" Target="fonts/font7.fntdata"/><Relationship Id="rId57" Type="http://schemas.openxmlformats.org/officeDocument/2006/relationships/viewProps" Target="viewProps.xml"/><Relationship Id="rId10" Type="http://schemas.openxmlformats.org/officeDocument/2006/relationships/font" Target="fonts/font2.fntdata"/><Relationship Id="rId60" Type="http://schemas.microsoft.com/office/2015/10/relationships/revisionInfo" Target="revisionInfo.xml"/><Relationship Id="rId4" Type="http://schemas.openxmlformats.org/officeDocument/2006/relationships/slide" Target="slides/slide2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56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>
          <a:extLst>
            <a:ext uri="{FF2B5EF4-FFF2-40B4-BE49-F238E27FC236}">
              <a16:creationId xmlns:a16="http://schemas.microsoft.com/office/drawing/2014/main" id="{CE505433-2ACA-69A8-B0C3-A79DA987B7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657f5ba65c_1_28:notes">
            <a:extLst>
              <a:ext uri="{FF2B5EF4-FFF2-40B4-BE49-F238E27FC236}">
                <a16:creationId xmlns:a16="http://schemas.microsoft.com/office/drawing/2014/main" id="{603A7570-A496-3D05-6901-598F97D07A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657f5ba65c_1_28:notes">
            <a:extLst>
              <a:ext uri="{FF2B5EF4-FFF2-40B4-BE49-F238E27FC236}">
                <a16:creationId xmlns:a16="http://schemas.microsoft.com/office/drawing/2014/main" id="{71F902F3-8C74-1208-3B51-B4F19066F0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366074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+ Contenido Clásico">
  <p:cSld name="TITLE_1_1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7e80574407_0_4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sp>
        <p:nvSpPr>
          <p:cNvPr id="43" name="Google Shape;43;g37e80574407_0_46"/>
          <p:cNvSpPr txBox="1"/>
          <p:nvPr/>
        </p:nvSpPr>
        <p:spPr>
          <a:xfrm>
            <a:off x="8028325" y="442300"/>
            <a:ext cx="919500" cy="29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2"/>
              </a:solidFill>
              <a:latin typeface="Reddit Sans SemiBold"/>
              <a:ea typeface="Reddit Sans SemiBold"/>
              <a:cs typeface="Reddit Sans SemiBold"/>
              <a:sym typeface="Reddit Sans SemiBold"/>
            </a:endParaRPr>
          </a:p>
        </p:txBody>
      </p:sp>
      <p:pic>
        <p:nvPicPr>
          <p:cNvPr id="44" name="Google Shape;44;g37e80574407_0_46" title="isotipo_pos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0000" y="4540953"/>
            <a:ext cx="540000" cy="27990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g37e80574407_0_46"/>
          <p:cNvSpPr txBox="1">
            <a:spLocks noGrp="1"/>
          </p:cNvSpPr>
          <p:nvPr>
            <p:ph type="ctrTitle"/>
          </p:nvPr>
        </p:nvSpPr>
        <p:spPr>
          <a:xfrm>
            <a:off x="307875" y="1827750"/>
            <a:ext cx="8536500" cy="15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None/>
              <a:defRPr sz="5000">
                <a:solidFill>
                  <a:srgbClr val="0E337C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None/>
              <a:defRPr sz="5000">
                <a:solidFill>
                  <a:srgbClr val="0E337C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None/>
              <a:defRPr sz="5000">
                <a:solidFill>
                  <a:srgbClr val="0E337C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None/>
              <a:defRPr sz="5000">
                <a:solidFill>
                  <a:srgbClr val="0E337C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None/>
              <a:defRPr sz="5000">
                <a:solidFill>
                  <a:srgbClr val="0E337C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None/>
              <a:defRPr sz="5000">
                <a:solidFill>
                  <a:srgbClr val="0E337C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None/>
              <a:defRPr sz="5000">
                <a:solidFill>
                  <a:srgbClr val="0E337C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None/>
              <a:defRPr sz="5000">
                <a:solidFill>
                  <a:srgbClr val="0E337C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5000"/>
              <a:buNone/>
              <a:defRPr sz="5000">
                <a:solidFill>
                  <a:srgbClr val="0E337C"/>
                </a:solidFill>
              </a:defRPr>
            </a:lvl9pPr>
          </a:lstStyle>
          <a:p>
            <a:endParaRPr/>
          </a:p>
        </p:txBody>
      </p:sp>
      <p:sp>
        <p:nvSpPr>
          <p:cNvPr id="46" name="Google Shape;46;g37e80574407_0_46"/>
          <p:cNvSpPr txBox="1">
            <a:spLocks noGrp="1"/>
          </p:cNvSpPr>
          <p:nvPr>
            <p:ph type="subTitle" idx="1"/>
          </p:nvPr>
        </p:nvSpPr>
        <p:spPr>
          <a:xfrm>
            <a:off x="365600" y="3424775"/>
            <a:ext cx="84789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3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rgbClr val="0072BC"/>
        </a:solidFill>
        <a:effectLst/>
      </p:bgPr>
    </p:bg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2"/>
          <p:cNvSpPr txBox="1">
            <a:spLocks noGrp="1"/>
          </p:cNvSpPr>
          <p:nvPr>
            <p:ph type="title"/>
          </p:nvPr>
        </p:nvSpPr>
        <p:spPr>
          <a:xfrm>
            <a:off x="336750" y="1267200"/>
            <a:ext cx="8135700" cy="260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54" name="Google Shape;54;p12" title="isotipo_neg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0000" y="4544103"/>
            <a:ext cx="540000" cy="27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3">
          <p15:clr>
            <a:srgbClr val="E46962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/>
          <p:nvPr/>
        </p:nvSpPr>
        <p:spPr>
          <a:xfrm>
            <a:off x="21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3"/>
          <p:cNvSpPr txBox="1">
            <a:spLocks noGrp="1"/>
          </p:cNvSpPr>
          <p:nvPr>
            <p:ph type="subTitle" idx="1"/>
          </p:nvPr>
        </p:nvSpPr>
        <p:spPr>
          <a:xfrm>
            <a:off x="464275" y="3428125"/>
            <a:ext cx="3476700" cy="84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4939500" y="1208600"/>
            <a:ext cx="3612000" cy="31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title"/>
          </p:nvPr>
        </p:nvSpPr>
        <p:spPr>
          <a:xfrm>
            <a:off x="340500" y="200392"/>
            <a:ext cx="8211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1600"/>
              <a:buNone/>
              <a:defRPr sz="1600">
                <a:solidFill>
                  <a:srgbClr val="0E337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61" name="Google Shape;61;p13" title="Recurso 3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11500" y="4538978"/>
            <a:ext cx="540000" cy="28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3">
          <p15:clr>
            <a:srgbClr val="E46962"/>
          </p15:clr>
        </p15:guide>
        <p15:guide id="2" pos="5388">
          <p15:clr>
            <a:srgbClr val="E46962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userDrawn="1">
  <p:cSld name="TITLE_ONLY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71" name="Google Shape;71;p16" title="Recurso 3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11500" y="4538978"/>
            <a:ext cx="540000" cy="2838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60;p13">
            <a:extLst>
              <a:ext uri="{FF2B5EF4-FFF2-40B4-BE49-F238E27FC236}">
                <a16:creationId xmlns:a16="http://schemas.microsoft.com/office/drawing/2014/main" id="{BA34F530-57E1-3ACD-6780-261D7941DA0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40500" y="200392"/>
            <a:ext cx="8211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37C"/>
              </a:buClr>
              <a:buSzPts val="1600"/>
              <a:buNone/>
              <a:defRPr sz="1600">
                <a:solidFill>
                  <a:srgbClr val="0E337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3">
          <p15:clr>
            <a:srgbClr val="E46962"/>
          </p15:clr>
        </p15:guide>
        <p15:guide id="2" pos="5388">
          <p15:clr>
            <a:srgbClr val="E46962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2BC"/>
              </a:buClr>
              <a:buSzPts val="12000"/>
              <a:buNone/>
              <a:defRPr sz="12000">
                <a:solidFill>
                  <a:srgbClr val="0072BC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6" name="Google Shape;96;p19"/>
          <p:cNvSpPr txBox="1">
            <a:spLocks noGrp="1"/>
          </p:cNvSpPr>
          <p:nvPr>
            <p:ph type="body" idx="1"/>
          </p:nvPr>
        </p:nvSpPr>
        <p:spPr>
          <a:xfrm>
            <a:off x="450000" y="2959950"/>
            <a:ext cx="8101500" cy="139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7" name="Google Shape;97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98" name="Google Shape;98;p19" title="Recurso 3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11500" y="4538978"/>
            <a:ext cx="540000" cy="28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387">
          <p15:clr>
            <a:srgbClr val="E46962"/>
          </p15:clr>
        </p15:guide>
        <p15:guide id="2" pos="283">
          <p15:clr>
            <a:srgbClr val="E46962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307800" y="1827720"/>
            <a:ext cx="8536320" cy="1596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>
              <a:buNone/>
              <a:defRPr/>
            </a:lvl1pPr>
          </a:lstStyle>
          <a:p>
            <a:pPr indent="0">
              <a:buNone/>
            </a:pPr>
            <a:endParaRPr lang="es-CO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indent="0">
              <a:spcBef>
                <a:spcPts val="1417"/>
              </a:spcBef>
              <a:buNone/>
              <a:defRPr/>
            </a:lvl1pPr>
          </a:lstStyle>
          <a:p>
            <a:pPr indent="0">
              <a:spcBef>
                <a:spcPts val="1063"/>
              </a:spcBef>
              <a:buNone/>
            </a:pPr>
            <a:endParaRPr lang="es-CO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4"/>
          </p:nvPr>
        </p:nvSpPr>
        <p:spPr/>
        <p:txBody>
          <a:bodyPr/>
          <a:lstStyle/>
          <a:p>
            <a:fld id="{72251460-32DC-45C6-B957-D4BECA177940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94437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stático">
  <p:cSld name="TITLE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7;g37e80574407_0_7"/>
          <p:cNvPicPr>
            <a:picLocks noChangeAspect="1"/>
          </p:cNvPicPr>
          <p:nvPr/>
        </p:nvPicPr>
        <p:blipFill rotWithShape="1">
          <a:blip r:embed="rId2">
            <a:alphaModFix/>
          </a:blip>
          <a:srcRect t="219" b="209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ln>
            <a:noFill/>
          </a:ln>
        </p:spPr>
      </p:pic>
      <p:sp>
        <p:nvSpPr>
          <p:cNvPr id="18" name="Google Shape;18;g37e80574407_0_7">
            <a:extLst>
              <a:ext uri="{FF2B5EF4-FFF2-40B4-BE49-F238E27FC236}">
                <a16:creationId xmlns:a16="http://schemas.microsoft.com/office/drawing/2014/main" id="{B1F1B4D1-E690-4E3D-BC28-F902B81251B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  <p:sp>
        <p:nvSpPr>
          <p:cNvPr id="19" name="Google Shape;19;g37e80574407_0_7">
            <a:extLst>
              <a:ext uri="{FF2B5EF4-FFF2-40B4-BE49-F238E27FC236}">
                <a16:creationId xmlns:a16="http://schemas.microsoft.com/office/drawing/2014/main" id="{25844D9E-7907-4F22-A074-7B081F402AEA}"/>
              </a:ext>
            </a:extLst>
          </p:cNvPr>
          <p:cNvSpPr>
            <a:spLocks noGrp="1"/>
          </p:cNvSpPr>
          <p:nvPr/>
        </p:nvSpPr>
        <p:spPr>
          <a:xfrm>
            <a:off x="8028325" y="442300"/>
            <a:ext cx="919500" cy="29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" name="Google Shape;20;g37e80574407_0_7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998" y="4438648"/>
            <a:ext cx="1770700" cy="170430"/>
          </a:xfrm>
          <a:prstGeom prst="rect">
            <a:avLst/>
          </a:prstGeom>
          <a:ln>
            <a:noFill/>
          </a:ln>
        </p:spPr>
      </p:pic>
      <p:sp>
        <p:nvSpPr>
          <p:cNvPr id="21" name="Google Shape;21;g37e80574407_0_7">
            <a:extLst>
              <a:ext uri="{FF2B5EF4-FFF2-40B4-BE49-F238E27FC236}">
                <a16:creationId xmlns:a16="http://schemas.microsoft.com/office/drawing/2014/main" id="{2FB57A7C-437F-42BA-B53C-D4338DC2B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7875" y="1827750"/>
            <a:ext cx="8536500" cy="15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>
                <a:solidFill>
                  <a:schemeClr val="lt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/>
            </a:lvl9pPr>
          </a:lstStyle>
          <a:p>
            <a:endParaRPr/>
          </a:p>
        </p:txBody>
      </p:sp>
      <p:sp>
        <p:nvSpPr>
          <p:cNvPr id="22" name="Google Shape;22;g37e80574407_0_7">
            <a:extLst>
              <a:ext uri="{FF2B5EF4-FFF2-40B4-BE49-F238E27FC236}">
                <a16:creationId xmlns:a16="http://schemas.microsoft.com/office/drawing/2014/main" id="{426D5CFE-345B-4A49-911F-78F4C3A99C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600" y="3424775"/>
            <a:ext cx="84789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+ Contenido Clásico">
  <p:cSld name="TITLE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7e80574407_0_46">
            <a:extLst>
              <a:ext uri="{FF2B5EF4-FFF2-40B4-BE49-F238E27FC236}">
                <a16:creationId xmlns:a16="http://schemas.microsoft.com/office/drawing/2014/main" id="{AC2B24F9-BF8F-4F47-9728-EE6D5F7DDA3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  <p:sp>
        <p:nvSpPr>
          <p:cNvPr id="43" name="Google Shape;43;g37e80574407_0_46">
            <a:extLst>
              <a:ext uri="{FF2B5EF4-FFF2-40B4-BE49-F238E27FC236}">
                <a16:creationId xmlns:a16="http://schemas.microsoft.com/office/drawing/2014/main" id="{FC4BF158-4191-4C42-9860-425EE1BDD06D}"/>
              </a:ext>
            </a:extLst>
          </p:cNvPr>
          <p:cNvSpPr>
            <a:spLocks noGrp="1"/>
          </p:cNvSpPr>
          <p:nvPr/>
        </p:nvSpPr>
        <p:spPr>
          <a:xfrm>
            <a:off x="8028325" y="442300"/>
            <a:ext cx="919500" cy="29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4" name="Google Shape;44;g37e80574407_0_46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0000" y="4540953"/>
            <a:ext cx="540000" cy="279900"/>
          </a:xfrm>
          <a:prstGeom prst="rect">
            <a:avLst/>
          </a:prstGeom>
          <a:ln>
            <a:noFill/>
          </a:ln>
        </p:spPr>
      </p:pic>
      <p:sp>
        <p:nvSpPr>
          <p:cNvPr id="45" name="Google Shape;45;g37e80574407_0_46">
            <a:extLst>
              <a:ext uri="{FF2B5EF4-FFF2-40B4-BE49-F238E27FC236}">
                <a16:creationId xmlns:a16="http://schemas.microsoft.com/office/drawing/2014/main" id="{4662A93F-6B5F-4650-99EA-136417DEC4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7875" y="1827750"/>
            <a:ext cx="8536500" cy="15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>
                <a:solidFill>
                  <a:srgbClr val="0E337C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>
                <a:solidFill>
                  <a:srgbClr val="0E337C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>
                <a:solidFill>
                  <a:srgbClr val="0E337C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>
                <a:solidFill>
                  <a:srgbClr val="0E337C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>
                <a:solidFill>
                  <a:srgbClr val="0E337C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>
                <a:solidFill>
                  <a:srgbClr val="0E337C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>
                <a:solidFill>
                  <a:srgbClr val="0E337C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>
                <a:solidFill>
                  <a:srgbClr val="0E337C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000">
                <a:solidFill>
                  <a:srgbClr val="0E337C"/>
                </a:solidFill>
              </a:defRPr>
            </a:lvl9pPr>
          </a:lstStyle>
          <a:p>
            <a:endParaRPr/>
          </a:p>
        </p:txBody>
      </p:sp>
      <p:sp>
        <p:nvSpPr>
          <p:cNvPr id="46" name="Google Shape;46;g37e80574407_0_46">
            <a:extLst>
              <a:ext uri="{FF2B5EF4-FFF2-40B4-BE49-F238E27FC236}">
                <a16:creationId xmlns:a16="http://schemas.microsoft.com/office/drawing/2014/main" id="{270D2604-63C8-451C-BE8A-4A120451F2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600" y="3424775"/>
            <a:ext cx="84789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>
            <a:extLst>
              <a:ext uri="{FF2B5EF4-FFF2-40B4-BE49-F238E27FC236}">
                <a16:creationId xmlns:a16="http://schemas.microsoft.com/office/drawing/2014/main" id="{7D50AF58-B676-47BE-8C6D-250EC4D3E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350" y="494725"/>
            <a:ext cx="5567400" cy="19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rgbClr val="0E337C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1">
            <a:extLst>
              <a:ext uri="{FF2B5EF4-FFF2-40B4-BE49-F238E27FC236}">
                <a16:creationId xmlns:a16="http://schemas.microsoft.com/office/drawing/2014/main" id="{71F7FED3-EB9E-4E62-85FD-9E94811E3A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2815250"/>
            <a:ext cx="5666700" cy="13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marL="457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1400"/>
            </a:lvl1pPr>
            <a:lvl2pPr marL="914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2pPr>
            <a:lvl3pPr marL="1371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3pPr>
            <a:lvl4pPr marL="1828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4pPr>
            <a:lvl5pPr marL="22860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5pPr>
            <a:lvl6pPr marL="2743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6pPr>
            <a:lvl7pPr marL="3200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7pPr>
            <a:lvl8pPr marL="3657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8pPr>
            <a:lvl9pPr marL="4114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9pPr>
          </a:lstStyle>
          <a:p>
            <a:endParaRPr/>
          </a:p>
        </p:txBody>
      </p:sp>
      <p:sp>
        <p:nvSpPr>
          <p:cNvPr id="50" name="Google Shape;50;p11">
            <a:extLst>
              <a:ext uri="{FF2B5EF4-FFF2-40B4-BE49-F238E27FC236}">
                <a16:creationId xmlns:a16="http://schemas.microsoft.com/office/drawing/2014/main" id="{3A16CCED-69D6-4723-B785-3409A4A7C6C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rgbClr val="0072B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2">
            <a:extLst>
              <a:ext uri="{FF2B5EF4-FFF2-40B4-BE49-F238E27FC236}">
                <a16:creationId xmlns:a16="http://schemas.microsoft.com/office/drawing/2014/main" id="{BB6C1E23-7014-4B48-B0EA-54D45F6F75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750" y="1267200"/>
            <a:ext cx="8135700" cy="260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lt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>
            <a:endParaRPr/>
          </a:p>
        </p:txBody>
      </p:sp>
      <p:sp>
        <p:nvSpPr>
          <p:cNvPr id="53" name="Google Shape;53;p12">
            <a:extLst>
              <a:ext uri="{FF2B5EF4-FFF2-40B4-BE49-F238E27FC236}">
                <a16:creationId xmlns:a16="http://schemas.microsoft.com/office/drawing/2014/main" id="{F6EEF040-AE2F-44DB-9865-075D0CEE9E5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  <p:pic>
        <p:nvPicPr>
          <p:cNvPr id="54" name="Google Shape;54;p12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0000" y="4544103"/>
            <a:ext cx="540000" cy="2736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>
            <a:extLst>
              <a:ext uri="{FF2B5EF4-FFF2-40B4-BE49-F238E27FC236}">
                <a16:creationId xmlns:a16="http://schemas.microsoft.com/office/drawing/2014/main" id="{1BAF1A59-2F8B-4BF4-B64A-0DEEE27D9EC7}"/>
              </a:ext>
            </a:extLst>
          </p:cNvPr>
          <p:cNvSpPr>
            <a:spLocks noGrp="1"/>
          </p:cNvSpPr>
          <p:nvPr/>
        </p:nvSpPr>
        <p:spPr>
          <a:xfrm>
            <a:off x="21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13">
            <a:extLst>
              <a:ext uri="{FF2B5EF4-FFF2-40B4-BE49-F238E27FC236}">
                <a16:creationId xmlns:a16="http://schemas.microsoft.com/office/drawing/2014/main" id="{2662C8F9-5006-4CC6-AED6-A2CD441DFF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4275" y="3428125"/>
            <a:ext cx="3476700" cy="84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9pPr>
          </a:lstStyle>
          <a:p>
            <a:endParaRPr/>
          </a:p>
        </p:txBody>
      </p:sp>
      <p:sp>
        <p:nvSpPr>
          <p:cNvPr id="58" name="Google Shape;58;p13">
            <a:extLst>
              <a:ext uri="{FF2B5EF4-FFF2-40B4-BE49-F238E27FC236}">
                <a16:creationId xmlns:a16="http://schemas.microsoft.com/office/drawing/2014/main" id="{A6655D54-16B1-4D78-A722-D1F26E4A4B7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939500" y="1208600"/>
            <a:ext cx="3612000" cy="31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marL="457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1400"/>
            </a:lvl1pPr>
            <a:lvl2pPr marL="914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2pPr>
            <a:lvl3pPr marL="1371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3pPr>
            <a:lvl4pPr marL="1828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4pPr>
            <a:lvl5pPr marL="22860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5pPr>
            <a:lvl6pPr marL="2743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6pPr>
            <a:lvl7pPr marL="3200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7pPr>
            <a:lvl8pPr marL="3657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8pPr>
            <a:lvl9pPr marL="4114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9pPr>
          </a:lstStyle>
          <a:p>
            <a:endParaRPr/>
          </a:p>
        </p:txBody>
      </p:sp>
      <p:sp>
        <p:nvSpPr>
          <p:cNvPr id="59" name="Google Shape;59;p13">
            <a:extLst>
              <a:ext uri="{FF2B5EF4-FFF2-40B4-BE49-F238E27FC236}">
                <a16:creationId xmlns:a16="http://schemas.microsoft.com/office/drawing/2014/main" id="{4AED8AE0-C1B9-4169-8A53-F4F5AB29A20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  <p:sp>
        <p:nvSpPr>
          <p:cNvPr id="60" name="Google Shape;60;p13">
            <a:extLst>
              <a:ext uri="{FF2B5EF4-FFF2-40B4-BE49-F238E27FC236}">
                <a16:creationId xmlns:a16="http://schemas.microsoft.com/office/drawing/2014/main" id="{D0ADD963-6F0B-49A6-9DDA-847662A0B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500" y="200392"/>
            <a:ext cx="8211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E337C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pic>
        <p:nvPicPr>
          <p:cNvPr id="61" name="Google Shape;61;p13"/>
          <p:cNvPicPr>
            <a:picLocks noChangeAspect="1"/>
          </p:cNvPicPr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11500" y="4538978"/>
            <a:ext cx="540000" cy="28385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>
            <a:extLst>
              <a:ext uri="{FF2B5EF4-FFF2-40B4-BE49-F238E27FC236}">
                <a16:creationId xmlns:a16="http://schemas.microsoft.com/office/drawing/2014/main" id="{7D67C296-E9AD-4915-BA06-B6F6B2EC42B6}"/>
              </a:ext>
            </a:extLst>
          </p:cNvPr>
          <p:cNvSpPr>
            <a:spLocks noGrp="1"/>
          </p:cNvSpPr>
          <p:nvPr/>
        </p:nvSpPr>
        <p:spPr>
          <a:xfrm>
            <a:off x="0" y="-5675"/>
            <a:ext cx="4572000" cy="5143500"/>
          </a:xfrm>
          <a:prstGeom prst="rect">
            <a:avLst/>
          </a:prstGeom>
          <a:solidFill>
            <a:srgbClr val="0072BC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4" name="Google Shape;64;p14"/>
          <p:cNvPicPr>
            <a:picLocks noChangeAspect="1"/>
          </p:cNvPicPr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11500" y="4538978"/>
            <a:ext cx="540000" cy="283850"/>
          </a:xfrm>
          <a:prstGeom prst="rect">
            <a:avLst/>
          </a:prstGeom>
          <a:ln>
            <a:noFill/>
          </a:ln>
        </p:spPr>
      </p:pic>
      <p:sp>
        <p:nvSpPr>
          <p:cNvPr id="65" name="Google Shape;65;p14">
            <a:extLst>
              <a:ext uri="{FF2B5EF4-FFF2-40B4-BE49-F238E27FC236}">
                <a16:creationId xmlns:a16="http://schemas.microsoft.com/office/drawing/2014/main" id="{232FDF76-CBF3-4E5C-8FB1-3030B412B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675" y="655450"/>
            <a:ext cx="3964500" cy="28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6" name="Google Shape;66;p14">
            <a:extLst>
              <a:ext uri="{FF2B5EF4-FFF2-40B4-BE49-F238E27FC236}">
                <a16:creationId xmlns:a16="http://schemas.microsoft.com/office/drawing/2014/main" id="{279437C4-6BCF-4B1F-B660-DA9C7842D8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58700" y="1311925"/>
            <a:ext cx="3694800" cy="30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marL="457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1400"/>
            </a:lvl1pPr>
            <a:lvl2pPr marL="914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2pPr>
            <a:lvl3pPr marL="1371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3pPr>
            <a:lvl4pPr marL="1828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4pPr>
            <a:lvl5pPr marL="22860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5pPr>
            <a:lvl6pPr marL="2743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6pPr>
            <a:lvl7pPr marL="3200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7pPr>
            <a:lvl8pPr marL="3657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8pPr>
            <a:lvl9pPr marL="4114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9pPr>
          </a:lstStyle>
          <a:p>
            <a:endParaRPr/>
          </a:p>
        </p:txBody>
      </p:sp>
      <p:sp>
        <p:nvSpPr>
          <p:cNvPr id="67" name="Google Shape;67;p14">
            <a:extLst>
              <a:ext uri="{FF2B5EF4-FFF2-40B4-BE49-F238E27FC236}">
                <a16:creationId xmlns:a16="http://schemas.microsoft.com/office/drawing/2014/main" id="{8B73836B-BAC0-453C-98C1-65A75236F92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  <p:sp>
        <p:nvSpPr>
          <p:cNvPr id="68" name="Google Shape;68;p14">
            <a:extLst>
              <a:ext uri="{FF2B5EF4-FFF2-40B4-BE49-F238E27FC236}">
                <a16:creationId xmlns:a16="http://schemas.microsoft.com/office/drawing/2014/main" id="{321D8131-11BD-44F4-B952-43C1B7777BCC}"/>
              </a:ext>
            </a:extLst>
          </p:cNvPr>
          <p:cNvSpPr>
            <a:spLocks noGrp="1"/>
          </p:cNvSpPr>
          <p:nvPr>
            <p:ph type="title" idx="2"/>
          </p:nvPr>
        </p:nvSpPr>
        <p:spPr>
          <a:xfrm>
            <a:off x="412475" y="1495950"/>
            <a:ext cx="3734400" cy="292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userDrawn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>
            <a:extLst>
              <a:ext uri="{FF2B5EF4-FFF2-40B4-BE49-F238E27FC236}">
                <a16:creationId xmlns:a16="http://schemas.microsoft.com/office/drawing/2014/main" id="{99B40456-9C26-4E25-812A-F58F94D5439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  <p:pic>
        <p:nvPicPr>
          <p:cNvPr id="71" name="Google Shape;71;p16"/>
          <p:cNvPicPr>
            <a:picLocks noChangeAspect="1"/>
          </p:cNvPicPr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11500" y="4538978"/>
            <a:ext cx="540000" cy="283850"/>
          </a:xfrm>
          <a:prstGeom prst="rect">
            <a:avLst/>
          </a:prstGeom>
          <a:ln>
            <a:noFill/>
          </a:ln>
        </p:spPr>
      </p:pic>
      <p:sp>
        <p:nvSpPr>
          <p:cNvPr id="2" name="Google Shape;60;p13">
            <a:extLst>
              <a:ext uri="{FF2B5EF4-FFF2-40B4-BE49-F238E27FC236}">
                <a16:creationId xmlns:a16="http://schemas.microsoft.com/office/drawing/2014/main" id="{BA34F530-57E1-3ACD-6780-261D7941D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500" y="200392"/>
            <a:ext cx="8211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0E337C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ierre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>
            <a:extLst>
              <a:ext uri="{FF2B5EF4-FFF2-40B4-BE49-F238E27FC236}">
                <a16:creationId xmlns:a16="http://schemas.microsoft.com/office/drawing/2014/main" id="{65463B6A-3B5D-42D5-8C0A-A8D6F3C2D84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  <p:pic>
        <p:nvPicPr>
          <p:cNvPr id="75" name="Google Shape;75;p15"/>
          <p:cNvPicPr>
            <a:picLocks noChangeAspect="1"/>
          </p:cNvPicPr>
          <p:nvPr/>
        </p:nvPicPr>
        <p:blipFill rotWithShape="1">
          <a:blip r:embed="rId2">
            <a:alphaModFix/>
          </a:blip>
          <a:srcRect b="7379"/>
          <a:stretch/>
        </p:blipFill>
        <p:spPr>
          <a:xfrm>
            <a:off x="0" y="0"/>
            <a:ext cx="9143999" cy="5143500"/>
          </a:xfrm>
          <a:prstGeom prst="rect">
            <a:avLst/>
          </a:prstGeom>
          <a:ln>
            <a:noFill/>
          </a:ln>
        </p:spPr>
      </p:pic>
      <p:pic>
        <p:nvPicPr>
          <p:cNvPr id="76" name="Google Shape;76;p15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70050" y="2265624"/>
            <a:ext cx="4803901" cy="4574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radecimiento">
  <p:cSld name="BLANK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7e80574407_0_110">
            <a:extLst>
              <a:ext uri="{FF2B5EF4-FFF2-40B4-BE49-F238E27FC236}">
                <a16:creationId xmlns:a16="http://schemas.microsoft.com/office/drawing/2014/main" id="{D0542C14-919E-485C-87A7-5251DBE7ECE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  <p:pic>
        <p:nvPicPr>
          <p:cNvPr id="79" name="Google Shape;79;g37e80574407_0_110"/>
          <p:cNvPicPr>
            <a:picLocks noChangeAspect="1"/>
          </p:cNvPicPr>
          <p:nvPr/>
        </p:nvPicPr>
        <p:blipFill rotWithShape="1">
          <a:blip r:embed="rId2">
            <a:alphaModFix/>
          </a:blip>
          <a:srcRect b="7381"/>
          <a:stretch/>
        </p:blipFill>
        <p:spPr>
          <a:xfrm>
            <a:off x="0" y="0"/>
            <a:ext cx="9143999" cy="5143500"/>
          </a:xfrm>
          <a:prstGeom prst="rect">
            <a:avLst/>
          </a:prstGeom>
          <a:ln>
            <a:noFill/>
          </a:ln>
        </p:spPr>
      </p:pic>
      <p:pic>
        <p:nvPicPr>
          <p:cNvPr id="80" name="Google Shape;80;g37e80574407_0_110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998" y="4438648"/>
            <a:ext cx="1770700" cy="170430"/>
          </a:xfrm>
          <a:prstGeom prst="rect">
            <a:avLst/>
          </a:prstGeom>
          <a:ln>
            <a:noFill/>
          </a:ln>
        </p:spPr>
      </p:pic>
      <p:sp>
        <p:nvSpPr>
          <p:cNvPr id="81" name="Google Shape;81;g37e80574407_0_110">
            <a:extLst>
              <a:ext uri="{FF2B5EF4-FFF2-40B4-BE49-F238E27FC236}">
                <a16:creationId xmlns:a16="http://schemas.microsoft.com/office/drawing/2014/main" id="{4A0B87D1-0F80-492E-9F0A-334D3E371C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7108" y="4327063"/>
            <a:ext cx="45489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lt1"/>
                </a:solidFill>
              </a:defRPr>
            </a:lvl1pPr>
            <a:lvl2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00"/>
            </a:lvl2pPr>
            <a:lvl3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00"/>
            </a:lvl3pPr>
            <a:lvl4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00"/>
            </a:lvl4pPr>
            <a:lvl5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00"/>
            </a:lvl5pPr>
            <a:lvl6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00"/>
            </a:lvl6pPr>
            <a:lvl7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00"/>
            </a:lvl7pPr>
            <a:lvl8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00"/>
            </a:lvl8pPr>
            <a:lvl9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00"/>
            </a:lvl9pPr>
          </a:lstStyle>
          <a:p>
            <a:endParaRPr/>
          </a:p>
        </p:txBody>
      </p:sp>
      <p:sp>
        <p:nvSpPr>
          <p:cNvPr id="82" name="Google Shape;82;g37e80574407_0_110">
            <a:extLst>
              <a:ext uri="{FF2B5EF4-FFF2-40B4-BE49-F238E27FC236}">
                <a16:creationId xmlns:a16="http://schemas.microsoft.com/office/drawing/2014/main" id="{D892436E-C895-4668-B0A0-541237687D75}"/>
              </a:ext>
            </a:extLst>
          </p:cNvPr>
          <p:cNvSpPr>
            <a:spLocks noGrp="1"/>
          </p:cNvSpPr>
          <p:nvPr>
            <p:ph type="ctrTitle" idx="2"/>
          </p:nvPr>
        </p:nvSpPr>
        <p:spPr>
          <a:xfrm>
            <a:off x="450000" y="1827750"/>
            <a:ext cx="8100000" cy="15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100" b="0">
                <a:solidFill>
                  <a:schemeClr val="lt1"/>
                </a:solidFill>
                <a:latin typeface="Reddit Sans Black"/>
                <a:ea typeface="Reddit Sans Black"/>
                <a:cs typeface="Reddit Sans Black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latin typeface="Reddit Sans Black"/>
                <a:ea typeface="Reddit Sans Black"/>
                <a:cs typeface="Reddit Sans Black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latin typeface="Reddit Sans Black"/>
                <a:ea typeface="Reddit Sans Black"/>
                <a:cs typeface="Reddit Sans Black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latin typeface="Reddit Sans Black"/>
                <a:ea typeface="Reddit Sans Black"/>
                <a:cs typeface="Reddit Sans Black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latin typeface="Reddit Sans Black"/>
                <a:ea typeface="Reddit Sans Black"/>
                <a:cs typeface="Reddit Sans Black"/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latin typeface="Reddit Sans Black"/>
                <a:ea typeface="Reddit Sans Black"/>
                <a:cs typeface="Reddit Sans Black"/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latin typeface="Reddit Sans Black"/>
                <a:ea typeface="Reddit Sans Black"/>
                <a:cs typeface="Reddit Sans Black"/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latin typeface="Reddit Sans Black"/>
                <a:ea typeface="Reddit Sans Black"/>
                <a:cs typeface="Reddit Sans Black"/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latin typeface="Reddit Sans Black"/>
                <a:ea typeface="Reddit Sans Black"/>
                <a:cs typeface="Reddit Sans Black"/>
              </a:defRPr>
            </a:lvl9pPr>
          </a:lstStyle>
          <a:p>
            <a:endParaRPr/>
          </a:p>
        </p:txBody>
      </p:sp>
      <p:sp>
        <p:nvSpPr>
          <p:cNvPr id="83" name="Google Shape;83;g37e80574407_0_110">
            <a:extLst>
              <a:ext uri="{FF2B5EF4-FFF2-40B4-BE49-F238E27FC236}">
                <a16:creationId xmlns:a16="http://schemas.microsoft.com/office/drawing/2014/main" id="{98E67182-6C92-488F-A8B6-56EDE400E980}"/>
              </a:ext>
            </a:extLst>
          </p:cNvPr>
          <p:cNvSpPr>
            <a:spLocks noGrp="1"/>
          </p:cNvSpPr>
          <p:nvPr>
            <p:ph type="title" idx="3"/>
          </p:nvPr>
        </p:nvSpPr>
        <p:spPr>
          <a:xfrm>
            <a:off x="4087108" y="446138"/>
            <a:ext cx="45489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 b="0">
                <a:solidFill>
                  <a:schemeClr val="lt1"/>
                </a:solidFill>
                <a:latin typeface="Reddit Sans Light"/>
                <a:ea typeface="Reddit Sans Light"/>
                <a:cs typeface="Reddit Sans Light"/>
              </a:defRPr>
            </a:lvl1pPr>
            <a:lvl2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latin typeface="Reddit Sans Light"/>
                <a:ea typeface="Reddit Sans Light"/>
                <a:cs typeface="Reddit Sans Light"/>
              </a:defRPr>
            </a:lvl2pPr>
            <a:lvl3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latin typeface="Reddit Sans Light"/>
                <a:ea typeface="Reddit Sans Light"/>
                <a:cs typeface="Reddit Sans Light"/>
              </a:defRPr>
            </a:lvl3pPr>
            <a:lvl4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latin typeface="Reddit Sans Light"/>
                <a:ea typeface="Reddit Sans Light"/>
                <a:cs typeface="Reddit Sans Light"/>
              </a:defRPr>
            </a:lvl4pPr>
            <a:lvl5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latin typeface="Reddit Sans Light"/>
                <a:ea typeface="Reddit Sans Light"/>
                <a:cs typeface="Reddit Sans Light"/>
              </a:defRPr>
            </a:lvl5pPr>
            <a:lvl6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latin typeface="Reddit Sans Light"/>
                <a:ea typeface="Reddit Sans Light"/>
                <a:cs typeface="Reddit Sans Light"/>
              </a:defRPr>
            </a:lvl6pPr>
            <a:lvl7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latin typeface="Reddit Sans Light"/>
                <a:ea typeface="Reddit Sans Light"/>
                <a:cs typeface="Reddit Sans Light"/>
              </a:defRPr>
            </a:lvl7pPr>
            <a:lvl8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latin typeface="Reddit Sans Light"/>
                <a:ea typeface="Reddit Sans Light"/>
                <a:cs typeface="Reddit Sans Light"/>
              </a:defRPr>
            </a:lvl8pPr>
            <a:lvl9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latin typeface="Reddit Sans Light"/>
                <a:ea typeface="Reddit Sans Light"/>
                <a:cs typeface="Reddit Sans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>
            <a:extLst>
              <a:ext uri="{FF2B5EF4-FFF2-40B4-BE49-F238E27FC236}">
                <a16:creationId xmlns:a16="http://schemas.microsoft.com/office/drawing/2014/main" id="{8E6D5907-34E3-4CE9-983B-4E147D000A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0">
                <a:solidFill>
                  <a:srgbClr val="0072BC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6" name="Google Shape;96;p19">
            <a:extLst>
              <a:ext uri="{FF2B5EF4-FFF2-40B4-BE49-F238E27FC236}">
                <a16:creationId xmlns:a16="http://schemas.microsoft.com/office/drawing/2014/main" id="{4F839F2F-0F0D-41B9-B28D-AB64487272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0000" y="2959950"/>
            <a:ext cx="8101500" cy="139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marL="45720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2pPr>
            <a:lvl3pPr marL="13716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3pPr>
            <a:lvl4pPr marL="18288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4pPr>
            <a:lvl5pPr marL="22860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5pPr>
            <a:lvl6pPr marL="27432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6pPr>
            <a:lvl7pPr marL="32004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/>
            </a:lvl7pPr>
            <a:lvl8pPr marL="36576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/>
            </a:lvl8pPr>
            <a:lvl9pPr marL="4114800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/>
            </a:lvl9pPr>
          </a:lstStyle>
          <a:p>
            <a:endParaRPr/>
          </a:p>
        </p:txBody>
      </p:sp>
      <p:sp>
        <p:nvSpPr>
          <p:cNvPr id="97" name="Google Shape;97;p19">
            <a:extLst>
              <a:ext uri="{FF2B5EF4-FFF2-40B4-BE49-F238E27FC236}">
                <a16:creationId xmlns:a16="http://schemas.microsoft.com/office/drawing/2014/main" id="{F7CD12D5-85E6-4041-B0D2-EF7D45924AA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  <p:pic>
        <p:nvPicPr>
          <p:cNvPr id="98" name="Google Shape;98;p19"/>
          <p:cNvPicPr>
            <a:picLocks noChangeAspect="1"/>
          </p:cNvPicPr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11500" y="4538978"/>
            <a:ext cx="540000" cy="28385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>
            <a:extLst>
              <a:ext uri="{FF2B5EF4-FFF2-40B4-BE49-F238E27FC236}">
                <a16:creationId xmlns:a16="http://schemas.microsoft.com/office/drawing/2014/main" id="{EB7B3939-448D-4C7E-BAF2-861F4762F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800" y="1827720"/>
            <a:ext cx="8536320" cy="1596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>
              <a:buNone/>
              <a:defRPr/>
            </a:lvl1pPr>
          </a:lstStyle>
          <a:p>
            <a:pPr indent="0">
              <a:buNone/>
            </a:pPr>
            <a:endParaRPr/>
          </a:p>
        </p:txBody>
      </p:sp>
      <p:sp>
        <p:nvSpPr>
          <p:cNvPr id="76" name="PlaceHolder 2">
            <a:extLst>
              <a:ext uri="{FF2B5EF4-FFF2-40B4-BE49-F238E27FC236}">
                <a16:creationId xmlns:a16="http://schemas.microsoft.com/office/drawing/2014/main" id="{DC2F081B-FF45-4D98-A4F2-8210772AA9F1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indent="0">
              <a:spcBef>
                <a:spcPts val="1417"/>
              </a:spcBef>
              <a:buNone/>
              <a:defRPr/>
            </a:lvl1pPr>
          </a:lstStyle>
          <a:p>
            <a:pPr indent="0">
              <a:spcBef>
                <a:spcPts val="1063"/>
              </a:spcBef>
              <a:buNone/>
            </a:pPr>
            <a:endParaRPr/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C4FF6657-BD0F-4337-B334-52ED8F7C802A}"/>
              </a:ext>
            </a:extLst>
          </p:cNvPr>
          <p:cNvSpPr>
            <a:spLocks noGrp="1"/>
          </p:cNvSpPr>
          <p:nvPr>
            <p:ph type="sldNum" idx="14"/>
          </p:nvPr>
        </p:nvSpPr>
        <p:spPr/>
        <p:txBody>
          <a:bodyPr/>
          <a:lstStyle/>
          <a:p>
            <a:fld id="{72251460-32DC-45C6-B957-D4BECA177940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.xml"/><Relationship Id="rId3" Type="http://schemas.openxmlformats.org/officeDocument/2006/relationships/slideLayout" Target="../slideLayouts/slideLayout9.xml"/><Relationship Id="rId7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eddit Sans"/>
              <a:buNone/>
              <a:defRPr sz="2800" b="1" i="0" u="none" strike="noStrike" cap="none">
                <a:solidFill>
                  <a:schemeClr val="dk1"/>
                </a:solidFill>
                <a:latin typeface="Reddit Sans"/>
                <a:ea typeface="Reddit Sans"/>
                <a:cs typeface="Reddit Sans"/>
                <a:sym typeface="Reddit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eddit Sans"/>
              <a:buChar char="●"/>
              <a:defRPr sz="18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dit Sans"/>
              <a:buChar char="○"/>
              <a:defRPr sz="14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dit Sans"/>
              <a:buChar char="■"/>
              <a:defRPr sz="14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dit Sans"/>
              <a:buChar char="●"/>
              <a:defRPr sz="14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dit Sans"/>
              <a:buChar char="○"/>
              <a:defRPr sz="14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dit Sans"/>
              <a:buChar char="■"/>
              <a:defRPr sz="14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dit Sans"/>
              <a:buChar char="●"/>
              <a:defRPr sz="14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dit Sans"/>
              <a:buChar char="○"/>
              <a:defRPr sz="14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dit Sans"/>
              <a:buChar char="■"/>
              <a:defRPr sz="1400" b="0" i="0" u="none" strike="noStrike" cap="none">
                <a:solidFill>
                  <a:schemeClr val="dk2"/>
                </a:solidFill>
                <a:latin typeface="Reddit Sans"/>
                <a:ea typeface="Reddit Sans"/>
                <a:cs typeface="Reddit Sans"/>
                <a:sym typeface="Reddit Sans"/>
              </a:defRPr>
            </a:lvl9pPr>
          </a:lstStyle>
          <a:p>
            <a:endParaRPr/>
          </a:p>
        </p:txBody>
      </p:sp>
      <p:sp>
        <p:nvSpPr>
          <p:cNvPr id="8" name="Google Shape;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8" r:id="rId1"/>
    <p:sldLayoutId id="2147483670" r:id="rId2"/>
    <p:sldLayoutId id="2147483671" r:id="rId3"/>
    <p:sldLayoutId id="2147483673" r:id="rId4"/>
    <p:sldLayoutId id="2147483664" r:id="rId5"/>
    <p:sldLayoutId id="2147483665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>
            <a:extLst>
              <a:ext uri="{FF2B5EF4-FFF2-40B4-BE49-F238E27FC236}">
                <a16:creationId xmlns:a16="http://schemas.microsoft.com/office/drawing/2014/main" id="{D4B7FFF8-9AA4-4E53-9ECB-A10FB484A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 i="0" u="none" cap="none">
                <a:solidFill>
                  <a:schemeClr val="dk1"/>
                </a:solidFill>
                <a:latin typeface="Reddit Sans"/>
                <a:ea typeface="Reddit Sans"/>
                <a:cs typeface="Reddit San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7" name="Google Shape;7;p9">
            <a:extLst>
              <a:ext uri="{FF2B5EF4-FFF2-40B4-BE49-F238E27FC236}">
                <a16:creationId xmlns:a16="http://schemas.microsoft.com/office/drawing/2014/main" id="{0C1FD014-2FA6-495D-9389-E278A0D2DF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rmAutofit/>
          </a:bodyPr>
          <a:lstStyle>
            <a:lvl1pPr marL="45720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1800" b="0" i="0" u="none" cap="none">
                <a:solidFill>
                  <a:schemeClr val="dk2"/>
                </a:solidFill>
                <a:latin typeface="Reddit Sans"/>
                <a:ea typeface="Reddit Sans"/>
                <a:cs typeface="Reddit Sans"/>
              </a:defRPr>
            </a:lvl1pPr>
            <a:lvl2pPr marL="914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 sz="1400" b="0" i="0" u="none" cap="none">
                <a:solidFill>
                  <a:schemeClr val="dk2"/>
                </a:solidFill>
                <a:latin typeface="Reddit Sans"/>
                <a:ea typeface="Reddit Sans"/>
                <a:cs typeface="Reddit Sans"/>
              </a:defRPr>
            </a:lvl2pPr>
            <a:lvl3pPr marL="1371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 sz="1400" b="0" i="0" u="none" cap="none">
                <a:solidFill>
                  <a:schemeClr val="dk2"/>
                </a:solidFill>
                <a:latin typeface="Reddit Sans"/>
                <a:ea typeface="Reddit Sans"/>
                <a:cs typeface="Reddit Sans"/>
              </a:defRPr>
            </a:lvl3pPr>
            <a:lvl4pPr marL="1828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1400" b="0" i="0" u="none" cap="none">
                <a:solidFill>
                  <a:schemeClr val="dk2"/>
                </a:solidFill>
                <a:latin typeface="Reddit Sans"/>
                <a:ea typeface="Reddit Sans"/>
                <a:cs typeface="Reddit Sans"/>
              </a:defRPr>
            </a:lvl4pPr>
            <a:lvl5pPr marL="22860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 sz="1400" b="0" i="0" u="none" cap="none">
                <a:solidFill>
                  <a:schemeClr val="dk2"/>
                </a:solidFill>
                <a:latin typeface="Reddit Sans"/>
                <a:ea typeface="Reddit Sans"/>
                <a:cs typeface="Reddit Sans"/>
              </a:defRPr>
            </a:lvl5pPr>
            <a:lvl6pPr marL="27432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 sz="1400" b="0" i="0" u="none" cap="none">
                <a:solidFill>
                  <a:schemeClr val="dk2"/>
                </a:solidFill>
                <a:latin typeface="Reddit Sans"/>
                <a:ea typeface="Reddit Sans"/>
                <a:cs typeface="Reddit Sans"/>
              </a:defRPr>
            </a:lvl6pPr>
            <a:lvl7pPr marL="32004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1400" b="0" i="0" u="none" cap="none">
                <a:solidFill>
                  <a:schemeClr val="dk2"/>
                </a:solidFill>
                <a:latin typeface="Reddit Sans"/>
                <a:ea typeface="Reddit Sans"/>
                <a:cs typeface="Reddit Sans"/>
              </a:defRPr>
            </a:lvl7pPr>
            <a:lvl8pPr marL="36576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 sz="1400" b="0" i="0" u="none" cap="none">
                <a:solidFill>
                  <a:schemeClr val="dk2"/>
                </a:solidFill>
                <a:latin typeface="Reddit Sans"/>
                <a:ea typeface="Reddit Sans"/>
                <a:cs typeface="Reddit Sans"/>
              </a:defRPr>
            </a:lvl8pPr>
            <a:lvl9pPr marL="411480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 sz="1400" b="0" i="0" u="none" cap="none">
                <a:solidFill>
                  <a:schemeClr val="dk2"/>
                </a:solidFill>
                <a:latin typeface="Reddit Sans"/>
                <a:ea typeface="Reddit Sans"/>
                <a:cs typeface="Reddit Sans"/>
              </a:defRPr>
            </a:lvl9pPr>
          </a:lstStyle>
          <a:p>
            <a:endParaRPr/>
          </a:p>
        </p:txBody>
      </p:sp>
      <p:sp>
        <p:nvSpPr>
          <p:cNvPr id="8" name="Google Shape;8;p9">
            <a:extLst>
              <a:ext uri="{FF2B5EF4-FFF2-40B4-BE49-F238E27FC236}">
                <a16:creationId xmlns:a16="http://schemas.microsoft.com/office/drawing/2014/main" id="{6B0AA307-4D0A-4E91-8EDE-F652AA60ED2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>
          <a:extLst>
            <a:ext uri="{FF2B5EF4-FFF2-40B4-BE49-F238E27FC236}">
              <a16:creationId xmlns:a16="http://schemas.microsoft.com/office/drawing/2014/main" id="{0073EB55-4649-8126-4366-E27BAFF96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657f5ba65c_1_28">
            <a:extLst>
              <a:ext uri="{FF2B5EF4-FFF2-40B4-BE49-F238E27FC236}">
                <a16:creationId xmlns:a16="http://schemas.microsoft.com/office/drawing/2014/main" id="{B5EE3330-01FD-C810-C65B-B47C23803E2C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07875" y="1827750"/>
            <a:ext cx="8536500" cy="159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r>
              <a:rPr lang="es" dirty="0"/>
              <a:t>Mesas de Servicio de Nueva Generación</a:t>
            </a:r>
          </a:p>
        </p:txBody>
      </p:sp>
      <p:sp>
        <p:nvSpPr>
          <p:cNvPr id="125" name="Google Shape;125;g3657f5ba65c_1_28">
            <a:extLst>
              <a:ext uri="{FF2B5EF4-FFF2-40B4-BE49-F238E27FC236}">
                <a16:creationId xmlns:a16="http://schemas.microsoft.com/office/drawing/2014/main" id="{B949523C-9396-B26E-8B4E-9473B2ABF46B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65600" y="3424775"/>
            <a:ext cx="84789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/>
            <a:r>
              <a:rPr lang="es-ES" dirty="0"/>
              <a:t>Diagnostico actual</a:t>
            </a:r>
          </a:p>
        </p:txBody>
      </p:sp>
    </p:spTree>
    <p:extLst>
      <p:ext uri="{BB962C8B-B14F-4D97-AF65-F5344CB8AC3E}">
        <p14:creationId xmlns:p14="http://schemas.microsoft.com/office/powerpoint/2010/main" val="21145422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bg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hdr"/>
          <p:cNvSpPr>
            <a:spLocks noGrp="1"/>
          </p:cNvSpPr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5E"/>
          </a:solidFill>
          <a:ln>
            <a:noFill/>
          </a:ln>
        </p:spPr>
      </p:sp>
      <p:sp>
        <p:nvSpPr>
          <p:cNvPr id="4" name="ttl"/>
          <p:cNvSpPr txBox="1">
            <a:spLocks noGrp="1"/>
          </p:cNvSpPr>
          <p:nvPr/>
        </p:nvSpPr>
        <p:spPr>
          <a:xfrm>
            <a:off x="320040" y="91440"/>
            <a:ext cx="7772400" cy="47548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2000" b="1" dirty="0">
                <a:solidFill>
                  <a:srgbClr val="FFFFFF"/>
                </a:solidFill>
                <a:latin typeface="Calibri"/>
              </a:rPr>
              <a:t>Diagnóstico de Mesas Actuales — Nivel de Madurez y Perfil Operativo</a:t>
            </a:r>
          </a:p>
        </p:txBody>
      </p:sp>
      <p:sp>
        <p:nvSpPr>
          <p:cNvPr id="5" name="sub"/>
          <p:cNvSpPr txBox="1">
            <a:spLocks noGrp="1"/>
          </p:cNvSpPr>
          <p:nvPr/>
        </p:nvSpPr>
        <p:spPr>
          <a:xfrm>
            <a:off x="320040" y="566928"/>
            <a:ext cx="777240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1000" dirty="0">
                <a:solidFill>
                  <a:srgbClr val="6B7280"/>
                </a:solidFill>
                <a:latin typeface="Calibri"/>
              </a:rPr>
              <a:t>8 mesas levantadas · Banca · Energia · Salud · Julio 2026 · Fuente: levantamiento interno PersonalSoft</a:t>
            </a:r>
          </a:p>
        </p:txBody>
      </p:sp>
      <p:sp>
        <p:nvSpPr>
          <p:cNvPr id="10" name="lb"/>
          <p:cNvSpPr>
            <a:spLocks noGrp="1"/>
          </p:cNvSpPr>
          <p:nvPr/>
        </p:nvSpPr>
        <p:spPr>
          <a:xfrm>
            <a:off x="320040" y="786384"/>
            <a:ext cx="219456" cy="219456"/>
          </a:xfrm>
          <a:prstGeom prst="roundRect">
            <a:avLst>
              <a:gd name="adj" fmla="val 6000"/>
            </a:avLst>
          </a:prstGeom>
          <a:solidFill>
            <a:srgbClr val="C00000"/>
          </a:solidFill>
          <a:ln>
            <a:noFill/>
          </a:ln>
        </p:spPr>
      </p:sp>
      <p:sp>
        <p:nvSpPr>
          <p:cNvPr id="11" name="lt"/>
          <p:cNvSpPr txBox="1">
            <a:spLocks noGrp="1"/>
          </p:cNvSpPr>
          <p:nvPr/>
        </p:nvSpPr>
        <p:spPr>
          <a:xfrm>
            <a:off x="594360" y="786384"/>
            <a:ext cx="22860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880" dirty="0">
                <a:solidFill>
                  <a:srgbClr val="0D1B5E"/>
                </a:solidFill>
                <a:latin typeface="Calibri"/>
              </a:rPr>
              <a:t>N1 — Inicial · Reactivo total</a:t>
            </a:r>
          </a:p>
        </p:txBody>
      </p:sp>
      <p:sp>
        <p:nvSpPr>
          <p:cNvPr id="13" name="lb"/>
          <p:cNvSpPr>
            <a:spLocks noGrp="1"/>
          </p:cNvSpPr>
          <p:nvPr/>
        </p:nvSpPr>
        <p:spPr>
          <a:xfrm>
            <a:off x="2953512" y="786384"/>
            <a:ext cx="219456" cy="219456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</p:spPr>
      </p:sp>
      <p:sp>
        <p:nvSpPr>
          <p:cNvPr id="14" name="lt"/>
          <p:cNvSpPr txBox="1">
            <a:spLocks noGrp="1"/>
          </p:cNvSpPr>
          <p:nvPr/>
        </p:nvSpPr>
        <p:spPr>
          <a:xfrm>
            <a:off x="3227832" y="786384"/>
            <a:ext cx="22860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880" dirty="0">
                <a:solidFill>
                  <a:srgbClr val="0D1B5E"/>
                </a:solidFill>
                <a:latin typeface="Calibri"/>
              </a:rPr>
              <a:t>N2 — Administrado · Procesos por mesa</a:t>
            </a:r>
          </a:p>
        </p:txBody>
      </p:sp>
      <p:sp>
        <p:nvSpPr>
          <p:cNvPr id="16" name="lb"/>
          <p:cNvSpPr>
            <a:spLocks noGrp="1"/>
          </p:cNvSpPr>
          <p:nvPr/>
        </p:nvSpPr>
        <p:spPr>
          <a:xfrm>
            <a:off x="5586984" y="786384"/>
            <a:ext cx="219456" cy="219456"/>
          </a:xfrm>
          <a:prstGeom prst="roundRect">
            <a:avLst>
              <a:gd name="adj" fmla="val 6000"/>
            </a:avLst>
          </a:prstGeom>
          <a:solidFill>
            <a:srgbClr val="1A6B3C"/>
          </a:solidFill>
          <a:ln>
            <a:noFill/>
          </a:ln>
        </p:spPr>
      </p:sp>
      <p:sp>
        <p:nvSpPr>
          <p:cNvPr id="17" name="lt"/>
          <p:cNvSpPr txBox="1">
            <a:spLocks noGrp="1"/>
          </p:cNvSpPr>
          <p:nvPr/>
        </p:nvSpPr>
        <p:spPr>
          <a:xfrm>
            <a:off x="5861304" y="786384"/>
            <a:ext cx="22860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880" dirty="0">
                <a:solidFill>
                  <a:srgbClr val="0D1B5E"/>
                </a:solidFill>
                <a:latin typeface="Calibri"/>
              </a:rPr>
              <a:t>N3 — Definido ★ META</a:t>
            </a:r>
          </a:p>
        </p:txBody>
      </p:sp>
      <p:sp>
        <p:nvSpPr>
          <p:cNvPr id="20" name="thdr"/>
          <p:cNvSpPr>
            <a:spLocks noGrp="1"/>
          </p:cNvSpPr>
          <p:nvPr/>
        </p:nvSpPr>
        <p:spPr>
          <a:xfrm>
            <a:off x="320040" y="1060704"/>
            <a:ext cx="7955279" cy="329184"/>
          </a:xfrm>
          <a:prstGeom prst="rect">
            <a:avLst/>
          </a:prstGeom>
          <a:solidFill>
            <a:srgbClr val="0D1B5E"/>
          </a:solidFill>
          <a:ln>
            <a:noFill/>
          </a:ln>
        </p:spPr>
      </p:sp>
      <p:sp>
        <p:nvSpPr>
          <p:cNvPr id="21" name="th"/>
          <p:cNvSpPr txBox="1">
            <a:spLocks noGrp="1"/>
          </p:cNvSpPr>
          <p:nvPr/>
        </p:nvSpPr>
        <p:spPr>
          <a:xfrm>
            <a:off x="320040" y="1060704"/>
            <a:ext cx="1645920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60" b="1" dirty="0">
                <a:solidFill>
                  <a:srgbClr val="FFFFFF"/>
                </a:solidFill>
                <a:latin typeface="Calibri"/>
              </a:rPr>
              <a:t>Mesa</a:t>
            </a:r>
          </a:p>
        </p:txBody>
      </p:sp>
      <p:sp>
        <p:nvSpPr>
          <p:cNvPr id="22" name="th"/>
          <p:cNvSpPr txBox="1">
            <a:spLocks noGrp="1"/>
          </p:cNvSpPr>
          <p:nvPr/>
        </p:nvSpPr>
        <p:spPr>
          <a:xfrm>
            <a:off x="1965960" y="1060704"/>
            <a:ext cx="1097280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60" b="1" dirty="0">
                <a:solidFill>
                  <a:srgbClr val="FFFFFF"/>
                </a:solidFill>
                <a:latin typeface="Calibri"/>
              </a:rPr>
              <a:t>Cliente</a:t>
            </a:r>
          </a:p>
        </p:txBody>
      </p:sp>
      <p:sp>
        <p:nvSpPr>
          <p:cNvPr id="23" name="th"/>
          <p:cNvSpPr txBox="1">
            <a:spLocks noGrp="1"/>
          </p:cNvSpPr>
          <p:nvPr/>
        </p:nvSpPr>
        <p:spPr>
          <a:xfrm>
            <a:off x="3063240" y="1060704"/>
            <a:ext cx="1097280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60" b="1" dirty="0">
                <a:solidFill>
                  <a:srgbClr val="FFFFFF"/>
                </a:solidFill>
                <a:latin typeface="Calibri"/>
              </a:rPr>
              <a:t>Sector</a:t>
            </a:r>
          </a:p>
        </p:txBody>
      </p:sp>
      <p:sp>
        <p:nvSpPr>
          <p:cNvPr id="24" name="th"/>
          <p:cNvSpPr txBox="1">
            <a:spLocks noGrp="1"/>
          </p:cNvSpPr>
          <p:nvPr/>
        </p:nvSpPr>
        <p:spPr>
          <a:xfrm>
            <a:off x="4160520" y="1060704"/>
            <a:ext cx="457200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60" b="1" dirty="0">
                <a:solidFill>
                  <a:srgbClr val="FFFFFF"/>
                </a:solidFill>
                <a:latin typeface="Calibri"/>
              </a:rPr>
              <a:t>FTE</a:t>
            </a:r>
          </a:p>
        </p:txBody>
      </p:sp>
      <p:sp>
        <p:nvSpPr>
          <p:cNvPr id="25" name="th"/>
          <p:cNvSpPr txBox="1">
            <a:spLocks noGrp="1"/>
          </p:cNvSpPr>
          <p:nvPr/>
        </p:nvSpPr>
        <p:spPr>
          <a:xfrm>
            <a:off x="4617720" y="1060704"/>
            <a:ext cx="640080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60" b="1" dirty="0">
                <a:solidFill>
                  <a:srgbClr val="FFFFFF"/>
                </a:solidFill>
                <a:latin typeface="Calibri"/>
              </a:rPr>
              <a:t>Nivel
Actual</a:t>
            </a:r>
          </a:p>
        </p:txBody>
      </p:sp>
      <p:sp>
        <p:nvSpPr>
          <p:cNvPr id="26" name="th"/>
          <p:cNvSpPr txBox="1">
            <a:spLocks noGrp="1"/>
          </p:cNvSpPr>
          <p:nvPr/>
        </p:nvSpPr>
        <p:spPr>
          <a:xfrm>
            <a:off x="5257800" y="1060704"/>
            <a:ext cx="1371600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60" b="1" dirty="0">
                <a:solidFill>
                  <a:srgbClr val="FFFFFF"/>
                </a:solidFill>
                <a:latin typeface="Calibri"/>
              </a:rPr>
              <a:t>Herramienta</a:t>
            </a:r>
          </a:p>
        </p:txBody>
      </p:sp>
      <p:sp>
        <p:nvSpPr>
          <p:cNvPr id="27" name="th"/>
          <p:cNvSpPr txBox="1">
            <a:spLocks noGrp="1"/>
          </p:cNvSpPr>
          <p:nvPr/>
        </p:nvSpPr>
        <p:spPr>
          <a:xfrm>
            <a:off x="6629400" y="1060704"/>
            <a:ext cx="1554480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60" b="1" dirty="0">
                <a:solidFill>
                  <a:srgbClr val="FFFFFF"/>
                </a:solidFill>
                <a:latin typeface="Calibri"/>
              </a:rPr>
              <a:t>Estado Contrato</a:t>
            </a:r>
          </a:p>
        </p:txBody>
      </p:sp>
      <p:sp>
        <p:nvSpPr>
          <p:cNvPr id="30" name="rb"/>
          <p:cNvSpPr>
            <a:spLocks noGrp="1"/>
          </p:cNvSpPr>
          <p:nvPr/>
        </p:nvSpPr>
        <p:spPr>
          <a:xfrm>
            <a:off x="320040" y="1389888"/>
            <a:ext cx="7955279" cy="384048"/>
          </a:xfrm>
          <a:prstGeom prst="rect">
            <a:avLst/>
          </a:prstGeom>
          <a:solidFill>
            <a:srgbClr val="F5F7FC"/>
          </a:solidFill>
          <a:ln w="6350">
            <a:solidFill>
              <a:srgbClr val="D1D5DB"/>
            </a:solidFill>
          </a:ln>
        </p:spPr>
      </p:sp>
      <p:sp>
        <p:nvSpPr>
          <p:cNvPr id="33" name="cell"/>
          <p:cNvSpPr txBox="1">
            <a:spLocks noGrp="1"/>
          </p:cNvSpPr>
          <p:nvPr/>
        </p:nvSpPr>
        <p:spPr>
          <a:xfrm>
            <a:off x="320040" y="1389888"/>
            <a:ext cx="164592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60" b="1" dirty="0">
                <a:solidFill>
                  <a:srgbClr val="0D1B5E"/>
                </a:solidFill>
                <a:latin typeface="Calibri"/>
              </a:rPr>
              <a:t>Cotizadores</a:t>
            </a:r>
          </a:p>
        </p:txBody>
      </p:sp>
      <p:sp>
        <p:nvSpPr>
          <p:cNvPr id="34" name="cell"/>
          <p:cNvSpPr txBox="1">
            <a:spLocks noGrp="1"/>
          </p:cNvSpPr>
          <p:nvPr/>
        </p:nvSpPr>
        <p:spPr>
          <a:xfrm>
            <a:off x="1965960" y="1389888"/>
            <a:ext cx="109728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60" dirty="0">
                <a:solidFill>
                  <a:srgbClr val="333333"/>
                </a:solidFill>
                <a:latin typeface="Calibri"/>
              </a:rPr>
              <a:t>SURA</a:t>
            </a:r>
          </a:p>
        </p:txBody>
      </p:sp>
      <p:sp>
        <p:nvSpPr>
          <p:cNvPr id="35" name="cell"/>
          <p:cNvSpPr txBox="1">
            <a:spLocks noGrp="1"/>
          </p:cNvSpPr>
          <p:nvPr/>
        </p:nvSpPr>
        <p:spPr>
          <a:xfrm>
            <a:off x="3063240" y="1389888"/>
            <a:ext cx="109728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60" dirty="0">
                <a:solidFill>
                  <a:srgbClr val="333333"/>
                </a:solidFill>
                <a:latin typeface="Calibri"/>
              </a:rPr>
              <a:t>Seguros</a:t>
            </a:r>
          </a:p>
        </p:txBody>
      </p:sp>
      <p:sp>
        <p:nvSpPr>
          <p:cNvPr id="36" name="cell"/>
          <p:cNvSpPr txBox="1">
            <a:spLocks noGrp="1"/>
          </p:cNvSpPr>
          <p:nvPr/>
        </p:nvSpPr>
        <p:spPr>
          <a:xfrm>
            <a:off x="4160520" y="1389888"/>
            <a:ext cx="45720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60" dirty="0">
                <a:solidFill>
                  <a:srgbClr val="333333"/>
                </a:solidFill>
                <a:latin typeface="Calibri"/>
              </a:rPr>
              <a:t>2</a:t>
            </a:r>
          </a:p>
        </p:txBody>
      </p:sp>
      <p:sp>
        <p:nvSpPr>
          <p:cNvPr id="6" name="nbox"/>
          <p:cNvSpPr>
            <a:spLocks noGrp="1"/>
          </p:cNvSpPr>
          <p:nvPr/>
        </p:nvSpPr>
        <p:spPr>
          <a:xfrm>
            <a:off x="4654296" y="1463040"/>
            <a:ext cx="566928" cy="237744"/>
          </a:xfrm>
          <a:prstGeom prst="roundRect">
            <a:avLst>
              <a:gd name="adj" fmla="val 8000"/>
            </a:avLst>
          </a:prstGeom>
          <a:solidFill>
            <a:srgbClr val="92400E"/>
          </a:solidFill>
          <a:ln>
            <a:noFill/>
          </a:ln>
        </p:spPr>
      </p:sp>
      <p:sp>
        <p:nvSpPr>
          <p:cNvPr id="7" name="nlbl"/>
          <p:cNvSpPr txBox="1">
            <a:spLocks noGrp="1"/>
          </p:cNvSpPr>
          <p:nvPr/>
        </p:nvSpPr>
        <p:spPr>
          <a:xfrm>
            <a:off x="4654296" y="1463040"/>
            <a:ext cx="566928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00" b="1" dirty="0">
                <a:solidFill>
                  <a:srgbClr val="FFFFFF"/>
                </a:solidFill>
                <a:latin typeface="Calibri"/>
              </a:rPr>
              <a:t>N2</a:t>
            </a:r>
          </a:p>
        </p:txBody>
      </p:sp>
      <p:sp>
        <p:nvSpPr>
          <p:cNvPr id="38" name="cell"/>
          <p:cNvSpPr txBox="1">
            <a:spLocks noGrp="1"/>
          </p:cNvSpPr>
          <p:nvPr/>
        </p:nvSpPr>
        <p:spPr>
          <a:xfrm>
            <a:off x="5257800" y="1389888"/>
            <a:ext cx="137160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60" dirty="0">
                <a:solidFill>
                  <a:srgbClr val="333333"/>
                </a:solidFill>
                <a:latin typeface="Calibri"/>
              </a:rPr>
              <a:t>BMC Remedy</a:t>
            </a:r>
          </a:p>
        </p:txBody>
      </p:sp>
      <p:sp>
        <p:nvSpPr>
          <p:cNvPr id="39" name="cell"/>
          <p:cNvSpPr txBox="1">
            <a:spLocks noGrp="1"/>
          </p:cNvSpPr>
          <p:nvPr/>
        </p:nvSpPr>
        <p:spPr>
          <a:xfrm>
            <a:off x="6629400" y="1389888"/>
            <a:ext cx="155448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60" dirty="0">
                <a:solidFill>
                  <a:srgbClr val="333333"/>
                </a:solidFill>
                <a:latin typeface="Calibri"/>
              </a:rPr>
              <a:t>Renovacion Aug/Dic 2026</a:t>
            </a:r>
          </a:p>
        </p:txBody>
      </p:sp>
      <p:sp>
        <p:nvSpPr>
          <p:cNvPr id="40" name="rb"/>
          <p:cNvSpPr>
            <a:spLocks noGrp="1"/>
          </p:cNvSpPr>
          <p:nvPr/>
        </p:nvSpPr>
        <p:spPr>
          <a:xfrm>
            <a:off x="320040" y="1773936"/>
            <a:ext cx="7955279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</p:sp>
      <p:sp>
        <p:nvSpPr>
          <p:cNvPr id="43" name="cell"/>
          <p:cNvSpPr txBox="1">
            <a:spLocks noGrp="1"/>
          </p:cNvSpPr>
          <p:nvPr/>
        </p:nvSpPr>
        <p:spPr>
          <a:xfrm>
            <a:off x="320040" y="1773936"/>
            <a:ext cx="164592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60" b="1" dirty="0">
                <a:solidFill>
                  <a:srgbClr val="0D1B5E"/>
                </a:solidFill>
                <a:latin typeface="Calibri"/>
              </a:rPr>
              <a:t>Venta Digital</a:t>
            </a:r>
          </a:p>
        </p:txBody>
      </p:sp>
      <p:sp>
        <p:nvSpPr>
          <p:cNvPr id="44" name="cell"/>
          <p:cNvSpPr txBox="1">
            <a:spLocks noGrp="1"/>
          </p:cNvSpPr>
          <p:nvPr/>
        </p:nvSpPr>
        <p:spPr>
          <a:xfrm>
            <a:off x="1965960" y="1773936"/>
            <a:ext cx="109728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60" dirty="0">
                <a:solidFill>
                  <a:srgbClr val="333333"/>
                </a:solidFill>
                <a:latin typeface="Calibri"/>
              </a:rPr>
              <a:t>SURA</a:t>
            </a:r>
          </a:p>
        </p:txBody>
      </p:sp>
      <p:sp>
        <p:nvSpPr>
          <p:cNvPr id="45" name="cell"/>
          <p:cNvSpPr txBox="1">
            <a:spLocks noGrp="1"/>
          </p:cNvSpPr>
          <p:nvPr/>
        </p:nvSpPr>
        <p:spPr>
          <a:xfrm>
            <a:off x="3063240" y="1773936"/>
            <a:ext cx="109728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60" dirty="0">
                <a:solidFill>
                  <a:srgbClr val="333333"/>
                </a:solidFill>
                <a:latin typeface="Calibri"/>
              </a:rPr>
              <a:t>Seguros</a:t>
            </a:r>
          </a:p>
        </p:txBody>
      </p:sp>
      <p:sp>
        <p:nvSpPr>
          <p:cNvPr id="46" name="cell"/>
          <p:cNvSpPr txBox="1">
            <a:spLocks noGrp="1"/>
          </p:cNvSpPr>
          <p:nvPr/>
        </p:nvSpPr>
        <p:spPr>
          <a:xfrm>
            <a:off x="4160520" y="1773936"/>
            <a:ext cx="45720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60" dirty="0">
                <a:solidFill>
                  <a:srgbClr val="333333"/>
                </a:solidFill>
                <a:latin typeface="Calibri"/>
              </a:rPr>
              <a:t>2</a:t>
            </a:r>
          </a:p>
        </p:txBody>
      </p:sp>
      <p:sp>
        <p:nvSpPr>
          <p:cNvPr id="8" name="nbox"/>
          <p:cNvSpPr>
            <a:spLocks noGrp="1"/>
          </p:cNvSpPr>
          <p:nvPr/>
        </p:nvSpPr>
        <p:spPr>
          <a:xfrm>
            <a:off x="4654296" y="1847088"/>
            <a:ext cx="566928" cy="237744"/>
          </a:xfrm>
          <a:prstGeom prst="roundRect">
            <a:avLst>
              <a:gd name="adj" fmla="val 8000"/>
            </a:avLst>
          </a:prstGeom>
          <a:solidFill>
            <a:srgbClr val="92400E"/>
          </a:solidFill>
          <a:ln>
            <a:noFill/>
          </a:ln>
        </p:spPr>
      </p:sp>
      <p:sp>
        <p:nvSpPr>
          <p:cNvPr id="9" name="nlbl"/>
          <p:cNvSpPr txBox="1">
            <a:spLocks noGrp="1"/>
          </p:cNvSpPr>
          <p:nvPr/>
        </p:nvSpPr>
        <p:spPr>
          <a:xfrm>
            <a:off x="4654296" y="1847088"/>
            <a:ext cx="566928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00" b="1" dirty="0">
                <a:solidFill>
                  <a:srgbClr val="FFFFFF"/>
                </a:solidFill>
                <a:latin typeface="Calibri"/>
              </a:rPr>
              <a:t>N2</a:t>
            </a:r>
          </a:p>
        </p:txBody>
      </p:sp>
      <p:sp>
        <p:nvSpPr>
          <p:cNvPr id="48" name="cell"/>
          <p:cNvSpPr txBox="1">
            <a:spLocks noGrp="1"/>
          </p:cNvSpPr>
          <p:nvPr/>
        </p:nvSpPr>
        <p:spPr>
          <a:xfrm>
            <a:off x="5257800" y="1773936"/>
            <a:ext cx="137160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60" dirty="0">
                <a:solidFill>
                  <a:srgbClr val="333333"/>
                </a:solidFill>
                <a:latin typeface="Calibri"/>
              </a:rPr>
              <a:t>BMC Remedy</a:t>
            </a:r>
          </a:p>
        </p:txBody>
      </p:sp>
      <p:sp>
        <p:nvSpPr>
          <p:cNvPr id="49" name="cell"/>
          <p:cNvSpPr txBox="1">
            <a:spLocks noGrp="1"/>
          </p:cNvSpPr>
          <p:nvPr/>
        </p:nvSpPr>
        <p:spPr>
          <a:xfrm>
            <a:off x="6629400" y="1773936"/>
            <a:ext cx="155448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60" dirty="0">
                <a:solidFill>
                  <a:srgbClr val="333333"/>
                </a:solidFill>
                <a:latin typeface="Calibri"/>
              </a:rPr>
              <a:t>Renovacion Aug/Dic 2026</a:t>
            </a:r>
          </a:p>
        </p:txBody>
      </p:sp>
      <p:sp>
        <p:nvSpPr>
          <p:cNvPr id="50" name="rb"/>
          <p:cNvSpPr>
            <a:spLocks noGrp="1"/>
          </p:cNvSpPr>
          <p:nvPr/>
        </p:nvSpPr>
        <p:spPr>
          <a:xfrm>
            <a:off x="320040" y="2157984"/>
            <a:ext cx="7955279" cy="384048"/>
          </a:xfrm>
          <a:prstGeom prst="rect">
            <a:avLst/>
          </a:prstGeom>
          <a:solidFill>
            <a:srgbClr val="F5F7FC"/>
          </a:solidFill>
          <a:ln w="6350">
            <a:solidFill>
              <a:srgbClr val="D1D5DB"/>
            </a:solidFill>
          </a:ln>
        </p:spPr>
      </p:sp>
      <p:sp>
        <p:nvSpPr>
          <p:cNvPr id="53" name="cell"/>
          <p:cNvSpPr txBox="1">
            <a:spLocks noGrp="1"/>
          </p:cNvSpPr>
          <p:nvPr/>
        </p:nvSpPr>
        <p:spPr>
          <a:xfrm>
            <a:off x="320040" y="2157984"/>
            <a:ext cx="164592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60" b="1" dirty="0">
                <a:solidFill>
                  <a:srgbClr val="0D1B5E"/>
                </a:solidFill>
                <a:latin typeface="Calibri"/>
              </a:rPr>
              <a:t>Automatización</a:t>
            </a:r>
          </a:p>
        </p:txBody>
      </p:sp>
      <p:sp>
        <p:nvSpPr>
          <p:cNvPr id="54" name="cell"/>
          <p:cNvSpPr txBox="1">
            <a:spLocks noGrp="1"/>
          </p:cNvSpPr>
          <p:nvPr/>
        </p:nvSpPr>
        <p:spPr>
          <a:xfrm>
            <a:off x="1965960" y="2157984"/>
            <a:ext cx="109728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60" dirty="0">
                <a:solidFill>
                  <a:srgbClr val="333333"/>
                </a:solidFill>
                <a:latin typeface="Calibri"/>
              </a:rPr>
              <a:t>SURA</a:t>
            </a:r>
          </a:p>
        </p:txBody>
      </p:sp>
      <p:sp>
        <p:nvSpPr>
          <p:cNvPr id="55" name="cell"/>
          <p:cNvSpPr txBox="1">
            <a:spLocks noGrp="1"/>
          </p:cNvSpPr>
          <p:nvPr/>
        </p:nvSpPr>
        <p:spPr>
          <a:xfrm>
            <a:off x="3063240" y="2157984"/>
            <a:ext cx="109728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60" dirty="0">
                <a:solidFill>
                  <a:srgbClr val="333333"/>
                </a:solidFill>
                <a:latin typeface="Calibri"/>
              </a:rPr>
              <a:t>Seguros</a:t>
            </a:r>
          </a:p>
        </p:txBody>
      </p:sp>
      <p:sp>
        <p:nvSpPr>
          <p:cNvPr id="56" name="cell"/>
          <p:cNvSpPr txBox="1">
            <a:spLocks noGrp="1"/>
          </p:cNvSpPr>
          <p:nvPr/>
        </p:nvSpPr>
        <p:spPr>
          <a:xfrm>
            <a:off x="4160520" y="2157984"/>
            <a:ext cx="45720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60" dirty="0">
                <a:solidFill>
                  <a:srgbClr val="333333"/>
                </a:solidFill>
                <a:latin typeface="Calibri"/>
              </a:rPr>
              <a:t>6</a:t>
            </a:r>
          </a:p>
        </p:txBody>
      </p:sp>
      <p:sp>
        <p:nvSpPr>
          <p:cNvPr id="12" name="nbox"/>
          <p:cNvSpPr>
            <a:spLocks noGrp="1"/>
          </p:cNvSpPr>
          <p:nvPr/>
        </p:nvSpPr>
        <p:spPr>
          <a:xfrm>
            <a:off x="4654296" y="2231136"/>
            <a:ext cx="566928" cy="237744"/>
          </a:xfrm>
          <a:prstGeom prst="roundRect">
            <a:avLst>
              <a:gd name="adj" fmla="val 8000"/>
            </a:avLst>
          </a:prstGeom>
          <a:solidFill>
            <a:srgbClr val="92400E"/>
          </a:solidFill>
          <a:ln>
            <a:noFill/>
          </a:ln>
        </p:spPr>
      </p:sp>
      <p:sp>
        <p:nvSpPr>
          <p:cNvPr id="15" name="nlbl"/>
          <p:cNvSpPr txBox="1">
            <a:spLocks noGrp="1"/>
          </p:cNvSpPr>
          <p:nvPr/>
        </p:nvSpPr>
        <p:spPr>
          <a:xfrm>
            <a:off x="4654296" y="2231136"/>
            <a:ext cx="566928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00" b="1" dirty="0">
                <a:solidFill>
                  <a:srgbClr val="FFFFFF"/>
                </a:solidFill>
                <a:latin typeface="Calibri"/>
              </a:rPr>
              <a:t>N2</a:t>
            </a:r>
          </a:p>
        </p:txBody>
      </p:sp>
      <p:sp>
        <p:nvSpPr>
          <p:cNvPr id="58" name="cell"/>
          <p:cNvSpPr txBox="1">
            <a:spLocks noGrp="1"/>
          </p:cNvSpPr>
          <p:nvPr/>
        </p:nvSpPr>
        <p:spPr>
          <a:xfrm>
            <a:off x="5257800" y="2157984"/>
            <a:ext cx="137160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60" dirty="0">
                <a:solidFill>
                  <a:srgbClr val="333333"/>
                </a:solidFill>
                <a:latin typeface="Calibri"/>
              </a:rPr>
              <a:t>BMC + Azure</a:t>
            </a:r>
          </a:p>
        </p:txBody>
      </p:sp>
      <p:sp>
        <p:nvSpPr>
          <p:cNvPr id="59" name="cell"/>
          <p:cNvSpPr txBox="1">
            <a:spLocks noGrp="1"/>
          </p:cNvSpPr>
          <p:nvPr/>
        </p:nvSpPr>
        <p:spPr>
          <a:xfrm>
            <a:off x="6629400" y="2157984"/>
            <a:ext cx="155448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60" dirty="0">
                <a:solidFill>
                  <a:srgbClr val="333333"/>
                </a:solidFill>
                <a:latin typeface="Calibri"/>
              </a:rPr>
              <a:t>Renovacion Aug/Dic 2026</a:t>
            </a:r>
          </a:p>
        </p:txBody>
      </p:sp>
      <p:sp>
        <p:nvSpPr>
          <p:cNvPr id="60" name="rb"/>
          <p:cNvSpPr>
            <a:spLocks noGrp="1"/>
          </p:cNvSpPr>
          <p:nvPr/>
        </p:nvSpPr>
        <p:spPr>
          <a:xfrm>
            <a:off x="320040" y="2542032"/>
            <a:ext cx="7955279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</p:sp>
      <p:sp>
        <p:nvSpPr>
          <p:cNvPr id="63" name="cell"/>
          <p:cNvSpPr txBox="1">
            <a:spLocks noGrp="1"/>
          </p:cNvSpPr>
          <p:nvPr/>
        </p:nvSpPr>
        <p:spPr>
          <a:xfrm>
            <a:off x="320040" y="2542032"/>
            <a:ext cx="164592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60" b="1" dirty="0">
                <a:solidFill>
                  <a:srgbClr val="0D1B5E"/>
                </a:solidFill>
                <a:latin typeface="Calibri"/>
              </a:rPr>
              <a:t>Canales Masivos</a:t>
            </a:r>
          </a:p>
        </p:txBody>
      </p:sp>
      <p:sp>
        <p:nvSpPr>
          <p:cNvPr id="64" name="cell"/>
          <p:cNvSpPr txBox="1">
            <a:spLocks noGrp="1"/>
          </p:cNvSpPr>
          <p:nvPr/>
        </p:nvSpPr>
        <p:spPr>
          <a:xfrm>
            <a:off x="1965960" y="2542032"/>
            <a:ext cx="109728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60" dirty="0">
                <a:solidFill>
                  <a:srgbClr val="333333"/>
                </a:solidFill>
                <a:latin typeface="Calibri"/>
              </a:rPr>
              <a:t>SURA</a:t>
            </a:r>
          </a:p>
        </p:txBody>
      </p:sp>
      <p:sp>
        <p:nvSpPr>
          <p:cNvPr id="65" name="cell"/>
          <p:cNvSpPr txBox="1">
            <a:spLocks noGrp="1"/>
          </p:cNvSpPr>
          <p:nvPr/>
        </p:nvSpPr>
        <p:spPr>
          <a:xfrm>
            <a:off x="3063240" y="2542032"/>
            <a:ext cx="109728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60" dirty="0">
                <a:solidFill>
                  <a:srgbClr val="333333"/>
                </a:solidFill>
                <a:latin typeface="Calibri"/>
              </a:rPr>
              <a:t>Seguros</a:t>
            </a:r>
          </a:p>
        </p:txBody>
      </p:sp>
      <p:sp>
        <p:nvSpPr>
          <p:cNvPr id="66" name="cell"/>
          <p:cNvSpPr txBox="1">
            <a:spLocks noGrp="1"/>
          </p:cNvSpPr>
          <p:nvPr/>
        </p:nvSpPr>
        <p:spPr>
          <a:xfrm>
            <a:off x="4160520" y="2542032"/>
            <a:ext cx="45720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60" dirty="0">
                <a:solidFill>
                  <a:srgbClr val="333333"/>
                </a:solidFill>
                <a:latin typeface="Calibri"/>
              </a:rPr>
              <a:t>1</a:t>
            </a:r>
          </a:p>
        </p:txBody>
      </p:sp>
      <p:sp>
        <p:nvSpPr>
          <p:cNvPr id="18" name="nbox"/>
          <p:cNvSpPr>
            <a:spLocks noGrp="1"/>
          </p:cNvSpPr>
          <p:nvPr/>
        </p:nvSpPr>
        <p:spPr>
          <a:xfrm>
            <a:off x="4654296" y="2615184"/>
            <a:ext cx="566928" cy="237744"/>
          </a:xfrm>
          <a:prstGeom prst="roundRect">
            <a:avLst>
              <a:gd name="adj" fmla="val 8000"/>
            </a:avLst>
          </a:prstGeom>
          <a:solidFill>
            <a:srgbClr val="92400E"/>
          </a:solidFill>
          <a:ln>
            <a:noFill/>
          </a:ln>
        </p:spPr>
      </p:sp>
      <p:sp>
        <p:nvSpPr>
          <p:cNvPr id="19" name="nlbl"/>
          <p:cNvSpPr txBox="1">
            <a:spLocks noGrp="1"/>
          </p:cNvSpPr>
          <p:nvPr/>
        </p:nvSpPr>
        <p:spPr>
          <a:xfrm>
            <a:off x="4654296" y="2615184"/>
            <a:ext cx="566928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00" b="1" dirty="0">
                <a:solidFill>
                  <a:srgbClr val="FFFFFF"/>
                </a:solidFill>
                <a:latin typeface="Calibri"/>
              </a:rPr>
              <a:t>N2</a:t>
            </a:r>
          </a:p>
        </p:txBody>
      </p:sp>
      <p:sp>
        <p:nvSpPr>
          <p:cNvPr id="68" name="cell"/>
          <p:cNvSpPr txBox="1">
            <a:spLocks noGrp="1"/>
          </p:cNvSpPr>
          <p:nvPr/>
        </p:nvSpPr>
        <p:spPr>
          <a:xfrm>
            <a:off x="5257800" y="2542032"/>
            <a:ext cx="137160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60" dirty="0">
                <a:solidFill>
                  <a:srgbClr val="333333"/>
                </a:solidFill>
                <a:latin typeface="Calibri"/>
              </a:rPr>
              <a:t>BMC Remedy</a:t>
            </a:r>
          </a:p>
        </p:txBody>
      </p:sp>
      <p:sp>
        <p:nvSpPr>
          <p:cNvPr id="69" name="cell"/>
          <p:cNvSpPr txBox="1">
            <a:spLocks noGrp="1"/>
          </p:cNvSpPr>
          <p:nvPr/>
        </p:nvSpPr>
        <p:spPr>
          <a:xfrm>
            <a:off x="6629400" y="2542032"/>
            <a:ext cx="155448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60" dirty="0">
                <a:solidFill>
                  <a:srgbClr val="333333"/>
                </a:solidFill>
                <a:latin typeface="Calibri"/>
              </a:rPr>
              <a:t>Renovacion Aug/Dic 2026</a:t>
            </a:r>
          </a:p>
        </p:txBody>
      </p:sp>
      <p:sp>
        <p:nvSpPr>
          <p:cNvPr id="70" name="rb"/>
          <p:cNvSpPr>
            <a:spLocks noGrp="1"/>
          </p:cNvSpPr>
          <p:nvPr/>
        </p:nvSpPr>
        <p:spPr>
          <a:xfrm>
            <a:off x="320040" y="2926080"/>
            <a:ext cx="7955279" cy="384048"/>
          </a:xfrm>
          <a:prstGeom prst="rect">
            <a:avLst/>
          </a:prstGeom>
          <a:solidFill>
            <a:srgbClr val="F5F7FC"/>
          </a:solidFill>
          <a:ln w="6350">
            <a:solidFill>
              <a:srgbClr val="D1D5DB"/>
            </a:solidFill>
          </a:ln>
        </p:spPr>
      </p:sp>
      <p:sp>
        <p:nvSpPr>
          <p:cNvPr id="73" name="cell"/>
          <p:cNvSpPr txBox="1">
            <a:spLocks noGrp="1"/>
          </p:cNvSpPr>
          <p:nvPr/>
        </p:nvSpPr>
        <p:spPr>
          <a:xfrm>
            <a:off x="320040" y="2926080"/>
            <a:ext cx="164592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60" b="1" dirty="0">
                <a:solidFill>
                  <a:srgbClr val="0D1B5E"/>
                </a:solidFill>
                <a:latin typeface="Calibri"/>
              </a:rPr>
              <a:t>Soporte IT/OT</a:t>
            </a:r>
          </a:p>
        </p:txBody>
      </p:sp>
      <p:sp>
        <p:nvSpPr>
          <p:cNvPr id="74" name="cell"/>
          <p:cNvSpPr txBox="1">
            <a:spLocks noGrp="1"/>
          </p:cNvSpPr>
          <p:nvPr/>
        </p:nvSpPr>
        <p:spPr>
          <a:xfrm>
            <a:off x="1965960" y="2926080"/>
            <a:ext cx="109728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60" dirty="0">
                <a:solidFill>
                  <a:srgbClr val="333333"/>
                </a:solidFill>
                <a:latin typeface="Calibri"/>
              </a:rPr>
              <a:t>AES</a:t>
            </a:r>
          </a:p>
        </p:txBody>
      </p:sp>
      <p:sp>
        <p:nvSpPr>
          <p:cNvPr id="75" name="cell"/>
          <p:cNvSpPr txBox="1">
            <a:spLocks noGrp="1"/>
          </p:cNvSpPr>
          <p:nvPr/>
        </p:nvSpPr>
        <p:spPr>
          <a:xfrm>
            <a:off x="3063240" y="2926080"/>
            <a:ext cx="109728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60" dirty="0">
                <a:solidFill>
                  <a:srgbClr val="333333"/>
                </a:solidFill>
                <a:latin typeface="Calibri"/>
              </a:rPr>
              <a:t>Energia</a:t>
            </a:r>
          </a:p>
        </p:txBody>
      </p:sp>
      <p:sp>
        <p:nvSpPr>
          <p:cNvPr id="76" name="cell"/>
          <p:cNvSpPr txBox="1">
            <a:spLocks noGrp="1"/>
          </p:cNvSpPr>
          <p:nvPr/>
        </p:nvSpPr>
        <p:spPr>
          <a:xfrm>
            <a:off x="4160520" y="2926080"/>
            <a:ext cx="45720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60" dirty="0">
                <a:solidFill>
                  <a:srgbClr val="333333"/>
                </a:solidFill>
                <a:latin typeface="Calibri"/>
              </a:rPr>
              <a:t>4</a:t>
            </a:r>
          </a:p>
        </p:txBody>
      </p:sp>
      <p:sp>
        <p:nvSpPr>
          <p:cNvPr id="28" name="nbox"/>
          <p:cNvSpPr>
            <a:spLocks noGrp="1"/>
          </p:cNvSpPr>
          <p:nvPr/>
        </p:nvSpPr>
        <p:spPr>
          <a:xfrm>
            <a:off x="4654296" y="2999232"/>
            <a:ext cx="566928" cy="237744"/>
          </a:xfrm>
          <a:prstGeom prst="roundRect">
            <a:avLst>
              <a:gd name="adj" fmla="val 8000"/>
            </a:avLst>
          </a:prstGeom>
          <a:solidFill>
            <a:srgbClr val="C00000"/>
          </a:solidFill>
          <a:ln>
            <a:noFill/>
          </a:ln>
        </p:spPr>
      </p:sp>
      <p:sp>
        <p:nvSpPr>
          <p:cNvPr id="29" name="nlbl"/>
          <p:cNvSpPr txBox="1">
            <a:spLocks noGrp="1"/>
          </p:cNvSpPr>
          <p:nvPr/>
        </p:nvSpPr>
        <p:spPr>
          <a:xfrm>
            <a:off x="4654296" y="2999232"/>
            <a:ext cx="566928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00" b="1" dirty="0">
                <a:solidFill>
                  <a:srgbClr val="FFFFFF"/>
                </a:solidFill>
                <a:latin typeface="Calibri"/>
              </a:rPr>
              <a:t>N1</a:t>
            </a:r>
          </a:p>
        </p:txBody>
      </p:sp>
      <p:sp>
        <p:nvSpPr>
          <p:cNvPr id="78" name="cell"/>
          <p:cNvSpPr txBox="1">
            <a:spLocks noGrp="1"/>
          </p:cNvSpPr>
          <p:nvPr/>
        </p:nvSpPr>
        <p:spPr>
          <a:xfrm>
            <a:off x="5257800" y="2926080"/>
            <a:ext cx="137160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60" dirty="0">
                <a:solidFill>
                  <a:srgbClr val="333333"/>
                </a:solidFill>
                <a:latin typeface="Calibri"/>
              </a:rPr>
              <a:t>ServiceNow</a:t>
            </a:r>
          </a:p>
        </p:txBody>
      </p:sp>
      <p:sp>
        <p:nvSpPr>
          <p:cNvPr id="79" name="cell"/>
          <p:cNvSpPr txBox="1">
            <a:spLocks noGrp="1"/>
          </p:cNvSpPr>
          <p:nvPr/>
        </p:nvSpPr>
        <p:spPr>
          <a:xfrm>
            <a:off x="6629400" y="2926080"/>
            <a:ext cx="155448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60" dirty="0">
                <a:solidFill>
                  <a:srgbClr val="333333"/>
                </a:solidFill>
                <a:latin typeface="Calibri"/>
              </a:rPr>
              <a:t>RFP pendiente — Ext Nov 2026</a:t>
            </a:r>
          </a:p>
        </p:txBody>
      </p:sp>
      <p:sp>
        <p:nvSpPr>
          <p:cNvPr id="80" name="rb"/>
          <p:cNvSpPr>
            <a:spLocks noGrp="1"/>
          </p:cNvSpPr>
          <p:nvPr/>
        </p:nvSpPr>
        <p:spPr>
          <a:xfrm>
            <a:off x="320040" y="3310128"/>
            <a:ext cx="7955279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</p:sp>
      <p:sp>
        <p:nvSpPr>
          <p:cNvPr id="83" name="cell"/>
          <p:cNvSpPr txBox="1">
            <a:spLocks noGrp="1"/>
          </p:cNvSpPr>
          <p:nvPr/>
        </p:nvSpPr>
        <p:spPr>
          <a:xfrm>
            <a:off x="320040" y="3310128"/>
            <a:ext cx="164592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60" b="1" dirty="0">
                <a:solidFill>
                  <a:srgbClr val="0D1B5E"/>
                </a:solidFill>
                <a:latin typeface="Calibri"/>
              </a:rPr>
              <a:t>Apps Críticas</a:t>
            </a:r>
          </a:p>
        </p:txBody>
      </p:sp>
      <p:sp>
        <p:nvSpPr>
          <p:cNvPr id="84" name="cell"/>
          <p:cNvSpPr txBox="1">
            <a:spLocks noGrp="1"/>
          </p:cNvSpPr>
          <p:nvPr/>
        </p:nvSpPr>
        <p:spPr>
          <a:xfrm>
            <a:off x="1965960" y="3310128"/>
            <a:ext cx="109728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60" dirty="0">
                <a:solidFill>
                  <a:srgbClr val="333333"/>
                </a:solidFill>
                <a:latin typeface="Calibri"/>
              </a:rPr>
              <a:t>XM</a:t>
            </a:r>
          </a:p>
        </p:txBody>
      </p:sp>
      <p:sp>
        <p:nvSpPr>
          <p:cNvPr id="85" name="cell"/>
          <p:cNvSpPr txBox="1">
            <a:spLocks noGrp="1"/>
          </p:cNvSpPr>
          <p:nvPr/>
        </p:nvSpPr>
        <p:spPr>
          <a:xfrm>
            <a:off x="3063240" y="3310128"/>
            <a:ext cx="109728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60" dirty="0">
                <a:solidFill>
                  <a:srgbClr val="333333"/>
                </a:solidFill>
                <a:latin typeface="Calibri"/>
              </a:rPr>
              <a:t>Energia</a:t>
            </a:r>
          </a:p>
        </p:txBody>
      </p:sp>
      <p:sp>
        <p:nvSpPr>
          <p:cNvPr id="86" name="cell"/>
          <p:cNvSpPr txBox="1">
            <a:spLocks noGrp="1"/>
          </p:cNvSpPr>
          <p:nvPr/>
        </p:nvSpPr>
        <p:spPr>
          <a:xfrm>
            <a:off x="4160520" y="3310128"/>
            <a:ext cx="45720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60" dirty="0">
                <a:solidFill>
                  <a:srgbClr val="333333"/>
                </a:solidFill>
                <a:latin typeface="Calibri"/>
              </a:rPr>
              <a:t>4</a:t>
            </a:r>
          </a:p>
        </p:txBody>
      </p:sp>
      <p:sp>
        <p:nvSpPr>
          <p:cNvPr id="31" name="nbox"/>
          <p:cNvSpPr>
            <a:spLocks noGrp="1"/>
          </p:cNvSpPr>
          <p:nvPr/>
        </p:nvSpPr>
        <p:spPr>
          <a:xfrm>
            <a:off x="4654296" y="3383280"/>
            <a:ext cx="566928" cy="237744"/>
          </a:xfrm>
          <a:prstGeom prst="roundRect">
            <a:avLst>
              <a:gd name="adj" fmla="val 8000"/>
            </a:avLst>
          </a:prstGeom>
          <a:solidFill>
            <a:srgbClr val="92400E"/>
          </a:solidFill>
          <a:ln>
            <a:noFill/>
          </a:ln>
        </p:spPr>
      </p:sp>
      <p:sp>
        <p:nvSpPr>
          <p:cNvPr id="32" name="nlbl"/>
          <p:cNvSpPr txBox="1">
            <a:spLocks noGrp="1"/>
          </p:cNvSpPr>
          <p:nvPr/>
        </p:nvSpPr>
        <p:spPr>
          <a:xfrm>
            <a:off x="4654296" y="3383280"/>
            <a:ext cx="566928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00" b="1" dirty="0">
                <a:solidFill>
                  <a:srgbClr val="FFFFFF"/>
                </a:solidFill>
                <a:latin typeface="Calibri"/>
              </a:rPr>
              <a:t>N2</a:t>
            </a:r>
          </a:p>
        </p:txBody>
      </p:sp>
      <p:sp>
        <p:nvSpPr>
          <p:cNvPr id="88" name="cell"/>
          <p:cNvSpPr txBox="1">
            <a:spLocks noGrp="1"/>
          </p:cNvSpPr>
          <p:nvPr/>
        </p:nvSpPr>
        <p:spPr>
          <a:xfrm>
            <a:off x="5257800" y="3310128"/>
            <a:ext cx="137160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60" dirty="0">
                <a:solidFill>
                  <a:srgbClr val="333333"/>
                </a:solidFill>
                <a:latin typeface="Calibri"/>
              </a:rPr>
              <a:t>ServiceNow</a:t>
            </a:r>
          </a:p>
        </p:txBody>
      </p:sp>
      <p:sp>
        <p:nvSpPr>
          <p:cNvPr id="89" name="cell"/>
          <p:cNvSpPr txBox="1">
            <a:spLocks noGrp="1"/>
          </p:cNvSpPr>
          <p:nvPr/>
        </p:nvSpPr>
        <p:spPr>
          <a:xfrm>
            <a:off x="6629400" y="3310128"/>
            <a:ext cx="155448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60" dirty="0">
                <a:solidFill>
                  <a:srgbClr val="333333"/>
                </a:solidFill>
                <a:latin typeface="Calibri"/>
              </a:rPr>
              <a:t>Vigente hasta Jul 2027</a:t>
            </a:r>
          </a:p>
        </p:txBody>
      </p:sp>
      <p:sp>
        <p:nvSpPr>
          <p:cNvPr id="90" name="rb"/>
          <p:cNvSpPr>
            <a:spLocks noGrp="1"/>
          </p:cNvSpPr>
          <p:nvPr/>
        </p:nvSpPr>
        <p:spPr>
          <a:xfrm>
            <a:off x="320040" y="3694176"/>
            <a:ext cx="7955279" cy="384048"/>
          </a:xfrm>
          <a:prstGeom prst="rect">
            <a:avLst/>
          </a:prstGeom>
          <a:solidFill>
            <a:srgbClr val="F5F7FC"/>
          </a:solidFill>
          <a:ln w="6350">
            <a:solidFill>
              <a:srgbClr val="D1D5DB"/>
            </a:solidFill>
          </a:ln>
        </p:spPr>
      </p:sp>
      <p:sp>
        <p:nvSpPr>
          <p:cNvPr id="93" name="cell"/>
          <p:cNvSpPr txBox="1">
            <a:spLocks noGrp="1"/>
          </p:cNvSpPr>
          <p:nvPr/>
        </p:nvSpPr>
        <p:spPr>
          <a:xfrm>
            <a:off x="320040" y="3694176"/>
            <a:ext cx="164592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60" b="1" dirty="0">
                <a:solidFill>
                  <a:srgbClr val="0D1B5E"/>
                </a:solidFill>
                <a:latin typeface="Calibri"/>
              </a:rPr>
              <a:t>GIOTI (4 mesas)</a:t>
            </a:r>
          </a:p>
        </p:txBody>
      </p:sp>
      <p:sp>
        <p:nvSpPr>
          <p:cNvPr id="94" name="cell"/>
          <p:cNvSpPr txBox="1">
            <a:spLocks noGrp="1"/>
          </p:cNvSpPr>
          <p:nvPr/>
        </p:nvSpPr>
        <p:spPr>
          <a:xfrm>
            <a:off x="1965960" y="3694176"/>
            <a:ext cx="109728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60" dirty="0">
                <a:solidFill>
                  <a:srgbClr val="333333"/>
                </a:solidFill>
                <a:latin typeface="Calibri"/>
              </a:rPr>
              <a:t>Bancolombia</a:t>
            </a:r>
          </a:p>
        </p:txBody>
      </p:sp>
      <p:sp>
        <p:nvSpPr>
          <p:cNvPr id="95" name="cell"/>
          <p:cNvSpPr txBox="1">
            <a:spLocks noGrp="1"/>
          </p:cNvSpPr>
          <p:nvPr/>
        </p:nvSpPr>
        <p:spPr>
          <a:xfrm>
            <a:off x="3063240" y="3694176"/>
            <a:ext cx="109728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60" dirty="0">
                <a:solidFill>
                  <a:srgbClr val="333333"/>
                </a:solidFill>
                <a:latin typeface="Calibri"/>
              </a:rPr>
              <a:t>Banca</a:t>
            </a:r>
          </a:p>
        </p:txBody>
      </p:sp>
      <p:sp>
        <p:nvSpPr>
          <p:cNvPr id="96" name="cell"/>
          <p:cNvSpPr txBox="1">
            <a:spLocks noGrp="1"/>
          </p:cNvSpPr>
          <p:nvPr/>
        </p:nvSpPr>
        <p:spPr>
          <a:xfrm>
            <a:off x="4160520" y="3694176"/>
            <a:ext cx="45720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60" dirty="0">
                <a:solidFill>
                  <a:srgbClr val="333333"/>
                </a:solidFill>
                <a:latin typeface="Calibri"/>
              </a:rPr>
              <a:t>N/D</a:t>
            </a:r>
          </a:p>
        </p:txBody>
      </p:sp>
      <p:sp>
        <p:nvSpPr>
          <p:cNvPr id="37" name="nbox"/>
          <p:cNvSpPr>
            <a:spLocks noGrp="1"/>
          </p:cNvSpPr>
          <p:nvPr/>
        </p:nvSpPr>
        <p:spPr>
          <a:xfrm>
            <a:off x="4654296" y="3767328"/>
            <a:ext cx="566928" cy="237744"/>
          </a:xfrm>
          <a:prstGeom prst="roundRect">
            <a:avLst>
              <a:gd name="adj" fmla="val 8000"/>
            </a:avLst>
          </a:prstGeom>
          <a:solidFill>
            <a:srgbClr val="C00000"/>
          </a:solidFill>
          <a:ln>
            <a:noFill/>
          </a:ln>
        </p:spPr>
      </p:sp>
      <p:sp>
        <p:nvSpPr>
          <p:cNvPr id="41" name="nlbl"/>
          <p:cNvSpPr txBox="1">
            <a:spLocks noGrp="1"/>
          </p:cNvSpPr>
          <p:nvPr/>
        </p:nvSpPr>
        <p:spPr>
          <a:xfrm>
            <a:off x="4654296" y="3767328"/>
            <a:ext cx="566928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00" b="1" dirty="0">
                <a:solidFill>
                  <a:srgbClr val="FFFFFF"/>
                </a:solidFill>
                <a:latin typeface="Calibri"/>
              </a:rPr>
              <a:t>N1</a:t>
            </a:r>
          </a:p>
        </p:txBody>
      </p:sp>
      <p:sp>
        <p:nvSpPr>
          <p:cNvPr id="98" name="cell"/>
          <p:cNvSpPr txBox="1">
            <a:spLocks noGrp="1"/>
          </p:cNvSpPr>
          <p:nvPr/>
        </p:nvSpPr>
        <p:spPr>
          <a:xfrm>
            <a:off x="5257800" y="3694176"/>
            <a:ext cx="137160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60" dirty="0">
                <a:solidFill>
                  <a:srgbClr val="333333"/>
                </a:solidFill>
                <a:latin typeface="Calibri"/>
              </a:rPr>
              <a:t>ADO / Interno</a:t>
            </a:r>
          </a:p>
        </p:txBody>
      </p:sp>
      <p:sp>
        <p:nvSpPr>
          <p:cNvPr id="99" name="cell"/>
          <p:cNvSpPr txBox="1">
            <a:spLocks noGrp="1"/>
          </p:cNvSpPr>
          <p:nvPr/>
        </p:nvSpPr>
        <p:spPr>
          <a:xfrm>
            <a:off x="6629400" y="3694176"/>
            <a:ext cx="155448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60" dirty="0">
                <a:solidFill>
                  <a:srgbClr val="333333"/>
                </a:solidFill>
                <a:latin typeface="Calibri"/>
              </a:rPr>
              <a:t>Por confirmar</a:t>
            </a:r>
          </a:p>
        </p:txBody>
      </p:sp>
      <p:sp>
        <p:nvSpPr>
          <p:cNvPr id="100" name="rb"/>
          <p:cNvSpPr>
            <a:spLocks noGrp="1"/>
          </p:cNvSpPr>
          <p:nvPr/>
        </p:nvSpPr>
        <p:spPr>
          <a:xfrm>
            <a:off x="320040" y="4078224"/>
            <a:ext cx="7955279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</p:sp>
      <p:sp>
        <p:nvSpPr>
          <p:cNvPr id="103" name="cell"/>
          <p:cNvSpPr txBox="1">
            <a:spLocks noGrp="1"/>
          </p:cNvSpPr>
          <p:nvPr/>
        </p:nvSpPr>
        <p:spPr>
          <a:xfrm>
            <a:off x="320040" y="4078224"/>
            <a:ext cx="164592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60" b="1" dirty="0">
                <a:solidFill>
                  <a:srgbClr val="0D1B5E"/>
                </a:solidFill>
                <a:latin typeface="Calibri"/>
              </a:rPr>
              <a:t>Mesa IT</a:t>
            </a:r>
          </a:p>
        </p:txBody>
      </p:sp>
      <p:sp>
        <p:nvSpPr>
          <p:cNvPr id="104" name="cell"/>
          <p:cNvSpPr txBox="1">
            <a:spLocks noGrp="1"/>
          </p:cNvSpPr>
          <p:nvPr/>
        </p:nvSpPr>
        <p:spPr>
          <a:xfrm>
            <a:off x="1965960" y="4078224"/>
            <a:ext cx="109728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60" dirty="0">
                <a:solidFill>
                  <a:srgbClr val="333333"/>
                </a:solidFill>
                <a:latin typeface="Calibri"/>
              </a:rPr>
              <a:t>MEDICARTE</a:t>
            </a:r>
          </a:p>
        </p:txBody>
      </p:sp>
      <p:sp>
        <p:nvSpPr>
          <p:cNvPr id="105" name="cell"/>
          <p:cNvSpPr txBox="1">
            <a:spLocks noGrp="1"/>
          </p:cNvSpPr>
          <p:nvPr/>
        </p:nvSpPr>
        <p:spPr>
          <a:xfrm>
            <a:off x="3063240" y="4078224"/>
            <a:ext cx="109728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60" dirty="0">
                <a:solidFill>
                  <a:srgbClr val="333333"/>
                </a:solidFill>
                <a:latin typeface="Calibri"/>
              </a:rPr>
              <a:t>Salud</a:t>
            </a:r>
          </a:p>
        </p:txBody>
      </p:sp>
      <p:sp>
        <p:nvSpPr>
          <p:cNvPr id="106" name="cell"/>
          <p:cNvSpPr txBox="1">
            <a:spLocks noGrp="1"/>
          </p:cNvSpPr>
          <p:nvPr/>
        </p:nvSpPr>
        <p:spPr>
          <a:xfrm>
            <a:off x="4160520" y="4078224"/>
            <a:ext cx="45720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60" dirty="0">
                <a:solidFill>
                  <a:srgbClr val="333333"/>
                </a:solidFill>
                <a:latin typeface="Calibri"/>
              </a:rPr>
              <a:t>N/D</a:t>
            </a:r>
          </a:p>
        </p:txBody>
      </p:sp>
      <p:sp>
        <p:nvSpPr>
          <p:cNvPr id="42" name="nbox"/>
          <p:cNvSpPr>
            <a:spLocks noGrp="1"/>
          </p:cNvSpPr>
          <p:nvPr/>
        </p:nvSpPr>
        <p:spPr>
          <a:xfrm>
            <a:off x="4654296" y="4151376"/>
            <a:ext cx="566928" cy="237744"/>
          </a:xfrm>
          <a:prstGeom prst="roundRect">
            <a:avLst>
              <a:gd name="adj" fmla="val 8000"/>
            </a:avLst>
          </a:prstGeom>
          <a:solidFill>
            <a:srgbClr val="C00000"/>
          </a:solidFill>
          <a:ln>
            <a:noFill/>
          </a:ln>
        </p:spPr>
      </p:sp>
      <p:sp>
        <p:nvSpPr>
          <p:cNvPr id="47" name="nlbl"/>
          <p:cNvSpPr txBox="1">
            <a:spLocks noGrp="1"/>
          </p:cNvSpPr>
          <p:nvPr/>
        </p:nvSpPr>
        <p:spPr>
          <a:xfrm>
            <a:off x="4654296" y="4151376"/>
            <a:ext cx="566928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00" b="1" dirty="0">
                <a:solidFill>
                  <a:srgbClr val="FFFFFF"/>
                </a:solidFill>
                <a:latin typeface="Calibri"/>
              </a:rPr>
              <a:t>N1</a:t>
            </a:r>
          </a:p>
        </p:txBody>
      </p:sp>
      <p:sp>
        <p:nvSpPr>
          <p:cNvPr id="108" name="cell"/>
          <p:cNvSpPr txBox="1">
            <a:spLocks noGrp="1"/>
          </p:cNvSpPr>
          <p:nvPr/>
        </p:nvSpPr>
        <p:spPr>
          <a:xfrm>
            <a:off x="5257800" y="4078224"/>
            <a:ext cx="137160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60" dirty="0">
                <a:solidFill>
                  <a:srgbClr val="333333"/>
                </a:solidFill>
                <a:latin typeface="Calibri"/>
              </a:rPr>
              <a:t>Por definir</a:t>
            </a:r>
          </a:p>
        </p:txBody>
      </p:sp>
      <p:sp>
        <p:nvSpPr>
          <p:cNvPr id="109" name="cell"/>
          <p:cNvSpPr txBox="1">
            <a:spLocks noGrp="1"/>
          </p:cNvSpPr>
          <p:nvPr/>
        </p:nvSpPr>
        <p:spPr>
          <a:xfrm>
            <a:off x="6629400" y="4078224"/>
            <a:ext cx="1554480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60" dirty="0">
                <a:solidFill>
                  <a:srgbClr val="333333"/>
                </a:solidFill>
                <a:latin typeface="Calibri"/>
              </a:rPr>
              <a:t>Evaluación</a:t>
            </a:r>
          </a:p>
        </p:txBody>
      </p:sp>
      <p:sp>
        <p:nvSpPr>
          <p:cNvPr id="200" name="ins"/>
          <p:cNvSpPr>
            <a:spLocks noGrp="1"/>
          </p:cNvSpPr>
          <p:nvPr/>
        </p:nvSpPr>
        <p:spPr>
          <a:xfrm>
            <a:off x="320040" y="4224528"/>
            <a:ext cx="7955279" cy="237744"/>
          </a:xfrm>
          <a:prstGeom prst="roundRect">
            <a:avLst>
              <a:gd name="adj" fmla="val 8000"/>
            </a:avLst>
          </a:prstGeom>
          <a:solidFill>
            <a:srgbClr val="FFF3CD"/>
          </a:solidFill>
          <a:ln w="15875">
            <a:solidFill>
              <a:srgbClr val="F59E0B"/>
            </a:solidFill>
          </a:ln>
        </p:spPr>
      </p:sp>
      <p:sp>
        <p:nvSpPr>
          <p:cNvPr id="201" name="inst"/>
          <p:cNvSpPr txBox="1">
            <a:spLocks noGrp="1"/>
          </p:cNvSpPr>
          <p:nvPr/>
        </p:nvSpPr>
        <p:spPr>
          <a:xfrm>
            <a:off x="457200" y="4224528"/>
            <a:ext cx="777240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50" b="1" dirty="0">
                <a:solidFill>
                  <a:srgbClr val="92400E"/>
                </a:solidFill>
                <a:latin typeface="Calibri"/>
              </a:rPr>
              <a:t>8 de 8 mesas estan en N1-N2 — ninguna ha llegado a N3 (Definido). Objetivo Wave 1: todas a N3 antes de dic 2026</a:t>
            </a:r>
          </a:p>
        </p:txBody>
      </p:sp>
      <p:sp>
        <p:nvSpPr>
          <p:cNvPr id="210" name="src"/>
          <p:cNvSpPr txBox="1">
            <a:spLocks noGrp="1"/>
          </p:cNvSpPr>
          <p:nvPr/>
        </p:nvSpPr>
        <p:spPr>
          <a:xfrm>
            <a:off x="320040" y="4480560"/>
            <a:ext cx="77724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i="1" dirty="0">
                <a:solidFill>
                  <a:srgbClr val="6B7280"/>
                </a:solidFill>
                <a:latin typeface="Calibri"/>
              </a:rPr>
              <a:t>Fuente: Levantamiento interno PersonalSoft — Julio 2026 · Reuniones con lideres de mesa · Excel Levantamiento_Mesas_Julio_2026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bg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hdr"/>
          <p:cNvSpPr>
            <a:spLocks noGrp="1"/>
          </p:cNvSpPr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5E"/>
          </a:solidFill>
          <a:ln>
            <a:noFill/>
          </a:ln>
        </p:spPr>
      </p:sp>
      <p:sp>
        <p:nvSpPr>
          <p:cNvPr id="4" name="ttl"/>
          <p:cNvSpPr txBox="1">
            <a:spLocks noGrp="1"/>
          </p:cNvSpPr>
          <p:nvPr/>
        </p:nvSpPr>
        <p:spPr>
          <a:xfrm>
            <a:off x="320040" y="91440"/>
            <a:ext cx="7772400" cy="47548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2000" b="1" dirty="0">
                <a:solidFill>
                  <a:srgbClr val="FFFFFF"/>
                </a:solidFill>
                <a:latin typeface="Calibri"/>
              </a:rPr>
              <a:t>Mapa de Dolores Críticos — Las 8 Mesas vs 10 Dolores Prioritarios</a:t>
            </a:r>
          </a:p>
        </p:txBody>
      </p:sp>
      <p:sp>
        <p:nvSpPr>
          <p:cNvPr id="5" name="sub"/>
          <p:cNvSpPr txBox="1">
            <a:spLocks noGrp="1"/>
          </p:cNvSpPr>
          <p:nvPr/>
        </p:nvSpPr>
        <p:spPr>
          <a:xfrm>
            <a:off x="320040" y="566928"/>
            <a:ext cx="777240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1000" dirty="0">
                <a:solidFill>
                  <a:srgbClr val="6B7280"/>
                </a:solidFill>
                <a:latin typeface="Calibri"/>
              </a:rPr>
              <a:t>Fuente: Levantamiento interno PersonalSoft · Julio 2026 · Rojo = Confirmado · Amarillo = Parcial</a:t>
            </a:r>
          </a:p>
        </p:txBody>
      </p:sp>
      <p:sp>
        <p:nvSpPr>
          <p:cNvPr id="10" name="mhdr"/>
          <p:cNvSpPr>
            <a:spLocks noGrp="1"/>
          </p:cNvSpPr>
          <p:nvPr/>
        </p:nvSpPr>
        <p:spPr>
          <a:xfrm>
            <a:off x="320040" y="786384"/>
            <a:ext cx="2377440" cy="347472"/>
          </a:xfrm>
          <a:prstGeom prst="rect">
            <a:avLst/>
          </a:prstGeom>
          <a:solidFill>
            <a:srgbClr val="0D1B5E"/>
          </a:solidFill>
          <a:ln>
            <a:noFill/>
          </a:ln>
        </p:spPr>
      </p:sp>
      <p:sp>
        <p:nvSpPr>
          <p:cNvPr id="11" name="mhdrt"/>
          <p:cNvSpPr txBox="1">
            <a:spLocks noGrp="1"/>
          </p:cNvSpPr>
          <p:nvPr/>
        </p:nvSpPr>
        <p:spPr>
          <a:xfrm>
            <a:off x="320040" y="786384"/>
            <a:ext cx="23774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900" b="1" dirty="0">
                <a:solidFill>
                  <a:srgbClr val="FFFFFF"/>
                </a:solidFill>
                <a:latin typeface="Calibri"/>
              </a:rPr>
              <a:t>DOLOR CRÍTICO</a:t>
            </a:r>
          </a:p>
        </p:txBody>
      </p:sp>
      <p:sp>
        <p:nvSpPr>
          <p:cNvPr id="20" name="mh"/>
          <p:cNvSpPr>
            <a:spLocks noGrp="1"/>
          </p:cNvSpPr>
          <p:nvPr/>
        </p:nvSpPr>
        <p:spPr>
          <a:xfrm>
            <a:off x="2697480" y="786384"/>
            <a:ext cx="804672" cy="347472"/>
          </a:xfrm>
          <a:prstGeom prst="rect">
            <a:avLst/>
          </a:prstGeom>
          <a:solidFill>
            <a:srgbClr val="0D1B5E"/>
          </a:solidFill>
          <a:ln>
            <a:noFill/>
          </a:ln>
        </p:spPr>
      </p:sp>
      <p:sp>
        <p:nvSpPr>
          <p:cNvPr id="21" name="mht"/>
          <p:cNvSpPr txBox="1">
            <a:spLocks noGrp="1"/>
          </p:cNvSpPr>
          <p:nvPr/>
        </p:nvSpPr>
        <p:spPr>
          <a:xfrm>
            <a:off x="2697480" y="786384"/>
            <a:ext cx="804672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740" b="1" dirty="0">
                <a:solidFill>
                  <a:srgbClr val="FFFFFF"/>
                </a:solidFill>
                <a:latin typeface="Calibri"/>
              </a:rPr>
              <a:t>SURA
Cotiz.</a:t>
            </a:r>
          </a:p>
        </p:txBody>
      </p:sp>
      <p:sp>
        <p:nvSpPr>
          <p:cNvPr id="22" name="mh"/>
          <p:cNvSpPr>
            <a:spLocks noGrp="1"/>
          </p:cNvSpPr>
          <p:nvPr/>
        </p:nvSpPr>
        <p:spPr>
          <a:xfrm>
            <a:off x="3502152" y="786384"/>
            <a:ext cx="804672" cy="347472"/>
          </a:xfrm>
          <a:prstGeom prst="rect">
            <a:avLst/>
          </a:prstGeom>
          <a:solidFill>
            <a:srgbClr val="0D1B5E"/>
          </a:solidFill>
          <a:ln>
            <a:noFill/>
          </a:ln>
        </p:spPr>
      </p:sp>
      <p:sp>
        <p:nvSpPr>
          <p:cNvPr id="23" name="mht"/>
          <p:cNvSpPr txBox="1">
            <a:spLocks noGrp="1"/>
          </p:cNvSpPr>
          <p:nvPr/>
        </p:nvSpPr>
        <p:spPr>
          <a:xfrm>
            <a:off x="3502152" y="786384"/>
            <a:ext cx="804672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740" b="1" dirty="0">
                <a:solidFill>
                  <a:srgbClr val="FFFFFF"/>
                </a:solidFill>
                <a:latin typeface="Calibri"/>
              </a:rPr>
              <a:t>SURA
V.Dig.</a:t>
            </a:r>
          </a:p>
        </p:txBody>
      </p:sp>
      <p:sp>
        <p:nvSpPr>
          <p:cNvPr id="24" name="mh"/>
          <p:cNvSpPr>
            <a:spLocks noGrp="1"/>
          </p:cNvSpPr>
          <p:nvPr/>
        </p:nvSpPr>
        <p:spPr>
          <a:xfrm>
            <a:off x="4306824" y="786384"/>
            <a:ext cx="804672" cy="347472"/>
          </a:xfrm>
          <a:prstGeom prst="rect">
            <a:avLst/>
          </a:prstGeom>
          <a:solidFill>
            <a:srgbClr val="0D1B5E"/>
          </a:solidFill>
          <a:ln>
            <a:noFill/>
          </a:ln>
        </p:spPr>
      </p:sp>
      <p:sp>
        <p:nvSpPr>
          <p:cNvPr id="25" name="mht"/>
          <p:cNvSpPr txBox="1">
            <a:spLocks noGrp="1"/>
          </p:cNvSpPr>
          <p:nvPr/>
        </p:nvSpPr>
        <p:spPr>
          <a:xfrm>
            <a:off x="4306824" y="786384"/>
            <a:ext cx="804672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740" b="1" dirty="0">
                <a:solidFill>
                  <a:srgbClr val="FFFFFF"/>
                </a:solidFill>
                <a:latin typeface="Calibri"/>
              </a:rPr>
              <a:t>SURA
Auto.</a:t>
            </a:r>
          </a:p>
        </p:txBody>
      </p:sp>
      <p:sp>
        <p:nvSpPr>
          <p:cNvPr id="26" name="mh"/>
          <p:cNvSpPr>
            <a:spLocks noGrp="1"/>
          </p:cNvSpPr>
          <p:nvPr/>
        </p:nvSpPr>
        <p:spPr>
          <a:xfrm>
            <a:off x="5111496" y="786384"/>
            <a:ext cx="804672" cy="347472"/>
          </a:xfrm>
          <a:prstGeom prst="rect">
            <a:avLst/>
          </a:prstGeom>
          <a:solidFill>
            <a:srgbClr val="0D1B5E"/>
          </a:solidFill>
          <a:ln>
            <a:noFill/>
          </a:ln>
        </p:spPr>
      </p:sp>
      <p:sp>
        <p:nvSpPr>
          <p:cNvPr id="27" name="mht"/>
          <p:cNvSpPr txBox="1">
            <a:spLocks noGrp="1"/>
          </p:cNvSpPr>
          <p:nvPr/>
        </p:nvSpPr>
        <p:spPr>
          <a:xfrm>
            <a:off x="5111496" y="786384"/>
            <a:ext cx="804672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740" b="1" dirty="0">
                <a:solidFill>
                  <a:srgbClr val="FFFFFF"/>
                </a:solidFill>
                <a:latin typeface="Calibri"/>
              </a:rPr>
              <a:t>SURA
Canales</a:t>
            </a:r>
          </a:p>
        </p:txBody>
      </p:sp>
      <p:sp>
        <p:nvSpPr>
          <p:cNvPr id="28" name="mh"/>
          <p:cNvSpPr>
            <a:spLocks noGrp="1"/>
          </p:cNvSpPr>
          <p:nvPr/>
        </p:nvSpPr>
        <p:spPr>
          <a:xfrm>
            <a:off x="5916168" y="786384"/>
            <a:ext cx="804672" cy="347472"/>
          </a:xfrm>
          <a:prstGeom prst="rect">
            <a:avLst/>
          </a:prstGeom>
          <a:solidFill>
            <a:srgbClr val="1B7B85"/>
          </a:solidFill>
          <a:ln>
            <a:noFill/>
          </a:ln>
        </p:spPr>
      </p:sp>
      <p:sp>
        <p:nvSpPr>
          <p:cNvPr id="29" name="mht"/>
          <p:cNvSpPr txBox="1">
            <a:spLocks noGrp="1"/>
          </p:cNvSpPr>
          <p:nvPr/>
        </p:nvSpPr>
        <p:spPr>
          <a:xfrm>
            <a:off x="5916168" y="786384"/>
            <a:ext cx="804672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740" b="1" dirty="0">
                <a:solidFill>
                  <a:srgbClr val="FFFFFF"/>
                </a:solidFill>
                <a:latin typeface="Calibri"/>
              </a:rPr>
              <a:t>AES</a:t>
            </a:r>
          </a:p>
        </p:txBody>
      </p:sp>
      <p:sp>
        <p:nvSpPr>
          <p:cNvPr id="30" name="mh"/>
          <p:cNvSpPr>
            <a:spLocks noGrp="1"/>
          </p:cNvSpPr>
          <p:nvPr/>
        </p:nvSpPr>
        <p:spPr>
          <a:xfrm>
            <a:off x="6720840" y="786384"/>
            <a:ext cx="804672" cy="347472"/>
          </a:xfrm>
          <a:prstGeom prst="rect">
            <a:avLst/>
          </a:prstGeom>
          <a:solidFill>
            <a:srgbClr val="1B7B85"/>
          </a:solidFill>
          <a:ln>
            <a:noFill/>
          </a:ln>
        </p:spPr>
      </p:sp>
      <p:sp>
        <p:nvSpPr>
          <p:cNvPr id="31" name="mht"/>
          <p:cNvSpPr txBox="1">
            <a:spLocks noGrp="1"/>
          </p:cNvSpPr>
          <p:nvPr/>
        </p:nvSpPr>
        <p:spPr>
          <a:xfrm>
            <a:off x="6720840" y="786384"/>
            <a:ext cx="804672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740" b="1" dirty="0">
                <a:solidFill>
                  <a:srgbClr val="FFFFFF"/>
                </a:solidFill>
                <a:latin typeface="Calibri"/>
              </a:rPr>
              <a:t>XM</a:t>
            </a:r>
          </a:p>
        </p:txBody>
      </p:sp>
      <p:sp>
        <p:nvSpPr>
          <p:cNvPr id="32" name="mh"/>
          <p:cNvSpPr>
            <a:spLocks noGrp="1"/>
          </p:cNvSpPr>
          <p:nvPr/>
        </p:nvSpPr>
        <p:spPr>
          <a:xfrm>
            <a:off x="7525512" y="786384"/>
            <a:ext cx="804672" cy="347472"/>
          </a:xfrm>
          <a:prstGeom prst="rect">
            <a:avLst/>
          </a:prstGeom>
          <a:solidFill>
            <a:srgbClr val="1A3A8F"/>
          </a:solidFill>
          <a:ln>
            <a:noFill/>
          </a:ln>
        </p:spPr>
      </p:sp>
      <p:sp>
        <p:nvSpPr>
          <p:cNvPr id="33" name="mht"/>
          <p:cNvSpPr txBox="1">
            <a:spLocks noGrp="1"/>
          </p:cNvSpPr>
          <p:nvPr/>
        </p:nvSpPr>
        <p:spPr>
          <a:xfrm>
            <a:off x="7525512" y="786384"/>
            <a:ext cx="804672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740" b="1" dirty="0">
                <a:solidFill>
                  <a:srgbClr val="FFFFFF"/>
                </a:solidFill>
                <a:latin typeface="Calibri"/>
              </a:rPr>
              <a:t>BCO
GIOTI</a:t>
            </a:r>
          </a:p>
        </p:txBody>
      </p:sp>
      <p:sp>
        <p:nvSpPr>
          <p:cNvPr id="34" name="mh"/>
          <p:cNvSpPr>
            <a:spLocks noGrp="1"/>
          </p:cNvSpPr>
          <p:nvPr/>
        </p:nvSpPr>
        <p:spPr>
          <a:xfrm>
            <a:off x="8330184" y="786384"/>
            <a:ext cx="804672" cy="347472"/>
          </a:xfrm>
          <a:prstGeom prst="rect">
            <a:avLst/>
          </a:prstGeom>
          <a:solidFill>
            <a:srgbClr val="1A3A8F"/>
          </a:solidFill>
          <a:ln>
            <a:noFill/>
          </a:ln>
        </p:spPr>
      </p:sp>
      <p:sp>
        <p:nvSpPr>
          <p:cNvPr id="35" name="mht"/>
          <p:cNvSpPr txBox="1">
            <a:spLocks noGrp="1"/>
          </p:cNvSpPr>
          <p:nvPr/>
        </p:nvSpPr>
        <p:spPr>
          <a:xfrm>
            <a:off x="8330184" y="786384"/>
            <a:ext cx="804672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740" b="1" dirty="0">
                <a:solidFill>
                  <a:srgbClr val="FFFFFF"/>
                </a:solidFill>
                <a:latin typeface="Calibri"/>
              </a:rPr>
              <a:t>MEDI-
CAR</a:t>
            </a:r>
          </a:p>
        </p:txBody>
      </p:sp>
      <p:sp>
        <p:nvSpPr>
          <p:cNvPr id="100" name="db"/>
          <p:cNvSpPr>
            <a:spLocks noGrp="1"/>
          </p:cNvSpPr>
          <p:nvPr/>
        </p:nvSpPr>
        <p:spPr>
          <a:xfrm>
            <a:off x="320040" y="1133856"/>
            <a:ext cx="2377440" cy="347472"/>
          </a:xfrm>
          <a:prstGeom prst="rect">
            <a:avLst/>
          </a:prstGeom>
          <a:solidFill>
            <a:srgbClr val="F5F7FC"/>
          </a:solidFill>
          <a:ln w="6350">
            <a:solidFill>
              <a:srgbClr val="D1D5DB"/>
            </a:solidFill>
          </a:ln>
        </p:spPr>
      </p:sp>
      <p:sp>
        <p:nvSpPr>
          <p:cNvPr id="101" name="dt"/>
          <p:cNvSpPr txBox="1">
            <a:spLocks noGrp="1"/>
          </p:cNvSpPr>
          <p:nvPr/>
        </p:nvSpPr>
        <p:spPr>
          <a:xfrm>
            <a:off x="365760" y="1133856"/>
            <a:ext cx="228600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820" dirty="0">
                <a:solidFill>
                  <a:srgbClr val="0D1B5E"/>
                </a:solidFill>
                <a:latin typeface="Calibri"/>
              </a:rPr>
              <a:t>Sin roles definidos / asignación sin modelo</a:t>
            </a:r>
          </a:p>
        </p:txBody>
      </p:sp>
      <p:sp>
        <p:nvSpPr>
          <p:cNvPr id="102" name="cell"/>
          <p:cNvSpPr>
            <a:spLocks noGrp="1"/>
          </p:cNvSpPr>
          <p:nvPr/>
        </p:nvSpPr>
        <p:spPr>
          <a:xfrm>
            <a:off x="2697480" y="1133856"/>
            <a:ext cx="804672" cy="347472"/>
          </a:xfrm>
          <a:prstGeom prst="rect">
            <a:avLst/>
          </a:prstGeom>
          <a:solidFill>
            <a:srgbClr val="FAECE7"/>
          </a:solidFill>
          <a:ln w="6350">
            <a:solidFill>
              <a:srgbClr val="D1D5DB"/>
            </a:solidFill>
          </a:ln>
        </p:spPr>
      </p:sp>
      <p:sp>
        <p:nvSpPr>
          <p:cNvPr id="103" name="celt"/>
          <p:cNvSpPr txBox="1">
            <a:spLocks noGrp="1"/>
          </p:cNvSpPr>
          <p:nvPr/>
        </p:nvSpPr>
        <p:spPr>
          <a:xfrm>
            <a:off x="2697480" y="1133856"/>
            <a:ext cx="804672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400" b="1" dirty="0">
                <a:solidFill>
                  <a:srgbClr val="C00000"/>
                </a:solidFill>
                <a:latin typeface="Calibri"/>
              </a:rPr>
              <a:t>●</a:t>
            </a:r>
          </a:p>
        </p:txBody>
      </p:sp>
      <p:sp>
        <p:nvSpPr>
          <p:cNvPr id="6" name="cell"/>
          <p:cNvSpPr>
            <a:spLocks noGrp="1"/>
          </p:cNvSpPr>
          <p:nvPr/>
        </p:nvSpPr>
        <p:spPr>
          <a:xfrm>
            <a:off x="3502152" y="1133856"/>
            <a:ext cx="804672" cy="347472"/>
          </a:xfrm>
          <a:prstGeom prst="rect">
            <a:avLst/>
          </a:prstGeom>
          <a:solidFill>
            <a:srgbClr val="FAECE7"/>
          </a:solidFill>
          <a:ln w="6350">
            <a:solidFill>
              <a:srgbClr val="D1D5DB"/>
            </a:solidFill>
          </a:ln>
        </p:spPr>
      </p:sp>
      <p:sp>
        <p:nvSpPr>
          <p:cNvPr id="104" name="celt"/>
          <p:cNvSpPr txBox="1">
            <a:spLocks noGrp="1"/>
          </p:cNvSpPr>
          <p:nvPr/>
        </p:nvSpPr>
        <p:spPr>
          <a:xfrm>
            <a:off x="3502152" y="1133856"/>
            <a:ext cx="804672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400" b="1" dirty="0">
                <a:solidFill>
                  <a:srgbClr val="C00000"/>
                </a:solidFill>
                <a:latin typeface="Calibri"/>
              </a:rPr>
              <a:t>●</a:t>
            </a:r>
          </a:p>
        </p:txBody>
      </p:sp>
      <p:sp>
        <p:nvSpPr>
          <p:cNvPr id="7" name="cell"/>
          <p:cNvSpPr>
            <a:spLocks noGrp="1"/>
          </p:cNvSpPr>
          <p:nvPr/>
        </p:nvSpPr>
        <p:spPr>
          <a:xfrm>
            <a:off x="4306824" y="1133856"/>
            <a:ext cx="804672" cy="347472"/>
          </a:xfrm>
          <a:prstGeom prst="rect">
            <a:avLst/>
          </a:prstGeom>
          <a:solidFill>
            <a:srgbClr val="FAECE7"/>
          </a:solidFill>
          <a:ln w="6350">
            <a:solidFill>
              <a:srgbClr val="D1D5DB"/>
            </a:solidFill>
          </a:ln>
        </p:spPr>
      </p:sp>
      <p:sp>
        <p:nvSpPr>
          <p:cNvPr id="105" name="celt"/>
          <p:cNvSpPr txBox="1">
            <a:spLocks noGrp="1"/>
          </p:cNvSpPr>
          <p:nvPr/>
        </p:nvSpPr>
        <p:spPr>
          <a:xfrm>
            <a:off x="4306824" y="1133856"/>
            <a:ext cx="804672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400" b="1" dirty="0">
                <a:solidFill>
                  <a:srgbClr val="C00000"/>
                </a:solidFill>
                <a:latin typeface="Calibri"/>
              </a:rPr>
              <a:t>●</a:t>
            </a:r>
          </a:p>
        </p:txBody>
      </p:sp>
      <p:sp>
        <p:nvSpPr>
          <p:cNvPr id="8" name="cell"/>
          <p:cNvSpPr>
            <a:spLocks noGrp="1"/>
          </p:cNvSpPr>
          <p:nvPr/>
        </p:nvSpPr>
        <p:spPr>
          <a:xfrm>
            <a:off x="5111496" y="1133856"/>
            <a:ext cx="804672" cy="347472"/>
          </a:xfrm>
          <a:prstGeom prst="rect">
            <a:avLst/>
          </a:prstGeom>
          <a:solidFill>
            <a:srgbClr val="FAECE7"/>
          </a:solidFill>
          <a:ln w="6350">
            <a:solidFill>
              <a:srgbClr val="D1D5DB"/>
            </a:solidFill>
          </a:ln>
        </p:spPr>
      </p:sp>
      <p:sp>
        <p:nvSpPr>
          <p:cNvPr id="106" name="celt"/>
          <p:cNvSpPr txBox="1">
            <a:spLocks noGrp="1"/>
          </p:cNvSpPr>
          <p:nvPr/>
        </p:nvSpPr>
        <p:spPr>
          <a:xfrm>
            <a:off x="5111496" y="1133856"/>
            <a:ext cx="804672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400" b="1" dirty="0">
                <a:solidFill>
                  <a:srgbClr val="C00000"/>
                </a:solidFill>
                <a:latin typeface="Calibri"/>
              </a:rPr>
              <a:t>●</a:t>
            </a:r>
          </a:p>
        </p:txBody>
      </p:sp>
      <p:sp>
        <p:nvSpPr>
          <p:cNvPr id="9" name="cell"/>
          <p:cNvSpPr>
            <a:spLocks noGrp="1"/>
          </p:cNvSpPr>
          <p:nvPr/>
        </p:nvSpPr>
        <p:spPr>
          <a:xfrm>
            <a:off x="5916168" y="1133856"/>
            <a:ext cx="804672" cy="347472"/>
          </a:xfrm>
          <a:prstGeom prst="rect">
            <a:avLst/>
          </a:prstGeom>
          <a:solidFill>
            <a:srgbClr val="FEF3C7"/>
          </a:solidFill>
          <a:ln w="6350">
            <a:solidFill>
              <a:srgbClr val="D1D5DB"/>
            </a:solidFill>
          </a:ln>
        </p:spPr>
      </p:sp>
      <p:sp>
        <p:nvSpPr>
          <p:cNvPr id="107" name="celt"/>
          <p:cNvSpPr txBox="1">
            <a:spLocks noGrp="1"/>
          </p:cNvSpPr>
          <p:nvPr/>
        </p:nvSpPr>
        <p:spPr>
          <a:xfrm>
            <a:off x="5916168" y="1133856"/>
            <a:ext cx="804672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400" b="1" dirty="0">
                <a:solidFill>
                  <a:srgbClr val="92400E"/>
                </a:solidFill>
                <a:latin typeface="Calibri"/>
              </a:rPr>
              <a:t>◐</a:t>
            </a:r>
          </a:p>
        </p:txBody>
      </p:sp>
      <p:sp>
        <p:nvSpPr>
          <p:cNvPr id="12" name="cell"/>
          <p:cNvSpPr>
            <a:spLocks noGrp="1"/>
          </p:cNvSpPr>
          <p:nvPr/>
        </p:nvSpPr>
        <p:spPr>
          <a:xfrm>
            <a:off x="6720840" y="1133856"/>
            <a:ext cx="804672" cy="347472"/>
          </a:xfrm>
          <a:prstGeom prst="rect">
            <a:avLst/>
          </a:prstGeom>
          <a:solidFill>
            <a:srgbClr val="FEF3C7"/>
          </a:solidFill>
          <a:ln w="6350">
            <a:solidFill>
              <a:srgbClr val="D1D5DB"/>
            </a:solidFill>
          </a:ln>
        </p:spPr>
      </p:sp>
      <p:sp>
        <p:nvSpPr>
          <p:cNvPr id="108" name="celt"/>
          <p:cNvSpPr txBox="1">
            <a:spLocks noGrp="1"/>
          </p:cNvSpPr>
          <p:nvPr/>
        </p:nvSpPr>
        <p:spPr>
          <a:xfrm>
            <a:off x="6720840" y="1133856"/>
            <a:ext cx="804672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400" b="1" dirty="0">
                <a:solidFill>
                  <a:srgbClr val="92400E"/>
                </a:solidFill>
                <a:latin typeface="Calibri"/>
              </a:rPr>
              <a:t>◐</a:t>
            </a:r>
          </a:p>
        </p:txBody>
      </p:sp>
      <p:sp>
        <p:nvSpPr>
          <p:cNvPr id="13" name="cell"/>
          <p:cNvSpPr>
            <a:spLocks noGrp="1"/>
          </p:cNvSpPr>
          <p:nvPr/>
        </p:nvSpPr>
        <p:spPr>
          <a:xfrm>
            <a:off x="7525512" y="1133856"/>
            <a:ext cx="804672" cy="347472"/>
          </a:xfrm>
          <a:prstGeom prst="rect">
            <a:avLst/>
          </a:prstGeom>
          <a:solidFill>
            <a:srgbClr val="FAECE7"/>
          </a:solidFill>
          <a:ln w="6350">
            <a:solidFill>
              <a:srgbClr val="D1D5DB"/>
            </a:solidFill>
          </a:ln>
        </p:spPr>
      </p:sp>
      <p:sp>
        <p:nvSpPr>
          <p:cNvPr id="109" name="celt"/>
          <p:cNvSpPr txBox="1">
            <a:spLocks noGrp="1"/>
          </p:cNvSpPr>
          <p:nvPr/>
        </p:nvSpPr>
        <p:spPr>
          <a:xfrm>
            <a:off x="7525512" y="1133856"/>
            <a:ext cx="804672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400" b="1" dirty="0">
                <a:solidFill>
                  <a:srgbClr val="C00000"/>
                </a:solidFill>
                <a:latin typeface="Calibri"/>
              </a:rPr>
              <a:t>●</a:t>
            </a:r>
          </a:p>
        </p:txBody>
      </p:sp>
      <p:sp>
        <p:nvSpPr>
          <p:cNvPr id="14" name="cell"/>
          <p:cNvSpPr>
            <a:spLocks noGrp="1"/>
          </p:cNvSpPr>
          <p:nvPr/>
        </p:nvSpPr>
        <p:spPr>
          <a:xfrm>
            <a:off x="8330184" y="1133856"/>
            <a:ext cx="804672" cy="347472"/>
          </a:xfrm>
          <a:prstGeom prst="rect">
            <a:avLst/>
          </a:prstGeom>
          <a:solidFill>
            <a:srgbClr val="FAECE7"/>
          </a:solidFill>
          <a:ln w="6350">
            <a:solidFill>
              <a:srgbClr val="D1D5DB"/>
            </a:solidFill>
          </a:ln>
        </p:spPr>
      </p:sp>
      <p:sp>
        <p:nvSpPr>
          <p:cNvPr id="110" name="celt"/>
          <p:cNvSpPr txBox="1">
            <a:spLocks noGrp="1"/>
          </p:cNvSpPr>
          <p:nvPr/>
        </p:nvSpPr>
        <p:spPr>
          <a:xfrm>
            <a:off x="8330184" y="1133856"/>
            <a:ext cx="804672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400" b="1" dirty="0">
                <a:solidFill>
                  <a:srgbClr val="C00000"/>
                </a:solidFill>
                <a:latin typeface="Calibri"/>
              </a:rPr>
              <a:t>●</a:t>
            </a:r>
          </a:p>
        </p:txBody>
      </p:sp>
      <p:sp>
        <p:nvSpPr>
          <p:cNvPr id="115" name="db"/>
          <p:cNvSpPr>
            <a:spLocks noGrp="1"/>
          </p:cNvSpPr>
          <p:nvPr/>
        </p:nvSpPr>
        <p:spPr>
          <a:xfrm>
            <a:off x="320040" y="1481328"/>
            <a:ext cx="23774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</p:sp>
      <p:sp>
        <p:nvSpPr>
          <p:cNvPr id="116" name="dt"/>
          <p:cNvSpPr txBox="1">
            <a:spLocks noGrp="1"/>
          </p:cNvSpPr>
          <p:nvPr/>
        </p:nvSpPr>
        <p:spPr>
          <a:xfrm>
            <a:off x="365760" y="1481328"/>
            <a:ext cx="228600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820" dirty="0">
                <a:solidFill>
                  <a:srgbClr val="0D1B5E"/>
                </a:solidFill>
                <a:latin typeface="Calibri"/>
              </a:rPr>
              <a:t>Postura 100% reactiva — sin anticipacion</a:t>
            </a:r>
          </a:p>
        </p:txBody>
      </p:sp>
      <p:sp>
        <p:nvSpPr>
          <p:cNvPr id="117" name="cell"/>
          <p:cNvSpPr>
            <a:spLocks noGrp="1"/>
          </p:cNvSpPr>
          <p:nvPr/>
        </p:nvSpPr>
        <p:spPr>
          <a:xfrm>
            <a:off x="2697480" y="1481328"/>
            <a:ext cx="804672" cy="347472"/>
          </a:xfrm>
          <a:prstGeom prst="rect">
            <a:avLst/>
          </a:prstGeom>
          <a:solidFill>
            <a:srgbClr val="FEF3C7"/>
          </a:solidFill>
          <a:ln w="6350">
            <a:solidFill>
              <a:srgbClr val="D1D5DB"/>
            </a:solidFill>
          </a:ln>
        </p:spPr>
      </p:sp>
      <p:sp>
        <p:nvSpPr>
          <p:cNvPr id="118" name="celt"/>
          <p:cNvSpPr txBox="1">
            <a:spLocks noGrp="1"/>
          </p:cNvSpPr>
          <p:nvPr/>
        </p:nvSpPr>
        <p:spPr>
          <a:xfrm>
            <a:off x="2697480" y="1481328"/>
            <a:ext cx="804672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400" b="1" dirty="0">
                <a:solidFill>
                  <a:srgbClr val="92400E"/>
                </a:solidFill>
                <a:latin typeface="Calibri"/>
              </a:rPr>
              <a:t>◐</a:t>
            </a:r>
          </a:p>
        </p:txBody>
      </p:sp>
      <p:sp>
        <p:nvSpPr>
          <p:cNvPr id="15" name="cell"/>
          <p:cNvSpPr>
            <a:spLocks noGrp="1"/>
          </p:cNvSpPr>
          <p:nvPr/>
        </p:nvSpPr>
        <p:spPr>
          <a:xfrm>
            <a:off x="3502152" y="1481328"/>
            <a:ext cx="804672" cy="347472"/>
          </a:xfrm>
          <a:prstGeom prst="rect">
            <a:avLst/>
          </a:prstGeom>
          <a:solidFill>
            <a:srgbClr val="FEF3C7"/>
          </a:solidFill>
          <a:ln w="6350">
            <a:solidFill>
              <a:srgbClr val="D1D5DB"/>
            </a:solidFill>
          </a:ln>
        </p:spPr>
      </p:sp>
      <p:sp>
        <p:nvSpPr>
          <p:cNvPr id="119" name="celt"/>
          <p:cNvSpPr txBox="1">
            <a:spLocks noGrp="1"/>
          </p:cNvSpPr>
          <p:nvPr/>
        </p:nvSpPr>
        <p:spPr>
          <a:xfrm>
            <a:off x="3502152" y="1481328"/>
            <a:ext cx="804672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400" b="1" dirty="0">
                <a:solidFill>
                  <a:srgbClr val="92400E"/>
                </a:solidFill>
                <a:latin typeface="Calibri"/>
              </a:rPr>
              <a:t>◐</a:t>
            </a:r>
          </a:p>
        </p:txBody>
      </p:sp>
      <p:sp>
        <p:nvSpPr>
          <p:cNvPr id="16" name="cell"/>
          <p:cNvSpPr>
            <a:spLocks noGrp="1"/>
          </p:cNvSpPr>
          <p:nvPr/>
        </p:nvSpPr>
        <p:spPr>
          <a:xfrm>
            <a:off x="4306824" y="1481328"/>
            <a:ext cx="804672" cy="347472"/>
          </a:xfrm>
          <a:prstGeom prst="rect">
            <a:avLst/>
          </a:prstGeom>
          <a:solidFill>
            <a:srgbClr val="FEF3C7"/>
          </a:solidFill>
          <a:ln w="6350">
            <a:solidFill>
              <a:srgbClr val="D1D5DB"/>
            </a:solidFill>
          </a:ln>
        </p:spPr>
      </p:sp>
      <p:sp>
        <p:nvSpPr>
          <p:cNvPr id="120" name="celt"/>
          <p:cNvSpPr txBox="1">
            <a:spLocks noGrp="1"/>
          </p:cNvSpPr>
          <p:nvPr/>
        </p:nvSpPr>
        <p:spPr>
          <a:xfrm>
            <a:off x="4306824" y="1481328"/>
            <a:ext cx="804672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400" b="1" dirty="0">
                <a:solidFill>
                  <a:srgbClr val="92400E"/>
                </a:solidFill>
                <a:latin typeface="Calibri"/>
              </a:rPr>
              <a:t>◐</a:t>
            </a:r>
          </a:p>
        </p:txBody>
      </p:sp>
      <p:sp>
        <p:nvSpPr>
          <p:cNvPr id="17" name="cell"/>
          <p:cNvSpPr>
            <a:spLocks noGrp="1"/>
          </p:cNvSpPr>
          <p:nvPr/>
        </p:nvSpPr>
        <p:spPr>
          <a:xfrm>
            <a:off x="5111496" y="1481328"/>
            <a:ext cx="804672" cy="347472"/>
          </a:xfrm>
          <a:prstGeom prst="rect">
            <a:avLst/>
          </a:prstGeom>
          <a:solidFill>
            <a:srgbClr val="FEF3C7"/>
          </a:solidFill>
          <a:ln w="6350">
            <a:solidFill>
              <a:srgbClr val="D1D5DB"/>
            </a:solidFill>
          </a:ln>
        </p:spPr>
      </p:sp>
      <p:sp>
        <p:nvSpPr>
          <p:cNvPr id="121" name="celt"/>
          <p:cNvSpPr txBox="1">
            <a:spLocks noGrp="1"/>
          </p:cNvSpPr>
          <p:nvPr/>
        </p:nvSpPr>
        <p:spPr>
          <a:xfrm>
            <a:off x="5111496" y="1481328"/>
            <a:ext cx="804672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400" b="1" dirty="0">
                <a:solidFill>
                  <a:srgbClr val="92400E"/>
                </a:solidFill>
                <a:latin typeface="Calibri"/>
              </a:rPr>
              <a:t>◐</a:t>
            </a:r>
          </a:p>
        </p:txBody>
      </p:sp>
      <p:sp>
        <p:nvSpPr>
          <p:cNvPr id="18" name="cell"/>
          <p:cNvSpPr>
            <a:spLocks noGrp="1"/>
          </p:cNvSpPr>
          <p:nvPr/>
        </p:nvSpPr>
        <p:spPr>
          <a:xfrm>
            <a:off x="5916168" y="1481328"/>
            <a:ext cx="804672" cy="347472"/>
          </a:xfrm>
          <a:prstGeom prst="rect">
            <a:avLst/>
          </a:prstGeom>
          <a:solidFill>
            <a:srgbClr val="FAECE7"/>
          </a:solidFill>
          <a:ln w="6350">
            <a:solidFill>
              <a:srgbClr val="D1D5DB"/>
            </a:solidFill>
          </a:ln>
        </p:spPr>
      </p:sp>
      <p:sp>
        <p:nvSpPr>
          <p:cNvPr id="122" name="celt"/>
          <p:cNvSpPr txBox="1">
            <a:spLocks noGrp="1"/>
          </p:cNvSpPr>
          <p:nvPr/>
        </p:nvSpPr>
        <p:spPr>
          <a:xfrm>
            <a:off x="5916168" y="1481328"/>
            <a:ext cx="804672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400" b="1" dirty="0">
                <a:solidFill>
                  <a:srgbClr val="C00000"/>
                </a:solidFill>
                <a:latin typeface="Calibri"/>
              </a:rPr>
              <a:t>●</a:t>
            </a:r>
          </a:p>
        </p:txBody>
      </p:sp>
      <p:sp>
        <p:nvSpPr>
          <p:cNvPr id="19" name="cell"/>
          <p:cNvSpPr>
            <a:spLocks noGrp="1"/>
          </p:cNvSpPr>
          <p:nvPr/>
        </p:nvSpPr>
        <p:spPr>
          <a:xfrm>
            <a:off x="6720840" y="1481328"/>
            <a:ext cx="804672" cy="347472"/>
          </a:xfrm>
          <a:prstGeom prst="rect">
            <a:avLst/>
          </a:prstGeom>
          <a:solidFill>
            <a:srgbClr val="FAECE7"/>
          </a:solidFill>
          <a:ln w="6350">
            <a:solidFill>
              <a:srgbClr val="D1D5DB"/>
            </a:solidFill>
          </a:ln>
        </p:spPr>
      </p:sp>
      <p:sp>
        <p:nvSpPr>
          <p:cNvPr id="123" name="celt"/>
          <p:cNvSpPr txBox="1">
            <a:spLocks noGrp="1"/>
          </p:cNvSpPr>
          <p:nvPr/>
        </p:nvSpPr>
        <p:spPr>
          <a:xfrm>
            <a:off x="6720840" y="1481328"/>
            <a:ext cx="804672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400" b="1" dirty="0">
                <a:solidFill>
                  <a:srgbClr val="C00000"/>
                </a:solidFill>
                <a:latin typeface="Calibri"/>
              </a:rPr>
              <a:t>●</a:t>
            </a:r>
          </a:p>
        </p:txBody>
      </p:sp>
      <p:sp>
        <p:nvSpPr>
          <p:cNvPr id="36" name="cell"/>
          <p:cNvSpPr>
            <a:spLocks noGrp="1"/>
          </p:cNvSpPr>
          <p:nvPr/>
        </p:nvSpPr>
        <p:spPr>
          <a:xfrm>
            <a:off x="7525512" y="1481328"/>
            <a:ext cx="804672" cy="347472"/>
          </a:xfrm>
          <a:prstGeom prst="rect">
            <a:avLst/>
          </a:prstGeom>
          <a:solidFill>
            <a:srgbClr val="FAECE7"/>
          </a:solidFill>
          <a:ln w="6350">
            <a:solidFill>
              <a:srgbClr val="D1D5DB"/>
            </a:solidFill>
          </a:ln>
        </p:spPr>
      </p:sp>
      <p:sp>
        <p:nvSpPr>
          <p:cNvPr id="124" name="celt"/>
          <p:cNvSpPr txBox="1">
            <a:spLocks noGrp="1"/>
          </p:cNvSpPr>
          <p:nvPr/>
        </p:nvSpPr>
        <p:spPr>
          <a:xfrm>
            <a:off x="7525512" y="1481328"/>
            <a:ext cx="804672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400" b="1" dirty="0">
                <a:solidFill>
                  <a:srgbClr val="C00000"/>
                </a:solidFill>
                <a:latin typeface="Calibri"/>
              </a:rPr>
              <a:t>●</a:t>
            </a:r>
          </a:p>
        </p:txBody>
      </p:sp>
      <p:sp>
        <p:nvSpPr>
          <p:cNvPr id="37" name="cell"/>
          <p:cNvSpPr>
            <a:spLocks noGrp="1"/>
          </p:cNvSpPr>
          <p:nvPr/>
        </p:nvSpPr>
        <p:spPr>
          <a:xfrm>
            <a:off x="8330184" y="1481328"/>
            <a:ext cx="804672" cy="347472"/>
          </a:xfrm>
          <a:prstGeom prst="rect">
            <a:avLst/>
          </a:prstGeom>
          <a:solidFill>
            <a:srgbClr val="FEF3C7"/>
          </a:solidFill>
          <a:ln w="6350">
            <a:solidFill>
              <a:srgbClr val="D1D5DB"/>
            </a:solidFill>
          </a:ln>
        </p:spPr>
      </p:sp>
      <p:sp>
        <p:nvSpPr>
          <p:cNvPr id="125" name="celt"/>
          <p:cNvSpPr txBox="1">
            <a:spLocks noGrp="1"/>
          </p:cNvSpPr>
          <p:nvPr/>
        </p:nvSpPr>
        <p:spPr>
          <a:xfrm>
            <a:off x="8330184" y="1481328"/>
            <a:ext cx="804672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400" b="1" dirty="0">
                <a:solidFill>
                  <a:srgbClr val="92400E"/>
                </a:solidFill>
                <a:latin typeface="Calibri"/>
              </a:rPr>
              <a:t>◐</a:t>
            </a:r>
          </a:p>
        </p:txBody>
      </p:sp>
      <p:sp>
        <p:nvSpPr>
          <p:cNvPr id="130" name="db"/>
          <p:cNvSpPr>
            <a:spLocks noGrp="1"/>
          </p:cNvSpPr>
          <p:nvPr/>
        </p:nvSpPr>
        <p:spPr>
          <a:xfrm>
            <a:off x="320040" y="1828800"/>
            <a:ext cx="2377440" cy="347472"/>
          </a:xfrm>
          <a:prstGeom prst="rect">
            <a:avLst/>
          </a:prstGeom>
          <a:solidFill>
            <a:srgbClr val="F5F7FC"/>
          </a:solidFill>
          <a:ln w="6350">
            <a:solidFill>
              <a:srgbClr val="D1D5DB"/>
            </a:solidFill>
          </a:ln>
        </p:spPr>
      </p:sp>
      <p:sp>
        <p:nvSpPr>
          <p:cNvPr id="131" name="dt"/>
          <p:cNvSpPr txBox="1">
            <a:spLocks noGrp="1"/>
          </p:cNvSpPr>
          <p:nvPr/>
        </p:nvSpPr>
        <p:spPr>
          <a:xfrm>
            <a:off x="365760" y="1828800"/>
            <a:ext cx="228600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820" dirty="0">
                <a:solidFill>
                  <a:srgbClr val="0D1B5E"/>
                </a:solidFill>
                <a:latin typeface="Calibri"/>
              </a:rPr>
              <a:t>Brechas comercial vs ejecucion real</a:t>
            </a:r>
          </a:p>
        </p:txBody>
      </p:sp>
      <p:sp>
        <p:nvSpPr>
          <p:cNvPr id="132" name="cell"/>
          <p:cNvSpPr>
            <a:spLocks noGrp="1"/>
          </p:cNvSpPr>
          <p:nvPr/>
        </p:nvSpPr>
        <p:spPr>
          <a:xfrm>
            <a:off x="2697480" y="1828800"/>
            <a:ext cx="804672" cy="347472"/>
          </a:xfrm>
          <a:prstGeom prst="rect">
            <a:avLst/>
          </a:prstGeom>
          <a:solidFill>
            <a:srgbClr val="FAECE7"/>
          </a:solidFill>
          <a:ln w="6350">
            <a:solidFill>
              <a:srgbClr val="D1D5DB"/>
            </a:solidFill>
          </a:ln>
        </p:spPr>
      </p:sp>
      <p:sp>
        <p:nvSpPr>
          <p:cNvPr id="133" name="celt"/>
          <p:cNvSpPr txBox="1">
            <a:spLocks noGrp="1"/>
          </p:cNvSpPr>
          <p:nvPr/>
        </p:nvSpPr>
        <p:spPr>
          <a:xfrm>
            <a:off x="2697480" y="1828800"/>
            <a:ext cx="804672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400" b="1" dirty="0">
                <a:solidFill>
                  <a:srgbClr val="C00000"/>
                </a:solidFill>
                <a:latin typeface="Calibri"/>
              </a:rPr>
              <a:t>●</a:t>
            </a:r>
          </a:p>
        </p:txBody>
      </p:sp>
      <p:sp>
        <p:nvSpPr>
          <p:cNvPr id="38" name="cell"/>
          <p:cNvSpPr>
            <a:spLocks noGrp="1"/>
          </p:cNvSpPr>
          <p:nvPr/>
        </p:nvSpPr>
        <p:spPr>
          <a:xfrm>
            <a:off x="3502152" y="1828800"/>
            <a:ext cx="804672" cy="347472"/>
          </a:xfrm>
          <a:prstGeom prst="rect">
            <a:avLst/>
          </a:prstGeom>
          <a:solidFill>
            <a:srgbClr val="FAECE7"/>
          </a:solidFill>
          <a:ln w="6350">
            <a:solidFill>
              <a:srgbClr val="D1D5DB"/>
            </a:solidFill>
          </a:ln>
        </p:spPr>
      </p:sp>
      <p:sp>
        <p:nvSpPr>
          <p:cNvPr id="134" name="celt"/>
          <p:cNvSpPr txBox="1">
            <a:spLocks noGrp="1"/>
          </p:cNvSpPr>
          <p:nvPr/>
        </p:nvSpPr>
        <p:spPr>
          <a:xfrm>
            <a:off x="3502152" y="1828800"/>
            <a:ext cx="804672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400" b="1" dirty="0">
                <a:solidFill>
                  <a:srgbClr val="C00000"/>
                </a:solidFill>
                <a:latin typeface="Calibri"/>
              </a:rPr>
              <a:t>●</a:t>
            </a:r>
          </a:p>
        </p:txBody>
      </p:sp>
      <p:sp>
        <p:nvSpPr>
          <p:cNvPr id="39" name="cell"/>
          <p:cNvSpPr>
            <a:spLocks noGrp="1"/>
          </p:cNvSpPr>
          <p:nvPr/>
        </p:nvSpPr>
        <p:spPr>
          <a:xfrm>
            <a:off x="4306824" y="1828800"/>
            <a:ext cx="804672" cy="347472"/>
          </a:xfrm>
          <a:prstGeom prst="rect">
            <a:avLst/>
          </a:prstGeom>
          <a:solidFill>
            <a:srgbClr val="FAECE7"/>
          </a:solidFill>
          <a:ln w="6350">
            <a:solidFill>
              <a:srgbClr val="D1D5DB"/>
            </a:solidFill>
          </a:ln>
        </p:spPr>
      </p:sp>
      <p:sp>
        <p:nvSpPr>
          <p:cNvPr id="135" name="celt"/>
          <p:cNvSpPr txBox="1">
            <a:spLocks noGrp="1"/>
          </p:cNvSpPr>
          <p:nvPr/>
        </p:nvSpPr>
        <p:spPr>
          <a:xfrm>
            <a:off x="4306824" y="1828800"/>
            <a:ext cx="804672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400" b="1" dirty="0">
                <a:solidFill>
                  <a:srgbClr val="C00000"/>
                </a:solidFill>
                <a:latin typeface="Calibri"/>
              </a:rPr>
              <a:t>●</a:t>
            </a:r>
          </a:p>
        </p:txBody>
      </p:sp>
      <p:sp>
        <p:nvSpPr>
          <p:cNvPr id="40" name="cell"/>
          <p:cNvSpPr>
            <a:spLocks noGrp="1"/>
          </p:cNvSpPr>
          <p:nvPr/>
        </p:nvSpPr>
        <p:spPr>
          <a:xfrm>
            <a:off x="5111496" y="1828800"/>
            <a:ext cx="804672" cy="347472"/>
          </a:xfrm>
          <a:prstGeom prst="rect">
            <a:avLst/>
          </a:prstGeom>
          <a:solidFill>
            <a:srgbClr val="FAECE7"/>
          </a:solidFill>
          <a:ln w="6350">
            <a:solidFill>
              <a:srgbClr val="D1D5DB"/>
            </a:solidFill>
          </a:ln>
        </p:spPr>
      </p:sp>
      <p:sp>
        <p:nvSpPr>
          <p:cNvPr id="136" name="celt"/>
          <p:cNvSpPr txBox="1">
            <a:spLocks noGrp="1"/>
          </p:cNvSpPr>
          <p:nvPr/>
        </p:nvSpPr>
        <p:spPr>
          <a:xfrm>
            <a:off x="5111496" y="1828800"/>
            <a:ext cx="804672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400" b="1" dirty="0">
                <a:solidFill>
                  <a:srgbClr val="C00000"/>
                </a:solidFill>
                <a:latin typeface="Calibri"/>
              </a:rPr>
              <a:t>●</a:t>
            </a:r>
          </a:p>
        </p:txBody>
      </p:sp>
      <p:sp>
        <p:nvSpPr>
          <p:cNvPr id="41" name="cell"/>
          <p:cNvSpPr>
            <a:spLocks noGrp="1"/>
          </p:cNvSpPr>
          <p:nvPr/>
        </p:nvSpPr>
        <p:spPr>
          <a:xfrm>
            <a:off x="5916168" y="1828800"/>
            <a:ext cx="804672" cy="347472"/>
          </a:xfrm>
          <a:prstGeom prst="rect">
            <a:avLst/>
          </a:prstGeom>
          <a:solidFill>
            <a:srgbClr val="FAECE7"/>
          </a:solidFill>
          <a:ln w="6350">
            <a:solidFill>
              <a:srgbClr val="D1D5DB"/>
            </a:solidFill>
          </a:ln>
        </p:spPr>
      </p:sp>
      <p:sp>
        <p:nvSpPr>
          <p:cNvPr id="137" name="celt"/>
          <p:cNvSpPr txBox="1">
            <a:spLocks noGrp="1"/>
          </p:cNvSpPr>
          <p:nvPr/>
        </p:nvSpPr>
        <p:spPr>
          <a:xfrm>
            <a:off x="5916168" y="1828800"/>
            <a:ext cx="804672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400" b="1" dirty="0">
                <a:solidFill>
                  <a:srgbClr val="C00000"/>
                </a:solidFill>
                <a:latin typeface="Calibri"/>
              </a:rPr>
              <a:t>●</a:t>
            </a:r>
          </a:p>
        </p:txBody>
      </p:sp>
      <p:sp>
        <p:nvSpPr>
          <p:cNvPr id="42" name="cell"/>
          <p:cNvSpPr>
            <a:spLocks noGrp="1"/>
          </p:cNvSpPr>
          <p:nvPr/>
        </p:nvSpPr>
        <p:spPr>
          <a:xfrm>
            <a:off x="6720840" y="1828800"/>
            <a:ext cx="804672" cy="347472"/>
          </a:xfrm>
          <a:prstGeom prst="rect">
            <a:avLst/>
          </a:prstGeom>
          <a:solidFill>
            <a:srgbClr val="FAECE7"/>
          </a:solidFill>
          <a:ln w="6350">
            <a:solidFill>
              <a:srgbClr val="D1D5DB"/>
            </a:solidFill>
          </a:ln>
        </p:spPr>
      </p:sp>
      <p:sp>
        <p:nvSpPr>
          <p:cNvPr id="138" name="celt"/>
          <p:cNvSpPr txBox="1">
            <a:spLocks noGrp="1"/>
          </p:cNvSpPr>
          <p:nvPr/>
        </p:nvSpPr>
        <p:spPr>
          <a:xfrm>
            <a:off x="6720840" y="1828800"/>
            <a:ext cx="804672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400" b="1" dirty="0">
                <a:solidFill>
                  <a:srgbClr val="C00000"/>
                </a:solidFill>
                <a:latin typeface="Calibri"/>
              </a:rPr>
              <a:t>●</a:t>
            </a:r>
          </a:p>
        </p:txBody>
      </p:sp>
      <p:sp>
        <p:nvSpPr>
          <p:cNvPr id="43" name="cell"/>
          <p:cNvSpPr>
            <a:spLocks noGrp="1"/>
          </p:cNvSpPr>
          <p:nvPr/>
        </p:nvSpPr>
        <p:spPr>
          <a:xfrm>
            <a:off x="7525512" y="1828800"/>
            <a:ext cx="804672" cy="347472"/>
          </a:xfrm>
          <a:prstGeom prst="rect">
            <a:avLst/>
          </a:prstGeom>
          <a:solidFill>
            <a:srgbClr val="FAECE7"/>
          </a:solidFill>
          <a:ln w="6350">
            <a:solidFill>
              <a:srgbClr val="D1D5DB"/>
            </a:solidFill>
          </a:ln>
        </p:spPr>
      </p:sp>
      <p:sp>
        <p:nvSpPr>
          <p:cNvPr id="139" name="celt"/>
          <p:cNvSpPr txBox="1">
            <a:spLocks noGrp="1"/>
          </p:cNvSpPr>
          <p:nvPr/>
        </p:nvSpPr>
        <p:spPr>
          <a:xfrm>
            <a:off x="7525512" y="1828800"/>
            <a:ext cx="804672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400" b="1" dirty="0">
                <a:solidFill>
                  <a:srgbClr val="C00000"/>
                </a:solidFill>
                <a:latin typeface="Calibri"/>
              </a:rPr>
              <a:t>●</a:t>
            </a:r>
          </a:p>
        </p:txBody>
      </p:sp>
      <p:sp>
        <p:nvSpPr>
          <p:cNvPr id="44" name="cell"/>
          <p:cNvSpPr>
            <a:spLocks noGrp="1"/>
          </p:cNvSpPr>
          <p:nvPr/>
        </p:nvSpPr>
        <p:spPr>
          <a:xfrm>
            <a:off x="8330184" y="1828800"/>
            <a:ext cx="804672" cy="347472"/>
          </a:xfrm>
          <a:prstGeom prst="rect">
            <a:avLst/>
          </a:prstGeom>
          <a:solidFill>
            <a:srgbClr val="FAECE7"/>
          </a:solidFill>
          <a:ln w="6350">
            <a:solidFill>
              <a:srgbClr val="D1D5DB"/>
            </a:solidFill>
          </a:ln>
        </p:spPr>
      </p:sp>
      <p:sp>
        <p:nvSpPr>
          <p:cNvPr id="140" name="celt"/>
          <p:cNvSpPr txBox="1">
            <a:spLocks noGrp="1"/>
          </p:cNvSpPr>
          <p:nvPr/>
        </p:nvSpPr>
        <p:spPr>
          <a:xfrm>
            <a:off x="8330184" y="1828800"/>
            <a:ext cx="804672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400" b="1" dirty="0">
                <a:solidFill>
                  <a:srgbClr val="C00000"/>
                </a:solidFill>
                <a:latin typeface="Calibri"/>
              </a:rPr>
              <a:t>●</a:t>
            </a:r>
          </a:p>
        </p:txBody>
      </p:sp>
      <p:sp>
        <p:nvSpPr>
          <p:cNvPr id="145" name="db"/>
          <p:cNvSpPr>
            <a:spLocks noGrp="1"/>
          </p:cNvSpPr>
          <p:nvPr/>
        </p:nvSpPr>
        <p:spPr>
          <a:xfrm>
            <a:off x="320040" y="2176272"/>
            <a:ext cx="23774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</p:sp>
      <p:sp>
        <p:nvSpPr>
          <p:cNvPr id="146" name="dt"/>
          <p:cNvSpPr txBox="1">
            <a:spLocks noGrp="1"/>
          </p:cNvSpPr>
          <p:nvPr/>
        </p:nvSpPr>
        <p:spPr>
          <a:xfrm>
            <a:off x="365760" y="2176272"/>
            <a:ext cx="228600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820" dirty="0">
                <a:solidFill>
                  <a:srgbClr val="0D1B5E"/>
                </a:solidFill>
                <a:latin typeface="Calibri"/>
              </a:rPr>
              <a:t>Ausencia de metricas y KPIs definidos</a:t>
            </a:r>
          </a:p>
        </p:txBody>
      </p:sp>
      <p:sp>
        <p:nvSpPr>
          <p:cNvPr id="147" name="cell"/>
          <p:cNvSpPr>
            <a:spLocks noGrp="1"/>
          </p:cNvSpPr>
          <p:nvPr/>
        </p:nvSpPr>
        <p:spPr>
          <a:xfrm>
            <a:off x="2697480" y="2176272"/>
            <a:ext cx="804672" cy="347472"/>
          </a:xfrm>
          <a:prstGeom prst="rect">
            <a:avLst/>
          </a:prstGeom>
          <a:solidFill>
            <a:srgbClr val="FEF3C7"/>
          </a:solidFill>
          <a:ln w="6350">
            <a:solidFill>
              <a:srgbClr val="D1D5DB"/>
            </a:solidFill>
          </a:ln>
        </p:spPr>
      </p:sp>
      <p:sp>
        <p:nvSpPr>
          <p:cNvPr id="148" name="celt"/>
          <p:cNvSpPr txBox="1">
            <a:spLocks noGrp="1"/>
          </p:cNvSpPr>
          <p:nvPr/>
        </p:nvSpPr>
        <p:spPr>
          <a:xfrm>
            <a:off x="2697480" y="2176272"/>
            <a:ext cx="804672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400" b="1" dirty="0">
                <a:solidFill>
                  <a:srgbClr val="92400E"/>
                </a:solidFill>
                <a:latin typeface="Calibri"/>
              </a:rPr>
              <a:t>◐</a:t>
            </a:r>
          </a:p>
        </p:txBody>
      </p:sp>
      <p:sp>
        <p:nvSpPr>
          <p:cNvPr id="45" name="cell"/>
          <p:cNvSpPr>
            <a:spLocks noGrp="1"/>
          </p:cNvSpPr>
          <p:nvPr/>
        </p:nvSpPr>
        <p:spPr>
          <a:xfrm>
            <a:off x="3502152" y="2176272"/>
            <a:ext cx="804672" cy="347472"/>
          </a:xfrm>
          <a:prstGeom prst="rect">
            <a:avLst/>
          </a:prstGeom>
          <a:solidFill>
            <a:srgbClr val="FEF3C7"/>
          </a:solidFill>
          <a:ln w="6350">
            <a:solidFill>
              <a:srgbClr val="D1D5DB"/>
            </a:solidFill>
          </a:ln>
        </p:spPr>
      </p:sp>
      <p:sp>
        <p:nvSpPr>
          <p:cNvPr id="149" name="celt"/>
          <p:cNvSpPr txBox="1">
            <a:spLocks noGrp="1"/>
          </p:cNvSpPr>
          <p:nvPr/>
        </p:nvSpPr>
        <p:spPr>
          <a:xfrm>
            <a:off x="3502152" y="2176272"/>
            <a:ext cx="804672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400" b="1" dirty="0">
                <a:solidFill>
                  <a:srgbClr val="92400E"/>
                </a:solidFill>
                <a:latin typeface="Calibri"/>
              </a:rPr>
              <a:t>◐</a:t>
            </a:r>
          </a:p>
        </p:txBody>
      </p:sp>
      <p:sp>
        <p:nvSpPr>
          <p:cNvPr id="46" name="cell"/>
          <p:cNvSpPr>
            <a:spLocks noGrp="1"/>
          </p:cNvSpPr>
          <p:nvPr/>
        </p:nvSpPr>
        <p:spPr>
          <a:xfrm>
            <a:off x="4306824" y="2176272"/>
            <a:ext cx="804672" cy="347472"/>
          </a:xfrm>
          <a:prstGeom prst="rect">
            <a:avLst/>
          </a:prstGeom>
          <a:solidFill>
            <a:srgbClr val="FEF3C7"/>
          </a:solidFill>
          <a:ln w="6350">
            <a:solidFill>
              <a:srgbClr val="D1D5DB"/>
            </a:solidFill>
          </a:ln>
        </p:spPr>
      </p:sp>
      <p:sp>
        <p:nvSpPr>
          <p:cNvPr id="150" name="celt"/>
          <p:cNvSpPr txBox="1">
            <a:spLocks noGrp="1"/>
          </p:cNvSpPr>
          <p:nvPr/>
        </p:nvSpPr>
        <p:spPr>
          <a:xfrm>
            <a:off x="4306824" y="2176272"/>
            <a:ext cx="804672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400" b="1" dirty="0">
                <a:solidFill>
                  <a:srgbClr val="92400E"/>
                </a:solidFill>
                <a:latin typeface="Calibri"/>
              </a:rPr>
              <a:t>◐</a:t>
            </a:r>
          </a:p>
        </p:txBody>
      </p:sp>
      <p:sp>
        <p:nvSpPr>
          <p:cNvPr id="47" name="cell"/>
          <p:cNvSpPr>
            <a:spLocks noGrp="1"/>
          </p:cNvSpPr>
          <p:nvPr/>
        </p:nvSpPr>
        <p:spPr>
          <a:xfrm>
            <a:off x="5111496" y="2176272"/>
            <a:ext cx="804672" cy="347472"/>
          </a:xfrm>
          <a:prstGeom prst="rect">
            <a:avLst/>
          </a:prstGeom>
          <a:solidFill>
            <a:srgbClr val="FAECE7"/>
          </a:solidFill>
          <a:ln w="6350">
            <a:solidFill>
              <a:srgbClr val="D1D5DB"/>
            </a:solidFill>
          </a:ln>
        </p:spPr>
      </p:sp>
      <p:sp>
        <p:nvSpPr>
          <p:cNvPr id="151" name="celt"/>
          <p:cNvSpPr txBox="1">
            <a:spLocks noGrp="1"/>
          </p:cNvSpPr>
          <p:nvPr/>
        </p:nvSpPr>
        <p:spPr>
          <a:xfrm>
            <a:off x="5111496" y="2176272"/>
            <a:ext cx="804672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400" b="1" dirty="0">
                <a:solidFill>
                  <a:srgbClr val="C00000"/>
                </a:solidFill>
                <a:latin typeface="Calibri"/>
              </a:rPr>
              <a:t>●</a:t>
            </a:r>
          </a:p>
        </p:txBody>
      </p:sp>
      <p:sp>
        <p:nvSpPr>
          <p:cNvPr id="48" name="cell"/>
          <p:cNvSpPr>
            <a:spLocks noGrp="1"/>
          </p:cNvSpPr>
          <p:nvPr/>
        </p:nvSpPr>
        <p:spPr>
          <a:xfrm>
            <a:off x="5916168" y="2176272"/>
            <a:ext cx="804672" cy="347472"/>
          </a:xfrm>
          <a:prstGeom prst="rect">
            <a:avLst/>
          </a:prstGeom>
          <a:solidFill>
            <a:srgbClr val="FAECE7"/>
          </a:solidFill>
          <a:ln w="6350">
            <a:solidFill>
              <a:srgbClr val="D1D5DB"/>
            </a:solidFill>
          </a:ln>
        </p:spPr>
      </p:sp>
      <p:sp>
        <p:nvSpPr>
          <p:cNvPr id="152" name="celt"/>
          <p:cNvSpPr txBox="1">
            <a:spLocks noGrp="1"/>
          </p:cNvSpPr>
          <p:nvPr/>
        </p:nvSpPr>
        <p:spPr>
          <a:xfrm>
            <a:off x="5916168" y="2176272"/>
            <a:ext cx="804672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400" b="1" dirty="0">
                <a:solidFill>
                  <a:srgbClr val="C00000"/>
                </a:solidFill>
                <a:latin typeface="Calibri"/>
              </a:rPr>
              <a:t>●</a:t>
            </a:r>
          </a:p>
        </p:txBody>
      </p:sp>
      <p:sp>
        <p:nvSpPr>
          <p:cNvPr id="49" name="cell"/>
          <p:cNvSpPr>
            <a:spLocks noGrp="1"/>
          </p:cNvSpPr>
          <p:nvPr/>
        </p:nvSpPr>
        <p:spPr>
          <a:xfrm>
            <a:off x="6720840" y="2176272"/>
            <a:ext cx="804672" cy="347472"/>
          </a:xfrm>
          <a:prstGeom prst="rect">
            <a:avLst/>
          </a:prstGeom>
          <a:solidFill>
            <a:srgbClr val="FAECE7"/>
          </a:solidFill>
          <a:ln w="6350">
            <a:solidFill>
              <a:srgbClr val="D1D5DB"/>
            </a:solidFill>
          </a:ln>
        </p:spPr>
      </p:sp>
      <p:sp>
        <p:nvSpPr>
          <p:cNvPr id="153" name="celt"/>
          <p:cNvSpPr txBox="1">
            <a:spLocks noGrp="1"/>
          </p:cNvSpPr>
          <p:nvPr/>
        </p:nvSpPr>
        <p:spPr>
          <a:xfrm>
            <a:off x="6720840" y="2176272"/>
            <a:ext cx="804672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400" b="1" dirty="0">
                <a:solidFill>
                  <a:srgbClr val="C00000"/>
                </a:solidFill>
                <a:latin typeface="Calibri"/>
              </a:rPr>
              <a:t>●</a:t>
            </a:r>
          </a:p>
        </p:txBody>
      </p:sp>
      <p:sp>
        <p:nvSpPr>
          <p:cNvPr id="50" name="cell"/>
          <p:cNvSpPr>
            <a:spLocks noGrp="1"/>
          </p:cNvSpPr>
          <p:nvPr/>
        </p:nvSpPr>
        <p:spPr>
          <a:xfrm>
            <a:off x="7525512" y="2176272"/>
            <a:ext cx="804672" cy="347472"/>
          </a:xfrm>
          <a:prstGeom prst="rect">
            <a:avLst/>
          </a:prstGeom>
          <a:solidFill>
            <a:srgbClr val="FAECE7"/>
          </a:solidFill>
          <a:ln w="6350">
            <a:solidFill>
              <a:srgbClr val="D1D5DB"/>
            </a:solidFill>
          </a:ln>
        </p:spPr>
      </p:sp>
      <p:sp>
        <p:nvSpPr>
          <p:cNvPr id="154" name="celt"/>
          <p:cNvSpPr txBox="1">
            <a:spLocks noGrp="1"/>
          </p:cNvSpPr>
          <p:nvPr/>
        </p:nvSpPr>
        <p:spPr>
          <a:xfrm>
            <a:off x="7525512" y="2176272"/>
            <a:ext cx="804672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400" b="1" dirty="0">
                <a:solidFill>
                  <a:srgbClr val="C00000"/>
                </a:solidFill>
                <a:latin typeface="Calibri"/>
              </a:rPr>
              <a:t>●</a:t>
            </a:r>
          </a:p>
        </p:txBody>
      </p:sp>
      <p:sp>
        <p:nvSpPr>
          <p:cNvPr id="51" name="cell"/>
          <p:cNvSpPr>
            <a:spLocks noGrp="1"/>
          </p:cNvSpPr>
          <p:nvPr/>
        </p:nvSpPr>
        <p:spPr>
          <a:xfrm>
            <a:off x="8330184" y="2176272"/>
            <a:ext cx="804672" cy="347472"/>
          </a:xfrm>
          <a:prstGeom prst="rect">
            <a:avLst/>
          </a:prstGeom>
          <a:solidFill>
            <a:srgbClr val="FEF3C7"/>
          </a:solidFill>
          <a:ln w="6350">
            <a:solidFill>
              <a:srgbClr val="D1D5DB"/>
            </a:solidFill>
          </a:ln>
        </p:spPr>
      </p:sp>
      <p:sp>
        <p:nvSpPr>
          <p:cNvPr id="155" name="celt"/>
          <p:cNvSpPr txBox="1">
            <a:spLocks noGrp="1"/>
          </p:cNvSpPr>
          <p:nvPr/>
        </p:nvSpPr>
        <p:spPr>
          <a:xfrm>
            <a:off x="8330184" y="2176272"/>
            <a:ext cx="804672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400" b="1" dirty="0">
                <a:solidFill>
                  <a:srgbClr val="92400E"/>
                </a:solidFill>
                <a:latin typeface="Calibri"/>
              </a:rPr>
              <a:t>◐</a:t>
            </a:r>
          </a:p>
        </p:txBody>
      </p:sp>
      <p:sp>
        <p:nvSpPr>
          <p:cNvPr id="160" name="db"/>
          <p:cNvSpPr>
            <a:spLocks noGrp="1"/>
          </p:cNvSpPr>
          <p:nvPr/>
        </p:nvSpPr>
        <p:spPr>
          <a:xfrm>
            <a:off x="320040" y="2523744"/>
            <a:ext cx="2377440" cy="347472"/>
          </a:xfrm>
          <a:prstGeom prst="rect">
            <a:avLst/>
          </a:prstGeom>
          <a:solidFill>
            <a:srgbClr val="F5F7FC"/>
          </a:solidFill>
          <a:ln w="6350">
            <a:solidFill>
              <a:srgbClr val="D1D5DB"/>
            </a:solidFill>
          </a:ln>
        </p:spPr>
      </p:sp>
      <p:sp>
        <p:nvSpPr>
          <p:cNvPr id="161" name="dt"/>
          <p:cNvSpPr txBox="1">
            <a:spLocks noGrp="1"/>
          </p:cNvSpPr>
          <p:nvPr/>
        </p:nvSpPr>
        <p:spPr>
          <a:xfrm>
            <a:off x="365760" y="2523744"/>
            <a:ext cx="228600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820" dirty="0">
                <a:solidFill>
                  <a:srgbClr val="0D1B5E"/>
                </a:solidFill>
                <a:latin typeface="Calibri"/>
              </a:rPr>
              <a:t>Sin autoservicio — todo llega por call/correo</a:t>
            </a:r>
          </a:p>
        </p:txBody>
      </p:sp>
      <p:sp>
        <p:nvSpPr>
          <p:cNvPr id="162" name="cell"/>
          <p:cNvSpPr>
            <a:spLocks noGrp="1"/>
          </p:cNvSpPr>
          <p:nvPr/>
        </p:nvSpPr>
        <p:spPr>
          <a:xfrm>
            <a:off x="2697480" y="2523744"/>
            <a:ext cx="804672" cy="347472"/>
          </a:xfrm>
          <a:prstGeom prst="rect">
            <a:avLst/>
          </a:prstGeom>
          <a:solidFill>
            <a:srgbClr val="FAECE7"/>
          </a:solidFill>
          <a:ln w="6350">
            <a:solidFill>
              <a:srgbClr val="D1D5DB"/>
            </a:solidFill>
          </a:ln>
        </p:spPr>
      </p:sp>
      <p:sp>
        <p:nvSpPr>
          <p:cNvPr id="163" name="celt"/>
          <p:cNvSpPr txBox="1">
            <a:spLocks noGrp="1"/>
          </p:cNvSpPr>
          <p:nvPr/>
        </p:nvSpPr>
        <p:spPr>
          <a:xfrm>
            <a:off x="2697480" y="2523744"/>
            <a:ext cx="804672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400" b="1" dirty="0">
                <a:solidFill>
                  <a:srgbClr val="C00000"/>
                </a:solidFill>
                <a:latin typeface="Calibri"/>
              </a:rPr>
              <a:t>●</a:t>
            </a:r>
          </a:p>
        </p:txBody>
      </p:sp>
      <p:sp>
        <p:nvSpPr>
          <p:cNvPr id="52" name="cell"/>
          <p:cNvSpPr>
            <a:spLocks noGrp="1"/>
          </p:cNvSpPr>
          <p:nvPr/>
        </p:nvSpPr>
        <p:spPr>
          <a:xfrm>
            <a:off x="3502152" y="2523744"/>
            <a:ext cx="804672" cy="347472"/>
          </a:xfrm>
          <a:prstGeom prst="rect">
            <a:avLst/>
          </a:prstGeom>
          <a:solidFill>
            <a:srgbClr val="FAECE7"/>
          </a:solidFill>
          <a:ln w="6350">
            <a:solidFill>
              <a:srgbClr val="D1D5DB"/>
            </a:solidFill>
          </a:ln>
        </p:spPr>
      </p:sp>
      <p:sp>
        <p:nvSpPr>
          <p:cNvPr id="164" name="celt"/>
          <p:cNvSpPr txBox="1">
            <a:spLocks noGrp="1"/>
          </p:cNvSpPr>
          <p:nvPr/>
        </p:nvSpPr>
        <p:spPr>
          <a:xfrm>
            <a:off x="3502152" y="2523744"/>
            <a:ext cx="804672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400" b="1" dirty="0">
                <a:solidFill>
                  <a:srgbClr val="C00000"/>
                </a:solidFill>
                <a:latin typeface="Calibri"/>
              </a:rPr>
              <a:t>●</a:t>
            </a:r>
          </a:p>
        </p:txBody>
      </p:sp>
      <p:sp>
        <p:nvSpPr>
          <p:cNvPr id="53" name="cell"/>
          <p:cNvSpPr>
            <a:spLocks noGrp="1"/>
          </p:cNvSpPr>
          <p:nvPr/>
        </p:nvSpPr>
        <p:spPr>
          <a:xfrm>
            <a:off x="4306824" y="2523744"/>
            <a:ext cx="804672" cy="347472"/>
          </a:xfrm>
          <a:prstGeom prst="rect">
            <a:avLst/>
          </a:prstGeom>
          <a:solidFill>
            <a:srgbClr val="FAECE7"/>
          </a:solidFill>
          <a:ln w="6350">
            <a:solidFill>
              <a:srgbClr val="D1D5DB"/>
            </a:solidFill>
          </a:ln>
        </p:spPr>
      </p:sp>
      <p:sp>
        <p:nvSpPr>
          <p:cNvPr id="165" name="celt"/>
          <p:cNvSpPr txBox="1">
            <a:spLocks noGrp="1"/>
          </p:cNvSpPr>
          <p:nvPr/>
        </p:nvSpPr>
        <p:spPr>
          <a:xfrm>
            <a:off x="4306824" y="2523744"/>
            <a:ext cx="804672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400" b="1" dirty="0">
                <a:solidFill>
                  <a:srgbClr val="C00000"/>
                </a:solidFill>
                <a:latin typeface="Calibri"/>
              </a:rPr>
              <a:t>●</a:t>
            </a:r>
          </a:p>
        </p:txBody>
      </p:sp>
      <p:sp>
        <p:nvSpPr>
          <p:cNvPr id="54" name="cell"/>
          <p:cNvSpPr>
            <a:spLocks noGrp="1"/>
          </p:cNvSpPr>
          <p:nvPr/>
        </p:nvSpPr>
        <p:spPr>
          <a:xfrm>
            <a:off x="5111496" y="2523744"/>
            <a:ext cx="804672" cy="347472"/>
          </a:xfrm>
          <a:prstGeom prst="rect">
            <a:avLst/>
          </a:prstGeom>
          <a:solidFill>
            <a:srgbClr val="FAECE7"/>
          </a:solidFill>
          <a:ln w="6350">
            <a:solidFill>
              <a:srgbClr val="D1D5DB"/>
            </a:solidFill>
          </a:ln>
        </p:spPr>
      </p:sp>
      <p:sp>
        <p:nvSpPr>
          <p:cNvPr id="166" name="celt"/>
          <p:cNvSpPr txBox="1">
            <a:spLocks noGrp="1"/>
          </p:cNvSpPr>
          <p:nvPr/>
        </p:nvSpPr>
        <p:spPr>
          <a:xfrm>
            <a:off x="5111496" y="2523744"/>
            <a:ext cx="804672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400" b="1" dirty="0">
                <a:solidFill>
                  <a:srgbClr val="C00000"/>
                </a:solidFill>
                <a:latin typeface="Calibri"/>
              </a:rPr>
              <a:t>●</a:t>
            </a:r>
          </a:p>
        </p:txBody>
      </p:sp>
      <p:sp>
        <p:nvSpPr>
          <p:cNvPr id="55" name="cell"/>
          <p:cNvSpPr>
            <a:spLocks noGrp="1"/>
          </p:cNvSpPr>
          <p:nvPr/>
        </p:nvSpPr>
        <p:spPr>
          <a:xfrm>
            <a:off x="5916168" y="2523744"/>
            <a:ext cx="804672" cy="347472"/>
          </a:xfrm>
          <a:prstGeom prst="rect">
            <a:avLst/>
          </a:prstGeom>
          <a:solidFill>
            <a:srgbClr val="FEF3C7"/>
          </a:solidFill>
          <a:ln w="6350">
            <a:solidFill>
              <a:srgbClr val="D1D5DB"/>
            </a:solidFill>
          </a:ln>
        </p:spPr>
      </p:sp>
      <p:sp>
        <p:nvSpPr>
          <p:cNvPr id="167" name="celt"/>
          <p:cNvSpPr txBox="1">
            <a:spLocks noGrp="1"/>
          </p:cNvSpPr>
          <p:nvPr/>
        </p:nvSpPr>
        <p:spPr>
          <a:xfrm>
            <a:off x="5916168" y="2523744"/>
            <a:ext cx="804672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400" b="1" dirty="0">
                <a:solidFill>
                  <a:srgbClr val="92400E"/>
                </a:solidFill>
                <a:latin typeface="Calibri"/>
              </a:rPr>
              <a:t>◐</a:t>
            </a:r>
          </a:p>
        </p:txBody>
      </p:sp>
      <p:sp>
        <p:nvSpPr>
          <p:cNvPr id="56" name="cell"/>
          <p:cNvSpPr>
            <a:spLocks noGrp="1"/>
          </p:cNvSpPr>
          <p:nvPr/>
        </p:nvSpPr>
        <p:spPr>
          <a:xfrm>
            <a:off x="6720840" y="2523744"/>
            <a:ext cx="804672" cy="347472"/>
          </a:xfrm>
          <a:prstGeom prst="rect">
            <a:avLst/>
          </a:prstGeom>
          <a:solidFill>
            <a:srgbClr val="FAECE7"/>
          </a:solidFill>
          <a:ln w="6350">
            <a:solidFill>
              <a:srgbClr val="D1D5DB"/>
            </a:solidFill>
          </a:ln>
        </p:spPr>
      </p:sp>
      <p:sp>
        <p:nvSpPr>
          <p:cNvPr id="168" name="celt"/>
          <p:cNvSpPr txBox="1">
            <a:spLocks noGrp="1"/>
          </p:cNvSpPr>
          <p:nvPr/>
        </p:nvSpPr>
        <p:spPr>
          <a:xfrm>
            <a:off x="6720840" y="2523744"/>
            <a:ext cx="804672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400" b="1" dirty="0">
                <a:solidFill>
                  <a:srgbClr val="C00000"/>
                </a:solidFill>
                <a:latin typeface="Calibri"/>
              </a:rPr>
              <a:t>●</a:t>
            </a:r>
          </a:p>
        </p:txBody>
      </p:sp>
      <p:sp>
        <p:nvSpPr>
          <p:cNvPr id="57" name="cell"/>
          <p:cNvSpPr>
            <a:spLocks noGrp="1"/>
          </p:cNvSpPr>
          <p:nvPr/>
        </p:nvSpPr>
        <p:spPr>
          <a:xfrm>
            <a:off x="7525512" y="2523744"/>
            <a:ext cx="804672" cy="347472"/>
          </a:xfrm>
          <a:prstGeom prst="rect">
            <a:avLst/>
          </a:prstGeom>
          <a:solidFill>
            <a:srgbClr val="FAECE7"/>
          </a:solidFill>
          <a:ln w="6350">
            <a:solidFill>
              <a:srgbClr val="D1D5DB"/>
            </a:solidFill>
          </a:ln>
        </p:spPr>
      </p:sp>
      <p:sp>
        <p:nvSpPr>
          <p:cNvPr id="169" name="celt"/>
          <p:cNvSpPr txBox="1">
            <a:spLocks noGrp="1"/>
          </p:cNvSpPr>
          <p:nvPr/>
        </p:nvSpPr>
        <p:spPr>
          <a:xfrm>
            <a:off x="7525512" y="2523744"/>
            <a:ext cx="804672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400" b="1" dirty="0">
                <a:solidFill>
                  <a:srgbClr val="C00000"/>
                </a:solidFill>
                <a:latin typeface="Calibri"/>
              </a:rPr>
              <a:t>●</a:t>
            </a:r>
          </a:p>
        </p:txBody>
      </p:sp>
      <p:sp>
        <p:nvSpPr>
          <p:cNvPr id="58" name="cell"/>
          <p:cNvSpPr>
            <a:spLocks noGrp="1"/>
          </p:cNvSpPr>
          <p:nvPr/>
        </p:nvSpPr>
        <p:spPr>
          <a:xfrm>
            <a:off x="8330184" y="2523744"/>
            <a:ext cx="804672" cy="347472"/>
          </a:xfrm>
          <a:prstGeom prst="rect">
            <a:avLst/>
          </a:prstGeom>
          <a:solidFill>
            <a:srgbClr val="FEF3C7"/>
          </a:solidFill>
          <a:ln w="6350">
            <a:solidFill>
              <a:srgbClr val="D1D5DB"/>
            </a:solidFill>
          </a:ln>
        </p:spPr>
      </p:sp>
      <p:sp>
        <p:nvSpPr>
          <p:cNvPr id="170" name="celt"/>
          <p:cNvSpPr txBox="1">
            <a:spLocks noGrp="1"/>
          </p:cNvSpPr>
          <p:nvPr/>
        </p:nvSpPr>
        <p:spPr>
          <a:xfrm>
            <a:off x="8330184" y="2523744"/>
            <a:ext cx="804672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400" b="1" dirty="0">
                <a:solidFill>
                  <a:srgbClr val="92400E"/>
                </a:solidFill>
                <a:latin typeface="Calibri"/>
              </a:rPr>
              <a:t>◐</a:t>
            </a:r>
          </a:p>
        </p:txBody>
      </p:sp>
      <p:sp>
        <p:nvSpPr>
          <p:cNvPr id="175" name="db"/>
          <p:cNvSpPr>
            <a:spLocks noGrp="1"/>
          </p:cNvSpPr>
          <p:nvPr/>
        </p:nvSpPr>
        <p:spPr>
          <a:xfrm>
            <a:off x="320040" y="2871216"/>
            <a:ext cx="23774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</p:sp>
      <p:sp>
        <p:nvSpPr>
          <p:cNvPr id="176" name="dt"/>
          <p:cNvSpPr txBox="1">
            <a:spLocks noGrp="1"/>
          </p:cNvSpPr>
          <p:nvPr/>
        </p:nvSpPr>
        <p:spPr>
          <a:xfrm>
            <a:off x="365760" y="2871216"/>
            <a:ext cx="228600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820" dirty="0">
                <a:solidFill>
                  <a:srgbClr val="0D1B5E"/>
                </a:solidFill>
                <a:latin typeface="Calibri"/>
              </a:rPr>
              <a:t>Escalamiento ineficiente — rebotes entre niveles</a:t>
            </a:r>
          </a:p>
        </p:txBody>
      </p:sp>
      <p:sp>
        <p:nvSpPr>
          <p:cNvPr id="177" name="cell"/>
          <p:cNvSpPr>
            <a:spLocks noGrp="1"/>
          </p:cNvSpPr>
          <p:nvPr/>
        </p:nvSpPr>
        <p:spPr>
          <a:xfrm>
            <a:off x="2697480" y="2871216"/>
            <a:ext cx="804672" cy="347472"/>
          </a:xfrm>
          <a:prstGeom prst="rect">
            <a:avLst/>
          </a:prstGeom>
          <a:solidFill>
            <a:srgbClr val="FEF3C7"/>
          </a:solidFill>
          <a:ln w="6350">
            <a:solidFill>
              <a:srgbClr val="D1D5DB"/>
            </a:solidFill>
          </a:ln>
        </p:spPr>
      </p:sp>
      <p:sp>
        <p:nvSpPr>
          <p:cNvPr id="178" name="celt"/>
          <p:cNvSpPr txBox="1">
            <a:spLocks noGrp="1"/>
          </p:cNvSpPr>
          <p:nvPr/>
        </p:nvSpPr>
        <p:spPr>
          <a:xfrm>
            <a:off x="2697480" y="2871216"/>
            <a:ext cx="804672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400" b="1" dirty="0">
                <a:solidFill>
                  <a:srgbClr val="92400E"/>
                </a:solidFill>
                <a:latin typeface="Calibri"/>
              </a:rPr>
              <a:t>◐</a:t>
            </a:r>
          </a:p>
        </p:txBody>
      </p:sp>
      <p:sp>
        <p:nvSpPr>
          <p:cNvPr id="59" name="cell"/>
          <p:cNvSpPr>
            <a:spLocks noGrp="1"/>
          </p:cNvSpPr>
          <p:nvPr/>
        </p:nvSpPr>
        <p:spPr>
          <a:xfrm>
            <a:off x="3502152" y="2871216"/>
            <a:ext cx="804672" cy="347472"/>
          </a:xfrm>
          <a:prstGeom prst="rect">
            <a:avLst/>
          </a:prstGeom>
          <a:solidFill>
            <a:srgbClr val="FEF3C7"/>
          </a:solidFill>
          <a:ln w="6350">
            <a:solidFill>
              <a:srgbClr val="D1D5DB"/>
            </a:solidFill>
          </a:ln>
        </p:spPr>
      </p:sp>
      <p:sp>
        <p:nvSpPr>
          <p:cNvPr id="179" name="celt"/>
          <p:cNvSpPr txBox="1">
            <a:spLocks noGrp="1"/>
          </p:cNvSpPr>
          <p:nvPr/>
        </p:nvSpPr>
        <p:spPr>
          <a:xfrm>
            <a:off x="3502152" y="2871216"/>
            <a:ext cx="804672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400" b="1" dirty="0">
                <a:solidFill>
                  <a:srgbClr val="92400E"/>
                </a:solidFill>
                <a:latin typeface="Calibri"/>
              </a:rPr>
              <a:t>◐</a:t>
            </a:r>
          </a:p>
        </p:txBody>
      </p:sp>
      <p:sp>
        <p:nvSpPr>
          <p:cNvPr id="60" name="cell"/>
          <p:cNvSpPr>
            <a:spLocks noGrp="1"/>
          </p:cNvSpPr>
          <p:nvPr/>
        </p:nvSpPr>
        <p:spPr>
          <a:xfrm>
            <a:off x="4306824" y="2871216"/>
            <a:ext cx="804672" cy="347472"/>
          </a:xfrm>
          <a:prstGeom prst="rect">
            <a:avLst/>
          </a:prstGeom>
          <a:solidFill>
            <a:srgbClr val="FEF3C7"/>
          </a:solidFill>
          <a:ln w="6350">
            <a:solidFill>
              <a:srgbClr val="D1D5DB"/>
            </a:solidFill>
          </a:ln>
        </p:spPr>
      </p:sp>
      <p:sp>
        <p:nvSpPr>
          <p:cNvPr id="180" name="celt"/>
          <p:cNvSpPr txBox="1">
            <a:spLocks noGrp="1"/>
          </p:cNvSpPr>
          <p:nvPr/>
        </p:nvSpPr>
        <p:spPr>
          <a:xfrm>
            <a:off x="4306824" y="2871216"/>
            <a:ext cx="804672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400" b="1" dirty="0">
                <a:solidFill>
                  <a:srgbClr val="92400E"/>
                </a:solidFill>
                <a:latin typeface="Calibri"/>
              </a:rPr>
              <a:t>◐</a:t>
            </a:r>
          </a:p>
        </p:txBody>
      </p:sp>
      <p:sp>
        <p:nvSpPr>
          <p:cNvPr id="61" name="cell"/>
          <p:cNvSpPr>
            <a:spLocks noGrp="1"/>
          </p:cNvSpPr>
          <p:nvPr/>
        </p:nvSpPr>
        <p:spPr>
          <a:xfrm>
            <a:off x="5111496" y="2871216"/>
            <a:ext cx="804672" cy="347472"/>
          </a:xfrm>
          <a:prstGeom prst="rect">
            <a:avLst/>
          </a:prstGeom>
          <a:solidFill>
            <a:srgbClr val="FEF3C7"/>
          </a:solidFill>
          <a:ln w="6350">
            <a:solidFill>
              <a:srgbClr val="D1D5DB"/>
            </a:solidFill>
          </a:ln>
        </p:spPr>
      </p:sp>
      <p:sp>
        <p:nvSpPr>
          <p:cNvPr id="181" name="celt"/>
          <p:cNvSpPr txBox="1">
            <a:spLocks noGrp="1"/>
          </p:cNvSpPr>
          <p:nvPr/>
        </p:nvSpPr>
        <p:spPr>
          <a:xfrm>
            <a:off x="5111496" y="2871216"/>
            <a:ext cx="804672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400" b="1" dirty="0">
                <a:solidFill>
                  <a:srgbClr val="92400E"/>
                </a:solidFill>
                <a:latin typeface="Calibri"/>
              </a:rPr>
              <a:t>◐</a:t>
            </a:r>
          </a:p>
        </p:txBody>
      </p:sp>
      <p:sp>
        <p:nvSpPr>
          <p:cNvPr id="62" name="cell"/>
          <p:cNvSpPr>
            <a:spLocks noGrp="1"/>
          </p:cNvSpPr>
          <p:nvPr/>
        </p:nvSpPr>
        <p:spPr>
          <a:xfrm>
            <a:off x="5916168" y="2871216"/>
            <a:ext cx="804672" cy="347472"/>
          </a:xfrm>
          <a:prstGeom prst="rect">
            <a:avLst/>
          </a:prstGeom>
          <a:solidFill>
            <a:srgbClr val="FEF3C7"/>
          </a:solidFill>
          <a:ln w="6350">
            <a:solidFill>
              <a:srgbClr val="D1D5DB"/>
            </a:solidFill>
          </a:ln>
        </p:spPr>
      </p:sp>
      <p:sp>
        <p:nvSpPr>
          <p:cNvPr id="182" name="celt"/>
          <p:cNvSpPr txBox="1">
            <a:spLocks noGrp="1"/>
          </p:cNvSpPr>
          <p:nvPr/>
        </p:nvSpPr>
        <p:spPr>
          <a:xfrm>
            <a:off x="5916168" y="2871216"/>
            <a:ext cx="804672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400" b="1" dirty="0">
                <a:solidFill>
                  <a:srgbClr val="92400E"/>
                </a:solidFill>
                <a:latin typeface="Calibri"/>
              </a:rPr>
              <a:t>◐</a:t>
            </a:r>
          </a:p>
        </p:txBody>
      </p:sp>
      <p:sp>
        <p:nvSpPr>
          <p:cNvPr id="63" name="cell"/>
          <p:cNvSpPr>
            <a:spLocks noGrp="1"/>
          </p:cNvSpPr>
          <p:nvPr/>
        </p:nvSpPr>
        <p:spPr>
          <a:xfrm>
            <a:off x="6720840" y="2871216"/>
            <a:ext cx="804672" cy="347472"/>
          </a:xfrm>
          <a:prstGeom prst="rect">
            <a:avLst/>
          </a:prstGeom>
          <a:solidFill>
            <a:srgbClr val="FEF3C7"/>
          </a:solidFill>
          <a:ln w="6350">
            <a:solidFill>
              <a:srgbClr val="D1D5DB"/>
            </a:solidFill>
          </a:ln>
        </p:spPr>
      </p:sp>
      <p:sp>
        <p:nvSpPr>
          <p:cNvPr id="183" name="celt"/>
          <p:cNvSpPr txBox="1">
            <a:spLocks noGrp="1"/>
          </p:cNvSpPr>
          <p:nvPr/>
        </p:nvSpPr>
        <p:spPr>
          <a:xfrm>
            <a:off x="6720840" y="2871216"/>
            <a:ext cx="804672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400" b="1" dirty="0">
                <a:solidFill>
                  <a:srgbClr val="92400E"/>
                </a:solidFill>
                <a:latin typeface="Calibri"/>
              </a:rPr>
              <a:t>◐</a:t>
            </a:r>
          </a:p>
        </p:txBody>
      </p:sp>
      <p:sp>
        <p:nvSpPr>
          <p:cNvPr id="64" name="cell"/>
          <p:cNvSpPr>
            <a:spLocks noGrp="1"/>
          </p:cNvSpPr>
          <p:nvPr/>
        </p:nvSpPr>
        <p:spPr>
          <a:xfrm>
            <a:off x="7525512" y="2871216"/>
            <a:ext cx="804672" cy="347472"/>
          </a:xfrm>
          <a:prstGeom prst="rect">
            <a:avLst/>
          </a:prstGeom>
          <a:solidFill>
            <a:srgbClr val="FEF3C7"/>
          </a:solidFill>
          <a:ln w="6350">
            <a:solidFill>
              <a:srgbClr val="D1D5DB"/>
            </a:solidFill>
          </a:ln>
        </p:spPr>
      </p:sp>
      <p:sp>
        <p:nvSpPr>
          <p:cNvPr id="184" name="celt"/>
          <p:cNvSpPr txBox="1">
            <a:spLocks noGrp="1"/>
          </p:cNvSpPr>
          <p:nvPr/>
        </p:nvSpPr>
        <p:spPr>
          <a:xfrm>
            <a:off x="7525512" y="2871216"/>
            <a:ext cx="804672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400" b="1" dirty="0">
                <a:solidFill>
                  <a:srgbClr val="92400E"/>
                </a:solidFill>
                <a:latin typeface="Calibri"/>
              </a:rPr>
              <a:t>◐</a:t>
            </a:r>
          </a:p>
        </p:txBody>
      </p:sp>
      <p:sp>
        <p:nvSpPr>
          <p:cNvPr id="65" name="cell"/>
          <p:cNvSpPr>
            <a:spLocks noGrp="1"/>
          </p:cNvSpPr>
          <p:nvPr/>
        </p:nvSpPr>
        <p:spPr>
          <a:xfrm>
            <a:off x="8330184" y="2871216"/>
            <a:ext cx="804672" cy="347472"/>
          </a:xfrm>
          <a:prstGeom prst="rect">
            <a:avLst/>
          </a:prstGeom>
          <a:solidFill>
            <a:srgbClr val="FEF3C7"/>
          </a:solidFill>
          <a:ln w="6350">
            <a:solidFill>
              <a:srgbClr val="D1D5DB"/>
            </a:solidFill>
          </a:ln>
        </p:spPr>
      </p:sp>
      <p:sp>
        <p:nvSpPr>
          <p:cNvPr id="185" name="celt"/>
          <p:cNvSpPr txBox="1">
            <a:spLocks noGrp="1"/>
          </p:cNvSpPr>
          <p:nvPr/>
        </p:nvSpPr>
        <p:spPr>
          <a:xfrm>
            <a:off x="8330184" y="2871216"/>
            <a:ext cx="804672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400" b="1" dirty="0">
                <a:solidFill>
                  <a:srgbClr val="92400E"/>
                </a:solidFill>
                <a:latin typeface="Calibri"/>
              </a:rPr>
              <a:t>◐</a:t>
            </a:r>
          </a:p>
        </p:txBody>
      </p:sp>
      <p:sp>
        <p:nvSpPr>
          <p:cNvPr id="190" name="db"/>
          <p:cNvSpPr>
            <a:spLocks noGrp="1"/>
          </p:cNvSpPr>
          <p:nvPr/>
        </p:nvSpPr>
        <p:spPr>
          <a:xfrm>
            <a:off x="320040" y="3218688"/>
            <a:ext cx="2377440" cy="347472"/>
          </a:xfrm>
          <a:prstGeom prst="rect">
            <a:avLst/>
          </a:prstGeom>
          <a:solidFill>
            <a:srgbClr val="F5F7FC"/>
          </a:solidFill>
          <a:ln w="6350">
            <a:solidFill>
              <a:srgbClr val="D1D5DB"/>
            </a:solidFill>
          </a:ln>
        </p:spPr>
      </p:sp>
      <p:sp>
        <p:nvSpPr>
          <p:cNvPr id="191" name="dt"/>
          <p:cNvSpPr txBox="1">
            <a:spLocks noGrp="1"/>
          </p:cNvSpPr>
          <p:nvPr/>
        </p:nvSpPr>
        <p:spPr>
          <a:xfrm>
            <a:off x="365760" y="3218688"/>
            <a:ext cx="228600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820" dirty="0">
                <a:solidFill>
                  <a:srgbClr val="0D1B5E"/>
                </a:solidFill>
                <a:latin typeface="Calibri"/>
              </a:rPr>
              <a:t>Falta de gobierno claro (sin RACI, sin ANS)</a:t>
            </a:r>
          </a:p>
        </p:txBody>
      </p:sp>
      <p:sp>
        <p:nvSpPr>
          <p:cNvPr id="192" name="cell"/>
          <p:cNvSpPr>
            <a:spLocks noGrp="1"/>
          </p:cNvSpPr>
          <p:nvPr/>
        </p:nvSpPr>
        <p:spPr>
          <a:xfrm>
            <a:off x="2697480" y="3218688"/>
            <a:ext cx="804672" cy="347472"/>
          </a:xfrm>
          <a:prstGeom prst="rect">
            <a:avLst/>
          </a:prstGeom>
          <a:solidFill>
            <a:srgbClr val="FEF3C7"/>
          </a:solidFill>
          <a:ln w="6350">
            <a:solidFill>
              <a:srgbClr val="D1D5DB"/>
            </a:solidFill>
          </a:ln>
        </p:spPr>
      </p:sp>
      <p:sp>
        <p:nvSpPr>
          <p:cNvPr id="193" name="celt"/>
          <p:cNvSpPr txBox="1">
            <a:spLocks noGrp="1"/>
          </p:cNvSpPr>
          <p:nvPr/>
        </p:nvSpPr>
        <p:spPr>
          <a:xfrm>
            <a:off x="2697480" y="3218688"/>
            <a:ext cx="804672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400" b="1" dirty="0">
                <a:solidFill>
                  <a:srgbClr val="92400E"/>
                </a:solidFill>
                <a:latin typeface="Calibri"/>
              </a:rPr>
              <a:t>◐</a:t>
            </a:r>
          </a:p>
        </p:txBody>
      </p:sp>
      <p:sp>
        <p:nvSpPr>
          <p:cNvPr id="66" name="cell"/>
          <p:cNvSpPr>
            <a:spLocks noGrp="1"/>
          </p:cNvSpPr>
          <p:nvPr/>
        </p:nvSpPr>
        <p:spPr>
          <a:xfrm>
            <a:off x="3502152" y="3218688"/>
            <a:ext cx="804672" cy="347472"/>
          </a:xfrm>
          <a:prstGeom prst="rect">
            <a:avLst/>
          </a:prstGeom>
          <a:solidFill>
            <a:srgbClr val="FEF3C7"/>
          </a:solidFill>
          <a:ln w="6350">
            <a:solidFill>
              <a:srgbClr val="D1D5DB"/>
            </a:solidFill>
          </a:ln>
        </p:spPr>
      </p:sp>
      <p:sp>
        <p:nvSpPr>
          <p:cNvPr id="194" name="celt"/>
          <p:cNvSpPr txBox="1">
            <a:spLocks noGrp="1"/>
          </p:cNvSpPr>
          <p:nvPr/>
        </p:nvSpPr>
        <p:spPr>
          <a:xfrm>
            <a:off x="3502152" y="3218688"/>
            <a:ext cx="804672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400" b="1" dirty="0">
                <a:solidFill>
                  <a:srgbClr val="92400E"/>
                </a:solidFill>
                <a:latin typeface="Calibri"/>
              </a:rPr>
              <a:t>◐</a:t>
            </a:r>
          </a:p>
        </p:txBody>
      </p:sp>
      <p:sp>
        <p:nvSpPr>
          <p:cNvPr id="67" name="cell"/>
          <p:cNvSpPr>
            <a:spLocks noGrp="1"/>
          </p:cNvSpPr>
          <p:nvPr/>
        </p:nvSpPr>
        <p:spPr>
          <a:xfrm>
            <a:off x="4306824" y="3218688"/>
            <a:ext cx="804672" cy="347472"/>
          </a:xfrm>
          <a:prstGeom prst="rect">
            <a:avLst/>
          </a:prstGeom>
          <a:solidFill>
            <a:srgbClr val="FEF3C7"/>
          </a:solidFill>
          <a:ln w="6350">
            <a:solidFill>
              <a:srgbClr val="D1D5DB"/>
            </a:solidFill>
          </a:ln>
        </p:spPr>
      </p:sp>
      <p:sp>
        <p:nvSpPr>
          <p:cNvPr id="195" name="celt"/>
          <p:cNvSpPr txBox="1">
            <a:spLocks noGrp="1"/>
          </p:cNvSpPr>
          <p:nvPr/>
        </p:nvSpPr>
        <p:spPr>
          <a:xfrm>
            <a:off x="4306824" y="3218688"/>
            <a:ext cx="804672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400" b="1" dirty="0">
                <a:solidFill>
                  <a:srgbClr val="92400E"/>
                </a:solidFill>
                <a:latin typeface="Calibri"/>
              </a:rPr>
              <a:t>◐</a:t>
            </a:r>
          </a:p>
        </p:txBody>
      </p:sp>
      <p:sp>
        <p:nvSpPr>
          <p:cNvPr id="68" name="cell"/>
          <p:cNvSpPr>
            <a:spLocks noGrp="1"/>
          </p:cNvSpPr>
          <p:nvPr/>
        </p:nvSpPr>
        <p:spPr>
          <a:xfrm>
            <a:off x="5111496" y="3218688"/>
            <a:ext cx="804672" cy="347472"/>
          </a:xfrm>
          <a:prstGeom prst="rect">
            <a:avLst/>
          </a:prstGeom>
          <a:solidFill>
            <a:srgbClr val="FEF3C7"/>
          </a:solidFill>
          <a:ln w="6350">
            <a:solidFill>
              <a:srgbClr val="D1D5DB"/>
            </a:solidFill>
          </a:ln>
        </p:spPr>
      </p:sp>
      <p:sp>
        <p:nvSpPr>
          <p:cNvPr id="196" name="celt"/>
          <p:cNvSpPr txBox="1">
            <a:spLocks noGrp="1"/>
          </p:cNvSpPr>
          <p:nvPr/>
        </p:nvSpPr>
        <p:spPr>
          <a:xfrm>
            <a:off x="5111496" y="3218688"/>
            <a:ext cx="804672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400" b="1" dirty="0">
                <a:solidFill>
                  <a:srgbClr val="92400E"/>
                </a:solidFill>
                <a:latin typeface="Calibri"/>
              </a:rPr>
              <a:t>◐</a:t>
            </a:r>
          </a:p>
        </p:txBody>
      </p:sp>
      <p:sp>
        <p:nvSpPr>
          <p:cNvPr id="69" name="cell"/>
          <p:cNvSpPr>
            <a:spLocks noGrp="1"/>
          </p:cNvSpPr>
          <p:nvPr/>
        </p:nvSpPr>
        <p:spPr>
          <a:xfrm>
            <a:off x="5916168" y="3218688"/>
            <a:ext cx="804672" cy="347472"/>
          </a:xfrm>
          <a:prstGeom prst="rect">
            <a:avLst/>
          </a:prstGeom>
          <a:solidFill>
            <a:srgbClr val="FEF3C7"/>
          </a:solidFill>
          <a:ln w="6350">
            <a:solidFill>
              <a:srgbClr val="D1D5DB"/>
            </a:solidFill>
          </a:ln>
        </p:spPr>
      </p:sp>
      <p:sp>
        <p:nvSpPr>
          <p:cNvPr id="197" name="celt"/>
          <p:cNvSpPr txBox="1">
            <a:spLocks noGrp="1"/>
          </p:cNvSpPr>
          <p:nvPr/>
        </p:nvSpPr>
        <p:spPr>
          <a:xfrm>
            <a:off x="5916168" y="3218688"/>
            <a:ext cx="804672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400" b="1" dirty="0">
                <a:solidFill>
                  <a:srgbClr val="92400E"/>
                </a:solidFill>
                <a:latin typeface="Calibri"/>
              </a:rPr>
              <a:t>◐</a:t>
            </a:r>
          </a:p>
        </p:txBody>
      </p:sp>
      <p:sp>
        <p:nvSpPr>
          <p:cNvPr id="70" name="cell"/>
          <p:cNvSpPr>
            <a:spLocks noGrp="1"/>
          </p:cNvSpPr>
          <p:nvPr/>
        </p:nvSpPr>
        <p:spPr>
          <a:xfrm>
            <a:off x="6720840" y="3218688"/>
            <a:ext cx="804672" cy="347472"/>
          </a:xfrm>
          <a:prstGeom prst="rect">
            <a:avLst/>
          </a:prstGeom>
          <a:solidFill>
            <a:srgbClr val="FAECE7"/>
          </a:solidFill>
          <a:ln w="6350">
            <a:solidFill>
              <a:srgbClr val="D1D5DB"/>
            </a:solidFill>
          </a:ln>
        </p:spPr>
      </p:sp>
      <p:sp>
        <p:nvSpPr>
          <p:cNvPr id="198" name="celt"/>
          <p:cNvSpPr txBox="1">
            <a:spLocks noGrp="1"/>
          </p:cNvSpPr>
          <p:nvPr/>
        </p:nvSpPr>
        <p:spPr>
          <a:xfrm>
            <a:off x="6720840" y="3218688"/>
            <a:ext cx="804672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400" b="1" dirty="0">
                <a:solidFill>
                  <a:srgbClr val="C00000"/>
                </a:solidFill>
                <a:latin typeface="Calibri"/>
              </a:rPr>
              <a:t>●</a:t>
            </a:r>
          </a:p>
        </p:txBody>
      </p:sp>
      <p:sp>
        <p:nvSpPr>
          <p:cNvPr id="71" name="cell"/>
          <p:cNvSpPr>
            <a:spLocks noGrp="1"/>
          </p:cNvSpPr>
          <p:nvPr/>
        </p:nvSpPr>
        <p:spPr>
          <a:xfrm>
            <a:off x="7525512" y="3218688"/>
            <a:ext cx="804672" cy="347472"/>
          </a:xfrm>
          <a:prstGeom prst="rect">
            <a:avLst/>
          </a:prstGeom>
          <a:solidFill>
            <a:srgbClr val="FEF3C7"/>
          </a:solidFill>
          <a:ln w="6350">
            <a:solidFill>
              <a:srgbClr val="D1D5DB"/>
            </a:solidFill>
          </a:ln>
        </p:spPr>
      </p:sp>
      <p:sp>
        <p:nvSpPr>
          <p:cNvPr id="199" name="celt"/>
          <p:cNvSpPr txBox="1">
            <a:spLocks noGrp="1"/>
          </p:cNvSpPr>
          <p:nvPr/>
        </p:nvSpPr>
        <p:spPr>
          <a:xfrm>
            <a:off x="7525512" y="3218688"/>
            <a:ext cx="804672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400" b="1" dirty="0">
                <a:solidFill>
                  <a:srgbClr val="92400E"/>
                </a:solidFill>
                <a:latin typeface="Calibri"/>
              </a:rPr>
              <a:t>◐</a:t>
            </a:r>
          </a:p>
        </p:txBody>
      </p:sp>
      <p:sp>
        <p:nvSpPr>
          <p:cNvPr id="72" name="cell"/>
          <p:cNvSpPr>
            <a:spLocks noGrp="1"/>
          </p:cNvSpPr>
          <p:nvPr/>
        </p:nvSpPr>
        <p:spPr>
          <a:xfrm>
            <a:off x="8330184" y="3218688"/>
            <a:ext cx="804672" cy="347472"/>
          </a:xfrm>
          <a:prstGeom prst="rect">
            <a:avLst/>
          </a:prstGeom>
          <a:solidFill>
            <a:srgbClr val="FEF3C7"/>
          </a:solidFill>
          <a:ln w="6350">
            <a:solidFill>
              <a:srgbClr val="D1D5DB"/>
            </a:solidFill>
          </a:ln>
        </p:spPr>
      </p:sp>
      <p:sp>
        <p:nvSpPr>
          <p:cNvPr id="200" name="celt"/>
          <p:cNvSpPr txBox="1">
            <a:spLocks noGrp="1"/>
          </p:cNvSpPr>
          <p:nvPr/>
        </p:nvSpPr>
        <p:spPr>
          <a:xfrm>
            <a:off x="8330184" y="3218688"/>
            <a:ext cx="804672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400" b="1" dirty="0">
                <a:solidFill>
                  <a:srgbClr val="92400E"/>
                </a:solidFill>
                <a:latin typeface="Calibri"/>
              </a:rPr>
              <a:t>◐</a:t>
            </a:r>
          </a:p>
        </p:txBody>
      </p:sp>
      <p:sp>
        <p:nvSpPr>
          <p:cNvPr id="205" name="db"/>
          <p:cNvSpPr>
            <a:spLocks noGrp="1"/>
          </p:cNvSpPr>
          <p:nvPr/>
        </p:nvSpPr>
        <p:spPr>
          <a:xfrm>
            <a:off x="320040" y="3566160"/>
            <a:ext cx="23774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</p:sp>
      <p:sp>
        <p:nvSpPr>
          <p:cNvPr id="206" name="dt"/>
          <p:cNvSpPr txBox="1">
            <a:spLocks noGrp="1"/>
          </p:cNvSpPr>
          <p:nvPr/>
        </p:nvSpPr>
        <p:spPr>
          <a:xfrm>
            <a:off x="365760" y="3566160"/>
            <a:ext cx="228600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820" dirty="0">
                <a:solidFill>
                  <a:srgbClr val="0D1B5E"/>
                </a:solidFill>
                <a:latin typeface="Calibri"/>
              </a:rPr>
              <a:t>Sin dashboard ni visibilidad ejecutiva</a:t>
            </a:r>
          </a:p>
        </p:txBody>
      </p:sp>
      <p:sp>
        <p:nvSpPr>
          <p:cNvPr id="207" name="cell"/>
          <p:cNvSpPr>
            <a:spLocks noGrp="1"/>
          </p:cNvSpPr>
          <p:nvPr/>
        </p:nvSpPr>
        <p:spPr>
          <a:xfrm>
            <a:off x="2697480" y="3566160"/>
            <a:ext cx="804672" cy="347472"/>
          </a:xfrm>
          <a:prstGeom prst="rect">
            <a:avLst/>
          </a:prstGeom>
          <a:solidFill>
            <a:srgbClr val="FEF3C7"/>
          </a:solidFill>
          <a:ln w="6350">
            <a:solidFill>
              <a:srgbClr val="D1D5DB"/>
            </a:solidFill>
          </a:ln>
        </p:spPr>
      </p:sp>
      <p:sp>
        <p:nvSpPr>
          <p:cNvPr id="208" name="celt"/>
          <p:cNvSpPr txBox="1">
            <a:spLocks noGrp="1"/>
          </p:cNvSpPr>
          <p:nvPr/>
        </p:nvSpPr>
        <p:spPr>
          <a:xfrm>
            <a:off x="2697480" y="3566160"/>
            <a:ext cx="804672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400" b="1" dirty="0">
                <a:solidFill>
                  <a:srgbClr val="92400E"/>
                </a:solidFill>
                <a:latin typeface="Calibri"/>
              </a:rPr>
              <a:t>◐</a:t>
            </a:r>
          </a:p>
        </p:txBody>
      </p:sp>
      <p:sp>
        <p:nvSpPr>
          <p:cNvPr id="73" name="cell"/>
          <p:cNvSpPr>
            <a:spLocks noGrp="1"/>
          </p:cNvSpPr>
          <p:nvPr/>
        </p:nvSpPr>
        <p:spPr>
          <a:xfrm>
            <a:off x="3502152" y="3566160"/>
            <a:ext cx="804672" cy="347472"/>
          </a:xfrm>
          <a:prstGeom prst="rect">
            <a:avLst/>
          </a:prstGeom>
          <a:solidFill>
            <a:srgbClr val="FAECE7"/>
          </a:solidFill>
          <a:ln w="6350">
            <a:solidFill>
              <a:srgbClr val="D1D5DB"/>
            </a:solidFill>
          </a:ln>
        </p:spPr>
      </p:sp>
      <p:sp>
        <p:nvSpPr>
          <p:cNvPr id="209" name="celt"/>
          <p:cNvSpPr txBox="1">
            <a:spLocks noGrp="1"/>
          </p:cNvSpPr>
          <p:nvPr/>
        </p:nvSpPr>
        <p:spPr>
          <a:xfrm>
            <a:off x="3502152" y="3566160"/>
            <a:ext cx="804672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400" b="1" dirty="0">
                <a:solidFill>
                  <a:srgbClr val="C00000"/>
                </a:solidFill>
                <a:latin typeface="Calibri"/>
              </a:rPr>
              <a:t>●</a:t>
            </a:r>
          </a:p>
        </p:txBody>
      </p:sp>
      <p:sp>
        <p:nvSpPr>
          <p:cNvPr id="74" name="cell"/>
          <p:cNvSpPr>
            <a:spLocks noGrp="1"/>
          </p:cNvSpPr>
          <p:nvPr/>
        </p:nvSpPr>
        <p:spPr>
          <a:xfrm>
            <a:off x="4306824" y="3566160"/>
            <a:ext cx="804672" cy="347472"/>
          </a:xfrm>
          <a:prstGeom prst="rect">
            <a:avLst/>
          </a:prstGeom>
          <a:solidFill>
            <a:srgbClr val="FAECE7"/>
          </a:solidFill>
          <a:ln w="6350">
            <a:solidFill>
              <a:srgbClr val="D1D5DB"/>
            </a:solidFill>
          </a:ln>
        </p:spPr>
      </p:sp>
      <p:sp>
        <p:nvSpPr>
          <p:cNvPr id="210" name="celt"/>
          <p:cNvSpPr txBox="1">
            <a:spLocks noGrp="1"/>
          </p:cNvSpPr>
          <p:nvPr/>
        </p:nvSpPr>
        <p:spPr>
          <a:xfrm>
            <a:off x="4306824" y="3566160"/>
            <a:ext cx="804672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400" b="1" dirty="0">
                <a:solidFill>
                  <a:srgbClr val="C00000"/>
                </a:solidFill>
                <a:latin typeface="Calibri"/>
              </a:rPr>
              <a:t>●</a:t>
            </a:r>
          </a:p>
        </p:txBody>
      </p:sp>
      <p:sp>
        <p:nvSpPr>
          <p:cNvPr id="75" name="cell"/>
          <p:cNvSpPr>
            <a:spLocks noGrp="1"/>
          </p:cNvSpPr>
          <p:nvPr/>
        </p:nvSpPr>
        <p:spPr>
          <a:xfrm>
            <a:off x="5111496" y="3566160"/>
            <a:ext cx="804672" cy="347472"/>
          </a:xfrm>
          <a:prstGeom prst="rect">
            <a:avLst/>
          </a:prstGeom>
          <a:solidFill>
            <a:srgbClr val="FEF3C7"/>
          </a:solidFill>
          <a:ln w="6350">
            <a:solidFill>
              <a:srgbClr val="D1D5DB"/>
            </a:solidFill>
          </a:ln>
        </p:spPr>
      </p:sp>
      <p:sp>
        <p:nvSpPr>
          <p:cNvPr id="211" name="celt"/>
          <p:cNvSpPr txBox="1">
            <a:spLocks noGrp="1"/>
          </p:cNvSpPr>
          <p:nvPr/>
        </p:nvSpPr>
        <p:spPr>
          <a:xfrm>
            <a:off x="5111496" y="3566160"/>
            <a:ext cx="804672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400" b="1" dirty="0">
                <a:solidFill>
                  <a:srgbClr val="92400E"/>
                </a:solidFill>
                <a:latin typeface="Calibri"/>
              </a:rPr>
              <a:t>◐</a:t>
            </a:r>
          </a:p>
        </p:txBody>
      </p:sp>
      <p:sp>
        <p:nvSpPr>
          <p:cNvPr id="76" name="cell"/>
          <p:cNvSpPr>
            <a:spLocks noGrp="1"/>
          </p:cNvSpPr>
          <p:nvPr/>
        </p:nvSpPr>
        <p:spPr>
          <a:xfrm>
            <a:off x="5916168" y="3566160"/>
            <a:ext cx="804672" cy="347472"/>
          </a:xfrm>
          <a:prstGeom prst="rect">
            <a:avLst/>
          </a:prstGeom>
          <a:solidFill>
            <a:srgbClr val="FEF3C7"/>
          </a:solidFill>
          <a:ln w="6350">
            <a:solidFill>
              <a:srgbClr val="D1D5DB"/>
            </a:solidFill>
          </a:ln>
        </p:spPr>
      </p:sp>
      <p:sp>
        <p:nvSpPr>
          <p:cNvPr id="212" name="celt"/>
          <p:cNvSpPr txBox="1">
            <a:spLocks noGrp="1"/>
          </p:cNvSpPr>
          <p:nvPr/>
        </p:nvSpPr>
        <p:spPr>
          <a:xfrm>
            <a:off x="5916168" y="3566160"/>
            <a:ext cx="804672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400" b="1" dirty="0">
                <a:solidFill>
                  <a:srgbClr val="92400E"/>
                </a:solidFill>
                <a:latin typeface="Calibri"/>
              </a:rPr>
              <a:t>◐</a:t>
            </a:r>
          </a:p>
        </p:txBody>
      </p:sp>
      <p:sp>
        <p:nvSpPr>
          <p:cNvPr id="77" name="cell"/>
          <p:cNvSpPr>
            <a:spLocks noGrp="1"/>
          </p:cNvSpPr>
          <p:nvPr/>
        </p:nvSpPr>
        <p:spPr>
          <a:xfrm>
            <a:off x="6720840" y="3566160"/>
            <a:ext cx="804672" cy="347472"/>
          </a:xfrm>
          <a:prstGeom prst="rect">
            <a:avLst/>
          </a:prstGeom>
          <a:solidFill>
            <a:srgbClr val="FAECE7"/>
          </a:solidFill>
          <a:ln w="6350">
            <a:solidFill>
              <a:srgbClr val="D1D5DB"/>
            </a:solidFill>
          </a:ln>
        </p:spPr>
      </p:sp>
      <p:sp>
        <p:nvSpPr>
          <p:cNvPr id="213" name="celt"/>
          <p:cNvSpPr txBox="1">
            <a:spLocks noGrp="1"/>
          </p:cNvSpPr>
          <p:nvPr/>
        </p:nvSpPr>
        <p:spPr>
          <a:xfrm>
            <a:off x="6720840" y="3566160"/>
            <a:ext cx="804672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400" b="1" dirty="0">
                <a:solidFill>
                  <a:srgbClr val="C00000"/>
                </a:solidFill>
                <a:latin typeface="Calibri"/>
              </a:rPr>
              <a:t>●</a:t>
            </a:r>
          </a:p>
        </p:txBody>
      </p:sp>
      <p:sp>
        <p:nvSpPr>
          <p:cNvPr id="78" name="cell"/>
          <p:cNvSpPr>
            <a:spLocks noGrp="1"/>
          </p:cNvSpPr>
          <p:nvPr/>
        </p:nvSpPr>
        <p:spPr>
          <a:xfrm>
            <a:off x="7525512" y="3566160"/>
            <a:ext cx="804672" cy="347472"/>
          </a:xfrm>
          <a:prstGeom prst="rect">
            <a:avLst/>
          </a:prstGeom>
          <a:solidFill>
            <a:srgbClr val="FEF3C7"/>
          </a:solidFill>
          <a:ln w="6350">
            <a:solidFill>
              <a:srgbClr val="D1D5DB"/>
            </a:solidFill>
          </a:ln>
        </p:spPr>
      </p:sp>
      <p:sp>
        <p:nvSpPr>
          <p:cNvPr id="214" name="celt"/>
          <p:cNvSpPr txBox="1">
            <a:spLocks noGrp="1"/>
          </p:cNvSpPr>
          <p:nvPr/>
        </p:nvSpPr>
        <p:spPr>
          <a:xfrm>
            <a:off x="7525512" y="3566160"/>
            <a:ext cx="804672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400" b="1" dirty="0">
                <a:solidFill>
                  <a:srgbClr val="92400E"/>
                </a:solidFill>
                <a:latin typeface="Calibri"/>
              </a:rPr>
              <a:t>◐</a:t>
            </a:r>
          </a:p>
        </p:txBody>
      </p:sp>
      <p:sp>
        <p:nvSpPr>
          <p:cNvPr id="79" name="cell"/>
          <p:cNvSpPr>
            <a:spLocks noGrp="1"/>
          </p:cNvSpPr>
          <p:nvPr/>
        </p:nvSpPr>
        <p:spPr>
          <a:xfrm>
            <a:off x="8330184" y="3566160"/>
            <a:ext cx="804672" cy="347472"/>
          </a:xfrm>
          <a:prstGeom prst="rect">
            <a:avLst/>
          </a:prstGeom>
          <a:solidFill>
            <a:srgbClr val="FEF3C7"/>
          </a:solidFill>
          <a:ln w="6350">
            <a:solidFill>
              <a:srgbClr val="D1D5DB"/>
            </a:solidFill>
          </a:ln>
        </p:spPr>
      </p:sp>
      <p:sp>
        <p:nvSpPr>
          <p:cNvPr id="215" name="celt"/>
          <p:cNvSpPr txBox="1">
            <a:spLocks noGrp="1"/>
          </p:cNvSpPr>
          <p:nvPr/>
        </p:nvSpPr>
        <p:spPr>
          <a:xfrm>
            <a:off x="8330184" y="3566160"/>
            <a:ext cx="804672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400" b="1" dirty="0">
                <a:solidFill>
                  <a:srgbClr val="92400E"/>
                </a:solidFill>
                <a:latin typeface="Calibri"/>
              </a:rPr>
              <a:t>◐</a:t>
            </a:r>
          </a:p>
        </p:txBody>
      </p:sp>
      <p:sp>
        <p:nvSpPr>
          <p:cNvPr id="220" name="db"/>
          <p:cNvSpPr>
            <a:spLocks noGrp="1"/>
          </p:cNvSpPr>
          <p:nvPr/>
        </p:nvSpPr>
        <p:spPr>
          <a:xfrm>
            <a:off x="320040" y="3913632"/>
            <a:ext cx="2377440" cy="347472"/>
          </a:xfrm>
          <a:prstGeom prst="rect">
            <a:avLst/>
          </a:prstGeom>
          <a:solidFill>
            <a:srgbClr val="F5F7FC"/>
          </a:solidFill>
          <a:ln w="6350">
            <a:solidFill>
              <a:srgbClr val="D1D5DB"/>
            </a:solidFill>
          </a:ln>
        </p:spPr>
      </p:sp>
      <p:sp>
        <p:nvSpPr>
          <p:cNvPr id="221" name="dt"/>
          <p:cNvSpPr txBox="1">
            <a:spLocks noGrp="1"/>
          </p:cNvSpPr>
          <p:nvPr/>
        </p:nvSpPr>
        <p:spPr>
          <a:xfrm>
            <a:off x="365760" y="3913632"/>
            <a:ext cx="228600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820" dirty="0">
                <a:solidFill>
                  <a:srgbClr val="0D1B5E"/>
                </a:solidFill>
                <a:latin typeface="Calibri"/>
              </a:rPr>
              <a:t>Scope creep — alcance no controlado</a:t>
            </a:r>
          </a:p>
        </p:txBody>
      </p:sp>
      <p:sp>
        <p:nvSpPr>
          <p:cNvPr id="222" name="cell"/>
          <p:cNvSpPr>
            <a:spLocks noGrp="1"/>
          </p:cNvSpPr>
          <p:nvPr/>
        </p:nvSpPr>
        <p:spPr>
          <a:xfrm>
            <a:off x="2697480" y="3913632"/>
            <a:ext cx="804672" cy="347472"/>
          </a:xfrm>
          <a:prstGeom prst="rect">
            <a:avLst/>
          </a:prstGeom>
          <a:solidFill>
            <a:srgbClr val="FAECE7"/>
          </a:solidFill>
          <a:ln w="6350">
            <a:solidFill>
              <a:srgbClr val="D1D5DB"/>
            </a:solidFill>
          </a:ln>
        </p:spPr>
      </p:sp>
      <p:sp>
        <p:nvSpPr>
          <p:cNvPr id="223" name="celt"/>
          <p:cNvSpPr txBox="1">
            <a:spLocks noGrp="1"/>
          </p:cNvSpPr>
          <p:nvPr/>
        </p:nvSpPr>
        <p:spPr>
          <a:xfrm>
            <a:off x="2697480" y="3913632"/>
            <a:ext cx="804672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400" b="1" dirty="0">
                <a:solidFill>
                  <a:srgbClr val="C00000"/>
                </a:solidFill>
                <a:latin typeface="Calibri"/>
              </a:rPr>
              <a:t>●</a:t>
            </a:r>
          </a:p>
        </p:txBody>
      </p:sp>
      <p:sp>
        <p:nvSpPr>
          <p:cNvPr id="80" name="cell"/>
          <p:cNvSpPr>
            <a:spLocks noGrp="1"/>
          </p:cNvSpPr>
          <p:nvPr/>
        </p:nvSpPr>
        <p:spPr>
          <a:xfrm>
            <a:off x="3502152" y="3913632"/>
            <a:ext cx="804672" cy="347472"/>
          </a:xfrm>
          <a:prstGeom prst="rect">
            <a:avLst/>
          </a:prstGeom>
          <a:solidFill>
            <a:srgbClr val="FAECE7"/>
          </a:solidFill>
          <a:ln w="6350">
            <a:solidFill>
              <a:srgbClr val="D1D5DB"/>
            </a:solidFill>
          </a:ln>
        </p:spPr>
      </p:sp>
      <p:sp>
        <p:nvSpPr>
          <p:cNvPr id="224" name="celt"/>
          <p:cNvSpPr txBox="1">
            <a:spLocks noGrp="1"/>
          </p:cNvSpPr>
          <p:nvPr/>
        </p:nvSpPr>
        <p:spPr>
          <a:xfrm>
            <a:off x="3502152" y="3913632"/>
            <a:ext cx="804672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400" b="1" dirty="0">
                <a:solidFill>
                  <a:srgbClr val="C00000"/>
                </a:solidFill>
                <a:latin typeface="Calibri"/>
              </a:rPr>
              <a:t>●</a:t>
            </a:r>
          </a:p>
        </p:txBody>
      </p:sp>
      <p:sp>
        <p:nvSpPr>
          <p:cNvPr id="81" name="cell"/>
          <p:cNvSpPr>
            <a:spLocks noGrp="1"/>
          </p:cNvSpPr>
          <p:nvPr/>
        </p:nvSpPr>
        <p:spPr>
          <a:xfrm>
            <a:off x="4306824" y="3913632"/>
            <a:ext cx="804672" cy="347472"/>
          </a:xfrm>
          <a:prstGeom prst="rect">
            <a:avLst/>
          </a:prstGeom>
          <a:solidFill>
            <a:srgbClr val="FAECE7"/>
          </a:solidFill>
          <a:ln w="6350">
            <a:solidFill>
              <a:srgbClr val="D1D5DB"/>
            </a:solidFill>
          </a:ln>
        </p:spPr>
      </p:sp>
      <p:sp>
        <p:nvSpPr>
          <p:cNvPr id="225" name="celt"/>
          <p:cNvSpPr txBox="1">
            <a:spLocks noGrp="1"/>
          </p:cNvSpPr>
          <p:nvPr/>
        </p:nvSpPr>
        <p:spPr>
          <a:xfrm>
            <a:off x="4306824" y="3913632"/>
            <a:ext cx="804672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400" b="1" dirty="0">
                <a:solidFill>
                  <a:srgbClr val="C00000"/>
                </a:solidFill>
                <a:latin typeface="Calibri"/>
              </a:rPr>
              <a:t>●</a:t>
            </a:r>
          </a:p>
        </p:txBody>
      </p:sp>
      <p:sp>
        <p:nvSpPr>
          <p:cNvPr id="82" name="cell"/>
          <p:cNvSpPr>
            <a:spLocks noGrp="1"/>
          </p:cNvSpPr>
          <p:nvPr/>
        </p:nvSpPr>
        <p:spPr>
          <a:xfrm>
            <a:off x="5111496" y="3913632"/>
            <a:ext cx="804672" cy="347472"/>
          </a:xfrm>
          <a:prstGeom prst="rect">
            <a:avLst/>
          </a:prstGeom>
          <a:solidFill>
            <a:srgbClr val="FAECE7"/>
          </a:solidFill>
          <a:ln w="6350">
            <a:solidFill>
              <a:srgbClr val="D1D5DB"/>
            </a:solidFill>
          </a:ln>
        </p:spPr>
      </p:sp>
      <p:sp>
        <p:nvSpPr>
          <p:cNvPr id="226" name="celt"/>
          <p:cNvSpPr txBox="1">
            <a:spLocks noGrp="1"/>
          </p:cNvSpPr>
          <p:nvPr/>
        </p:nvSpPr>
        <p:spPr>
          <a:xfrm>
            <a:off x="5111496" y="3913632"/>
            <a:ext cx="804672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400" b="1" dirty="0">
                <a:solidFill>
                  <a:srgbClr val="C00000"/>
                </a:solidFill>
                <a:latin typeface="Calibri"/>
              </a:rPr>
              <a:t>●</a:t>
            </a:r>
          </a:p>
        </p:txBody>
      </p:sp>
      <p:sp>
        <p:nvSpPr>
          <p:cNvPr id="83" name="cell"/>
          <p:cNvSpPr>
            <a:spLocks noGrp="1"/>
          </p:cNvSpPr>
          <p:nvPr/>
        </p:nvSpPr>
        <p:spPr>
          <a:xfrm>
            <a:off x="5916168" y="3913632"/>
            <a:ext cx="804672" cy="347472"/>
          </a:xfrm>
          <a:prstGeom prst="rect">
            <a:avLst/>
          </a:prstGeom>
          <a:solidFill>
            <a:srgbClr val="FEF3C7"/>
          </a:solidFill>
          <a:ln w="6350">
            <a:solidFill>
              <a:srgbClr val="D1D5DB"/>
            </a:solidFill>
          </a:ln>
        </p:spPr>
      </p:sp>
      <p:sp>
        <p:nvSpPr>
          <p:cNvPr id="227" name="celt"/>
          <p:cNvSpPr txBox="1">
            <a:spLocks noGrp="1"/>
          </p:cNvSpPr>
          <p:nvPr/>
        </p:nvSpPr>
        <p:spPr>
          <a:xfrm>
            <a:off x="5916168" y="3913632"/>
            <a:ext cx="804672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400" b="1" dirty="0">
                <a:solidFill>
                  <a:srgbClr val="92400E"/>
                </a:solidFill>
                <a:latin typeface="Calibri"/>
              </a:rPr>
              <a:t>◐</a:t>
            </a:r>
          </a:p>
        </p:txBody>
      </p:sp>
      <p:sp>
        <p:nvSpPr>
          <p:cNvPr id="84" name="cell"/>
          <p:cNvSpPr>
            <a:spLocks noGrp="1"/>
          </p:cNvSpPr>
          <p:nvPr/>
        </p:nvSpPr>
        <p:spPr>
          <a:xfrm>
            <a:off x="6720840" y="3913632"/>
            <a:ext cx="804672" cy="347472"/>
          </a:xfrm>
          <a:prstGeom prst="rect">
            <a:avLst/>
          </a:prstGeom>
          <a:solidFill>
            <a:srgbClr val="FEF3C7"/>
          </a:solidFill>
          <a:ln w="6350">
            <a:solidFill>
              <a:srgbClr val="D1D5DB"/>
            </a:solidFill>
          </a:ln>
        </p:spPr>
      </p:sp>
      <p:sp>
        <p:nvSpPr>
          <p:cNvPr id="228" name="celt"/>
          <p:cNvSpPr txBox="1">
            <a:spLocks noGrp="1"/>
          </p:cNvSpPr>
          <p:nvPr/>
        </p:nvSpPr>
        <p:spPr>
          <a:xfrm>
            <a:off x="6720840" y="3913632"/>
            <a:ext cx="804672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400" b="1" dirty="0">
                <a:solidFill>
                  <a:srgbClr val="92400E"/>
                </a:solidFill>
                <a:latin typeface="Calibri"/>
              </a:rPr>
              <a:t>◐</a:t>
            </a:r>
          </a:p>
        </p:txBody>
      </p:sp>
      <p:sp>
        <p:nvSpPr>
          <p:cNvPr id="85" name="cell"/>
          <p:cNvSpPr>
            <a:spLocks noGrp="1"/>
          </p:cNvSpPr>
          <p:nvPr/>
        </p:nvSpPr>
        <p:spPr>
          <a:xfrm>
            <a:off x="7525512" y="3913632"/>
            <a:ext cx="804672" cy="347472"/>
          </a:xfrm>
          <a:prstGeom prst="rect">
            <a:avLst/>
          </a:prstGeom>
          <a:solidFill>
            <a:srgbClr val="FEF3C7"/>
          </a:solidFill>
          <a:ln w="6350">
            <a:solidFill>
              <a:srgbClr val="D1D5DB"/>
            </a:solidFill>
          </a:ln>
        </p:spPr>
      </p:sp>
      <p:sp>
        <p:nvSpPr>
          <p:cNvPr id="229" name="celt"/>
          <p:cNvSpPr txBox="1">
            <a:spLocks noGrp="1"/>
          </p:cNvSpPr>
          <p:nvPr/>
        </p:nvSpPr>
        <p:spPr>
          <a:xfrm>
            <a:off x="7525512" y="3913632"/>
            <a:ext cx="804672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400" b="1" dirty="0">
                <a:solidFill>
                  <a:srgbClr val="92400E"/>
                </a:solidFill>
                <a:latin typeface="Calibri"/>
              </a:rPr>
              <a:t>◐</a:t>
            </a:r>
          </a:p>
        </p:txBody>
      </p:sp>
      <p:sp>
        <p:nvSpPr>
          <p:cNvPr id="86" name="cell"/>
          <p:cNvSpPr>
            <a:spLocks noGrp="1"/>
          </p:cNvSpPr>
          <p:nvPr/>
        </p:nvSpPr>
        <p:spPr>
          <a:xfrm>
            <a:off x="8330184" y="3913632"/>
            <a:ext cx="804672" cy="347472"/>
          </a:xfrm>
          <a:prstGeom prst="rect">
            <a:avLst/>
          </a:prstGeom>
          <a:solidFill>
            <a:srgbClr val="FEF3C7"/>
          </a:solidFill>
          <a:ln w="6350">
            <a:solidFill>
              <a:srgbClr val="D1D5DB"/>
            </a:solidFill>
          </a:ln>
        </p:spPr>
      </p:sp>
      <p:sp>
        <p:nvSpPr>
          <p:cNvPr id="230" name="celt"/>
          <p:cNvSpPr txBox="1">
            <a:spLocks noGrp="1"/>
          </p:cNvSpPr>
          <p:nvPr/>
        </p:nvSpPr>
        <p:spPr>
          <a:xfrm>
            <a:off x="8330184" y="3913632"/>
            <a:ext cx="804672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400" b="1" dirty="0">
                <a:solidFill>
                  <a:srgbClr val="92400E"/>
                </a:solidFill>
                <a:latin typeface="Calibri"/>
              </a:rPr>
              <a:t>◐</a:t>
            </a:r>
          </a:p>
        </p:txBody>
      </p:sp>
      <p:sp>
        <p:nvSpPr>
          <p:cNvPr id="235" name="db"/>
          <p:cNvSpPr>
            <a:spLocks noGrp="1"/>
          </p:cNvSpPr>
          <p:nvPr/>
        </p:nvSpPr>
        <p:spPr>
          <a:xfrm>
            <a:off x="320040" y="4261104"/>
            <a:ext cx="23774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</p:spPr>
      </p:sp>
      <p:sp>
        <p:nvSpPr>
          <p:cNvPr id="236" name="dt"/>
          <p:cNvSpPr txBox="1">
            <a:spLocks noGrp="1"/>
          </p:cNvSpPr>
          <p:nvPr/>
        </p:nvSpPr>
        <p:spPr>
          <a:xfrm>
            <a:off x="365760" y="4261104"/>
            <a:ext cx="228600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820" dirty="0">
                <a:solidFill>
                  <a:srgbClr val="0D1B5E"/>
                </a:solidFill>
                <a:latin typeface="Calibri"/>
              </a:rPr>
              <a:t>Rotación de personal / pérdida de conocimiento</a:t>
            </a:r>
          </a:p>
        </p:txBody>
      </p:sp>
      <p:sp>
        <p:nvSpPr>
          <p:cNvPr id="237" name="cell"/>
          <p:cNvSpPr>
            <a:spLocks noGrp="1"/>
          </p:cNvSpPr>
          <p:nvPr/>
        </p:nvSpPr>
        <p:spPr>
          <a:xfrm>
            <a:off x="2697480" y="4261104"/>
            <a:ext cx="804672" cy="347472"/>
          </a:xfrm>
          <a:prstGeom prst="rect">
            <a:avLst/>
          </a:prstGeom>
          <a:solidFill>
            <a:srgbClr val="FEF3C7"/>
          </a:solidFill>
          <a:ln w="6350">
            <a:solidFill>
              <a:srgbClr val="D1D5DB"/>
            </a:solidFill>
          </a:ln>
        </p:spPr>
      </p:sp>
      <p:sp>
        <p:nvSpPr>
          <p:cNvPr id="238" name="celt"/>
          <p:cNvSpPr txBox="1">
            <a:spLocks noGrp="1"/>
          </p:cNvSpPr>
          <p:nvPr/>
        </p:nvSpPr>
        <p:spPr>
          <a:xfrm>
            <a:off x="2697480" y="4261104"/>
            <a:ext cx="804672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400" b="1" dirty="0">
                <a:solidFill>
                  <a:srgbClr val="92400E"/>
                </a:solidFill>
                <a:latin typeface="Calibri"/>
              </a:rPr>
              <a:t>◐</a:t>
            </a:r>
          </a:p>
        </p:txBody>
      </p:sp>
      <p:sp>
        <p:nvSpPr>
          <p:cNvPr id="87" name="cell"/>
          <p:cNvSpPr>
            <a:spLocks noGrp="1"/>
          </p:cNvSpPr>
          <p:nvPr/>
        </p:nvSpPr>
        <p:spPr>
          <a:xfrm>
            <a:off x="3502152" y="4261104"/>
            <a:ext cx="804672" cy="347472"/>
          </a:xfrm>
          <a:prstGeom prst="rect">
            <a:avLst/>
          </a:prstGeom>
          <a:solidFill>
            <a:srgbClr val="FEF3C7"/>
          </a:solidFill>
          <a:ln w="6350">
            <a:solidFill>
              <a:srgbClr val="D1D5DB"/>
            </a:solidFill>
          </a:ln>
        </p:spPr>
      </p:sp>
      <p:sp>
        <p:nvSpPr>
          <p:cNvPr id="239" name="celt"/>
          <p:cNvSpPr txBox="1">
            <a:spLocks noGrp="1"/>
          </p:cNvSpPr>
          <p:nvPr/>
        </p:nvSpPr>
        <p:spPr>
          <a:xfrm>
            <a:off x="3502152" y="4261104"/>
            <a:ext cx="804672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400" b="1" dirty="0">
                <a:solidFill>
                  <a:srgbClr val="92400E"/>
                </a:solidFill>
                <a:latin typeface="Calibri"/>
              </a:rPr>
              <a:t>◐</a:t>
            </a:r>
          </a:p>
        </p:txBody>
      </p:sp>
      <p:sp>
        <p:nvSpPr>
          <p:cNvPr id="88" name="cell"/>
          <p:cNvSpPr>
            <a:spLocks noGrp="1"/>
          </p:cNvSpPr>
          <p:nvPr/>
        </p:nvSpPr>
        <p:spPr>
          <a:xfrm>
            <a:off x="4306824" y="4261104"/>
            <a:ext cx="804672" cy="347472"/>
          </a:xfrm>
          <a:prstGeom prst="rect">
            <a:avLst/>
          </a:prstGeom>
          <a:solidFill>
            <a:srgbClr val="FEF3C7"/>
          </a:solidFill>
          <a:ln w="6350">
            <a:solidFill>
              <a:srgbClr val="D1D5DB"/>
            </a:solidFill>
          </a:ln>
        </p:spPr>
      </p:sp>
      <p:sp>
        <p:nvSpPr>
          <p:cNvPr id="240" name="celt"/>
          <p:cNvSpPr txBox="1">
            <a:spLocks noGrp="1"/>
          </p:cNvSpPr>
          <p:nvPr/>
        </p:nvSpPr>
        <p:spPr>
          <a:xfrm>
            <a:off x="4306824" y="4261104"/>
            <a:ext cx="804672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400" b="1" dirty="0">
                <a:solidFill>
                  <a:srgbClr val="92400E"/>
                </a:solidFill>
                <a:latin typeface="Calibri"/>
              </a:rPr>
              <a:t>◐</a:t>
            </a:r>
          </a:p>
        </p:txBody>
      </p:sp>
      <p:sp>
        <p:nvSpPr>
          <p:cNvPr id="89" name="cell"/>
          <p:cNvSpPr>
            <a:spLocks noGrp="1"/>
          </p:cNvSpPr>
          <p:nvPr/>
        </p:nvSpPr>
        <p:spPr>
          <a:xfrm>
            <a:off x="5111496" y="4261104"/>
            <a:ext cx="804672" cy="347472"/>
          </a:xfrm>
          <a:prstGeom prst="rect">
            <a:avLst/>
          </a:prstGeom>
          <a:solidFill>
            <a:srgbClr val="FEF3C7"/>
          </a:solidFill>
          <a:ln w="6350">
            <a:solidFill>
              <a:srgbClr val="D1D5DB"/>
            </a:solidFill>
          </a:ln>
        </p:spPr>
      </p:sp>
      <p:sp>
        <p:nvSpPr>
          <p:cNvPr id="241" name="celt"/>
          <p:cNvSpPr txBox="1">
            <a:spLocks noGrp="1"/>
          </p:cNvSpPr>
          <p:nvPr/>
        </p:nvSpPr>
        <p:spPr>
          <a:xfrm>
            <a:off x="5111496" y="4261104"/>
            <a:ext cx="804672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400" b="1" dirty="0">
                <a:solidFill>
                  <a:srgbClr val="92400E"/>
                </a:solidFill>
                <a:latin typeface="Calibri"/>
              </a:rPr>
              <a:t>◐</a:t>
            </a:r>
          </a:p>
        </p:txBody>
      </p:sp>
      <p:sp>
        <p:nvSpPr>
          <p:cNvPr id="90" name="cell"/>
          <p:cNvSpPr>
            <a:spLocks noGrp="1"/>
          </p:cNvSpPr>
          <p:nvPr/>
        </p:nvSpPr>
        <p:spPr>
          <a:xfrm>
            <a:off x="5916168" y="4261104"/>
            <a:ext cx="804672" cy="347472"/>
          </a:xfrm>
          <a:prstGeom prst="rect">
            <a:avLst/>
          </a:prstGeom>
          <a:solidFill>
            <a:srgbClr val="FEF3C7"/>
          </a:solidFill>
          <a:ln w="6350">
            <a:solidFill>
              <a:srgbClr val="D1D5DB"/>
            </a:solidFill>
          </a:ln>
        </p:spPr>
      </p:sp>
      <p:sp>
        <p:nvSpPr>
          <p:cNvPr id="242" name="celt"/>
          <p:cNvSpPr txBox="1">
            <a:spLocks noGrp="1"/>
          </p:cNvSpPr>
          <p:nvPr/>
        </p:nvSpPr>
        <p:spPr>
          <a:xfrm>
            <a:off x="5916168" y="4261104"/>
            <a:ext cx="804672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400" b="1" dirty="0">
                <a:solidFill>
                  <a:srgbClr val="92400E"/>
                </a:solidFill>
                <a:latin typeface="Calibri"/>
              </a:rPr>
              <a:t>◐</a:t>
            </a:r>
          </a:p>
        </p:txBody>
      </p:sp>
      <p:sp>
        <p:nvSpPr>
          <p:cNvPr id="91" name="cell"/>
          <p:cNvSpPr>
            <a:spLocks noGrp="1"/>
          </p:cNvSpPr>
          <p:nvPr/>
        </p:nvSpPr>
        <p:spPr>
          <a:xfrm>
            <a:off x="6720840" y="4261104"/>
            <a:ext cx="804672" cy="347472"/>
          </a:xfrm>
          <a:prstGeom prst="rect">
            <a:avLst/>
          </a:prstGeom>
          <a:solidFill>
            <a:srgbClr val="FEF3C7"/>
          </a:solidFill>
          <a:ln w="6350">
            <a:solidFill>
              <a:srgbClr val="D1D5DB"/>
            </a:solidFill>
          </a:ln>
        </p:spPr>
      </p:sp>
      <p:sp>
        <p:nvSpPr>
          <p:cNvPr id="243" name="celt"/>
          <p:cNvSpPr txBox="1">
            <a:spLocks noGrp="1"/>
          </p:cNvSpPr>
          <p:nvPr/>
        </p:nvSpPr>
        <p:spPr>
          <a:xfrm>
            <a:off x="6720840" y="4261104"/>
            <a:ext cx="804672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400" b="1" dirty="0">
                <a:solidFill>
                  <a:srgbClr val="92400E"/>
                </a:solidFill>
                <a:latin typeface="Calibri"/>
              </a:rPr>
              <a:t>◐</a:t>
            </a:r>
          </a:p>
        </p:txBody>
      </p:sp>
      <p:sp>
        <p:nvSpPr>
          <p:cNvPr id="92" name="cell"/>
          <p:cNvSpPr>
            <a:spLocks noGrp="1"/>
          </p:cNvSpPr>
          <p:nvPr/>
        </p:nvSpPr>
        <p:spPr>
          <a:xfrm>
            <a:off x="7525512" y="4261104"/>
            <a:ext cx="804672" cy="347472"/>
          </a:xfrm>
          <a:prstGeom prst="rect">
            <a:avLst/>
          </a:prstGeom>
          <a:solidFill>
            <a:srgbClr val="FEF3C7"/>
          </a:solidFill>
          <a:ln w="6350">
            <a:solidFill>
              <a:srgbClr val="D1D5DB"/>
            </a:solidFill>
          </a:ln>
        </p:spPr>
      </p:sp>
      <p:sp>
        <p:nvSpPr>
          <p:cNvPr id="244" name="celt"/>
          <p:cNvSpPr txBox="1">
            <a:spLocks noGrp="1"/>
          </p:cNvSpPr>
          <p:nvPr/>
        </p:nvSpPr>
        <p:spPr>
          <a:xfrm>
            <a:off x="7525512" y="4261104"/>
            <a:ext cx="804672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400" b="1" dirty="0">
                <a:solidFill>
                  <a:srgbClr val="92400E"/>
                </a:solidFill>
                <a:latin typeface="Calibri"/>
              </a:rPr>
              <a:t>◐</a:t>
            </a:r>
          </a:p>
        </p:txBody>
      </p:sp>
      <p:sp>
        <p:nvSpPr>
          <p:cNvPr id="93" name="cell"/>
          <p:cNvSpPr>
            <a:spLocks noGrp="1"/>
          </p:cNvSpPr>
          <p:nvPr/>
        </p:nvSpPr>
        <p:spPr>
          <a:xfrm>
            <a:off x="8330184" y="4261104"/>
            <a:ext cx="804672" cy="347472"/>
          </a:xfrm>
          <a:prstGeom prst="rect">
            <a:avLst/>
          </a:prstGeom>
          <a:solidFill>
            <a:srgbClr val="FEF3C7"/>
          </a:solidFill>
          <a:ln w="6350">
            <a:solidFill>
              <a:srgbClr val="D1D5DB"/>
            </a:solidFill>
          </a:ln>
        </p:spPr>
      </p:sp>
      <p:sp>
        <p:nvSpPr>
          <p:cNvPr id="245" name="celt"/>
          <p:cNvSpPr txBox="1">
            <a:spLocks noGrp="1"/>
          </p:cNvSpPr>
          <p:nvPr/>
        </p:nvSpPr>
        <p:spPr>
          <a:xfrm>
            <a:off x="8330184" y="4261104"/>
            <a:ext cx="804672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1400" b="1" dirty="0">
                <a:solidFill>
                  <a:srgbClr val="92400E"/>
                </a:solidFill>
                <a:latin typeface="Calibri"/>
              </a:rPr>
              <a:t>◐</a:t>
            </a:r>
          </a:p>
        </p:txBody>
      </p:sp>
      <p:sp>
        <p:nvSpPr>
          <p:cNvPr id="300" name="leg"/>
          <p:cNvSpPr txBox="1">
            <a:spLocks noGrp="1"/>
          </p:cNvSpPr>
          <p:nvPr/>
        </p:nvSpPr>
        <p:spPr>
          <a:xfrm>
            <a:off x="320040" y="4297680"/>
            <a:ext cx="173736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1200" b="1" dirty="0">
                <a:solidFill>
                  <a:srgbClr val="C00000"/>
                </a:solidFill>
                <a:latin typeface="Calibri"/>
              </a:rPr>
              <a:t>●</a:t>
            </a:r>
            <a:r>
              <a:rPr lang="es-ES" sz="880" dirty="0">
                <a:solidFill>
                  <a:srgbClr val="0D1B5E"/>
                </a:solidFill>
                <a:latin typeface="Calibri"/>
              </a:rPr>
              <a:t>  Confirmado</a:t>
            </a:r>
          </a:p>
        </p:txBody>
      </p:sp>
      <p:sp>
        <p:nvSpPr>
          <p:cNvPr id="301" name="leg"/>
          <p:cNvSpPr txBox="1">
            <a:spLocks noGrp="1"/>
          </p:cNvSpPr>
          <p:nvPr/>
        </p:nvSpPr>
        <p:spPr>
          <a:xfrm>
            <a:off x="2148840" y="4297680"/>
            <a:ext cx="173736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1200" b="1" dirty="0">
                <a:solidFill>
                  <a:srgbClr val="92400E"/>
                </a:solidFill>
                <a:latin typeface="Calibri"/>
              </a:rPr>
              <a:t>◐</a:t>
            </a:r>
            <a:r>
              <a:rPr lang="es-ES" sz="880" dirty="0">
                <a:solidFill>
                  <a:srgbClr val="0D1B5E"/>
                </a:solidFill>
                <a:latin typeface="Calibri"/>
              </a:rPr>
              <a:t>  Parcial</a:t>
            </a:r>
          </a:p>
        </p:txBody>
      </p:sp>
      <p:sp>
        <p:nvSpPr>
          <p:cNvPr id="302" name="leg"/>
          <p:cNvSpPr txBox="1">
            <a:spLocks noGrp="1"/>
          </p:cNvSpPr>
          <p:nvPr/>
        </p:nvSpPr>
        <p:spPr>
          <a:xfrm>
            <a:off x="3977640" y="4297680"/>
            <a:ext cx="173736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1200" b="1" dirty="0">
                <a:solidFill>
                  <a:srgbClr val="6B7280"/>
                </a:solidFill>
                <a:latin typeface="Calibri"/>
              </a:rPr>
              <a:t>○</a:t>
            </a:r>
            <a:r>
              <a:rPr lang="es-ES" sz="880" dirty="0">
                <a:solidFill>
                  <a:srgbClr val="0D1B5E"/>
                </a:solidFill>
                <a:latin typeface="Calibri"/>
              </a:rPr>
              <a:t>  No identificado</a:t>
            </a:r>
          </a:p>
        </p:txBody>
      </p:sp>
      <p:sp>
        <p:nvSpPr>
          <p:cNvPr id="310" name="src"/>
          <p:cNvSpPr txBox="1">
            <a:spLocks noGrp="1"/>
          </p:cNvSpPr>
          <p:nvPr/>
        </p:nvSpPr>
        <p:spPr>
          <a:xfrm>
            <a:off x="320040" y="4480560"/>
            <a:ext cx="77724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i="1" dirty="0">
                <a:solidFill>
                  <a:srgbClr val="6B7280"/>
                </a:solidFill>
                <a:latin typeface="Calibri"/>
              </a:rPr>
              <a:t>Fuente: Levantamiento interno PersonalSoft — Julio 2026 · Excel Levantamiento_Mesas · Reuniones con lideres de mesa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bg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C"/>
          </a:solidFill>
          <a:ln>
            <a:noFill/>
          </a:ln>
        </p:spPr>
      </p:sp>
      <p:sp>
        <p:nvSpPr>
          <p:cNvPr id="3" name="hdr"/>
          <p:cNvSpPr>
            <a:spLocks noGrp="1"/>
          </p:cNvSpPr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5E"/>
          </a:solidFill>
          <a:ln>
            <a:noFill/>
          </a:ln>
        </p:spPr>
      </p:sp>
      <p:sp>
        <p:nvSpPr>
          <p:cNvPr id="4" name="ttl"/>
          <p:cNvSpPr txBox="1">
            <a:spLocks noGrp="1"/>
          </p:cNvSpPr>
          <p:nvPr/>
        </p:nvSpPr>
        <p:spPr>
          <a:xfrm>
            <a:off x="320040" y="91440"/>
            <a:ext cx="7772400" cy="47548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2000" b="1" dirty="0">
                <a:solidFill>
                  <a:srgbClr val="FFFFFF"/>
                </a:solidFill>
                <a:latin typeface="Calibri"/>
              </a:rPr>
              <a:t>SURA — 4 Mesas de Servicio: Diagnóstico y Dolores Top</a:t>
            </a:r>
          </a:p>
        </p:txBody>
      </p:sp>
      <p:sp>
        <p:nvSpPr>
          <p:cNvPr id="5" name="sub"/>
          <p:cNvSpPr txBox="1">
            <a:spLocks noGrp="1"/>
          </p:cNvSpPr>
          <p:nvPr/>
        </p:nvSpPr>
        <p:spPr>
          <a:xfrm>
            <a:off x="320040" y="566928"/>
            <a:ext cx="777240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1000" dirty="0">
                <a:solidFill>
                  <a:srgbClr val="C8EBEF"/>
                </a:solidFill>
                <a:latin typeface="Calibri"/>
              </a:rPr>
              <a:t>Seguros y Salud · 11 FTE total · Nivel N2 todas · Renovación agosto-diciembre 2026 · Lideradas por Elsy Marin</a:t>
            </a:r>
          </a:p>
        </p:txBody>
      </p:sp>
      <p:sp>
        <p:nvSpPr>
          <p:cNvPr id="10" name="card"/>
          <p:cNvSpPr>
            <a:spLocks noGrp="1"/>
          </p:cNvSpPr>
          <p:nvPr/>
        </p:nvSpPr>
        <p:spPr>
          <a:xfrm>
            <a:off x="274320" y="804672"/>
            <a:ext cx="3794760" cy="166420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</p:sp>
      <p:sp>
        <p:nvSpPr>
          <p:cNvPr id="11" name="chdr"/>
          <p:cNvSpPr>
            <a:spLocks noGrp="1"/>
          </p:cNvSpPr>
          <p:nvPr/>
        </p:nvSpPr>
        <p:spPr>
          <a:xfrm>
            <a:off x="274320" y="804672"/>
            <a:ext cx="3794760" cy="310896"/>
          </a:xfrm>
          <a:prstGeom prst="roundRect">
            <a:avLst>
              <a:gd name="adj" fmla="val 15000"/>
            </a:avLst>
          </a:prstGeom>
          <a:solidFill>
            <a:srgbClr val="0D1B5E"/>
          </a:solidFill>
          <a:ln>
            <a:noFill/>
          </a:ln>
        </p:spPr>
      </p:sp>
      <p:sp>
        <p:nvSpPr>
          <p:cNvPr id="12" name="chdr2"/>
          <p:cNvSpPr>
            <a:spLocks noGrp="1"/>
          </p:cNvSpPr>
          <p:nvPr/>
        </p:nvSpPr>
        <p:spPr>
          <a:xfrm>
            <a:off x="274320" y="987552"/>
            <a:ext cx="3794760" cy="128016"/>
          </a:xfrm>
          <a:prstGeom prst="rect">
            <a:avLst/>
          </a:prstGeom>
          <a:solidFill>
            <a:srgbClr val="0D1B5E"/>
          </a:solidFill>
          <a:ln>
            <a:noFill/>
          </a:ln>
        </p:spPr>
      </p:sp>
      <p:sp>
        <p:nvSpPr>
          <p:cNvPr id="13" name="cnom"/>
          <p:cNvSpPr txBox="1">
            <a:spLocks noGrp="1"/>
          </p:cNvSpPr>
          <p:nvPr/>
        </p:nvSpPr>
        <p:spPr>
          <a:xfrm>
            <a:off x="384048" y="850392"/>
            <a:ext cx="164592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1100" b="1" dirty="0">
                <a:solidFill>
                  <a:srgbClr val="FFFFFF"/>
                </a:solidFill>
                <a:latin typeface="Calibri"/>
              </a:rPr>
              <a:t>Mesa Cotizadores</a:t>
            </a:r>
          </a:p>
        </p:txBody>
      </p:sp>
      <p:sp>
        <p:nvSpPr>
          <p:cNvPr id="14" name="nivel"/>
          <p:cNvSpPr>
            <a:spLocks noGrp="1"/>
          </p:cNvSpPr>
          <p:nvPr/>
        </p:nvSpPr>
        <p:spPr>
          <a:xfrm>
            <a:off x="2103120" y="859536"/>
            <a:ext cx="411480" cy="201168"/>
          </a:xfrm>
          <a:prstGeom prst="roundRect">
            <a:avLst>
              <a:gd name="adj" fmla="val 8000"/>
            </a:avLst>
          </a:prstGeom>
          <a:solidFill>
            <a:srgbClr val="92400E"/>
          </a:solidFill>
          <a:ln>
            <a:noFill/>
          </a:ln>
        </p:spPr>
      </p:sp>
      <p:sp>
        <p:nvSpPr>
          <p:cNvPr id="15" name="nivelt"/>
          <p:cNvSpPr txBox="1">
            <a:spLocks noGrp="1"/>
          </p:cNvSpPr>
          <p:nvPr/>
        </p:nvSpPr>
        <p:spPr>
          <a:xfrm>
            <a:off x="2103120" y="859536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00" b="1" dirty="0">
                <a:solidFill>
                  <a:srgbClr val="FFFFFF"/>
                </a:solidFill>
                <a:latin typeface="Calibri"/>
              </a:rPr>
              <a:t>N2</a:t>
            </a:r>
          </a:p>
        </p:txBody>
      </p:sp>
      <p:sp>
        <p:nvSpPr>
          <p:cNvPr id="16" name="fte"/>
          <p:cNvSpPr txBox="1">
            <a:spLocks noGrp="1"/>
          </p:cNvSpPr>
          <p:nvPr/>
        </p:nvSpPr>
        <p:spPr>
          <a:xfrm>
            <a:off x="2578608" y="859536"/>
            <a:ext cx="1389888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800" dirty="0">
                <a:solidFill>
                  <a:srgbClr val="C8EBEF"/>
                </a:solidFill>
                <a:latin typeface="Calibri"/>
              </a:rPr>
              <a:t>FTE: 2  ·  BMC Remedy</a:t>
            </a:r>
          </a:p>
        </p:txBody>
      </p:sp>
      <p:sp>
        <p:nvSpPr>
          <p:cNvPr id="17" name="hace"/>
          <p:cNvSpPr txBox="1">
            <a:spLocks noGrp="1"/>
          </p:cNvSpPr>
          <p:nvPr/>
        </p:nvSpPr>
        <p:spPr>
          <a:xfrm>
            <a:off x="384048" y="1170432"/>
            <a:ext cx="3575304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800" i="1" dirty="0">
                <a:solidFill>
                  <a:srgbClr val="6B7280"/>
                </a:solidFill>
                <a:latin typeface="Calibri"/>
              </a:rPr>
              <a:t>Soporte a plataforma de suscripción y cotización de polizas · Incidentes + requerimientos</a:t>
            </a:r>
          </a:p>
        </p:txBody>
      </p:sp>
      <p:sp>
        <p:nvSpPr>
          <p:cNvPr id="18" name="d"/>
          <p:cNvSpPr txBox="1">
            <a:spLocks noGrp="1"/>
          </p:cNvSpPr>
          <p:nvPr/>
        </p:nvSpPr>
        <p:spPr>
          <a:xfrm>
            <a:off x="384048" y="1408176"/>
            <a:ext cx="3575304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900" b="1" dirty="0">
                <a:solidFill>
                  <a:srgbClr val="C00000"/>
                </a:solidFill>
                <a:latin typeface="Calibri"/>
              </a:rPr>
              <a:t>▸ </a:t>
            </a:r>
            <a:r>
              <a:rPr lang="es-ES" sz="860" dirty="0">
                <a:solidFill>
                  <a:srgbClr val="0D1B5E"/>
                </a:solidFill>
                <a:latin typeface="Calibri"/>
              </a:rPr>
              <a:t>SLAs incumplidos con penalizaciones activas</a:t>
            </a:r>
          </a:p>
        </p:txBody>
      </p:sp>
      <p:sp>
        <p:nvSpPr>
          <p:cNvPr id="19" name="d"/>
          <p:cNvSpPr txBox="1">
            <a:spLocks noGrp="1"/>
          </p:cNvSpPr>
          <p:nvPr/>
        </p:nvSpPr>
        <p:spPr>
          <a:xfrm>
            <a:off x="384048" y="1664208"/>
            <a:ext cx="3575304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900" b="1" dirty="0">
                <a:solidFill>
                  <a:srgbClr val="C00000"/>
                </a:solidFill>
                <a:latin typeface="Calibri"/>
              </a:rPr>
              <a:t>▸ </a:t>
            </a:r>
            <a:r>
              <a:rPr lang="es-ES" sz="860" dirty="0">
                <a:solidFill>
                  <a:srgbClr val="0D1B5E"/>
                </a:solidFill>
                <a:latin typeface="Calibri"/>
              </a:rPr>
              <a:t>Sin autoservicio — todo entra por call o correo</a:t>
            </a:r>
          </a:p>
        </p:txBody>
      </p:sp>
      <p:sp>
        <p:nvSpPr>
          <p:cNvPr id="20" name="d"/>
          <p:cNvSpPr txBox="1">
            <a:spLocks noGrp="1"/>
          </p:cNvSpPr>
          <p:nvPr/>
        </p:nvSpPr>
        <p:spPr>
          <a:xfrm>
            <a:off x="384048" y="1920240"/>
            <a:ext cx="3575304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900" b="1" dirty="0">
                <a:solidFill>
                  <a:srgbClr val="C00000"/>
                </a:solidFill>
                <a:latin typeface="Calibri"/>
              </a:rPr>
              <a:t>▸ </a:t>
            </a:r>
            <a:r>
              <a:rPr lang="es-ES" sz="860" dirty="0">
                <a:solidFill>
                  <a:srgbClr val="0D1B5E"/>
                </a:solidFill>
                <a:latin typeface="Calibri"/>
              </a:rPr>
              <a:t>Roles sin definir — misma persona hace N1, N2 y N3</a:t>
            </a:r>
          </a:p>
        </p:txBody>
      </p:sp>
      <p:sp>
        <p:nvSpPr>
          <p:cNvPr id="6" name="est"/>
          <p:cNvSpPr>
            <a:spLocks noGrp="1"/>
          </p:cNvSpPr>
          <p:nvPr/>
        </p:nvSpPr>
        <p:spPr>
          <a:xfrm>
            <a:off x="384048" y="2249424"/>
            <a:ext cx="3575304" cy="182880"/>
          </a:xfrm>
          <a:prstGeom prst="roundRect">
            <a:avLst>
              <a:gd name="adj" fmla="val 6000"/>
            </a:avLst>
          </a:prstGeom>
          <a:solidFill>
            <a:srgbClr val="FEF3C7"/>
          </a:solidFill>
          <a:ln w="9525">
            <a:solidFill>
              <a:srgbClr val="F59E0B"/>
            </a:solidFill>
          </a:ln>
        </p:spPr>
      </p:sp>
      <p:sp>
        <p:nvSpPr>
          <p:cNvPr id="7" name="estt"/>
          <p:cNvSpPr txBox="1">
            <a:spLocks noGrp="1"/>
          </p:cNvSpPr>
          <p:nvPr/>
        </p:nvSpPr>
        <p:spPr>
          <a:xfrm>
            <a:off x="438912" y="2249424"/>
            <a:ext cx="352044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dirty="0">
                <a:solidFill>
                  <a:srgbClr val="92400E"/>
                </a:solidFill>
                <a:latin typeface="Calibri"/>
              </a:rPr>
              <a:t>⚠ Renovacion agosto · Competencia activa en 2027</a:t>
            </a:r>
          </a:p>
        </p:txBody>
      </p:sp>
      <p:sp>
        <p:nvSpPr>
          <p:cNvPr id="30" name="card"/>
          <p:cNvSpPr>
            <a:spLocks noGrp="1"/>
          </p:cNvSpPr>
          <p:nvPr/>
        </p:nvSpPr>
        <p:spPr>
          <a:xfrm>
            <a:off x="4178808" y="804672"/>
            <a:ext cx="3794760" cy="166420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</p:sp>
      <p:sp>
        <p:nvSpPr>
          <p:cNvPr id="31" name="chdr"/>
          <p:cNvSpPr>
            <a:spLocks noGrp="1"/>
          </p:cNvSpPr>
          <p:nvPr/>
        </p:nvSpPr>
        <p:spPr>
          <a:xfrm>
            <a:off x="4178808" y="804672"/>
            <a:ext cx="3794760" cy="310896"/>
          </a:xfrm>
          <a:prstGeom prst="roundRect">
            <a:avLst>
              <a:gd name="adj" fmla="val 15000"/>
            </a:avLst>
          </a:prstGeom>
          <a:solidFill>
            <a:srgbClr val="0D1B5E"/>
          </a:solidFill>
          <a:ln>
            <a:noFill/>
          </a:ln>
        </p:spPr>
      </p:sp>
      <p:sp>
        <p:nvSpPr>
          <p:cNvPr id="32" name="chdr2"/>
          <p:cNvSpPr>
            <a:spLocks noGrp="1"/>
          </p:cNvSpPr>
          <p:nvPr/>
        </p:nvSpPr>
        <p:spPr>
          <a:xfrm>
            <a:off x="4178808" y="987552"/>
            <a:ext cx="3794760" cy="128016"/>
          </a:xfrm>
          <a:prstGeom prst="rect">
            <a:avLst/>
          </a:prstGeom>
          <a:solidFill>
            <a:srgbClr val="0D1B5E"/>
          </a:solidFill>
          <a:ln>
            <a:noFill/>
          </a:ln>
        </p:spPr>
      </p:sp>
      <p:sp>
        <p:nvSpPr>
          <p:cNvPr id="33" name="cnom"/>
          <p:cNvSpPr txBox="1">
            <a:spLocks noGrp="1"/>
          </p:cNvSpPr>
          <p:nvPr/>
        </p:nvSpPr>
        <p:spPr>
          <a:xfrm>
            <a:off x="4288536" y="850392"/>
            <a:ext cx="164592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1100" b="1" dirty="0">
                <a:solidFill>
                  <a:srgbClr val="FFFFFF"/>
                </a:solidFill>
                <a:latin typeface="Calibri"/>
              </a:rPr>
              <a:t>Mesa Venta Digital</a:t>
            </a:r>
          </a:p>
        </p:txBody>
      </p:sp>
      <p:sp>
        <p:nvSpPr>
          <p:cNvPr id="34" name="nivel"/>
          <p:cNvSpPr>
            <a:spLocks noGrp="1"/>
          </p:cNvSpPr>
          <p:nvPr/>
        </p:nvSpPr>
        <p:spPr>
          <a:xfrm>
            <a:off x="6007608" y="859536"/>
            <a:ext cx="411480" cy="201168"/>
          </a:xfrm>
          <a:prstGeom prst="roundRect">
            <a:avLst>
              <a:gd name="adj" fmla="val 8000"/>
            </a:avLst>
          </a:prstGeom>
          <a:solidFill>
            <a:srgbClr val="92400E"/>
          </a:solidFill>
          <a:ln>
            <a:noFill/>
          </a:ln>
        </p:spPr>
      </p:sp>
      <p:sp>
        <p:nvSpPr>
          <p:cNvPr id="35" name="nivelt"/>
          <p:cNvSpPr txBox="1">
            <a:spLocks noGrp="1"/>
          </p:cNvSpPr>
          <p:nvPr/>
        </p:nvSpPr>
        <p:spPr>
          <a:xfrm>
            <a:off x="6007608" y="859536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00" b="1" dirty="0">
                <a:solidFill>
                  <a:srgbClr val="FFFFFF"/>
                </a:solidFill>
                <a:latin typeface="Calibri"/>
              </a:rPr>
              <a:t>N2</a:t>
            </a:r>
          </a:p>
        </p:txBody>
      </p:sp>
      <p:sp>
        <p:nvSpPr>
          <p:cNvPr id="36" name="fte"/>
          <p:cNvSpPr txBox="1">
            <a:spLocks noGrp="1"/>
          </p:cNvSpPr>
          <p:nvPr/>
        </p:nvSpPr>
        <p:spPr>
          <a:xfrm>
            <a:off x="6483096" y="859536"/>
            <a:ext cx="1389888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800" dirty="0">
                <a:solidFill>
                  <a:srgbClr val="C8EBEF"/>
                </a:solidFill>
                <a:latin typeface="Calibri"/>
              </a:rPr>
              <a:t>FTE: 2  ·  BMC Remedy</a:t>
            </a:r>
          </a:p>
        </p:txBody>
      </p:sp>
      <p:sp>
        <p:nvSpPr>
          <p:cNvPr id="37" name="hace"/>
          <p:cNvSpPr txBox="1">
            <a:spLocks noGrp="1"/>
          </p:cNvSpPr>
          <p:nvPr/>
        </p:nvSpPr>
        <p:spPr>
          <a:xfrm>
            <a:off x="4288536" y="1170432"/>
            <a:ext cx="3575304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800" i="1" dirty="0">
                <a:solidFill>
                  <a:srgbClr val="6B7280"/>
                </a:solidFill>
                <a:latin typeface="Calibri"/>
              </a:rPr>
              <a:t>Atención de incidentes del canal digital de venta · SLA/MTTR en BMC · Problem management</a:t>
            </a:r>
          </a:p>
        </p:txBody>
      </p:sp>
      <p:sp>
        <p:nvSpPr>
          <p:cNvPr id="38" name="d"/>
          <p:cNvSpPr txBox="1">
            <a:spLocks noGrp="1"/>
          </p:cNvSpPr>
          <p:nvPr/>
        </p:nvSpPr>
        <p:spPr>
          <a:xfrm>
            <a:off x="4288536" y="1408176"/>
            <a:ext cx="3575304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900" b="1" dirty="0">
                <a:solidFill>
                  <a:srgbClr val="C00000"/>
                </a:solidFill>
                <a:latin typeface="Calibri"/>
              </a:rPr>
              <a:t>▸ </a:t>
            </a:r>
            <a:r>
              <a:rPr lang="es-ES" sz="860" dirty="0">
                <a:solidFill>
                  <a:srgbClr val="0D1B5E"/>
                </a:solidFill>
                <a:latin typeface="Calibri"/>
              </a:rPr>
              <a:t>SLAs incumplidos con penalizaciones activas</a:t>
            </a:r>
          </a:p>
        </p:txBody>
      </p:sp>
      <p:sp>
        <p:nvSpPr>
          <p:cNvPr id="39" name="d"/>
          <p:cNvSpPr txBox="1">
            <a:spLocks noGrp="1"/>
          </p:cNvSpPr>
          <p:nvPr/>
        </p:nvSpPr>
        <p:spPr>
          <a:xfrm>
            <a:off x="4288536" y="1664208"/>
            <a:ext cx="3575304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900" b="1" dirty="0">
                <a:solidFill>
                  <a:srgbClr val="C00000"/>
                </a:solidFill>
                <a:latin typeface="Calibri"/>
              </a:rPr>
              <a:t>▸ </a:t>
            </a:r>
            <a:r>
              <a:rPr lang="es-ES" sz="860" dirty="0">
                <a:solidFill>
                  <a:srgbClr val="0D1B5E"/>
                </a:solidFill>
                <a:latin typeface="Calibri"/>
              </a:rPr>
              <a:t>Sin dashboard — sin visibilidad ejecutiva en tiempo real</a:t>
            </a:r>
          </a:p>
        </p:txBody>
      </p:sp>
      <p:sp>
        <p:nvSpPr>
          <p:cNvPr id="40" name="d"/>
          <p:cNvSpPr txBox="1">
            <a:spLocks noGrp="1"/>
          </p:cNvSpPr>
          <p:nvPr/>
        </p:nvSpPr>
        <p:spPr>
          <a:xfrm>
            <a:off x="4288536" y="1920240"/>
            <a:ext cx="3575304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900" b="1" dirty="0">
                <a:solidFill>
                  <a:srgbClr val="C00000"/>
                </a:solidFill>
                <a:latin typeface="Calibri"/>
              </a:rPr>
              <a:t>▸ </a:t>
            </a:r>
            <a:r>
              <a:rPr lang="es-ES" sz="860" dirty="0">
                <a:solidFill>
                  <a:srgbClr val="0D1B5E"/>
                </a:solidFill>
                <a:latin typeface="Calibri"/>
              </a:rPr>
              <a:t>Sin autoservicio — todo entra por call o correo</a:t>
            </a:r>
          </a:p>
        </p:txBody>
      </p:sp>
      <p:sp>
        <p:nvSpPr>
          <p:cNvPr id="8" name="est"/>
          <p:cNvSpPr>
            <a:spLocks noGrp="1"/>
          </p:cNvSpPr>
          <p:nvPr/>
        </p:nvSpPr>
        <p:spPr>
          <a:xfrm>
            <a:off x="4288536" y="2249424"/>
            <a:ext cx="3575304" cy="182880"/>
          </a:xfrm>
          <a:prstGeom prst="roundRect">
            <a:avLst>
              <a:gd name="adj" fmla="val 6000"/>
            </a:avLst>
          </a:prstGeom>
          <a:solidFill>
            <a:srgbClr val="FEF3C7"/>
          </a:solidFill>
          <a:ln w="9525">
            <a:solidFill>
              <a:srgbClr val="F59E0B"/>
            </a:solidFill>
          </a:ln>
        </p:spPr>
      </p:sp>
      <p:sp>
        <p:nvSpPr>
          <p:cNvPr id="9" name="estt"/>
          <p:cNvSpPr txBox="1">
            <a:spLocks noGrp="1"/>
          </p:cNvSpPr>
          <p:nvPr/>
        </p:nvSpPr>
        <p:spPr>
          <a:xfrm>
            <a:off x="4343400" y="2249424"/>
            <a:ext cx="352044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dirty="0">
                <a:solidFill>
                  <a:srgbClr val="92400E"/>
                </a:solidFill>
                <a:latin typeface="Calibri"/>
              </a:rPr>
              <a:t>⚠ Renovacion agosto · Mesa joven con alta dependencia de personas</a:t>
            </a:r>
          </a:p>
        </p:txBody>
      </p:sp>
      <p:sp>
        <p:nvSpPr>
          <p:cNvPr id="50" name="card"/>
          <p:cNvSpPr>
            <a:spLocks noGrp="1"/>
          </p:cNvSpPr>
          <p:nvPr/>
        </p:nvSpPr>
        <p:spPr>
          <a:xfrm>
            <a:off x="274320" y="2578608"/>
            <a:ext cx="3794760" cy="166420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</p:sp>
      <p:sp>
        <p:nvSpPr>
          <p:cNvPr id="51" name="chdr"/>
          <p:cNvSpPr>
            <a:spLocks noGrp="1"/>
          </p:cNvSpPr>
          <p:nvPr/>
        </p:nvSpPr>
        <p:spPr>
          <a:xfrm>
            <a:off x="274320" y="2578608"/>
            <a:ext cx="3794760" cy="310896"/>
          </a:xfrm>
          <a:prstGeom prst="roundRect">
            <a:avLst>
              <a:gd name="adj" fmla="val 15000"/>
            </a:avLst>
          </a:prstGeom>
          <a:solidFill>
            <a:srgbClr val="0D1B5E"/>
          </a:solidFill>
          <a:ln>
            <a:noFill/>
          </a:ln>
        </p:spPr>
      </p:sp>
      <p:sp>
        <p:nvSpPr>
          <p:cNvPr id="52" name="chdr2"/>
          <p:cNvSpPr>
            <a:spLocks noGrp="1"/>
          </p:cNvSpPr>
          <p:nvPr/>
        </p:nvSpPr>
        <p:spPr>
          <a:xfrm>
            <a:off x="274320" y="2761488"/>
            <a:ext cx="3794760" cy="128016"/>
          </a:xfrm>
          <a:prstGeom prst="rect">
            <a:avLst/>
          </a:prstGeom>
          <a:solidFill>
            <a:srgbClr val="0D1B5E"/>
          </a:solidFill>
          <a:ln>
            <a:noFill/>
          </a:ln>
        </p:spPr>
      </p:sp>
      <p:sp>
        <p:nvSpPr>
          <p:cNvPr id="53" name="cnom"/>
          <p:cNvSpPr txBox="1">
            <a:spLocks noGrp="1"/>
          </p:cNvSpPr>
          <p:nvPr/>
        </p:nvSpPr>
        <p:spPr>
          <a:xfrm>
            <a:off x="384048" y="2624328"/>
            <a:ext cx="164592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1100" b="1" dirty="0">
                <a:solidFill>
                  <a:srgbClr val="FFFFFF"/>
                </a:solidFill>
                <a:latin typeface="Calibri"/>
              </a:rPr>
              <a:t>Mesa Automatización</a:t>
            </a:r>
          </a:p>
        </p:txBody>
      </p:sp>
      <p:sp>
        <p:nvSpPr>
          <p:cNvPr id="54" name="nivel"/>
          <p:cNvSpPr>
            <a:spLocks noGrp="1"/>
          </p:cNvSpPr>
          <p:nvPr/>
        </p:nvSpPr>
        <p:spPr>
          <a:xfrm>
            <a:off x="2103120" y="2633472"/>
            <a:ext cx="411480" cy="201168"/>
          </a:xfrm>
          <a:prstGeom prst="roundRect">
            <a:avLst>
              <a:gd name="adj" fmla="val 8000"/>
            </a:avLst>
          </a:prstGeom>
          <a:solidFill>
            <a:srgbClr val="92400E"/>
          </a:solidFill>
          <a:ln>
            <a:noFill/>
          </a:ln>
        </p:spPr>
      </p:sp>
      <p:sp>
        <p:nvSpPr>
          <p:cNvPr id="55" name="nivelt"/>
          <p:cNvSpPr txBox="1">
            <a:spLocks noGrp="1"/>
          </p:cNvSpPr>
          <p:nvPr/>
        </p:nvSpPr>
        <p:spPr>
          <a:xfrm>
            <a:off x="2103120" y="2633472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00" b="1" dirty="0">
                <a:solidFill>
                  <a:srgbClr val="FFFFFF"/>
                </a:solidFill>
                <a:latin typeface="Calibri"/>
              </a:rPr>
              <a:t>N2</a:t>
            </a:r>
          </a:p>
        </p:txBody>
      </p:sp>
      <p:sp>
        <p:nvSpPr>
          <p:cNvPr id="56" name="fte"/>
          <p:cNvSpPr txBox="1">
            <a:spLocks noGrp="1"/>
          </p:cNvSpPr>
          <p:nvPr/>
        </p:nvSpPr>
        <p:spPr>
          <a:xfrm>
            <a:off x="2578608" y="2633472"/>
            <a:ext cx="1389888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800" dirty="0">
                <a:solidFill>
                  <a:srgbClr val="C8EBEF"/>
                </a:solidFill>
                <a:latin typeface="Calibri"/>
              </a:rPr>
              <a:t>FTE: 6  ·  BMC + Azure</a:t>
            </a:r>
          </a:p>
        </p:txBody>
      </p:sp>
      <p:sp>
        <p:nvSpPr>
          <p:cNvPr id="57" name="hace"/>
          <p:cNvSpPr txBox="1">
            <a:spLocks noGrp="1"/>
          </p:cNvSpPr>
          <p:nvPr/>
        </p:nvSpPr>
        <p:spPr>
          <a:xfrm>
            <a:off x="384048" y="2944368"/>
            <a:ext cx="3575304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800" i="1" dirty="0">
                <a:solidFill>
                  <a:srgbClr val="6B7280"/>
                </a:solidFill>
                <a:latin typeface="Calibri"/>
              </a:rPr>
              <a:t>Soporte y operación de automatizaciones (Automate, PowerApps) · Preventivo y monitoreo reactivo</a:t>
            </a:r>
          </a:p>
        </p:txBody>
      </p:sp>
      <p:sp>
        <p:nvSpPr>
          <p:cNvPr id="58" name="d"/>
          <p:cNvSpPr txBox="1">
            <a:spLocks noGrp="1"/>
          </p:cNvSpPr>
          <p:nvPr/>
        </p:nvSpPr>
        <p:spPr>
          <a:xfrm>
            <a:off x="384048" y="3182112"/>
            <a:ext cx="3575304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900" b="1" dirty="0">
                <a:solidFill>
                  <a:srgbClr val="C00000"/>
                </a:solidFill>
                <a:latin typeface="Calibri"/>
              </a:rPr>
              <a:t>▸ </a:t>
            </a:r>
            <a:r>
              <a:rPr lang="es-ES" sz="860" dirty="0">
                <a:solidFill>
                  <a:srgbClr val="0D1B5E"/>
                </a:solidFill>
                <a:latin typeface="Calibri"/>
              </a:rPr>
              <a:t>Sin autoservicio — todo entra por call o correo</a:t>
            </a:r>
          </a:p>
        </p:txBody>
      </p:sp>
      <p:sp>
        <p:nvSpPr>
          <p:cNvPr id="59" name="d"/>
          <p:cNvSpPr txBox="1">
            <a:spLocks noGrp="1"/>
          </p:cNvSpPr>
          <p:nvPr/>
        </p:nvSpPr>
        <p:spPr>
          <a:xfrm>
            <a:off x="384048" y="3438144"/>
            <a:ext cx="3575304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900" b="1" dirty="0">
                <a:solidFill>
                  <a:srgbClr val="C00000"/>
                </a:solidFill>
                <a:latin typeface="Calibri"/>
              </a:rPr>
              <a:t>▸ </a:t>
            </a:r>
            <a:r>
              <a:rPr lang="es-ES" sz="860" dirty="0">
                <a:solidFill>
                  <a:srgbClr val="0D1B5E"/>
                </a:solidFill>
                <a:latin typeface="Calibri"/>
              </a:rPr>
              <a:t>Sin visibilidad en tiempo real — sin dashboard</a:t>
            </a:r>
          </a:p>
        </p:txBody>
      </p:sp>
      <p:sp>
        <p:nvSpPr>
          <p:cNvPr id="60" name="d"/>
          <p:cNvSpPr txBox="1">
            <a:spLocks noGrp="1"/>
          </p:cNvSpPr>
          <p:nvPr/>
        </p:nvSpPr>
        <p:spPr>
          <a:xfrm>
            <a:off x="384048" y="3694176"/>
            <a:ext cx="3575304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900" b="1" dirty="0">
                <a:solidFill>
                  <a:srgbClr val="C00000"/>
                </a:solidFill>
                <a:latin typeface="Calibri"/>
              </a:rPr>
              <a:t>▸ </a:t>
            </a:r>
            <a:r>
              <a:rPr lang="es-ES" sz="860" dirty="0">
                <a:solidFill>
                  <a:srgbClr val="0D1B5E"/>
                </a:solidFill>
                <a:latin typeface="Calibri"/>
              </a:rPr>
              <a:t>Alcance no controlado — modernizaciones disfrazadas</a:t>
            </a:r>
          </a:p>
        </p:txBody>
      </p:sp>
      <p:sp>
        <p:nvSpPr>
          <p:cNvPr id="21" name="est"/>
          <p:cNvSpPr>
            <a:spLocks noGrp="1"/>
          </p:cNvSpPr>
          <p:nvPr/>
        </p:nvSpPr>
        <p:spPr>
          <a:xfrm>
            <a:off x="384048" y="4023360"/>
            <a:ext cx="3575304" cy="182880"/>
          </a:xfrm>
          <a:prstGeom prst="roundRect">
            <a:avLst>
              <a:gd name="adj" fmla="val 6000"/>
            </a:avLst>
          </a:prstGeom>
          <a:solidFill>
            <a:srgbClr val="FEF3C7"/>
          </a:solidFill>
          <a:ln w="9525">
            <a:solidFill>
              <a:srgbClr val="F59E0B"/>
            </a:solidFill>
          </a:ln>
        </p:spPr>
      </p:sp>
      <p:sp>
        <p:nvSpPr>
          <p:cNvPr id="22" name="estt"/>
          <p:cNvSpPr txBox="1">
            <a:spLocks noGrp="1"/>
          </p:cNvSpPr>
          <p:nvPr/>
        </p:nvSpPr>
        <p:spPr>
          <a:xfrm>
            <a:off x="438912" y="4023360"/>
            <a:ext cx="352044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dirty="0">
                <a:solidFill>
                  <a:srgbClr val="92400E"/>
                </a:solidFill>
                <a:latin typeface="Calibri"/>
              </a:rPr>
              <a:t>✓ Operación estable · Oportunidad de estandarizar</a:t>
            </a:r>
          </a:p>
        </p:txBody>
      </p:sp>
      <p:sp>
        <p:nvSpPr>
          <p:cNvPr id="70" name="card"/>
          <p:cNvSpPr>
            <a:spLocks noGrp="1"/>
          </p:cNvSpPr>
          <p:nvPr/>
        </p:nvSpPr>
        <p:spPr>
          <a:xfrm>
            <a:off x="4178808" y="2578608"/>
            <a:ext cx="3794760" cy="166420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</p:sp>
      <p:sp>
        <p:nvSpPr>
          <p:cNvPr id="71" name="chdr"/>
          <p:cNvSpPr>
            <a:spLocks noGrp="1"/>
          </p:cNvSpPr>
          <p:nvPr/>
        </p:nvSpPr>
        <p:spPr>
          <a:xfrm>
            <a:off x="4178808" y="2578608"/>
            <a:ext cx="3794760" cy="310896"/>
          </a:xfrm>
          <a:prstGeom prst="roundRect">
            <a:avLst>
              <a:gd name="adj" fmla="val 15000"/>
            </a:avLst>
          </a:prstGeom>
          <a:solidFill>
            <a:srgbClr val="0D1B5E"/>
          </a:solidFill>
          <a:ln>
            <a:noFill/>
          </a:ln>
        </p:spPr>
      </p:sp>
      <p:sp>
        <p:nvSpPr>
          <p:cNvPr id="72" name="chdr2"/>
          <p:cNvSpPr>
            <a:spLocks noGrp="1"/>
          </p:cNvSpPr>
          <p:nvPr/>
        </p:nvSpPr>
        <p:spPr>
          <a:xfrm>
            <a:off x="4178808" y="2761488"/>
            <a:ext cx="3794760" cy="128016"/>
          </a:xfrm>
          <a:prstGeom prst="rect">
            <a:avLst/>
          </a:prstGeom>
          <a:solidFill>
            <a:srgbClr val="0D1B5E"/>
          </a:solidFill>
          <a:ln>
            <a:noFill/>
          </a:ln>
        </p:spPr>
      </p:sp>
      <p:sp>
        <p:nvSpPr>
          <p:cNvPr id="73" name="cnom"/>
          <p:cNvSpPr txBox="1">
            <a:spLocks noGrp="1"/>
          </p:cNvSpPr>
          <p:nvPr/>
        </p:nvSpPr>
        <p:spPr>
          <a:xfrm>
            <a:off x="4288536" y="2624328"/>
            <a:ext cx="164592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1100" b="1" dirty="0">
                <a:solidFill>
                  <a:srgbClr val="FFFFFF"/>
                </a:solidFill>
                <a:latin typeface="Calibri"/>
              </a:rPr>
              <a:t>Mesa Canales Masivos</a:t>
            </a:r>
          </a:p>
        </p:txBody>
      </p:sp>
      <p:sp>
        <p:nvSpPr>
          <p:cNvPr id="74" name="nivel"/>
          <p:cNvSpPr>
            <a:spLocks noGrp="1"/>
          </p:cNvSpPr>
          <p:nvPr/>
        </p:nvSpPr>
        <p:spPr>
          <a:xfrm>
            <a:off x="6007608" y="2633472"/>
            <a:ext cx="411480" cy="201168"/>
          </a:xfrm>
          <a:prstGeom prst="roundRect">
            <a:avLst>
              <a:gd name="adj" fmla="val 8000"/>
            </a:avLst>
          </a:prstGeom>
          <a:solidFill>
            <a:srgbClr val="92400E"/>
          </a:solidFill>
          <a:ln>
            <a:noFill/>
          </a:ln>
        </p:spPr>
      </p:sp>
      <p:sp>
        <p:nvSpPr>
          <p:cNvPr id="75" name="nivelt"/>
          <p:cNvSpPr txBox="1">
            <a:spLocks noGrp="1"/>
          </p:cNvSpPr>
          <p:nvPr/>
        </p:nvSpPr>
        <p:spPr>
          <a:xfrm>
            <a:off x="6007608" y="2633472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00" b="1" dirty="0">
                <a:solidFill>
                  <a:srgbClr val="FFFFFF"/>
                </a:solidFill>
                <a:latin typeface="Calibri"/>
              </a:rPr>
              <a:t>N2</a:t>
            </a:r>
          </a:p>
        </p:txBody>
      </p:sp>
      <p:sp>
        <p:nvSpPr>
          <p:cNvPr id="76" name="fte"/>
          <p:cNvSpPr txBox="1">
            <a:spLocks noGrp="1"/>
          </p:cNvSpPr>
          <p:nvPr/>
        </p:nvSpPr>
        <p:spPr>
          <a:xfrm>
            <a:off x="6483096" y="2633472"/>
            <a:ext cx="1389888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800" dirty="0">
                <a:solidFill>
                  <a:srgbClr val="C8EBEF"/>
                </a:solidFill>
                <a:latin typeface="Calibri"/>
              </a:rPr>
              <a:t>FTE: 1  ·  BMC Remedy</a:t>
            </a:r>
          </a:p>
        </p:txBody>
      </p:sp>
      <p:sp>
        <p:nvSpPr>
          <p:cNvPr id="77" name="hace"/>
          <p:cNvSpPr txBox="1">
            <a:spLocks noGrp="1"/>
          </p:cNvSpPr>
          <p:nvPr/>
        </p:nvSpPr>
        <p:spPr>
          <a:xfrm>
            <a:off x="4288536" y="2944368"/>
            <a:ext cx="3575304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800" i="1" dirty="0">
                <a:solidFill>
                  <a:srgbClr val="6B7280"/>
                </a:solidFill>
                <a:latin typeface="Calibri"/>
              </a:rPr>
              <a:t>Operación de renovaciones y cancelaciones automáticas · Alta sensibilidad para Bancolombia cliente</a:t>
            </a:r>
          </a:p>
        </p:txBody>
      </p:sp>
      <p:sp>
        <p:nvSpPr>
          <p:cNvPr id="78" name="d"/>
          <p:cNvSpPr txBox="1">
            <a:spLocks noGrp="1"/>
          </p:cNvSpPr>
          <p:nvPr/>
        </p:nvSpPr>
        <p:spPr>
          <a:xfrm>
            <a:off x="4288536" y="3182112"/>
            <a:ext cx="3575304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900" b="1" dirty="0">
                <a:solidFill>
                  <a:srgbClr val="C00000"/>
                </a:solidFill>
                <a:latin typeface="Calibri"/>
              </a:rPr>
              <a:t>▸ </a:t>
            </a:r>
            <a:r>
              <a:rPr lang="es-ES" sz="860" dirty="0">
                <a:solidFill>
                  <a:srgbClr val="0D1B5E"/>
                </a:solidFill>
                <a:latin typeface="Calibri"/>
              </a:rPr>
              <a:t>SLAs incumplidos con penalizaciones activas</a:t>
            </a:r>
          </a:p>
        </p:txBody>
      </p:sp>
      <p:sp>
        <p:nvSpPr>
          <p:cNvPr id="79" name="d"/>
          <p:cNvSpPr txBox="1">
            <a:spLocks noGrp="1"/>
          </p:cNvSpPr>
          <p:nvPr/>
        </p:nvSpPr>
        <p:spPr>
          <a:xfrm>
            <a:off x="4288536" y="3438144"/>
            <a:ext cx="3575304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900" b="1" dirty="0">
                <a:solidFill>
                  <a:srgbClr val="C00000"/>
                </a:solidFill>
                <a:latin typeface="Calibri"/>
              </a:rPr>
              <a:t>▸ </a:t>
            </a:r>
            <a:r>
              <a:rPr lang="es-ES" sz="860" dirty="0">
                <a:solidFill>
                  <a:srgbClr val="0D1B5E"/>
                </a:solidFill>
                <a:latin typeface="Calibri"/>
              </a:rPr>
              <a:t>1 FTE solo — bus factor crítico</a:t>
            </a:r>
          </a:p>
        </p:txBody>
      </p:sp>
      <p:sp>
        <p:nvSpPr>
          <p:cNvPr id="80" name="d"/>
          <p:cNvSpPr txBox="1">
            <a:spLocks noGrp="1"/>
          </p:cNvSpPr>
          <p:nvPr/>
        </p:nvSpPr>
        <p:spPr>
          <a:xfrm>
            <a:off x="4288536" y="3694176"/>
            <a:ext cx="3575304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900" b="1" dirty="0">
                <a:solidFill>
                  <a:srgbClr val="C00000"/>
                </a:solidFill>
                <a:latin typeface="Calibri"/>
              </a:rPr>
              <a:t>▸ </a:t>
            </a:r>
            <a:r>
              <a:rPr lang="es-ES" sz="860" dirty="0">
                <a:solidFill>
                  <a:srgbClr val="0D1B5E"/>
                </a:solidFill>
                <a:latin typeface="Calibri"/>
              </a:rPr>
              <a:t>Sin métricas definidas — sin visibilidad ejecutiva</a:t>
            </a:r>
          </a:p>
        </p:txBody>
      </p:sp>
      <p:sp>
        <p:nvSpPr>
          <p:cNvPr id="23" name="est"/>
          <p:cNvSpPr>
            <a:spLocks noGrp="1"/>
          </p:cNvSpPr>
          <p:nvPr/>
        </p:nvSpPr>
        <p:spPr>
          <a:xfrm>
            <a:off x="4288536" y="4023360"/>
            <a:ext cx="3575304" cy="182880"/>
          </a:xfrm>
          <a:prstGeom prst="roundRect">
            <a:avLst>
              <a:gd name="adj" fmla="val 6000"/>
            </a:avLst>
          </a:prstGeom>
          <a:solidFill>
            <a:srgbClr val="FEF3C7"/>
          </a:solidFill>
          <a:ln w="9525">
            <a:solidFill>
              <a:srgbClr val="F59E0B"/>
            </a:solidFill>
          </a:ln>
        </p:spPr>
      </p:sp>
      <p:sp>
        <p:nvSpPr>
          <p:cNvPr id="24" name="estt"/>
          <p:cNvSpPr txBox="1">
            <a:spLocks noGrp="1"/>
          </p:cNvSpPr>
          <p:nvPr/>
        </p:nvSpPr>
        <p:spPr>
          <a:xfrm>
            <a:off x="4343400" y="4023360"/>
            <a:ext cx="352044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dirty="0">
                <a:solidFill>
                  <a:srgbClr val="92400E"/>
                </a:solidFill>
                <a:latin typeface="Calibri"/>
              </a:rPr>
              <a:t>🚨 1 solo FTE — riesgo operacional alto</a:t>
            </a:r>
          </a:p>
        </p:txBody>
      </p:sp>
      <p:sp>
        <p:nvSpPr>
          <p:cNvPr id="200" name="src"/>
          <p:cNvSpPr txBox="1">
            <a:spLocks noGrp="1"/>
          </p:cNvSpPr>
          <p:nvPr/>
        </p:nvSpPr>
        <p:spPr>
          <a:xfrm>
            <a:off x="320040" y="4480560"/>
            <a:ext cx="77724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i="1" dirty="0">
                <a:solidFill>
                  <a:srgbClr val="6B7280"/>
                </a:solidFill>
                <a:latin typeface="Calibri"/>
              </a:rPr>
              <a:t>Fuente: Levantamiento interno PersonalSoft · Julio 2026 · Reunión con Elsy Marin · Excel Levantamiento_Mesas_Julio_2026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bg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hdr"/>
          <p:cNvSpPr>
            <a:spLocks noGrp="1"/>
          </p:cNvSpPr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5E"/>
          </a:solidFill>
          <a:ln>
            <a:noFill/>
          </a:ln>
        </p:spPr>
      </p:sp>
      <p:sp>
        <p:nvSpPr>
          <p:cNvPr id="4" name="ttl"/>
          <p:cNvSpPr txBox="1">
            <a:spLocks noGrp="1"/>
          </p:cNvSpPr>
          <p:nvPr/>
        </p:nvSpPr>
        <p:spPr>
          <a:xfrm>
            <a:off x="320040" y="91440"/>
            <a:ext cx="7772400" cy="47548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2000" b="1" dirty="0">
                <a:solidFill>
                  <a:srgbClr val="FFFFFF"/>
                </a:solidFill>
                <a:latin typeface="Calibri"/>
              </a:rPr>
              <a:t>AES · XM · Bancolombia · MEDICARTE — Diagnóstico Individual</a:t>
            </a:r>
          </a:p>
        </p:txBody>
      </p:sp>
      <p:sp>
        <p:nvSpPr>
          <p:cNvPr id="5" name="sub"/>
          <p:cNvSpPr txBox="1">
            <a:spLocks noGrp="1"/>
          </p:cNvSpPr>
          <p:nvPr/>
        </p:nvSpPr>
        <p:spPr>
          <a:xfrm>
            <a:off x="320040" y="566928"/>
            <a:ext cx="7772400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l"/>
            <a:r>
              <a:rPr lang="es-ES" sz="1000" dirty="0">
                <a:solidFill>
                  <a:srgbClr val="6B7280"/>
                </a:solidFill>
                <a:latin typeface="Calibri"/>
              </a:rPr>
              <a:t>Fuente: Levantamiento interno PersonalSoft · Julio 2026 · Reuniones con Michael Arevalo (AES) y Diego Serna (XM)</a:t>
            </a:r>
          </a:p>
        </p:txBody>
      </p:sp>
      <p:sp>
        <p:nvSpPr>
          <p:cNvPr id="10" name="card"/>
          <p:cNvSpPr>
            <a:spLocks noGrp="1"/>
          </p:cNvSpPr>
          <p:nvPr/>
        </p:nvSpPr>
        <p:spPr>
          <a:xfrm>
            <a:off x="274320" y="804672"/>
            <a:ext cx="3749039" cy="1682496"/>
          </a:xfrm>
          <a:prstGeom prst="roundRect">
            <a:avLst>
              <a:gd name="adj" fmla="val 12000"/>
            </a:avLst>
          </a:prstGeom>
          <a:solidFill>
            <a:srgbClr val="FAECE7"/>
          </a:solidFill>
          <a:ln w="12700">
            <a:solidFill>
              <a:srgbClr val="C00000"/>
            </a:solidFill>
          </a:ln>
        </p:spPr>
      </p:sp>
      <p:sp>
        <p:nvSpPr>
          <p:cNvPr id="11" name="chdr"/>
          <p:cNvSpPr>
            <a:spLocks noGrp="1"/>
          </p:cNvSpPr>
          <p:nvPr/>
        </p:nvSpPr>
        <p:spPr>
          <a:xfrm>
            <a:off x="274320" y="804672"/>
            <a:ext cx="3749039" cy="329184"/>
          </a:xfrm>
          <a:prstGeom prst="roundRect">
            <a:avLst>
              <a:gd name="adj" fmla="val 12000"/>
            </a:avLst>
          </a:prstGeom>
          <a:solidFill>
            <a:srgbClr val="C00000"/>
          </a:solidFill>
          <a:ln>
            <a:noFill/>
          </a:ln>
        </p:spPr>
      </p:sp>
      <p:sp>
        <p:nvSpPr>
          <p:cNvPr id="12" name="chdr2"/>
          <p:cNvSpPr>
            <a:spLocks noGrp="1"/>
          </p:cNvSpPr>
          <p:nvPr/>
        </p:nvSpPr>
        <p:spPr>
          <a:xfrm>
            <a:off x="274320" y="1005840"/>
            <a:ext cx="3749039" cy="128016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13" name="cnom"/>
          <p:cNvSpPr txBox="1">
            <a:spLocks noGrp="1"/>
          </p:cNvSpPr>
          <p:nvPr/>
        </p:nvSpPr>
        <p:spPr>
          <a:xfrm>
            <a:off x="365760" y="850392"/>
            <a:ext cx="182880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1000" b="1" dirty="0">
                <a:solidFill>
                  <a:srgbClr val="FFFFFF"/>
                </a:solidFill>
                <a:latin typeface="Calibri"/>
              </a:rPr>
              <a:t>AES — Soporte IT/OT</a:t>
            </a:r>
          </a:p>
        </p:txBody>
      </p:sp>
      <p:sp>
        <p:nvSpPr>
          <p:cNvPr id="14" name="nbox"/>
          <p:cNvSpPr>
            <a:spLocks noGrp="1"/>
          </p:cNvSpPr>
          <p:nvPr/>
        </p:nvSpPr>
        <p:spPr>
          <a:xfrm>
            <a:off x="2231136" y="868680"/>
            <a:ext cx="384048" cy="201168"/>
          </a:xfrm>
          <a:prstGeom prst="roundRect">
            <a:avLst>
              <a:gd name="adj" fmla="val 8000"/>
            </a:avLst>
          </a:prstGeom>
          <a:solidFill>
            <a:srgbClr val="C00000"/>
          </a:solidFill>
          <a:ln>
            <a:noFill/>
          </a:ln>
        </p:spPr>
      </p:sp>
      <p:sp>
        <p:nvSpPr>
          <p:cNvPr id="15" name="nboxt"/>
          <p:cNvSpPr txBox="1">
            <a:spLocks noGrp="1"/>
          </p:cNvSpPr>
          <p:nvPr/>
        </p:nvSpPr>
        <p:spPr>
          <a:xfrm>
            <a:off x="2231136" y="868680"/>
            <a:ext cx="384048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50" b="1" dirty="0">
                <a:solidFill>
                  <a:srgbClr val="FFFFFF"/>
                </a:solidFill>
                <a:latin typeface="Calibri"/>
              </a:rPr>
              <a:t>N1</a:t>
            </a:r>
          </a:p>
        </p:txBody>
      </p:sp>
      <p:sp>
        <p:nvSpPr>
          <p:cNvPr id="16" name="fte"/>
          <p:cNvSpPr txBox="1">
            <a:spLocks noGrp="1"/>
          </p:cNvSpPr>
          <p:nvPr/>
        </p:nvSpPr>
        <p:spPr>
          <a:xfrm>
            <a:off x="2670048" y="868680"/>
            <a:ext cx="1261872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820" dirty="0">
                <a:solidFill>
                  <a:srgbClr val="FFFFFF"/>
                </a:solidFill>
                <a:latin typeface="Calibri"/>
              </a:rPr>
              <a:t>FTE: 4</a:t>
            </a:r>
          </a:p>
        </p:txBody>
      </p:sp>
      <p:sp>
        <p:nvSpPr>
          <p:cNvPr id="17" name="herr"/>
          <p:cNvSpPr txBox="1">
            <a:spLocks noGrp="1"/>
          </p:cNvSpPr>
          <p:nvPr/>
        </p:nvSpPr>
        <p:spPr>
          <a:xfrm>
            <a:off x="365760" y="1170432"/>
            <a:ext cx="3566159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800" i="1" dirty="0">
                <a:solidFill>
                  <a:srgbClr val="C00000"/>
                </a:solidFill>
                <a:latin typeface="Calibri"/>
              </a:rPr>
              <a:t>🔧 ServiceNow (del cliente)  ·  Energia · Central Hidroeléctrica</a:t>
            </a:r>
          </a:p>
        </p:txBody>
      </p:sp>
      <p:sp>
        <p:nvSpPr>
          <p:cNvPr id="18" name="hace"/>
          <p:cNvSpPr txBox="1">
            <a:spLocks noGrp="1"/>
          </p:cNvSpPr>
          <p:nvPr/>
        </p:nvSpPr>
        <p:spPr>
          <a:xfrm>
            <a:off x="365760" y="1371600"/>
            <a:ext cx="3566159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800" i="1" dirty="0">
                <a:solidFill>
                  <a:srgbClr val="6B7280"/>
                </a:solidFill>
                <a:latin typeface="Calibri"/>
              </a:rPr>
              <a:t>Soporte IT/OT e infraestructura en planta · Coordinacion restauracion del servicio</a:t>
            </a:r>
          </a:p>
        </p:txBody>
      </p:sp>
      <p:sp>
        <p:nvSpPr>
          <p:cNvPr id="19" name="d"/>
          <p:cNvSpPr txBox="1">
            <a:spLocks noGrp="1"/>
          </p:cNvSpPr>
          <p:nvPr/>
        </p:nvSpPr>
        <p:spPr>
          <a:xfrm>
            <a:off x="365760" y="1591056"/>
            <a:ext cx="3566159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880" b="1" dirty="0">
                <a:solidFill>
                  <a:srgbClr val="C00000"/>
                </a:solidFill>
                <a:latin typeface="Calibri"/>
              </a:rPr>
              <a:t>▸ </a:t>
            </a:r>
            <a:r>
              <a:rPr lang="es-ES" sz="840" dirty="0">
                <a:solidFill>
                  <a:srgbClr val="0D1B5E"/>
                </a:solidFill>
                <a:latin typeface="Calibri"/>
              </a:rPr>
              <a:t>Postura 100% reactiva — sin proceso formal de gestion</a:t>
            </a:r>
          </a:p>
        </p:txBody>
      </p:sp>
      <p:sp>
        <p:nvSpPr>
          <p:cNvPr id="20" name="d"/>
          <p:cNvSpPr txBox="1">
            <a:spLocks noGrp="1"/>
          </p:cNvSpPr>
          <p:nvPr/>
        </p:nvSpPr>
        <p:spPr>
          <a:xfrm>
            <a:off x="365760" y="1828800"/>
            <a:ext cx="3566159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880" b="1" dirty="0">
                <a:solidFill>
                  <a:srgbClr val="C00000"/>
                </a:solidFill>
                <a:latin typeface="Calibri"/>
              </a:rPr>
              <a:t>▸ </a:t>
            </a:r>
            <a:r>
              <a:rPr lang="es-ES" sz="840" dirty="0">
                <a:solidFill>
                  <a:srgbClr val="0D1B5E"/>
                </a:solidFill>
                <a:latin typeface="Calibri"/>
              </a:rPr>
              <a:t>Sin metricas ni KPIs — nadie mide si el servicio es bueno</a:t>
            </a:r>
          </a:p>
        </p:txBody>
      </p:sp>
      <p:sp>
        <p:nvSpPr>
          <p:cNvPr id="21" name="d"/>
          <p:cNvSpPr txBox="1">
            <a:spLocks noGrp="1"/>
          </p:cNvSpPr>
          <p:nvPr/>
        </p:nvSpPr>
        <p:spPr>
          <a:xfrm>
            <a:off x="365760" y="2066544"/>
            <a:ext cx="3566159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880" b="1" dirty="0">
                <a:solidFill>
                  <a:srgbClr val="C00000"/>
                </a:solidFill>
                <a:latin typeface="Calibri"/>
              </a:rPr>
              <a:t>▸ </a:t>
            </a:r>
            <a:r>
              <a:rPr lang="es-ES" sz="840" dirty="0">
                <a:solidFill>
                  <a:srgbClr val="0D1B5E"/>
                </a:solidFill>
                <a:latin typeface="Calibri"/>
              </a:rPr>
              <a:t>Sin roles definidos — criterio individual, no modelo</a:t>
            </a:r>
          </a:p>
        </p:txBody>
      </p:sp>
      <p:sp>
        <p:nvSpPr>
          <p:cNvPr id="22" name="est"/>
          <p:cNvSpPr>
            <a:spLocks noGrp="1"/>
          </p:cNvSpPr>
          <p:nvPr/>
        </p:nvSpPr>
        <p:spPr>
          <a:xfrm>
            <a:off x="365760" y="2286000"/>
            <a:ext cx="3566159" cy="164592"/>
          </a:xfrm>
          <a:prstGeom prst="roundRect">
            <a:avLst>
              <a:gd name="adj" fmla="val 6000"/>
            </a:avLst>
          </a:prstGeom>
          <a:solidFill>
            <a:srgbClr val="FEF3C7"/>
          </a:solidFill>
          <a:ln w="9525">
            <a:solidFill>
              <a:srgbClr val="F59E0B"/>
            </a:solidFill>
          </a:ln>
        </p:spPr>
      </p:sp>
      <p:sp>
        <p:nvSpPr>
          <p:cNvPr id="23" name="estt"/>
          <p:cNvSpPr txBox="1">
            <a:spLocks noGrp="1"/>
          </p:cNvSpPr>
          <p:nvPr/>
        </p:nvSpPr>
        <p:spPr>
          <a:xfrm>
            <a:off x="420624" y="2286000"/>
            <a:ext cx="3493007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70" dirty="0">
                <a:solidFill>
                  <a:srgbClr val="92400E"/>
                </a:solidFill>
                <a:latin typeface="Calibri"/>
              </a:rPr>
              <a:t>🚨 RFP pendiente · Contrato exp. Ago-Nov 2026 · Oportunidad de win</a:t>
            </a:r>
          </a:p>
        </p:txBody>
      </p:sp>
      <p:sp>
        <p:nvSpPr>
          <p:cNvPr id="30" name="card"/>
          <p:cNvSpPr>
            <a:spLocks noGrp="1"/>
          </p:cNvSpPr>
          <p:nvPr/>
        </p:nvSpPr>
        <p:spPr>
          <a:xfrm>
            <a:off x="4151375" y="804672"/>
            <a:ext cx="3749039" cy="1682496"/>
          </a:xfrm>
          <a:prstGeom prst="roundRect">
            <a:avLst>
              <a:gd name="adj" fmla="val 12000"/>
            </a:avLst>
          </a:prstGeom>
          <a:solidFill>
            <a:srgbClr val="FEF3C7"/>
          </a:solidFill>
          <a:ln w="12700">
            <a:solidFill>
              <a:srgbClr val="92400E"/>
            </a:solidFill>
          </a:ln>
        </p:spPr>
      </p:sp>
      <p:sp>
        <p:nvSpPr>
          <p:cNvPr id="31" name="chdr"/>
          <p:cNvSpPr>
            <a:spLocks noGrp="1"/>
          </p:cNvSpPr>
          <p:nvPr/>
        </p:nvSpPr>
        <p:spPr>
          <a:xfrm>
            <a:off x="4151375" y="804672"/>
            <a:ext cx="3749039" cy="329184"/>
          </a:xfrm>
          <a:prstGeom prst="roundRect">
            <a:avLst>
              <a:gd name="adj" fmla="val 12000"/>
            </a:avLst>
          </a:prstGeom>
          <a:solidFill>
            <a:srgbClr val="92400E"/>
          </a:solidFill>
          <a:ln>
            <a:noFill/>
          </a:ln>
        </p:spPr>
      </p:sp>
      <p:sp>
        <p:nvSpPr>
          <p:cNvPr id="32" name="chdr2"/>
          <p:cNvSpPr>
            <a:spLocks noGrp="1"/>
          </p:cNvSpPr>
          <p:nvPr/>
        </p:nvSpPr>
        <p:spPr>
          <a:xfrm>
            <a:off x="4151375" y="1005840"/>
            <a:ext cx="3749039" cy="128016"/>
          </a:xfrm>
          <a:prstGeom prst="rect">
            <a:avLst/>
          </a:prstGeom>
          <a:solidFill>
            <a:srgbClr val="92400E"/>
          </a:solidFill>
          <a:ln>
            <a:noFill/>
          </a:ln>
        </p:spPr>
      </p:sp>
      <p:sp>
        <p:nvSpPr>
          <p:cNvPr id="33" name="cnom"/>
          <p:cNvSpPr txBox="1">
            <a:spLocks noGrp="1"/>
          </p:cNvSpPr>
          <p:nvPr/>
        </p:nvSpPr>
        <p:spPr>
          <a:xfrm>
            <a:off x="4242815" y="850392"/>
            <a:ext cx="182880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1000" b="1" dirty="0">
                <a:solidFill>
                  <a:srgbClr val="FFFFFF"/>
                </a:solidFill>
                <a:latin typeface="Calibri"/>
              </a:rPr>
              <a:t>XM — Apps Críticas</a:t>
            </a:r>
          </a:p>
        </p:txBody>
      </p:sp>
      <p:sp>
        <p:nvSpPr>
          <p:cNvPr id="34" name="nbox"/>
          <p:cNvSpPr>
            <a:spLocks noGrp="1"/>
          </p:cNvSpPr>
          <p:nvPr/>
        </p:nvSpPr>
        <p:spPr>
          <a:xfrm>
            <a:off x="6108191" y="868680"/>
            <a:ext cx="384048" cy="201168"/>
          </a:xfrm>
          <a:prstGeom prst="roundRect">
            <a:avLst>
              <a:gd name="adj" fmla="val 8000"/>
            </a:avLst>
          </a:prstGeom>
          <a:solidFill>
            <a:srgbClr val="92400E"/>
          </a:solidFill>
          <a:ln>
            <a:noFill/>
          </a:ln>
        </p:spPr>
      </p:sp>
      <p:sp>
        <p:nvSpPr>
          <p:cNvPr id="35" name="nboxt"/>
          <p:cNvSpPr txBox="1">
            <a:spLocks noGrp="1"/>
          </p:cNvSpPr>
          <p:nvPr/>
        </p:nvSpPr>
        <p:spPr>
          <a:xfrm>
            <a:off x="6108191" y="868680"/>
            <a:ext cx="384048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50" b="1" dirty="0">
                <a:solidFill>
                  <a:srgbClr val="FFFFFF"/>
                </a:solidFill>
                <a:latin typeface="Calibri"/>
              </a:rPr>
              <a:t>N2</a:t>
            </a:r>
          </a:p>
        </p:txBody>
      </p:sp>
      <p:sp>
        <p:nvSpPr>
          <p:cNvPr id="36" name="fte"/>
          <p:cNvSpPr txBox="1">
            <a:spLocks noGrp="1"/>
          </p:cNvSpPr>
          <p:nvPr/>
        </p:nvSpPr>
        <p:spPr>
          <a:xfrm>
            <a:off x="6547103" y="868680"/>
            <a:ext cx="1261872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820" dirty="0">
                <a:solidFill>
                  <a:srgbClr val="FFFFFF"/>
                </a:solidFill>
                <a:latin typeface="Calibri"/>
              </a:rPr>
              <a:t>FTE: 4</a:t>
            </a:r>
          </a:p>
        </p:txBody>
      </p:sp>
      <p:sp>
        <p:nvSpPr>
          <p:cNvPr id="37" name="herr"/>
          <p:cNvSpPr txBox="1">
            <a:spLocks noGrp="1"/>
          </p:cNvSpPr>
          <p:nvPr/>
        </p:nvSpPr>
        <p:spPr>
          <a:xfrm>
            <a:off x="4242815" y="1170432"/>
            <a:ext cx="3566159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800" i="1" dirty="0">
                <a:solidFill>
                  <a:srgbClr val="92400E"/>
                </a:solidFill>
                <a:latin typeface="Calibri"/>
              </a:rPr>
              <a:t>🔧 ServiceNow (del cliente · PS paga licencia)  ·  Energia · Operador del mercado electrico nacional</a:t>
            </a:r>
          </a:p>
        </p:txBody>
      </p:sp>
      <p:sp>
        <p:nvSpPr>
          <p:cNvPr id="38" name="hace"/>
          <p:cNvSpPr txBox="1">
            <a:spLocks noGrp="1"/>
          </p:cNvSpPr>
          <p:nvPr/>
        </p:nvSpPr>
        <p:spPr>
          <a:xfrm>
            <a:off x="4242815" y="1371600"/>
            <a:ext cx="3566159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800" i="1" dirty="0">
                <a:solidFill>
                  <a:srgbClr val="6B7280"/>
                </a:solidFill>
                <a:latin typeface="Calibri"/>
              </a:rPr>
              <a:t>Soporte 24x7 a 14 componentes criticos (11 apps + 3 tareas) · Gestion incidentes y requerimientos</a:t>
            </a:r>
          </a:p>
        </p:txBody>
      </p:sp>
      <p:sp>
        <p:nvSpPr>
          <p:cNvPr id="39" name="d"/>
          <p:cNvSpPr txBox="1">
            <a:spLocks noGrp="1"/>
          </p:cNvSpPr>
          <p:nvPr/>
        </p:nvSpPr>
        <p:spPr>
          <a:xfrm>
            <a:off x="4242815" y="1591056"/>
            <a:ext cx="3566159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880" b="1" dirty="0">
                <a:solidFill>
                  <a:srgbClr val="C00000"/>
                </a:solidFill>
                <a:latin typeface="Calibri"/>
              </a:rPr>
              <a:t>▸ </a:t>
            </a:r>
            <a:r>
              <a:rPr lang="es-ES" sz="840" dirty="0">
                <a:solidFill>
                  <a:srgbClr val="0D1B5E"/>
                </a:solidFill>
                <a:latin typeface="Calibri"/>
              </a:rPr>
              <a:t>Capacidad insuficiente — 4 FTE para 24x7 es muy justo</a:t>
            </a:r>
          </a:p>
        </p:txBody>
      </p:sp>
      <p:sp>
        <p:nvSpPr>
          <p:cNvPr id="40" name="d"/>
          <p:cNvSpPr txBox="1">
            <a:spLocks noGrp="1"/>
          </p:cNvSpPr>
          <p:nvPr/>
        </p:nvSpPr>
        <p:spPr>
          <a:xfrm>
            <a:off x="4242815" y="1828800"/>
            <a:ext cx="3566159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880" b="1" dirty="0">
                <a:solidFill>
                  <a:srgbClr val="C00000"/>
                </a:solidFill>
                <a:latin typeface="Calibri"/>
              </a:rPr>
              <a:t>▸ </a:t>
            </a:r>
            <a:r>
              <a:rPr lang="es-ES" sz="840" dirty="0">
                <a:solidFill>
                  <a:srgbClr val="0D1B5E"/>
                </a:solidFill>
                <a:latin typeface="Calibri"/>
              </a:rPr>
              <a:t>Sin KEDB — gestion del conocimiento informal y manual</a:t>
            </a:r>
          </a:p>
        </p:txBody>
      </p:sp>
      <p:sp>
        <p:nvSpPr>
          <p:cNvPr id="41" name="d"/>
          <p:cNvSpPr txBox="1">
            <a:spLocks noGrp="1"/>
          </p:cNvSpPr>
          <p:nvPr/>
        </p:nvSpPr>
        <p:spPr>
          <a:xfrm>
            <a:off x="4242815" y="2066544"/>
            <a:ext cx="3566159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880" b="1" dirty="0">
                <a:solidFill>
                  <a:srgbClr val="C00000"/>
                </a:solidFill>
                <a:latin typeface="Calibri"/>
              </a:rPr>
              <a:t>▸ </a:t>
            </a:r>
            <a:r>
              <a:rPr lang="es-ES" sz="840" dirty="0">
                <a:solidFill>
                  <a:srgbClr val="0D1B5E"/>
                </a:solidFill>
                <a:latin typeface="Calibri"/>
              </a:rPr>
              <a:t>Sin metricas ni CSAT — satisfaccion solo via encuesta anual comercial</a:t>
            </a:r>
          </a:p>
        </p:txBody>
      </p:sp>
      <p:sp>
        <p:nvSpPr>
          <p:cNvPr id="42" name="est"/>
          <p:cNvSpPr>
            <a:spLocks noGrp="1"/>
          </p:cNvSpPr>
          <p:nvPr/>
        </p:nvSpPr>
        <p:spPr>
          <a:xfrm>
            <a:off x="4242815" y="2286000"/>
            <a:ext cx="3566159" cy="164592"/>
          </a:xfrm>
          <a:prstGeom prst="roundRect">
            <a:avLst>
              <a:gd name="adj" fmla="val 6000"/>
            </a:avLst>
          </a:prstGeom>
          <a:solidFill>
            <a:srgbClr val="FEF3C7"/>
          </a:solidFill>
          <a:ln w="9525">
            <a:solidFill>
              <a:srgbClr val="F59E0B"/>
            </a:solidFill>
          </a:ln>
        </p:spPr>
      </p:sp>
      <p:sp>
        <p:nvSpPr>
          <p:cNvPr id="43" name="estt"/>
          <p:cNvSpPr txBox="1">
            <a:spLocks noGrp="1"/>
          </p:cNvSpPr>
          <p:nvPr/>
        </p:nvSpPr>
        <p:spPr>
          <a:xfrm>
            <a:off x="4297679" y="2286000"/>
            <a:ext cx="3493007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70" dirty="0">
                <a:solidFill>
                  <a:srgbClr val="92400E"/>
                </a:solidFill>
                <a:latin typeface="Calibri"/>
              </a:rPr>
              <a:t>✓ Contrato vigente jul 2027 · Oportunidad estandarizar y crecer</a:t>
            </a:r>
          </a:p>
        </p:txBody>
      </p:sp>
      <p:sp>
        <p:nvSpPr>
          <p:cNvPr id="50" name="card"/>
          <p:cNvSpPr>
            <a:spLocks noGrp="1"/>
          </p:cNvSpPr>
          <p:nvPr/>
        </p:nvSpPr>
        <p:spPr>
          <a:xfrm>
            <a:off x="274320" y="2578608"/>
            <a:ext cx="3749039" cy="1682496"/>
          </a:xfrm>
          <a:prstGeom prst="roundRect">
            <a:avLst>
              <a:gd name="adj" fmla="val 12000"/>
            </a:avLst>
          </a:prstGeom>
          <a:solidFill>
            <a:srgbClr val="EBF3FF"/>
          </a:solidFill>
          <a:ln w="12700">
            <a:solidFill>
              <a:srgbClr val="1A3A8F"/>
            </a:solidFill>
          </a:ln>
        </p:spPr>
      </p:sp>
      <p:sp>
        <p:nvSpPr>
          <p:cNvPr id="51" name="chdr"/>
          <p:cNvSpPr>
            <a:spLocks noGrp="1"/>
          </p:cNvSpPr>
          <p:nvPr/>
        </p:nvSpPr>
        <p:spPr>
          <a:xfrm>
            <a:off x="274320" y="2578608"/>
            <a:ext cx="3749039" cy="329184"/>
          </a:xfrm>
          <a:prstGeom prst="roundRect">
            <a:avLst>
              <a:gd name="adj" fmla="val 12000"/>
            </a:avLst>
          </a:prstGeom>
          <a:solidFill>
            <a:srgbClr val="1A3A8F"/>
          </a:solidFill>
          <a:ln>
            <a:noFill/>
          </a:ln>
        </p:spPr>
      </p:sp>
      <p:sp>
        <p:nvSpPr>
          <p:cNvPr id="52" name="chdr2"/>
          <p:cNvSpPr>
            <a:spLocks noGrp="1"/>
          </p:cNvSpPr>
          <p:nvPr/>
        </p:nvSpPr>
        <p:spPr>
          <a:xfrm>
            <a:off x="274320" y="2779776"/>
            <a:ext cx="3749039" cy="128016"/>
          </a:xfrm>
          <a:prstGeom prst="rect">
            <a:avLst/>
          </a:prstGeom>
          <a:solidFill>
            <a:srgbClr val="1A3A8F"/>
          </a:solidFill>
          <a:ln>
            <a:noFill/>
          </a:ln>
        </p:spPr>
      </p:sp>
      <p:sp>
        <p:nvSpPr>
          <p:cNvPr id="53" name="cnom"/>
          <p:cNvSpPr txBox="1">
            <a:spLocks noGrp="1"/>
          </p:cNvSpPr>
          <p:nvPr/>
        </p:nvSpPr>
        <p:spPr>
          <a:xfrm>
            <a:off x="365760" y="2624328"/>
            <a:ext cx="182880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1000" b="1" dirty="0">
                <a:solidFill>
                  <a:srgbClr val="FFFFFF"/>
                </a:solidFill>
                <a:latin typeface="Calibri"/>
              </a:rPr>
              <a:t>Bancolombia — GIOTI (4 mesas)</a:t>
            </a:r>
          </a:p>
        </p:txBody>
      </p:sp>
      <p:sp>
        <p:nvSpPr>
          <p:cNvPr id="54" name="nbox"/>
          <p:cNvSpPr>
            <a:spLocks noGrp="1"/>
          </p:cNvSpPr>
          <p:nvPr/>
        </p:nvSpPr>
        <p:spPr>
          <a:xfrm>
            <a:off x="2231136" y="2642616"/>
            <a:ext cx="384048" cy="201168"/>
          </a:xfrm>
          <a:prstGeom prst="roundRect">
            <a:avLst>
              <a:gd name="adj" fmla="val 8000"/>
            </a:avLst>
          </a:prstGeom>
          <a:solidFill>
            <a:srgbClr val="C00000"/>
          </a:solidFill>
          <a:ln>
            <a:noFill/>
          </a:ln>
        </p:spPr>
      </p:sp>
      <p:sp>
        <p:nvSpPr>
          <p:cNvPr id="55" name="nboxt"/>
          <p:cNvSpPr txBox="1">
            <a:spLocks noGrp="1"/>
          </p:cNvSpPr>
          <p:nvPr/>
        </p:nvSpPr>
        <p:spPr>
          <a:xfrm>
            <a:off x="2231136" y="2642616"/>
            <a:ext cx="384048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50" b="1" dirty="0">
                <a:solidFill>
                  <a:srgbClr val="FFFFFF"/>
                </a:solidFill>
                <a:latin typeface="Calibri"/>
              </a:rPr>
              <a:t>N1</a:t>
            </a:r>
          </a:p>
        </p:txBody>
      </p:sp>
      <p:sp>
        <p:nvSpPr>
          <p:cNvPr id="56" name="fte"/>
          <p:cNvSpPr txBox="1">
            <a:spLocks noGrp="1"/>
          </p:cNvSpPr>
          <p:nvPr/>
        </p:nvSpPr>
        <p:spPr>
          <a:xfrm>
            <a:off x="2670048" y="2642616"/>
            <a:ext cx="1261872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820" dirty="0">
                <a:solidFill>
                  <a:srgbClr val="FFFFFF"/>
                </a:solidFill>
                <a:latin typeface="Calibri"/>
              </a:rPr>
              <a:t>FTE: N/D</a:t>
            </a:r>
          </a:p>
        </p:txBody>
      </p:sp>
      <p:sp>
        <p:nvSpPr>
          <p:cNvPr id="57" name="herr"/>
          <p:cNvSpPr txBox="1">
            <a:spLocks noGrp="1"/>
          </p:cNvSpPr>
          <p:nvPr/>
        </p:nvSpPr>
        <p:spPr>
          <a:xfrm>
            <a:off x="365760" y="2944368"/>
            <a:ext cx="3566159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800" i="1" dirty="0">
                <a:solidFill>
                  <a:srgbClr val="1A3A8F"/>
                </a:solidFill>
                <a:latin typeface="Calibri"/>
              </a:rPr>
              <a:t>🔧 ADO / Herramienta interna BCO  ·  Banca · Canal digital · Sucursal virtual negocios</a:t>
            </a:r>
          </a:p>
        </p:txBody>
      </p:sp>
      <p:sp>
        <p:nvSpPr>
          <p:cNvPr id="58" name="hace"/>
          <p:cNvSpPr txBox="1">
            <a:spLocks noGrp="1"/>
          </p:cNvSpPr>
          <p:nvPr/>
        </p:nvSpPr>
        <p:spPr>
          <a:xfrm>
            <a:off x="365760" y="3145536"/>
            <a:ext cx="3566159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800" i="1" dirty="0">
                <a:solidFill>
                  <a:srgbClr val="6B7280"/>
                </a:solidFill>
                <a:latin typeface="Calibri"/>
              </a:rPr>
              <a:t>Soporte a productos y canales digitales de Bancolombia · Diferentes mesas por producto</a:t>
            </a:r>
          </a:p>
        </p:txBody>
      </p:sp>
      <p:sp>
        <p:nvSpPr>
          <p:cNvPr id="59" name="d"/>
          <p:cNvSpPr txBox="1">
            <a:spLocks noGrp="1"/>
          </p:cNvSpPr>
          <p:nvPr/>
        </p:nvSpPr>
        <p:spPr>
          <a:xfrm>
            <a:off x="365760" y="3364992"/>
            <a:ext cx="3566159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880" b="1" dirty="0">
                <a:solidFill>
                  <a:srgbClr val="C00000"/>
                </a:solidFill>
                <a:latin typeface="Calibri"/>
              </a:rPr>
              <a:t>▸ </a:t>
            </a:r>
            <a:r>
              <a:rPr lang="es-ES" sz="840" dirty="0">
                <a:solidFill>
                  <a:srgbClr val="0D1B5E"/>
                </a:solidFill>
                <a:latin typeface="Calibri"/>
              </a:rPr>
              <a:t>Sin definicion clara de niveles — confusion entre N1/N2/N3</a:t>
            </a:r>
          </a:p>
        </p:txBody>
      </p:sp>
      <p:sp>
        <p:nvSpPr>
          <p:cNvPr id="60" name="d"/>
          <p:cNvSpPr txBox="1">
            <a:spLocks noGrp="1"/>
          </p:cNvSpPr>
          <p:nvPr/>
        </p:nvSpPr>
        <p:spPr>
          <a:xfrm>
            <a:off x="365760" y="3602736"/>
            <a:ext cx="3566159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880" b="1" dirty="0">
                <a:solidFill>
                  <a:srgbClr val="C00000"/>
                </a:solidFill>
                <a:latin typeface="Calibri"/>
              </a:rPr>
              <a:t>▸ </a:t>
            </a:r>
            <a:r>
              <a:rPr lang="es-ES" sz="840" dirty="0">
                <a:solidFill>
                  <a:srgbClr val="0D1B5E"/>
                </a:solidFill>
                <a:latin typeface="Calibri"/>
              </a:rPr>
              <a:t>Asignacion de personas sin modelo estandarizado</a:t>
            </a:r>
          </a:p>
        </p:txBody>
      </p:sp>
      <p:sp>
        <p:nvSpPr>
          <p:cNvPr id="61" name="d"/>
          <p:cNvSpPr txBox="1">
            <a:spLocks noGrp="1"/>
          </p:cNvSpPr>
          <p:nvPr/>
        </p:nvSpPr>
        <p:spPr>
          <a:xfrm>
            <a:off x="365760" y="3840480"/>
            <a:ext cx="3566159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880" b="1" dirty="0">
                <a:solidFill>
                  <a:srgbClr val="C00000"/>
                </a:solidFill>
                <a:latin typeface="Calibri"/>
              </a:rPr>
              <a:t>▸ </a:t>
            </a:r>
            <a:r>
              <a:rPr lang="es-ES" sz="840" dirty="0">
                <a:solidFill>
                  <a:srgbClr val="0D1B5E"/>
                </a:solidFill>
                <a:latin typeface="Calibri"/>
              </a:rPr>
              <a:t>Brechas en lo que se vendio vs lo que se ejecuta hoy</a:t>
            </a:r>
          </a:p>
        </p:txBody>
      </p:sp>
      <p:sp>
        <p:nvSpPr>
          <p:cNvPr id="62" name="est"/>
          <p:cNvSpPr>
            <a:spLocks noGrp="1"/>
          </p:cNvSpPr>
          <p:nvPr/>
        </p:nvSpPr>
        <p:spPr>
          <a:xfrm>
            <a:off x="365760" y="4059936"/>
            <a:ext cx="3566159" cy="164592"/>
          </a:xfrm>
          <a:prstGeom prst="roundRect">
            <a:avLst>
              <a:gd name="adj" fmla="val 6000"/>
            </a:avLst>
          </a:prstGeom>
          <a:solidFill>
            <a:srgbClr val="FEF3C7"/>
          </a:solidFill>
          <a:ln w="9525">
            <a:solidFill>
              <a:srgbClr val="F59E0B"/>
            </a:solidFill>
          </a:ln>
        </p:spPr>
      </p:sp>
      <p:sp>
        <p:nvSpPr>
          <p:cNvPr id="63" name="estt"/>
          <p:cNvSpPr txBox="1">
            <a:spLocks noGrp="1"/>
          </p:cNvSpPr>
          <p:nvPr/>
        </p:nvSpPr>
        <p:spPr>
          <a:xfrm>
            <a:off x="420624" y="4059936"/>
            <a:ext cx="3493007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70" dirty="0">
                <a:solidFill>
                  <a:srgbClr val="92400E"/>
                </a:solidFill>
                <a:latin typeface="Calibri"/>
              </a:rPr>
              <a:t>⚠ Levantamiento incompleto · Prioridad reunir con lideres de mesa</a:t>
            </a:r>
          </a:p>
        </p:txBody>
      </p:sp>
      <p:sp>
        <p:nvSpPr>
          <p:cNvPr id="70" name="card"/>
          <p:cNvSpPr>
            <a:spLocks noGrp="1"/>
          </p:cNvSpPr>
          <p:nvPr/>
        </p:nvSpPr>
        <p:spPr>
          <a:xfrm>
            <a:off x="4151375" y="2578608"/>
            <a:ext cx="3749039" cy="1682496"/>
          </a:xfrm>
          <a:prstGeom prst="roundRect">
            <a:avLst>
              <a:gd name="adj" fmla="val 12000"/>
            </a:avLst>
          </a:prstGeom>
          <a:solidFill>
            <a:srgbClr val="E8F6F7"/>
          </a:solidFill>
          <a:ln w="12700">
            <a:solidFill>
              <a:srgbClr val="1B7B85"/>
            </a:solidFill>
          </a:ln>
        </p:spPr>
      </p:sp>
      <p:sp>
        <p:nvSpPr>
          <p:cNvPr id="71" name="chdr"/>
          <p:cNvSpPr>
            <a:spLocks noGrp="1"/>
          </p:cNvSpPr>
          <p:nvPr/>
        </p:nvSpPr>
        <p:spPr>
          <a:xfrm>
            <a:off x="4151375" y="2578608"/>
            <a:ext cx="3749039" cy="329184"/>
          </a:xfrm>
          <a:prstGeom prst="roundRect">
            <a:avLst>
              <a:gd name="adj" fmla="val 12000"/>
            </a:avLst>
          </a:prstGeom>
          <a:solidFill>
            <a:srgbClr val="1B7B85"/>
          </a:solidFill>
          <a:ln>
            <a:noFill/>
          </a:ln>
        </p:spPr>
      </p:sp>
      <p:sp>
        <p:nvSpPr>
          <p:cNvPr id="72" name="chdr2"/>
          <p:cNvSpPr>
            <a:spLocks noGrp="1"/>
          </p:cNvSpPr>
          <p:nvPr/>
        </p:nvSpPr>
        <p:spPr>
          <a:xfrm>
            <a:off x="4151375" y="2779776"/>
            <a:ext cx="3749039" cy="128016"/>
          </a:xfrm>
          <a:prstGeom prst="rect">
            <a:avLst/>
          </a:prstGeom>
          <a:solidFill>
            <a:srgbClr val="1B7B85"/>
          </a:solidFill>
          <a:ln>
            <a:noFill/>
          </a:ln>
        </p:spPr>
      </p:sp>
      <p:sp>
        <p:nvSpPr>
          <p:cNvPr id="73" name="cnom"/>
          <p:cNvSpPr txBox="1">
            <a:spLocks noGrp="1"/>
          </p:cNvSpPr>
          <p:nvPr/>
        </p:nvSpPr>
        <p:spPr>
          <a:xfrm>
            <a:off x="4242815" y="2624328"/>
            <a:ext cx="182880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1000" b="1" dirty="0">
                <a:solidFill>
                  <a:srgbClr val="FFFFFF"/>
                </a:solidFill>
                <a:latin typeface="Calibri"/>
              </a:rPr>
              <a:t>MEDICARTE — Mesa IT</a:t>
            </a:r>
          </a:p>
        </p:txBody>
      </p:sp>
      <p:sp>
        <p:nvSpPr>
          <p:cNvPr id="74" name="nbox"/>
          <p:cNvSpPr>
            <a:spLocks noGrp="1"/>
          </p:cNvSpPr>
          <p:nvPr/>
        </p:nvSpPr>
        <p:spPr>
          <a:xfrm>
            <a:off x="6108191" y="2642616"/>
            <a:ext cx="384048" cy="201168"/>
          </a:xfrm>
          <a:prstGeom prst="roundRect">
            <a:avLst>
              <a:gd name="adj" fmla="val 8000"/>
            </a:avLst>
          </a:prstGeom>
          <a:solidFill>
            <a:srgbClr val="C00000"/>
          </a:solidFill>
          <a:ln>
            <a:noFill/>
          </a:ln>
        </p:spPr>
      </p:sp>
      <p:sp>
        <p:nvSpPr>
          <p:cNvPr id="75" name="nboxt"/>
          <p:cNvSpPr txBox="1">
            <a:spLocks noGrp="1"/>
          </p:cNvSpPr>
          <p:nvPr/>
        </p:nvSpPr>
        <p:spPr>
          <a:xfrm>
            <a:off x="6108191" y="2642616"/>
            <a:ext cx="384048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normAutofit/>
          </a:bodyPr>
          <a:lstStyle/>
          <a:p>
            <a:pPr algn="ctr"/>
            <a:r>
              <a:rPr lang="es-ES" sz="850" b="1" dirty="0">
                <a:solidFill>
                  <a:srgbClr val="FFFFFF"/>
                </a:solidFill>
                <a:latin typeface="Calibri"/>
              </a:rPr>
              <a:t>N1</a:t>
            </a:r>
          </a:p>
        </p:txBody>
      </p:sp>
      <p:sp>
        <p:nvSpPr>
          <p:cNvPr id="76" name="fte"/>
          <p:cNvSpPr txBox="1">
            <a:spLocks noGrp="1"/>
          </p:cNvSpPr>
          <p:nvPr/>
        </p:nvSpPr>
        <p:spPr>
          <a:xfrm>
            <a:off x="6547103" y="2642616"/>
            <a:ext cx="1261872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820" dirty="0">
                <a:solidFill>
                  <a:srgbClr val="FFFFFF"/>
                </a:solidFill>
                <a:latin typeface="Calibri"/>
              </a:rPr>
              <a:t>FTE: N/D</a:t>
            </a:r>
          </a:p>
        </p:txBody>
      </p:sp>
      <p:sp>
        <p:nvSpPr>
          <p:cNvPr id="77" name="herr"/>
          <p:cNvSpPr txBox="1">
            <a:spLocks noGrp="1"/>
          </p:cNvSpPr>
          <p:nvPr/>
        </p:nvSpPr>
        <p:spPr>
          <a:xfrm>
            <a:off x="4242815" y="2944368"/>
            <a:ext cx="3566159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800" i="1" dirty="0">
                <a:solidFill>
                  <a:srgbClr val="1B7B85"/>
                </a:solidFill>
                <a:latin typeface="Calibri"/>
              </a:rPr>
              <a:t>🔧 Por definir  ·  Salud · EPS/IPS</a:t>
            </a:r>
          </a:p>
        </p:txBody>
      </p:sp>
      <p:sp>
        <p:nvSpPr>
          <p:cNvPr id="78" name="hace"/>
          <p:cNvSpPr txBox="1">
            <a:spLocks noGrp="1"/>
          </p:cNvSpPr>
          <p:nvPr/>
        </p:nvSpPr>
        <p:spPr>
          <a:xfrm>
            <a:off x="4242815" y="3145536"/>
            <a:ext cx="3566159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800" i="1" dirty="0">
                <a:solidFill>
                  <a:srgbClr val="6B7280"/>
                </a:solidFill>
                <a:latin typeface="Calibri"/>
              </a:rPr>
              <a:t>Mesa en evaluacion · Alta deuda tecnica · Trazabilidad clinica y historia clinica digital</a:t>
            </a:r>
          </a:p>
        </p:txBody>
      </p:sp>
      <p:sp>
        <p:nvSpPr>
          <p:cNvPr id="79" name="d"/>
          <p:cNvSpPr txBox="1">
            <a:spLocks noGrp="1"/>
          </p:cNvSpPr>
          <p:nvPr/>
        </p:nvSpPr>
        <p:spPr>
          <a:xfrm>
            <a:off x="4242815" y="3364992"/>
            <a:ext cx="3566159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880" b="1" dirty="0">
                <a:solidFill>
                  <a:srgbClr val="C00000"/>
                </a:solidFill>
                <a:latin typeface="Calibri"/>
              </a:rPr>
              <a:t>▸ </a:t>
            </a:r>
            <a:r>
              <a:rPr lang="es-ES" sz="840" dirty="0">
                <a:solidFill>
                  <a:srgbClr val="0D1B5E"/>
                </a:solidFill>
                <a:latin typeface="Calibri"/>
              </a:rPr>
              <a:t>Sin levantamiento formal — datos muy preliminares</a:t>
            </a:r>
          </a:p>
        </p:txBody>
      </p:sp>
      <p:sp>
        <p:nvSpPr>
          <p:cNvPr id="80" name="d"/>
          <p:cNvSpPr txBox="1">
            <a:spLocks noGrp="1"/>
          </p:cNvSpPr>
          <p:nvPr/>
        </p:nvSpPr>
        <p:spPr>
          <a:xfrm>
            <a:off x="4242815" y="3602736"/>
            <a:ext cx="3566159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880" b="1" dirty="0">
                <a:solidFill>
                  <a:srgbClr val="C00000"/>
                </a:solidFill>
                <a:latin typeface="Calibri"/>
              </a:rPr>
              <a:t>▸ </a:t>
            </a:r>
            <a:r>
              <a:rPr lang="es-ES" sz="840" dirty="0">
                <a:solidFill>
                  <a:srgbClr val="0D1B5E"/>
                </a:solidFill>
                <a:latin typeface="Calibri"/>
              </a:rPr>
              <a:t>Sin herramienta ITSM definida</a:t>
            </a:r>
          </a:p>
        </p:txBody>
      </p:sp>
      <p:sp>
        <p:nvSpPr>
          <p:cNvPr id="81" name="d"/>
          <p:cNvSpPr txBox="1">
            <a:spLocks noGrp="1"/>
          </p:cNvSpPr>
          <p:nvPr/>
        </p:nvSpPr>
        <p:spPr>
          <a:xfrm>
            <a:off x="4242815" y="3840480"/>
            <a:ext cx="3566159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880" b="1" dirty="0">
                <a:solidFill>
                  <a:srgbClr val="C00000"/>
                </a:solidFill>
                <a:latin typeface="Calibri"/>
              </a:rPr>
              <a:t>▸ </a:t>
            </a:r>
            <a:r>
              <a:rPr lang="es-ES" sz="840" dirty="0">
                <a:solidFill>
                  <a:srgbClr val="0D1B5E"/>
                </a:solidFill>
                <a:latin typeface="Calibri"/>
              </a:rPr>
              <a:t>Sin metricas · Sin roles · Sin catálogo de servicios</a:t>
            </a:r>
          </a:p>
        </p:txBody>
      </p:sp>
      <p:sp>
        <p:nvSpPr>
          <p:cNvPr id="82" name="est"/>
          <p:cNvSpPr>
            <a:spLocks noGrp="1"/>
          </p:cNvSpPr>
          <p:nvPr/>
        </p:nvSpPr>
        <p:spPr>
          <a:xfrm>
            <a:off x="4242815" y="4059936"/>
            <a:ext cx="3566159" cy="164592"/>
          </a:xfrm>
          <a:prstGeom prst="roundRect">
            <a:avLst>
              <a:gd name="adj" fmla="val 6000"/>
            </a:avLst>
          </a:prstGeom>
          <a:solidFill>
            <a:srgbClr val="FEF3C7"/>
          </a:solidFill>
          <a:ln w="9525">
            <a:solidFill>
              <a:srgbClr val="F59E0B"/>
            </a:solidFill>
          </a:ln>
        </p:spPr>
      </p:sp>
      <p:sp>
        <p:nvSpPr>
          <p:cNvPr id="83" name="estt"/>
          <p:cNvSpPr txBox="1">
            <a:spLocks noGrp="1"/>
          </p:cNvSpPr>
          <p:nvPr/>
        </p:nvSpPr>
        <p:spPr>
          <a:xfrm>
            <a:off x="4297679" y="4059936"/>
            <a:ext cx="3493007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70" dirty="0">
                <a:solidFill>
                  <a:srgbClr val="92400E"/>
                </a:solidFill>
                <a:latin typeface="Calibri"/>
              </a:rPr>
              <a:t>⚠ Mesa en evaluacion · Oportunidad de entrada al sector salud</a:t>
            </a:r>
          </a:p>
        </p:txBody>
      </p:sp>
      <p:sp>
        <p:nvSpPr>
          <p:cNvPr id="200" name="src"/>
          <p:cNvSpPr txBox="1">
            <a:spLocks noGrp="1"/>
          </p:cNvSpPr>
          <p:nvPr/>
        </p:nvSpPr>
        <p:spPr>
          <a:xfrm>
            <a:off x="320040" y="4480560"/>
            <a:ext cx="77724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normAutofit/>
          </a:bodyPr>
          <a:lstStyle/>
          <a:p>
            <a:pPr algn="l"/>
            <a:r>
              <a:rPr lang="es-ES" sz="780" i="1" dirty="0">
                <a:solidFill>
                  <a:srgbClr val="6B7280"/>
                </a:solidFill>
                <a:latin typeface="Calibri"/>
              </a:rPr>
              <a:t>Fuente: Levantamiento interno PersonalSoft · Julio 2026 · Reuniones con Michael Arevalo (AES) y Diego Serna (XM) · Excel Levantamiento_Mesas_Julio_2026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1119</Words>
  <Application>Microsoft Office PowerPoint</Application>
  <PresentationFormat>Presentación en pantalla (16:9)</PresentationFormat>
  <Paragraphs>251</Paragraphs>
  <Slides>5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5</vt:i4>
      </vt:variant>
    </vt:vector>
  </HeadingPairs>
  <TitlesOfParts>
    <vt:vector size="13" baseType="lpstr">
      <vt:lpstr>Calibri</vt:lpstr>
      <vt:lpstr>Reddit Sans Light</vt:lpstr>
      <vt:lpstr>Reddit Sans</vt:lpstr>
      <vt:lpstr>Reddit Sans SemiBold</vt:lpstr>
      <vt:lpstr>Reddit Sans Black</vt:lpstr>
      <vt:lpstr>Arial</vt:lpstr>
      <vt:lpstr>Simple Light</vt:lpstr>
      <vt:lpstr>Simple Light</vt:lpstr>
      <vt:lpstr>Mesas de Servicio de Nueva Generación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ASUS</dc:creator>
  <cp:lastModifiedBy>Natalia Zartha Suarez</cp:lastModifiedBy>
  <cp:revision>1364</cp:revision>
  <dcterms:modified xsi:type="dcterms:W3CDTF">2026-07-10T14:27:40Z</dcterms:modified>
</cp:coreProperties>
</file>