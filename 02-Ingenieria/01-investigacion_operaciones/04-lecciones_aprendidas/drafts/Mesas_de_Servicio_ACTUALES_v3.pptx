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
<Relationships xmlns="http://schemas.openxmlformats.org/package/2006/relationships">
  <Relationship Id="rId3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8"/>
  </p:notesMasterIdLst>
  <p:sldIdLst>
    <p:sldId id="293" r:id="rId3"/>
    <p:sldId id="306" r:id="rId4"/>
    <p:sldId id="318" r:id="rId5"/>
    <p:sldId id="273" r:id="rId6"/>
    <p:sldId id="274" r:id="rId7"/>
    <p:sldId id="319" r:id="rId61"/>
    <p:sldId id="320" r:id="rId62"/>
  </p:sldIdLst>
  <p:sldSz cx="9144000" cy="5143500" type="screen16x9"/>
  <p:notesSz cx="6858000" cy="9144000"/>
  <p:embeddedFontLst>
    <p:embeddedFont>
      <p:font typeface="Reddit Sans" panose="020B0604020202020204" charset="0"/>
      <p:regular r:id="rId9"/>
      <p:bold r:id="rId10"/>
      <p:italic r:id="rId11"/>
      <p:boldItalic r:id="rId12"/>
    </p:embeddedFont>
    <p:embeddedFont>
      <p:font typeface="Reddit Sans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8" Type="http://schemas.openxmlformats.org/officeDocument/2006/relationships/notesMaster" Target="notesMasters/notesMaster1.xml"/>
  <Relationship Id="rId13" Type="http://schemas.openxmlformats.org/officeDocument/2006/relationships/font" Target="fonts/font5.fntdata"/>
  <Relationship Id="rId3" Type="http://schemas.openxmlformats.org/officeDocument/2006/relationships/slide" Target="slides/slide1.xml"/>
  <Relationship Id="rId55" Type="http://customschemas.google.com/relationships/presentationmetadata" Target="metadata"/>
  <Relationship Id="rId7" Type="http://schemas.openxmlformats.org/officeDocument/2006/relationships/slide" Target="slides/slide5.xml"/>
  <Relationship Id="rId12" Type="http://schemas.openxmlformats.org/officeDocument/2006/relationships/font" Target="fonts/font4.fntdata"/>
  <Relationship Id="rId59" Type="http://schemas.openxmlformats.org/officeDocument/2006/relationships/tableStyles" Target="tableStyles.xml"/>
  <Relationship Id="rId2" Type="http://schemas.openxmlformats.org/officeDocument/2006/relationships/slideMaster" Target="slideMasters/slideMaster2.xml"/>
  <Relationship Id="rId16" Type="http://schemas.openxmlformats.org/officeDocument/2006/relationships/font" Target="fonts/font8.fntdata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4.xml"/>
  <Relationship Id="rId11" Type="http://schemas.openxmlformats.org/officeDocument/2006/relationships/font" Target="fonts/font3.fntdata"/>
  <Relationship Id="rId58" Type="http://schemas.openxmlformats.org/officeDocument/2006/relationships/theme" Target="theme/theme1.xml"/>
  <Relationship Id="rId5" Type="http://schemas.openxmlformats.org/officeDocument/2006/relationships/slide" Target="slides/slide3.xml"/>
  <Relationship Id="rId15" Type="http://schemas.openxmlformats.org/officeDocument/2006/relationships/font" Target="fonts/font7.fntdata"/>
  <Relationship Id="rId57" Type="http://schemas.openxmlformats.org/officeDocument/2006/relationships/viewProps" Target="viewProps.xml"/>
  <Relationship Id="rId10" Type="http://schemas.openxmlformats.org/officeDocument/2006/relationships/font" Target="fonts/font2.fntdata"/>
  <Relationship Id="rId60" Type="http://schemas.microsoft.com/office/2015/10/relationships/revisionInfo" Target="revisionInfo.xml"/>
  <Relationship Id="rId4" Type="http://schemas.openxmlformats.org/officeDocument/2006/relationships/slide" Target="slides/slide2.xml"/>
  <Relationship Id="rId9" Type="http://schemas.openxmlformats.org/officeDocument/2006/relationships/font" Target="fonts/font1.fntdata"/>
  <Relationship Id="rId14" Type="http://schemas.openxmlformats.org/officeDocument/2006/relationships/font" Target="fonts/font6.fntdata"/>
  <Relationship Id="rId56" Type="http://schemas.openxmlformats.org/officeDocument/2006/relationships/presProps" Target="presProps.xml"/>
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3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1.xml"/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4.xml"/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2" Type="http://schemas.openxmlformats.org/officeDocument/2006/relationships/slide" Target="../slides/slide5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3" Type="http://schemas.openxmlformats.org/officeDocument/2006/relationships/image" Target="../media/image5.png"/>
  <Relationship Id="rId2" Type="http://schemas.openxmlformats.org/officeDocument/2006/relationships/image" Target="../media/image4.jpeg"/>
  <Relationship Id="rId1" Type="http://schemas.openxmlformats.org/officeDocument/2006/relationships/slideMaster" Target="../slideMasters/slideMaster2.xml"/>
</Relationships>

</file>

<file path=ppt/slideLayouts/_rels/slideLayout8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2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/>
</Relationships>

</file>

<file path=ppt/slideLayouts/_rels/slideLayout10.xml.rels><?xml version="1.0" encoding="utf-8"?>
<Relationships xmlns="http://schemas.openxmlformats.org/package/2006/relationships">
  <Relationship Id="rId2" Type="http://schemas.openxmlformats.org/officeDocument/2006/relationships/image" Target="../media/image2.png"/>
  <Relationship Id="rId1" Type="http://schemas.openxmlformats.org/officeDocument/2006/relationships/slideMaster" Target="../slideMasters/slideMaster2.xml"/>
</Relationships>

</file>

<file path=ppt/slideLayouts/_rels/slideLayout11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2.xml"/>
</Relationships>

</file>

<file path=ppt/slideLayouts/_rels/slideLayout12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2.xml"/>
</Relationships>

</file>

<file path=ppt/slideLayouts/_rels/slideLayout13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2.xml"/>
</Relationships>

</file>

<file path=ppt/slideLayouts/_rels/slideLayout14.xml.rels><?xml version="1.0" encoding="utf-8"?>
<Relationships xmlns="http://schemas.openxmlformats.org/package/2006/relationships">
  <Relationship Id="rId3" Type="http://schemas.openxmlformats.org/officeDocument/2006/relationships/image" Target="../media/image7.png"/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2.xml"/>
</Relationships>

</file>

<file path=ppt/slideLayouts/_rels/slideLayout15.xml.rels><?xml version="1.0" encoding="utf-8"?>
<Relationships xmlns="http://schemas.openxmlformats.org/package/2006/relationships">
  <Relationship Id="rId3" Type="http://schemas.openxmlformats.org/officeDocument/2006/relationships/image" Target="../media/image5.png"/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2.xml"/>
</Relationships>

</file>

<file path=ppt/slideLayouts/_rels/slideLayout16.xml.rels><?xml version="1.0" encoding="utf-8"?>
<Relationships xmlns="http://schemas.openxmlformats.org/package/2006/relationships"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2.xml"/>
</Relationships>

</file>

<file path=ppt/slideLayouts/_rels/slideLayout1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3" Type="http://schemas.openxmlformats.org/officeDocument/2006/relationships/slideLayout" Target="../slideLayouts/slideLayout3.xml"/>
  <Relationship Id="rId7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5" Type="http://schemas.openxmlformats.org/officeDocument/2006/relationships/slideLayout" Target="../slideLayouts/slideLayout5.xml"/>
  <Relationship Id="rId4" Type="http://schemas.openxmlformats.org/officeDocument/2006/relationships/slideLayout" Target="../slideLayouts/slideLayout4.xml"/>
</Relationships>

</file>

<file path=ppt/slideMasters/_rels/slideMaster2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14.xml"/>
  <Relationship Id="rId3" Type="http://schemas.openxmlformats.org/officeDocument/2006/relationships/slideLayout" Target="../slideLayouts/slideLayout9.xml"/>
  <Relationship Id="rId7" Type="http://schemas.openxmlformats.org/officeDocument/2006/relationships/slideLayout" Target="../slideLayouts/slideLayout13.xml"/>
  <Relationship Id="rId12" Type="http://schemas.openxmlformats.org/officeDocument/2006/relationships/theme" Target="../theme/theme2.xml"/>
  <Relationship Id="rId2" Type="http://schemas.openxmlformats.org/officeDocument/2006/relationships/slideLayout" Target="../slideLayouts/slideLayout8.xml"/>
  <Relationship Id="rId1" Type="http://schemas.openxmlformats.org/officeDocument/2006/relationships/slideLayout" Target="../slideLayouts/slideLayout7.xml"/>
  <Relationship Id="rId6" Type="http://schemas.openxmlformats.org/officeDocument/2006/relationships/slideLayout" Target="../slideLayouts/slideLayout12.xml"/>
  <Relationship Id="rId11" Type="http://schemas.openxmlformats.org/officeDocument/2006/relationships/slideLayout" Target="../slideLayouts/slideLayout17.xml"/>
  <Relationship Id="rId5" Type="http://schemas.openxmlformats.org/officeDocument/2006/relationships/slideLayout" Target="../slideLayouts/slideLayout11.xml"/>
  <Relationship Id="rId10" Type="http://schemas.openxmlformats.org/officeDocument/2006/relationships/slideLayout" Target="../slideLayouts/slideLayout16.xml"/>
  <Relationship Id="rId4" Type="http://schemas.openxmlformats.org/officeDocument/2006/relationships/slideLayout" Target="../slideLayouts/slideLayout10.xml"/>
  <Relationship Id="rId9" Type="http://schemas.openxmlformats.org/officeDocument/2006/relationships/slideLayout" Target="../slideLayouts/slideLayout15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.xml"/>
  <Relationship Id="rId1" Type="http://schemas.openxmlformats.org/officeDocument/2006/relationships/slideLayout" Target="../slideLayouts/slideLayout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</Relationships>

</file>

<file path=ppt/slides/_rels/slide4.xml.rels><?xml version="1.0" encoding="utf-8"?>
<Relationships xmlns="http://schemas.openxmlformats.org/package/2006/relationships"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13.xml"/>
</Relationships>

</file>

<file path=ppt/slides/_rels/slide5.xml.rels><?xml version="1.0" encoding="utf-8"?>
<Relationships xmlns="http://schemas.openxmlformats.org/package/2006/relationships"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14.xml"/>
</Relationships>

</file>

<file path=ppt/slides/_rels/slide6.xml.rels><?xml version="1.0" encoding="utf-8"?>
<Relationships xmlns="http://schemas.openxmlformats.org/package/2006/relationships"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14.xml"/>
</Relationships>

</file>

<file path=ppt/slides/_rels/slide7.xml.rels><?xml version="1.0" encoding="utf-8"?>
<Relationships xmlns="http://schemas.openxmlformats.org/package/2006/relationships"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1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Diagnostico actual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Clasificacion por Nivel de Madurez — Donde estamos hoy?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8 mesas · 5 clientes · Julio 2026 · Levantamiento interno PersonalSoft</a:t>
            </a:r>
          </a:p>
        </p:txBody>
      </p:sp>
      <p:sp>
        <p:nvSpPr>
          <p:cNvPr id="10" name="n1bg"/>
          <p:cNvSpPr>
            <a:spLocks noGrp="1"/>
          </p:cNvSpPr>
          <p:nvPr/>
        </p:nvSpPr>
        <p:spPr>
          <a:xfrm>
            <a:off x="320040" y="786384"/>
            <a:ext cx="7818120" cy="11887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C00000"/>
            </a:solidFill>
          </a:ln>
        </p:spPr>
      </p:sp>
      <p:sp>
        <p:nvSpPr>
          <p:cNvPr id="11" name="n1b"/>
          <p:cNvSpPr>
            <a:spLocks noGrp="1"/>
          </p:cNvSpPr>
          <p:nvPr/>
        </p:nvSpPr>
        <p:spPr>
          <a:xfrm>
            <a:off x="320040" y="786384"/>
            <a:ext cx="713232" cy="118872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n1t"/>
          <p:cNvSpPr txBox="1">
            <a:spLocks noGrp="1"/>
          </p:cNvSpPr>
          <p:nvPr/>
        </p:nvSpPr>
        <p:spPr>
          <a:xfrm>
            <a:off x="320040" y="877824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400" dirty="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3" name="n1l"/>
          <p:cNvSpPr txBox="1">
            <a:spLocks noGrp="1"/>
          </p:cNvSpPr>
          <p:nvPr/>
        </p:nvSpPr>
        <p:spPr>
          <a:xfrm>
            <a:off x="320040" y="142646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14" name="n1d"/>
          <p:cNvSpPr txBox="1">
            <a:spLocks noGrp="1"/>
          </p:cNvSpPr>
          <p:nvPr/>
        </p:nvSpPr>
        <p:spPr>
          <a:xfrm>
            <a:off x="1097280" y="85953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C00000"/>
                </a:solidFill>
                <a:latin typeface="Calibri"/>
              </a:rPr>
              <a:t>Reactivo total · sin gobierno</a:t>
            </a:r>
          </a:p>
        </p:txBody>
      </p:sp>
      <p:sp>
        <p:nvSpPr>
          <p:cNvPr id="15" name="n1s"/>
          <p:cNvSpPr txBox="1">
            <a:spLocks noGrp="1"/>
          </p:cNvSpPr>
          <p:nvPr/>
        </p:nvSpPr>
        <p:spPr>
          <a:xfrm>
            <a:off x="1097280" y="113385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00" dirty="0">
                <a:solidFill>
                  <a:srgbClr val="C00000"/>
                </a:solidFill>
                <a:latin typeface="Calibri"/>
              </a:rPr>
              <a:t>Sin RACI · Sin KEDB · Sin ANS</a:t>
            </a:r>
          </a:p>
        </p:txBody>
      </p:sp>
      <p:sp>
        <p:nvSpPr>
          <p:cNvPr id="20" name="mc"/>
          <p:cNvSpPr>
            <a:spLocks noGrp="1"/>
          </p:cNvSpPr>
          <p:nvPr/>
        </p:nvSpPr>
        <p:spPr>
          <a:xfrm>
            <a:off x="2560320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1" name="mb"/>
          <p:cNvSpPr>
            <a:spLocks noGrp="1"/>
          </p:cNvSpPr>
          <p:nvPr/>
        </p:nvSpPr>
        <p:spPr>
          <a:xfrm>
            <a:off x="2560320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2" name="mn"/>
          <p:cNvSpPr txBox="1">
            <a:spLocks noGrp="1"/>
          </p:cNvSpPr>
          <p:nvPr/>
        </p:nvSpPr>
        <p:spPr>
          <a:xfrm>
            <a:off x="2615184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C00000"/>
                </a:solidFill>
                <a:latin typeface="Calibri"/>
              </a:rPr>
              <a:t>AES</a:t>
            </a:r>
          </a:p>
        </p:txBody>
      </p:sp>
      <p:sp>
        <p:nvSpPr>
          <p:cNvPr id="23" name="mi"/>
          <p:cNvSpPr txBox="1">
            <a:spLocks noGrp="1"/>
          </p:cNvSpPr>
          <p:nvPr/>
        </p:nvSpPr>
        <p:spPr>
          <a:xfrm>
            <a:off x="2615184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Soporte IT/OT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Energia · 4 FTE</a:t>
            </a:r>
          </a:p>
        </p:txBody>
      </p:sp>
      <p:sp>
        <p:nvSpPr>
          <p:cNvPr id="24" name="mc"/>
          <p:cNvSpPr>
            <a:spLocks noGrp="1"/>
          </p:cNvSpPr>
          <p:nvPr/>
        </p:nvSpPr>
        <p:spPr>
          <a:xfrm>
            <a:off x="3685032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5" name="mb"/>
          <p:cNvSpPr>
            <a:spLocks noGrp="1"/>
          </p:cNvSpPr>
          <p:nvPr/>
        </p:nvSpPr>
        <p:spPr>
          <a:xfrm>
            <a:off x="3685032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6" name="mn"/>
          <p:cNvSpPr txBox="1">
            <a:spLocks noGrp="1"/>
          </p:cNvSpPr>
          <p:nvPr/>
        </p:nvSpPr>
        <p:spPr>
          <a:xfrm>
            <a:off x="3739896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C00000"/>
                </a:solidFill>
                <a:latin typeface="Calibri"/>
              </a:rPr>
              <a:t>BCO GIOTI 1</a:t>
            </a:r>
          </a:p>
        </p:txBody>
      </p:sp>
      <p:sp>
        <p:nvSpPr>
          <p:cNvPr id="27" name="mi"/>
          <p:cNvSpPr txBox="1">
            <a:spLocks noGrp="1"/>
          </p:cNvSpPr>
          <p:nvPr/>
        </p:nvSpPr>
        <p:spPr>
          <a:xfrm>
            <a:off x="3739896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28" name="mc"/>
          <p:cNvSpPr>
            <a:spLocks noGrp="1"/>
          </p:cNvSpPr>
          <p:nvPr/>
        </p:nvSpPr>
        <p:spPr>
          <a:xfrm>
            <a:off x="4809744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9" name="mb"/>
          <p:cNvSpPr>
            <a:spLocks noGrp="1"/>
          </p:cNvSpPr>
          <p:nvPr/>
        </p:nvSpPr>
        <p:spPr>
          <a:xfrm>
            <a:off x="4809744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0" name="mn"/>
          <p:cNvSpPr txBox="1">
            <a:spLocks noGrp="1"/>
          </p:cNvSpPr>
          <p:nvPr/>
        </p:nvSpPr>
        <p:spPr>
          <a:xfrm>
            <a:off x="4864608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C00000"/>
                </a:solidFill>
                <a:latin typeface="Calibri"/>
              </a:rPr>
              <a:t>BCO GIOTI 2</a:t>
            </a:r>
          </a:p>
        </p:txBody>
      </p:sp>
      <p:sp>
        <p:nvSpPr>
          <p:cNvPr id="31" name="mi"/>
          <p:cNvSpPr txBox="1">
            <a:spLocks noGrp="1"/>
          </p:cNvSpPr>
          <p:nvPr/>
        </p:nvSpPr>
        <p:spPr>
          <a:xfrm>
            <a:off x="4864608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32" name="mc"/>
          <p:cNvSpPr>
            <a:spLocks noGrp="1"/>
          </p:cNvSpPr>
          <p:nvPr/>
        </p:nvSpPr>
        <p:spPr>
          <a:xfrm>
            <a:off x="5934456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33" name="mb"/>
          <p:cNvSpPr>
            <a:spLocks noGrp="1"/>
          </p:cNvSpPr>
          <p:nvPr/>
        </p:nvSpPr>
        <p:spPr>
          <a:xfrm>
            <a:off x="5934456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4" name="mn"/>
          <p:cNvSpPr txBox="1">
            <a:spLocks noGrp="1"/>
          </p:cNvSpPr>
          <p:nvPr/>
        </p:nvSpPr>
        <p:spPr>
          <a:xfrm>
            <a:off x="5989320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C00000"/>
                </a:solidFill>
                <a:latin typeface="Calibri"/>
              </a:rPr>
              <a:t>BCO GIOTI 3</a:t>
            </a:r>
          </a:p>
        </p:txBody>
      </p:sp>
      <p:sp>
        <p:nvSpPr>
          <p:cNvPr id="35" name="mi"/>
          <p:cNvSpPr txBox="1">
            <a:spLocks noGrp="1"/>
          </p:cNvSpPr>
          <p:nvPr/>
        </p:nvSpPr>
        <p:spPr>
          <a:xfrm>
            <a:off x="5989320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36" name="mc"/>
          <p:cNvSpPr>
            <a:spLocks noGrp="1"/>
          </p:cNvSpPr>
          <p:nvPr/>
        </p:nvSpPr>
        <p:spPr>
          <a:xfrm>
            <a:off x="7059168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37" name="mb"/>
          <p:cNvSpPr>
            <a:spLocks noGrp="1"/>
          </p:cNvSpPr>
          <p:nvPr/>
        </p:nvSpPr>
        <p:spPr>
          <a:xfrm>
            <a:off x="7059168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8" name="mn"/>
          <p:cNvSpPr txBox="1">
            <a:spLocks noGrp="1"/>
          </p:cNvSpPr>
          <p:nvPr/>
        </p:nvSpPr>
        <p:spPr>
          <a:xfrm>
            <a:off x="7114032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C00000"/>
                </a:solidFill>
                <a:latin typeface="Calibri"/>
              </a:rPr>
              <a:t>BCO GIOTI 4</a:t>
            </a:r>
          </a:p>
        </p:txBody>
      </p:sp>
      <p:sp>
        <p:nvSpPr>
          <p:cNvPr id="39" name="mi"/>
          <p:cNvSpPr txBox="1">
            <a:spLocks noGrp="1"/>
          </p:cNvSpPr>
          <p:nvPr/>
        </p:nvSpPr>
        <p:spPr>
          <a:xfrm>
            <a:off x="7114032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40" name="mc"/>
          <p:cNvSpPr>
            <a:spLocks noGrp="1"/>
          </p:cNvSpPr>
          <p:nvPr/>
        </p:nvSpPr>
        <p:spPr>
          <a:xfrm>
            <a:off x="8183880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41" name="mb"/>
          <p:cNvSpPr>
            <a:spLocks noGrp="1"/>
          </p:cNvSpPr>
          <p:nvPr/>
        </p:nvSpPr>
        <p:spPr>
          <a:xfrm>
            <a:off x="8183880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2" name="mn"/>
          <p:cNvSpPr txBox="1">
            <a:spLocks noGrp="1"/>
          </p:cNvSpPr>
          <p:nvPr/>
        </p:nvSpPr>
        <p:spPr>
          <a:xfrm>
            <a:off x="8238744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C00000"/>
                </a:solidFill>
                <a:latin typeface="Calibri"/>
              </a:rPr>
              <a:t>MEDICARTE</a:t>
            </a:r>
          </a:p>
        </p:txBody>
      </p:sp>
      <p:sp>
        <p:nvSpPr>
          <p:cNvPr id="43" name="mi"/>
          <p:cNvSpPr txBox="1">
            <a:spLocks noGrp="1"/>
          </p:cNvSpPr>
          <p:nvPr/>
        </p:nvSpPr>
        <p:spPr>
          <a:xfrm>
            <a:off x="8238744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Mesa IT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Salud</a:t>
            </a:r>
          </a:p>
        </p:txBody>
      </p:sp>
      <p:sp>
        <p:nvSpPr>
          <p:cNvPr id="60" name="n2bg"/>
          <p:cNvSpPr>
            <a:spLocks noGrp="1"/>
          </p:cNvSpPr>
          <p:nvPr/>
        </p:nvSpPr>
        <p:spPr>
          <a:xfrm>
            <a:off x="320040" y="2103120"/>
            <a:ext cx="7818120" cy="11887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</p:sp>
      <p:sp>
        <p:nvSpPr>
          <p:cNvPr id="61" name="n2b"/>
          <p:cNvSpPr>
            <a:spLocks noGrp="1"/>
          </p:cNvSpPr>
          <p:nvPr/>
        </p:nvSpPr>
        <p:spPr>
          <a:xfrm>
            <a:off x="320040" y="2103120"/>
            <a:ext cx="713232" cy="1188720"/>
          </a:xfrm>
          <a:prstGeom prst="roundRect">
            <a:avLst>
              <a:gd name="adj" fmla="val 12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62" name="n2t"/>
          <p:cNvSpPr txBox="1">
            <a:spLocks noGrp="1"/>
          </p:cNvSpPr>
          <p:nvPr/>
        </p:nvSpPr>
        <p:spPr>
          <a:xfrm>
            <a:off x="320040" y="2194560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40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63" name="n2l"/>
          <p:cNvSpPr txBox="1">
            <a:spLocks noGrp="1"/>
          </p:cNvSpPr>
          <p:nvPr/>
        </p:nvSpPr>
        <p:spPr>
          <a:xfrm>
            <a:off x="320040" y="2743200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Admin.</a:t>
            </a:r>
          </a:p>
        </p:txBody>
      </p:sp>
      <p:sp>
        <p:nvSpPr>
          <p:cNvPr id="64" name="n2d"/>
          <p:cNvSpPr txBox="1">
            <a:spLocks noGrp="1"/>
          </p:cNvSpPr>
          <p:nvPr/>
        </p:nvSpPr>
        <p:spPr>
          <a:xfrm>
            <a:off x="1097280" y="217627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92400E"/>
                </a:solidFill>
                <a:latin typeface="Calibri"/>
              </a:rPr>
              <a:t>Procesos por mesa · herramienta</a:t>
            </a:r>
          </a:p>
        </p:txBody>
      </p:sp>
      <p:sp>
        <p:nvSpPr>
          <p:cNvPr id="65" name="n2s"/>
          <p:cNvSpPr txBox="1">
            <a:spLocks noGrp="1"/>
          </p:cNvSpPr>
          <p:nvPr/>
        </p:nvSpPr>
        <p:spPr>
          <a:xfrm>
            <a:off x="1097280" y="245059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00" dirty="0">
                <a:solidFill>
                  <a:srgbClr val="92400E"/>
                </a:solidFill>
                <a:latin typeface="Calibri"/>
              </a:rPr>
              <a:t>Sin gobierno centralizado · Sin RACI</a:t>
            </a:r>
          </a:p>
        </p:txBody>
      </p:sp>
      <p:sp>
        <p:nvSpPr>
          <p:cNvPr id="70" name="mc"/>
          <p:cNvSpPr>
            <a:spLocks noGrp="1"/>
          </p:cNvSpPr>
          <p:nvPr/>
        </p:nvSpPr>
        <p:spPr>
          <a:xfrm>
            <a:off x="2560320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71" name="mb"/>
          <p:cNvSpPr>
            <a:spLocks noGrp="1"/>
          </p:cNvSpPr>
          <p:nvPr/>
        </p:nvSpPr>
        <p:spPr>
          <a:xfrm>
            <a:off x="2560320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2" name="mn"/>
          <p:cNvSpPr txBox="1">
            <a:spLocks noGrp="1"/>
          </p:cNvSpPr>
          <p:nvPr/>
        </p:nvSpPr>
        <p:spPr>
          <a:xfrm>
            <a:off x="2615184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92400E"/>
                </a:solidFill>
                <a:latin typeface="Calibri"/>
              </a:rPr>
              <a:t>SURA Cotizadores</a:t>
            </a:r>
          </a:p>
        </p:txBody>
      </p:sp>
      <p:sp>
        <p:nvSpPr>
          <p:cNvPr id="73" name="mi"/>
          <p:cNvSpPr txBox="1">
            <a:spLocks noGrp="1"/>
          </p:cNvSpPr>
          <p:nvPr/>
        </p:nvSpPr>
        <p:spPr>
          <a:xfrm>
            <a:off x="2615184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2 FTE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74" name="mc"/>
          <p:cNvSpPr>
            <a:spLocks noGrp="1"/>
          </p:cNvSpPr>
          <p:nvPr/>
        </p:nvSpPr>
        <p:spPr>
          <a:xfrm>
            <a:off x="3895344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75" name="mb"/>
          <p:cNvSpPr>
            <a:spLocks noGrp="1"/>
          </p:cNvSpPr>
          <p:nvPr/>
        </p:nvSpPr>
        <p:spPr>
          <a:xfrm>
            <a:off x="3895344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6" name="mn"/>
          <p:cNvSpPr txBox="1">
            <a:spLocks noGrp="1"/>
          </p:cNvSpPr>
          <p:nvPr/>
        </p:nvSpPr>
        <p:spPr>
          <a:xfrm>
            <a:off x="3950208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92400E"/>
                </a:solidFill>
                <a:latin typeface="Calibri"/>
              </a:rPr>
              <a:t>SURA Venta Digital</a:t>
            </a:r>
          </a:p>
        </p:txBody>
      </p:sp>
      <p:sp>
        <p:nvSpPr>
          <p:cNvPr id="77" name="mi"/>
          <p:cNvSpPr txBox="1">
            <a:spLocks noGrp="1"/>
          </p:cNvSpPr>
          <p:nvPr/>
        </p:nvSpPr>
        <p:spPr>
          <a:xfrm>
            <a:off x="3950208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2 FTE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78" name="mc"/>
          <p:cNvSpPr>
            <a:spLocks noGrp="1"/>
          </p:cNvSpPr>
          <p:nvPr/>
        </p:nvSpPr>
        <p:spPr>
          <a:xfrm>
            <a:off x="5230368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79" name="mb"/>
          <p:cNvSpPr>
            <a:spLocks noGrp="1"/>
          </p:cNvSpPr>
          <p:nvPr/>
        </p:nvSpPr>
        <p:spPr>
          <a:xfrm>
            <a:off x="5230368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0" name="mn"/>
          <p:cNvSpPr txBox="1">
            <a:spLocks noGrp="1"/>
          </p:cNvSpPr>
          <p:nvPr/>
        </p:nvSpPr>
        <p:spPr>
          <a:xfrm>
            <a:off x="5285232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92400E"/>
                </a:solidFill>
                <a:latin typeface="Calibri"/>
              </a:rPr>
              <a:t>SURA Automatizacion</a:t>
            </a:r>
          </a:p>
        </p:txBody>
      </p:sp>
      <p:sp>
        <p:nvSpPr>
          <p:cNvPr id="81" name="mi"/>
          <p:cNvSpPr txBox="1">
            <a:spLocks noGrp="1"/>
          </p:cNvSpPr>
          <p:nvPr/>
        </p:nvSpPr>
        <p:spPr>
          <a:xfrm>
            <a:off x="5285232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6 FTE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BMC+Azure</a:t>
            </a:r>
          </a:p>
        </p:txBody>
      </p:sp>
      <p:sp>
        <p:nvSpPr>
          <p:cNvPr id="82" name="mc"/>
          <p:cNvSpPr>
            <a:spLocks noGrp="1"/>
          </p:cNvSpPr>
          <p:nvPr/>
        </p:nvSpPr>
        <p:spPr>
          <a:xfrm>
            <a:off x="6565392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83" name="mb"/>
          <p:cNvSpPr>
            <a:spLocks noGrp="1"/>
          </p:cNvSpPr>
          <p:nvPr/>
        </p:nvSpPr>
        <p:spPr>
          <a:xfrm>
            <a:off x="6565392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4" name="mn"/>
          <p:cNvSpPr txBox="1">
            <a:spLocks noGrp="1"/>
          </p:cNvSpPr>
          <p:nvPr/>
        </p:nvSpPr>
        <p:spPr>
          <a:xfrm>
            <a:off x="6620256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92400E"/>
                </a:solidFill>
                <a:latin typeface="Calibri"/>
              </a:rPr>
              <a:t>SURA Canales Masivos</a:t>
            </a:r>
          </a:p>
        </p:txBody>
      </p:sp>
      <p:sp>
        <p:nvSpPr>
          <p:cNvPr id="85" name="mi"/>
          <p:cNvSpPr txBox="1">
            <a:spLocks noGrp="1"/>
          </p:cNvSpPr>
          <p:nvPr/>
        </p:nvSpPr>
        <p:spPr>
          <a:xfrm>
            <a:off x="6620256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1 FTE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86" name="mc"/>
          <p:cNvSpPr>
            <a:spLocks noGrp="1"/>
          </p:cNvSpPr>
          <p:nvPr/>
        </p:nvSpPr>
        <p:spPr>
          <a:xfrm>
            <a:off x="7900416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87" name="mb"/>
          <p:cNvSpPr>
            <a:spLocks noGrp="1"/>
          </p:cNvSpPr>
          <p:nvPr/>
        </p:nvSpPr>
        <p:spPr>
          <a:xfrm>
            <a:off x="7900416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8" name="mn"/>
          <p:cNvSpPr txBox="1">
            <a:spLocks noGrp="1"/>
          </p:cNvSpPr>
          <p:nvPr/>
        </p:nvSpPr>
        <p:spPr>
          <a:xfrm>
            <a:off x="7955280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 b="1">
                <a:solidFill>
                  <a:srgbClr val="92400E"/>
                </a:solidFill>
                <a:latin typeface="Calibri"/>
              </a:rPr>
              <a:t>XM — Apps Criticas</a:t>
            </a:r>
          </a:p>
        </p:txBody>
      </p:sp>
      <p:sp>
        <p:nvSpPr>
          <p:cNvPr id="89" name="mi"/>
          <p:cNvSpPr txBox="1">
            <a:spLocks noGrp="1"/>
          </p:cNvSpPr>
          <p:nvPr/>
        </p:nvSpPr>
        <p:spPr>
          <a:xfrm>
            <a:off x="7955280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Energia · 4 FTE</a:t>
            </a:r>
          </a:p>
          <a:p>
            <a:pPr algn="ctr"/>
            <a:r>
              <a:rPr lang="es-ES" sz="720" dirty="0" i="1">
                <a:solidFill>
                  <a:srgbClr val="6B7280"/>
                </a:solidFill>
                <a:latin typeface="Calibri"/>
              </a:rPr>
              <a:t>ServiceNow</a:t>
            </a:r>
          </a:p>
        </p:txBody>
      </p:sp>
      <p:sp>
        <p:nvSpPr>
          <p:cNvPr id="120" name="n3bg"/>
          <p:cNvSpPr>
            <a:spLocks noGrp="1"/>
          </p:cNvSpPr>
          <p:nvPr/>
        </p:nvSpPr>
        <p:spPr>
          <a:xfrm>
            <a:off x="320040" y="3419856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9050">
            <a:solidFill>
              <a:srgbClr val="1A6B3C"/>
            </a:solidFill>
          </a:ln>
        </p:spPr>
      </p:sp>
      <p:sp>
        <p:nvSpPr>
          <p:cNvPr id="121" name="n3b"/>
          <p:cNvSpPr>
            <a:spLocks noGrp="1"/>
          </p:cNvSpPr>
          <p:nvPr/>
        </p:nvSpPr>
        <p:spPr>
          <a:xfrm>
            <a:off x="320040" y="3419856"/>
            <a:ext cx="713232" cy="658368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22" name="n3t"/>
          <p:cNvSpPr txBox="1">
            <a:spLocks noGrp="1"/>
          </p:cNvSpPr>
          <p:nvPr/>
        </p:nvSpPr>
        <p:spPr>
          <a:xfrm>
            <a:off x="320040" y="3474720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400" dirty="0" b="1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123" name="n3l"/>
          <p:cNvSpPr txBox="1">
            <a:spLocks noGrp="1"/>
          </p:cNvSpPr>
          <p:nvPr/>
        </p:nvSpPr>
        <p:spPr>
          <a:xfrm>
            <a:off x="320040" y="382219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Definido</a:t>
            </a:r>
          </a:p>
        </p:txBody>
      </p:sp>
      <p:sp>
        <p:nvSpPr>
          <p:cNvPr id="124" name="n3d"/>
          <p:cNvSpPr txBox="1">
            <a:spLocks noGrp="1"/>
          </p:cNvSpPr>
          <p:nvPr/>
        </p:nvSpPr>
        <p:spPr>
          <a:xfrm>
            <a:off x="1097280" y="351129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30" dirty="0" b="1">
                <a:solidFill>
                  <a:srgbClr val="1A6B3C"/>
                </a:solidFill>
                <a:latin typeface="Calibri"/>
              </a:rPr>
              <a:t>RACI + ANS + Catalogo activo · KEDB · KPIs tiempo real · Gobierno claro</a:t>
            </a:r>
          </a:p>
        </p:txBody>
      </p:sp>
      <p:sp>
        <p:nvSpPr>
          <p:cNvPr id="125" name="n3s"/>
          <p:cNvSpPr txBox="1">
            <a:spLocks noGrp="1"/>
          </p:cNvSpPr>
          <p:nvPr/>
        </p:nvSpPr>
        <p:spPr>
          <a:xfrm>
            <a:off x="1097280" y="378561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i="1">
                <a:solidFill>
                  <a:srgbClr val="1A6B3C"/>
                </a:solidFill>
                <a:latin typeface="Calibri"/>
              </a:rPr>
              <a:t>Ninguna mesa llego a N3 aun — objetivo Wave 1 para todas antes de dic 2026</a:t>
            </a:r>
          </a:p>
        </p:txBody>
      </p:sp>
      <p:sp>
        <p:nvSpPr>
          <p:cNvPr id="126" name="n3goal"/>
          <p:cNvSpPr>
            <a:spLocks noGrp="1"/>
          </p:cNvSpPr>
          <p:nvPr/>
        </p:nvSpPr>
        <p:spPr>
          <a:xfrm>
            <a:off x="5029200" y="3511296"/>
            <a:ext cx="3017520" cy="475488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27" name="n3goalt"/>
          <p:cNvSpPr txBox="1">
            <a:spLocks noGrp="1"/>
          </p:cNvSpPr>
          <p:nvPr/>
        </p:nvSpPr>
        <p:spPr>
          <a:xfrm>
            <a:off x="5029200" y="351129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050" dirty="0" b="1">
                <a:solidFill>
                  <a:srgbClr val="FFFFFF"/>
                </a:solidFill>
                <a:latin typeface="Calibri"/>
              </a:rPr>
              <a:t>META WAVE 1 — Diciembre 2026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Fuente: Levantamiento interno PersonalSoft · Julio 2026 · Excel Levantamiento_Mesas_Julio_2026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hb"/>
          <p:cNvSpPr>
            <a:spLocks noGrp="1"/>
          </p:cNvSpPr>
          <p:nvPr/>
        </p:nvSpPr>
        <p:spPr>
          <a:xfrm>
            <a:off x="320040" y="109728"/>
            <a:ext cx="530352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hbt"/>
          <p:cNvSpPr txBox="1">
            <a:spLocks noGrp="1"/>
          </p:cNvSpPr>
          <p:nvPr/>
        </p:nvSpPr>
        <p:spPr>
          <a:xfrm>
            <a:off x="320040" y="109728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40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914400" y="9144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900" dirty="0" b="1">
                <a:solidFill>
                  <a:srgbClr val="FFFFFF"/>
                </a:solidFill>
                <a:latin typeface="Calibri"/>
              </a:rPr>
              <a:t>Nivel N1 — Inicial: Mesas Reactivas sin Gobierno Estandarizado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914400" y="56692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000" dirty="0">
                <a:solidFill>
                  <a:srgbClr val="FFCCCC"/>
                </a:solidFill>
                <a:latin typeface="Calibri"/>
              </a:rPr>
              <a:t>AES · Bancolombia GIOTI (4 mesas) · MEDICARTE · Caracteristica: todo lo resuelve una persona clave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15875">
            <a:solidFill>
              <a:srgbClr val="C00000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60704"/>
            <a:ext cx="2523744" cy="14630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65760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80" dirty="0" b="1">
                <a:solidFill>
                  <a:srgbClr val="FFFFFF"/>
                </a:solidFill>
                <a:latin typeface="Calibri"/>
              </a:rPr>
              <a:t>AES — Soporte IT/OT</a:t>
            </a:r>
          </a:p>
        </p:txBody>
      </p:sp>
      <p:sp>
        <p:nvSpPr>
          <p:cNvPr id="14" name="cf"/>
          <p:cNvSpPr txBox="1">
            <a:spLocks noGrp="1"/>
          </p:cNvSpPr>
          <p:nvPr/>
        </p:nvSpPr>
        <p:spPr>
          <a:xfrm>
            <a:off x="365760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555555"/>
                </a:solidFill>
                <a:latin typeface="Calibri"/>
              </a:rPr>
              <a:t>FTE: 4  ·  ServiceNow  ·  Energia · Central Hidroelectrica</a:t>
            </a:r>
          </a:p>
        </p:txBody>
      </p:sp>
      <p:sp>
        <p:nvSpPr>
          <p:cNvPr id="15" name="cc"/>
          <p:cNvSpPr txBox="1">
            <a:spLocks noGrp="1"/>
          </p:cNvSpPr>
          <p:nvPr/>
        </p:nvSpPr>
        <p:spPr>
          <a:xfrm>
            <a:off x="365760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00" dirty="0">
                <a:solidFill>
                  <a:srgbClr val="C00000"/>
                </a:solidFill>
                <a:latin typeface="Calibri"/>
              </a:rPr>
              <a:t>▷ Staffing · RFP pendiente · Fin Aug-Nov 2026 · OPORTUNIDAD</a:t>
            </a:r>
          </a:p>
        </p:txBody>
      </p:sp>
      <p:sp>
        <p:nvSpPr>
          <p:cNvPr id="16" name="sep"/>
          <p:cNvSpPr>
            <a:spLocks noGrp="1"/>
          </p:cNvSpPr>
          <p:nvPr/>
        </p:nvSpPr>
        <p:spPr>
          <a:xfrm>
            <a:off x="365760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7" name="d"/>
          <p:cNvSpPr txBox="1">
            <a:spLocks noGrp="1"/>
          </p:cNvSpPr>
          <p:nvPr/>
        </p:nvSpPr>
        <p:spPr>
          <a:xfrm>
            <a:off x="365760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Postura 100% reactiva — sin proceso formal de gestion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65760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ni KPIs — nadie mide si el servicio es bueno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65760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comercial — volumetria mal estimada en preventa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65760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de personal sin modelo de demanda estandarizado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65760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Herramientas fragmentadas — licencia ServiceNow es del cliente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65760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gobierno — sin RACI ni ANS formales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65760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Roles sin definir — criterio individual no modelo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65760" y="359359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Scope creep — solicitudes fuera del alcance absorbe al equipo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65760" y="385876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Escalamiento ineficiente — rebotes entre niveles</a:t>
            </a:r>
          </a:p>
        </p:txBody>
      </p:sp>
      <p:sp>
        <p:nvSpPr>
          <p:cNvPr id="40" name="card"/>
          <p:cNvSpPr>
            <a:spLocks noGrp="1"/>
          </p:cNvSpPr>
          <p:nvPr/>
        </p:nvSpPr>
        <p:spPr>
          <a:xfrm>
            <a:off x="2907792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</p:sp>
      <p:sp>
        <p:nvSpPr>
          <p:cNvPr id="41" name="chdr"/>
          <p:cNvSpPr>
            <a:spLocks noGrp="1"/>
          </p:cNvSpPr>
          <p:nvPr/>
        </p:nvSpPr>
        <p:spPr>
          <a:xfrm>
            <a:off x="2907792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chdr2"/>
          <p:cNvSpPr>
            <a:spLocks noGrp="1"/>
          </p:cNvSpPr>
          <p:nvPr/>
        </p:nvSpPr>
        <p:spPr>
          <a:xfrm>
            <a:off x="2907792" y="1060704"/>
            <a:ext cx="2523744" cy="14630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3" name="cn"/>
          <p:cNvSpPr txBox="1">
            <a:spLocks noGrp="1"/>
          </p:cNvSpPr>
          <p:nvPr/>
        </p:nvSpPr>
        <p:spPr>
          <a:xfrm>
            <a:off x="2999232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80" dirty="0" b="1">
                <a:solidFill>
                  <a:srgbClr val="FFFFFF"/>
                </a:solidFill>
                <a:latin typeface="Calibri"/>
              </a:rPr>
              <a:t>BCO — GIOTI (4 mesas)</a:t>
            </a:r>
          </a:p>
        </p:txBody>
      </p:sp>
      <p:sp>
        <p:nvSpPr>
          <p:cNvPr id="44" name="cf"/>
          <p:cNvSpPr txBox="1">
            <a:spLocks noGrp="1"/>
          </p:cNvSpPr>
          <p:nvPr/>
        </p:nvSpPr>
        <p:spPr>
          <a:xfrm>
            <a:off x="2999232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555555"/>
                </a:solidFill>
                <a:latin typeface="Calibri"/>
              </a:rPr>
              <a:t>FTE: N/D  ·  ADO / Interno  ·  Banca · Canal digital Bancolombia</a:t>
            </a:r>
          </a:p>
        </p:txBody>
      </p:sp>
      <p:sp>
        <p:nvSpPr>
          <p:cNvPr id="45" name="cc"/>
          <p:cNvSpPr txBox="1">
            <a:spLocks noGrp="1"/>
          </p:cNvSpPr>
          <p:nvPr/>
        </p:nvSpPr>
        <p:spPr>
          <a:xfrm>
            <a:off x="2999232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00" dirty="0">
                <a:solidFill>
                  <a:srgbClr val="1A3A8F"/>
                </a:solidFill>
                <a:latin typeface="Calibri"/>
              </a:rPr>
              <a:t>▷ Levantamiento pendiente — reunion por coordinar</a:t>
            </a:r>
          </a:p>
        </p:txBody>
      </p:sp>
      <p:sp>
        <p:nvSpPr>
          <p:cNvPr id="46" name="sep"/>
          <p:cNvSpPr>
            <a:spLocks noGrp="1"/>
          </p:cNvSpPr>
          <p:nvPr/>
        </p:nvSpPr>
        <p:spPr>
          <a:xfrm>
            <a:off x="2999232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7" name="d"/>
          <p:cNvSpPr txBox="1">
            <a:spLocks noGrp="1"/>
          </p:cNvSpPr>
          <p:nvPr/>
        </p:nvSpPr>
        <p:spPr>
          <a:xfrm>
            <a:off x="2999232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estandarizado — criterio experto individual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2999232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vendido vs ejecutado — volumetria sin datos reales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2999232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Rotacion de personal — perdida de conocimiento critico</a:t>
            </a:r>
          </a:p>
        </p:txBody>
      </p:sp>
      <p:sp>
        <p:nvSpPr>
          <p:cNvPr id="50" name="d"/>
          <p:cNvSpPr txBox="1">
            <a:spLocks noGrp="1"/>
          </p:cNvSpPr>
          <p:nvPr/>
        </p:nvSpPr>
        <p:spPr>
          <a:xfrm>
            <a:off x="2999232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51" name="d"/>
          <p:cNvSpPr txBox="1">
            <a:spLocks noGrp="1"/>
          </p:cNvSpPr>
          <p:nvPr/>
        </p:nvSpPr>
        <p:spPr>
          <a:xfrm>
            <a:off x="2999232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definicion clara de niveles N1/N2/N3 entre GIOTI 1-4</a:t>
            </a:r>
          </a:p>
        </p:txBody>
      </p:sp>
      <p:sp>
        <p:nvSpPr>
          <p:cNvPr id="52" name="d"/>
          <p:cNvSpPr txBox="1">
            <a:spLocks noGrp="1"/>
          </p:cNvSpPr>
          <p:nvPr/>
        </p:nvSpPr>
        <p:spPr>
          <a:xfrm>
            <a:off x="2999232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Confusion entre lo que maneja PS vs lo que maneja BCO</a:t>
            </a:r>
          </a:p>
        </p:txBody>
      </p:sp>
      <p:sp>
        <p:nvSpPr>
          <p:cNvPr id="53" name="d"/>
          <p:cNvSpPr txBox="1">
            <a:spLocks noGrp="1"/>
          </p:cNvSpPr>
          <p:nvPr/>
        </p:nvSpPr>
        <p:spPr>
          <a:xfrm>
            <a:off x="2999232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FTE y metricas sin levantar — informacion incompleta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5541264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</p:sp>
      <p:sp>
        <p:nvSpPr>
          <p:cNvPr id="71" name="chdr"/>
          <p:cNvSpPr>
            <a:spLocks noGrp="1"/>
          </p:cNvSpPr>
          <p:nvPr/>
        </p:nvSpPr>
        <p:spPr>
          <a:xfrm>
            <a:off x="5541264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72" name="chdr2"/>
          <p:cNvSpPr>
            <a:spLocks noGrp="1"/>
          </p:cNvSpPr>
          <p:nvPr/>
        </p:nvSpPr>
        <p:spPr>
          <a:xfrm>
            <a:off x="5541264" y="1060704"/>
            <a:ext cx="252374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3" name="cn"/>
          <p:cNvSpPr txBox="1">
            <a:spLocks noGrp="1"/>
          </p:cNvSpPr>
          <p:nvPr/>
        </p:nvSpPr>
        <p:spPr>
          <a:xfrm>
            <a:off x="5632704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80" dirty="0" b="1">
                <a:solidFill>
                  <a:srgbClr val="FFFFFF"/>
                </a:solidFill>
                <a:latin typeface="Calibri"/>
              </a:rPr>
              <a:t>MEDICARTE — Mesa IT</a:t>
            </a:r>
          </a:p>
        </p:txBody>
      </p:sp>
      <p:sp>
        <p:nvSpPr>
          <p:cNvPr id="74" name="cf"/>
          <p:cNvSpPr txBox="1">
            <a:spLocks noGrp="1"/>
          </p:cNvSpPr>
          <p:nvPr/>
        </p:nvSpPr>
        <p:spPr>
          <a:xfrm>
            <a:off x="5632704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555555"/>
                </a:solidFill>
                <a:latin typeface="Calibri"/>
              </a:rPr>
              <a:t>FTE: N/D  ·  Por definir  ·  Salud (EPS/IPS)</a:t>
            </a:r>
          </a:p>
        </p:txBody>
      </p:sp>
      <p:sp>
        <p:nvSpPr>
          <p:cNvPr id="75" name="cc"/>
          <p:cNvSpPr txBox="1">
            <a:spLocks noGrp="1"/>
          </p:cNvSpPr>
          <p:nvPr/>
        </p:nvSpPr>
        <p:spPr>
          <a:xfrm>
            <a:off x="5632704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00" dirty="0">
                <a:solidFill>
                  <a:srgbClr val="1B7B85"/>
                </a:solidFill>
                <a:latin typeface="Calibri"/>
              </a:rPr>
              <a:t>▷ En evaluacion — oportunidad de entrada al sector salud</a:t>
            </a:r>
          </a:p>
        </p:txBody>
      </p:sp>
      <p:sp>
        <p:nvSpPr>
          <p:cNvPr id="76" name="sep"/>
          <p:cNvSpPr>
            <a:spLocks noGrp="1"/>
          </p:cNvSpPr>
          <p:nvPr/>
        </p:nvSpPr>
        <p:spPr>
          <a:xfrm>
            <a:off x="5632704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77" name="d"/>
          <p:cNvSpPr txBox="1">
            <a:spLocks noGrp="1"/>
          </p:cNvSpPr>
          <p:nvPr/>
        </p:nvSpPr>
        <p:spPr>
          <a:xfrm>
            <a:off x="5632704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estandarizado</a:t>
            </a:r>
          </a:p>
        </p:txBody>
      </p:sp>
      <p:sp>
        <p:nvSpPr>
          <p:cNvPr id="78" name="d"/>
          <p:cNvSpPr txBox="1">
            <a:spLocks noGrp="1"/>
          </p:cNvSpPr>
          <p:nvPr/>
        </p:nvSpPr>
        <p:spPr>
          <a:xfrm>
            <a:off x="5632704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herramienta ITSM definida — operacion informal</a:t>
            </a:r>
          </a:p>
        </p:txBody>
      </p:sp>
      <p:sp>
        <p:nvSpPr>
          <p:cNvPr id="79" name="d"/>
          <p:cNvSpPr txBox="1">
            <a:spLocks noGrp="1"/>
          </p:cNvSpPr>
          <p:nvPr/>
        </p:nvSpPr>
        <p:spPr>
          <a:xfrm>
            <a:off x="5632704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· Sin roles · Sin catalogo de servicios</a:t>
            </a:r>
          </a:p>
        </p:txBody>
      </p:sp>
      <p:sp>
        <p:nvSpPr>
          <p:cNvPr id="80" name="d"/>
          <p:cNvSpPr txBox="1">
            <a:spLocks noGrp="1"/>
          </p:cNvSpPr>
          <p:nvPr/>
        </p:nvSpPr>
        <p:spPr>
          <a:xfrm>
            <a:off x="5632704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Alta presion regulatoria Minsalud — compliance pendiente</a:t>
            </a:r>
          </a:p>
        </p:txBody>
      </p:sp>
      <p:sp>
        <p:nvSpPr>
          <p:cNvPr id="81" name="d"/>
          <p:cNvSpPr txBox="1">
            <a:spLocks noGrp="1"/>
          </p:cNvSpPr>
          <p:nvPr/>
        </p:nvSpPr>
        <p:spPr>
          <a:xfrm>
            <a:off x="5632704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00" dirty="0" b="1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Levantamiento formal pendiente — datos muy preliminares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Fuente: Levantamiento interno · Julio 2026 · Reunion con Michael Arevalo (AES) · Virginia y Lina (BCO/SURA) · Excel Levantamiento_Mesas_Julio_2026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4" name="hb"/>
          <p:cNvSpPr>
            <a:spLocks noGrp="1"/>
          </p:cNvSpPr>
          <p:nvPr/>
        </p:nvSpPr>
        <p:spPr>
          <a:xfrm>
            <a:off x="320040" y="109728"/>
            <a:ext cx="530352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hbt"/>
          <p:cNvSpPr txBox="1">
            <a:spLocks noGrp="1"/>
          </p:cNvSpPr>
          <p:nvPr/>
        </p:nvSpPr>
        <p:spPr>
          <a:xfrm>
            <a:off x="320040" y="109728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400" dirty="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914400" y="9144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900" dirty="0" b="1">
                <a:solidFill>
                  <a:srgbClr val="FFFFFF"/>
                </a:solidFill>
                <a:latin typeface="Calibri"/>
              </a:rPr>
              <a:t>Nivel N2 — Administrado: Procesos por Mesa, Herramienta Activa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914400" y="56692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000" dirty="0">
                <a:solidFill>
                  <a:srgbClr val="FEF9E7"/>
                </a:solidFill>
                <a:latin typeface="Calibri"/>
              </a:rPr>
              <a:t>SURA (Cotizadores · Venta Digital · Automatizacion · Canales Masivos) · XM · 15 FTE total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29184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Cotizadores</a:t>
            </a:r>
          </a:p>
        </p:txBody>
      </p:sp>
      <p:sp>
        <p:nvSpPr>
          <p:cNvPr id="14" name="ci"/>
          <p:cNvSpPr txBox="1">
            <a:spLocks noGrp="1"/>
          </p:cNvSpPr>
          <p:nvPr/>
        </p:nvSpPr>
        <p:spPr>
          <a:xfrm>
            <a:off x="329184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555555"/>
                </a:solidFill>
                <a:latin typeface="Calibri"/>
              </a:rPr>
              <a:t>FTE:2 · BMC Remedy</a:t>
            </a:r>
          </a:p>
        </p:txBody>
      </p:sp>
      <p:sp>
        <p:nvSpPr>
          <p:cNvPr id="15" name="cc"/>
          <p:cNvSpPr txBox="1">
            <a:spLocks noGrp="1"/>
          </p:cNvSpPr>
          <p:nvPr/>
        </p:nvSpPr>
        <p:spPr>
          <a:xfrm>
            <a:off x="329184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 b="1">
                <a:solidFill>
                  <a:srgbClr val="F59E0B"/>
                </a:solidFill>
                <a:latin typeface="Calibri"/>
              </a:rPr>
              <a:t>Renovacion ago · Competencia 2027</a:t>
            </a:r>
          </a:p>
        </p:txBody>
      </p:sp>
      <p:sp>
        <p:nvSpPr>
          <p:cNvPr id="16" name="d"/>
          <p:cNvSpPr txBox="1">
            <a:spLocks noGrp="1"/>
          </p:cNvSpPr>
          <p:nvPr/>
        </p:nvSpPr>
        <p:spPr>
          <a:xfrm>
            <a:off x="329184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 activas</a:t>
            </a:r>
          </a:p>
        </p:txBody>
      </p:sp>
      <p:sp>
        <p:nvSpPr>
          <p:cNvPr id="17" name="d"/>
          <p:cNvSpPr txBox="1">
            <a:spLocks noGrp="1"/>
          </p:cNvSpPr>
          <p:nvPr/>
        </p:nvSpPr>
        <p:spPr>
          <a:xfrm>
            <a:off x="329184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29184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 — N1, N2 y N3 misma persona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29184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29184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por perfil, no por modelo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29184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perdida de conocimiento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29184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 sin integracion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29184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Escalamiento ineficiente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29184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29184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 claro — sin RACI</a:t>
            </a:r>
          </a:p>
        </p:txBody>
      </p:sp>
      <p:sp>
        <p:nvSpPr>
          <p:cNvPr id="26" name="d"/>
          <p:cNvSpPr txBox="1">
            <a:spLocks noGrp="1"/>
          </p:cNvSpPr>
          <p:nvPr/>
        </p:nvSpPr>
        <p:spPr>
          <a:xfrm>
            <a:off x="329184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Catalogo desactualizado</a:t>
            </a:r>
          </a:p>
        </p:txBody>
      </p:sp>
      <p:sp>
        <p:nvSpPr>
          <p:cNvPr id="27" name="d"/>
          <p:cNvSpPr txBox="1">
            <a:spLocks noGrp="1"/>
          </p:cNvSpPr>
          <p:nvPr/>
        </p:nvSpPr>
        <p:spPr>
          <a:xfrm>
            <a:off x="329184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</a:t>
            </a:r>
          </a:p>
        </p:txBody>
      </p:sp>
      <p:sp>
        <p:nvSpPr>
          <p:cNvPr id="35" name="card"/>
          <p:cNvSpPr>
            <a:spLocks noGrp="1"/>
          </p:cNvSpPr>
          <p:nvPr/>
        </p:nvSpPr>
        <p:spPr>
          <a:xfrm>
            <a:off x="1865376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36" name="chdr"/>
          <p:cNvSpPr>
            <a:spLocks noGrp="1"/>
          </p:cNvSpPr>
          <p:nvPr/>
        </p:nvSpPr>
        <p:spPr>
          <a:xfrm>
            <a:off x="1865376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7" name="chdr2"/>
          <p:cNvSpPr>
            <a:spLocks noGrp="1"/>
          </p:cNvSpPr>
          <p:nvPr/>
        </p:nvSpPr>
        <p:spPr>
          <a:xfrm>
            <a:off x="1865376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38" name="cn"/>
          <p:cNvSpPr txBox="1">
            <a:spLocks noGrp="1"/>
          </p:cNvSpPr>
          <p:nvPr/>
        </p:nvSpPr>
        <p:spPr>
          <a:xfrm>
            <a:off x="1920240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Venta Digital</a:t>
            </a:r>
          </a:p>
        </p:txBody>
      </p:sp>
      <p:sp>
        <p:nvSpPr>
          <p:cNvPr id="39" name="ci"/>
          <p:cNvSpPr txBox="1">
            <a:spLocks noGrp="1"/>
          </p:cNvSpPr>
          <p:nvPr/>
        </p:nvSpPr>
        <p:spPr>
          <a:xfrm>
            <a:off x="1920240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555555"/>
                </a:solidFill>
                <a:latin typeface="Calibri"/>
              </a:rPr>
              <a:t>FTE:2 · BMC Remedy</a:t>
            </a:r>
          </a:p>
        </p:txBody>
      </p:sp>
      <p:sp>
        <p:nvSpPr>
          <p:cNvPr id="40" name="cc"/>
          <p:cNvSpPr txBox="1">
            <a:spLocks noGrp="1"/>
          </p:cNvSpPr>
          <p:nvPr/>
        </p:nvSpPr>
        <p:spPr>
          <a:xfrm>
            <a:off x="1920240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 b="1">
                <a:solidFill>
                  <a:srgbClr val="F59E0B"/>
                </a:solidFill>
                <a:latin typeface="Calibri"/>
              </a:rPr>
              <a:t>Renovacion ago · Mesa joven 7 meses</a:t>
            </a:r>
          </a:p>
        </p:txBody>
      </p:sp>
      <p:sp>
        <p:nvSpPr>
          <p:cNvPr id="41" name="d"/>
          <p:cNvSpPr txBox="1">
            <a:spLocks noGrp="1"/>
          </p:cNvSpPr>
          <p:nvPr/>
        </p:nvSpPr>
        <p:spPr>
          <a:xfrm>
            <a:off x="1920240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</a:t>
            </a:r>
          </a:p>
        </p:txBody>
      </p:sp>
      <p:sp>
        <p:nvSpPr>
          <p:cNvPr id="42" name="d"/>
          <p:cNvSpPr txBox="1">
            <a:spLocks noGrp="1"/>
          </p:cNvSpPr>
          <p:nvPr/>
        </p:nvSpPr>
        <p:spPr>
          <a:xfrm>
            <a:off x="1920240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</a:t>
            </a:r>
          </a:p>
        </p:txBody>
      </p:sp>
      <p:sp>
        <p:nvSpPr>
          <p:cNvPr id="43" name="d"/>
          <p:cNvSpPr txBox="1">
            <a:spLocks noGrp="1"/>
          </p:cNvSpPr>
          <p:nvPr/>
        </p:nvSpPr>
        <p:spPr>
          <a:xfrm>
            <a:off x="1920240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dashboard — sin visibilidad ejecutiva</a:t>
            </a:r>
          </a:p>
        </p:txBody>
      </p:sp>
      <p:sp>
        <p:nvSpPr>
          <p:cNvPr id="44" name="d"/>
          <p:cNvSpPr txBox="1">
            <a:spLocks noGrp="1"/>
          </p:cNvSpPr>
          <p:nvPr/>
        </p:nvSpPr>
        <p:spPr>
          <a:xfrm>
            <a:off x="1920240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Alcance no controlado</a:t>
            </a:r>
          </a:p>
        </p:txBody>
      </p:sp>
      <p:sp>
        <p:nvSpPr>
          <p:cNvPr id="45" name="d"/>
          <p:cNvSpPr txBox="1">
            <a:spLocks noGrp="1"/>
          </p:cNvSpPr>
          <p:nvPr/>
        </p:nvSpPr>
        <p:spPr>
          <a:xfrm>
            <a:off x="1920240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46" name="d"/>
          <p:cNvSpPr txBox="1">
            <a:spLocks noGrp="1"/>
          </p:cNvSpPr>
          <p:nvPr/>
        </p:nvSpPr>
        <p:spPr>
          <a:xfrm>
            <a:off x="1920240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47" name="d"/>
          <p:cNvSpPr txBox="1">
            <a:spLocks noGrp="1"/>
          </p:cNvSpPr>
          <p:nvPr/>
        </p:nvSpPr>
        <p:spPr>
          <a:xfrm>
            <a:off x="1920240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conocimiento fragil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1920240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1920240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Reportes manuales sin trazabilidad</a:t>
            </a:r>
          </a:p>
        </p:txBody>
      </p:sp>
      <p:sp>
        <p:nvSpPr>
          <p:cNvPr id="50" name="d"/>
          <p:cNvSpPr txBox="1">
            <a:spLocks noGrp="1"/>
          </p:cNvSpPr>
          <p:nvPr/>
        </p:nvSpPr>
        <p:spPr>
          <a:xfrm>
            <a:off x="1920240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51" name="d"/>
          <p:cNvSpPr txBox="1">
            <a:spLocks noGrp="1"/>
          </p:cNvSpPr>
          <p:nvPr/>
        </p:nvSpPr>
        <p:spPr>
          <a:xfrm>
            <a:off x="1920240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52" name="d"/>
          <p:cNvSpPr txBox="1">
            <a:spLocks noGrp="1"/>
          </p:cNvSpPr>
          <p:nvPr/>
        </p:nvSpPr>
        <p:spPr>
          <a:xfrm>
            <a:off x="1920240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</a:t>
            </a:r>
          </a:p>
        </p:txBody>
      </p:sp>
      <p:sp>
        <p:nvSpPr>
          <p:cNvPr id="60" name="card"/>
          <p:cNvSpPr>
            <a:spLocks noGrp="1"/>
          </p:cNvSpPr>
          <p:nvPr/>
        </p:nvSpPr>
        <p:spPr>
          <a:xfrm>
            <a:off x="3456432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61" name="chdr"/>
          <p:cNvSpPr>
            <a:spLocks noGrp="1"/>
          </p:cNvSpPr>
          <p:nvPr/>
        </p:nvSpPr>
        <p:spPr>
          <a:xfrm>
            <a:off x="3456432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62" name="chdr2"/>
          <p:cNvSpPr>
            <a:spLocks noGrp="1"/>
          </p:cNvSpPr>
          <p:nvPr/>
        </p:nvSpPr>
        <p:spPr>
          <a:xfrm>
            <a:off x="3456432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63" name="cn"/>
          <p:cNvSpPr txBox="1">
            <a:spLocks noGrp="1"/>
          </p:cNvSpPr>
          <p:nvPr/>
        </p:nvSpPr>
        <p:spPr>
          <a:xfrm>
            <a:off x="3511296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Automatizacion</a:t>
            </a:r>
          </a:p>
        </p:txBody>
      </p:sp>
      <p:sp>
        <p:nvSpPr>
          <p:cNvPr id="64" name="ci"/>
          <p:cNvSpPr txBox="1">
            <a:spLocks noGrp="1"/>
          </p:cNvSpPr>
          <p:nvPr/>
        </p:nvSpPr>
        <p:spPr>
          <a:xfrm>
            <a:off x="3511296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555555"/>
                </a:solidFill>
                <a:latin typeface="Calibri"/>
              </a:rPr>
              <a:t>FTE:6 · BMC+Azure</a:t>
            </a:r>
          </a:p>
        </p:txBody>
      </p:sp>
      <p:sp>
        <p:nvSpPr>
          <p:cNvPr id="65" name="cc"/>
          <p:cNvSpPr txBox="1">
            <a:spLocks noGrp="1"/>
          </p:cNvSpPr>
          <p:nvPr/>
        </p:nvSpPr>
        <p:spPr>
          <a:xfrm>
            <a:off x="3511296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 b="1">
                <a:solidFill>
                  <a:srgbClr val="F59E0B"/>
                </a:solidFill>
                <a:latin typeface="Calibri"/>
              </a:rPr>
              <a:t>Renovacion ago · Oportunidad estand.</a:t>
            </a:r>
          </a:p>
        </p:txBody>
      </p:sp>
      <p:sp>
        <p:nvSpPr>
          <p:cNvPr id="66" name="d"/>
          <p:cNvSpPr txBox="1">
            <a:spLocks noGrp="1"/>
          </p:cNvSpPr>
          <p:nvPr/>
        </p:nvSpPr>
        <p:spPr>
          <a:xfrm>
            <a:off x="3511296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67" name="d"/>
          <p:cNvSpPr txBox="1">
            <a:spLocks noGrp="1"/>
          </p:cNvSpPr>
          <p:nvPr/>
        </p:nvSpPr>
        <p:spPr>
          <a:xfrm>
            <a:off x="3511296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visibilidad — sin dashboard</a:t>
            </a:r>
          </a:p>
        </p:txBody>
      </p:sp>
      <p:sp>
        <p:nvSpPr>
          <p:cNvPr id="68" name="d"/>
          <p:cNvSpPr txBox="1">
            <a:spLocks noGrp="1"/>
          </p:cNvSpPr>
          <p:nvPr/>
        </p:nvSpPr>
        <p:spPr>
          <a:xfrm>
            <a:off x="3511296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Scope creep — modernizaciones disfrazadas</a:t>
            </a:r>
          </a:p>
        </p:txBody>
      </p:sp>
      <p:sp>
        <p:nvSpPr>
          <p:cNvPr id="69" name="d"/>
          <p:cNvSpPr txBox="1">
            <a:spLocks noGrp="1"/>
          </p:cNvSpPr>
          <p:nvPr/>
        </p:nvSpPr>
        <p:spPr>
          <a:xfrm>
            <a:off x="3511296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70" name="d"/>
          <p:cNvSpPr txBox="1">
            <a:spLocks noGrp="1"/>
          </p:cNvSpPr>
          <p:nvPr/>
        </p:nvSpPr>
        <p:spPr>
          <a:xfrm>
            <a:off x="3511296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71" name="d"/>
          <p:cNvSpPr txBox="1">
            <a:spLocks noGrp="1"/>
          </p:cNvSpPr>
          <p:nvPr/>
        </p:nvSpPr>
        <p:spPr>
          <a:xfrm>
            <a:off x="3511296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</a:t>
            </a:r>
          </a:p>
        </p:txBody>
      </p:sp>
      <p:sp>
        <p:nvSpPr>
          <p:cNvPr id="72" name="d"/>
          <p:cNvSpPr txBox="1">
            <a:spLocks noGrp="1"/>
          </p:cNvSpPr>
          <p:nvPr/>
        </p:nvSpPr>
        <p:spPr>
          <a:xfrm>
            <a:off x="3511296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de personal</a:t>
            </a:r>
          </a:p>
        </p:txBody>
      </p:sp>
      <p:sp>
        <p:nvSpPr>
          <p:cNvPr id="73" name="d"/>
          <p:cNvSpPr txBox="1">
            <a:spLocks noGrp="1"/>
          </p:cNvSpPr>
          <p:nvPr/>
        </p:nvSpPr>
        <p:spPr>
          <a:xfrm>
            <a:off x="3511296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74" name="d"/>
          <p:cNvSpPr txBox="1">
            <a:spLocks noGrp="1"/>
          </p:cNvSpPr>
          <p:nvPr/>
        </p:nvSpPr>
        <p:spPr>
          <a:xfrm>
            <a:off x="3511296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Escalamientos excesivos</a:t>
            </a:r>
          </a:p>
        </p:txBody>
      </p:sp>
      <p:sp>
        <p:nvSpPr>
          <p:cNvPr id="75" name="d"/>
          <p:cNvSpPr txBox="1">
            <a:spLocks noGrp="1"/>
          </p:cNvSpPr>
          <p:nvPr/>
        </p:nvSpPr>
        <p:spPr>
          <a:xfrm>
            <a:off x="3511296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76" name="d"/>
          <p:cNvSpPr txBox="1">
            <a:spLocks noGrp="1"/>
          </p:cNvSpPr>
          <p:nvPr/>
        </p:nvSpPr>
        <p:spPr>
          <a:xfrm>
            <a:off x="3511296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77" name="d"/>
          <p:cNvSpPr txBox="1">
            <a:spLocks noGrp="1"/>
          </p:cNvSpPr>
          <p:nvPr/>
        </p:nvSpPr>
        <p:spPr>
          <a:xfrm>
            <a:off x="3511296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Catalogo desactualizado</a:t>
            </a:r>
          </a:p>
        </p:txBody>
      </p:sp>
      <p:sp>
        <p:nvSpPr>
          <p:cNvPr id="85" name="card"/>
          <p:cNvSpPr>
            <a:spLocks noGrp="1"/>
          </p:cNvSpPr>
          <p:nvPr/>
        </p:nvSpPr>
        <p:spPr>
          <a:xfrm>
            <a:off x="5047488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12700">
            <a:solidFill>
              <a:srgbClr val="C00000"/>
            </a:solidFill>
          </a:ln>
        </p:spPr>
      </p:sp>
      <p:sp>
        <p:nvSpPr>
          <p:cNvPr id="86" name="chdr"/>
          <p:cNvSpPr>
            <a:spLocks noGrp="1"/>
          </p:cNvSpPr>
          <p:nvPr/>
        </p:nvSpPr>
        <p:spPr>
          <a:xfrm>
            <a:off x="5047488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7" name="chdr2"/>
          <p:cNvSpPr>
            <a:spLocks noGrp="1"/>
          </p:cNvSpPr>
          <p:nvPr/>
        </p:nvSpPr>
        <p:spPr>
          <a:xfrm>
            <a:off x="5047488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88" name="cn"/>
          <p:cNvSpPr txBox="1">
            <a:spLocks noGrp="1"/>
          </p:cNvSpPr>
          <p:nvPr/>
        </p:nvSpPr>
        <p:spPr>
          <a:xfrm>
            <a:off x="5102352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Canales Masivos</a:t>
            </a:r>
          </a:p>
        </p:txBody>
      </p:sp>
      <p:sp>
        <p:nvSpPr>
          <p:cNvPr id="89" name="ci"/>
          <p:cNvSpPr txBox="1">
            <a:spLocks noGrp="1"/>
          </p:cNvSpPr>
          <p:nvPr/>
        </p:nvSpPr>
        <p:spPr>
          <a:xfrm>
            <a:off x="5102352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555555"/>
                </a:solidFill>
                <a:latin typeface="Calibri"/>
              </a:rPr>
              <a:t>FTE:1 · BMC Remedy</a:t>
            </a:r>
          </a:p>
        </p:txBody>
      </p:sp>
      <p:sp>
        <p:nvSpPr>
          <p:cNvPr id="90" name="cc"/>
          <p:cNvSpPr txBox="1">
            <a:spLocks noGrp="1"/>
          </p:cNvSpPr>
          <p:nvPr/>
        </p:nvSpPr>
        <p:spPr>
          <a:xfrm>
            <a:off x="5102352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 b="1">
                <a:solidFill>
                  <a:srgbClr val="C00000"/>
                </a:solidFill>
                <a:latin typeface="Calibri"/>
              </a:rPr>
              <a:t>RIESGO: 1 FTE — bus factor critico</a:t>
            </a:r>
          </a:p>
        </p:txBody>
      </p:sp>
      <p:sp>
        <p:nvSpPr>
          <p:cNvPr id="91" name="d"/>
          <p:cNvSpPr txBox="1">
            <a:spLocks noGrp="1"/>
          </p:cNvSpPr>
          <p:nvPr/>
        </p:nvSpPr>
        <p:spPr>
          <a:xfrm>
            <a:off x="5102352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</a:t>
            </a:r>
          </a:p>
        </p:txBody>
      </p:sp>
      <p:sp>
        <p:nvSpPr>
          <p:cNvPr id="92" name="d"/>
          <p:cNvSpPr txBox="1">
            <a:spLocks noGrp="1"/>
          </p:cNvSpPr>
          <p:nvPr/>
        </p:nvSpPr>
        <p:spPr>
          <a:xfrm>
            <a:off x="5102352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1 FTE solo — bus factor critico</a:t>
            </a:r>
          </a:p>
        </p:txBody>
      </p:sp>
      <p:sp>
        <p:nvSpPr>
          <p:cNvPr id="93" name="d"/>
          <p:cNvSpPr txBox="1">
            <a:spLocks noGrp="1"/>
          </p:cNvSpPr>
          <p:nvPr/>
        </p:nvSpPr>
        <p:spPr>
          <a:xfrm>
            <a:off x="5102352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</a:t>
            </a:r>
          </a:p>
        </p:txBody>
      </p:sp>
      <p:sp>
        <p:nvSpPr>
          <p:cNvPr id="94" name="d"/>
          <p:cNvSpPr txBox="1">
            <a:spLocks noGrp="1"/>
          </p:cNvSpPr>
          <p:nvPr/>
        </p:nvSpPr>
        <p:spPr>
          <a:xfrm>
            <a:off x="5102352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 ni visibilidad</a:t>
            </a:r>
          </a:p>
        </p:txBody>
      </p:sp>
      <p:sp>
        <p:nvSpPr>
          <p:cNvPr id="95" name="d"/>
          <p:cNvSpPr txBox="1">
            <a:spLocks noGrp="1"/>
          </p:cNvSpPr>
          <p:nvPr/>
        </p:nvSpPr>
        <p:spPr>
          <a:xfrm>
            <a:off x="5102352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Scope creep — equipo absorbe todo</a:t>
            </a:r>
          </a:p>
        </p:txBody>
      </p:sp>
      <p:sp>
        <p:nvSpPr>
          <p:cNvPr id="96" name="d"/>
          <p:cNvSpPr txBox="1">
            <a:spLocks noGrp="1"/>
          </p:cNvSpPr>
          <p:nvPr/>
        </p:nvSpPr>
        <p:spPr>
          <a:xfrm>
            <a:off x="5102352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Penalizacion de eficiencia</a:t>
            </a:r>
          </a:p>
        </p:txBody>
      </p:sp>
      <p:sp>
        <p:nvSpPr>
          <p:cNvPr id="97" name="d"/>
          <p:cNvSpPr txBox="1">
            <a:spLocks noGrp="1"/>
          </p:cNvSpPr>
          <p:nvPr/>
        </p:nvSpPr>
        <p:spPr>
          <a:xfrm>
            <a:off x="5102352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98" name="d"/>
          <p:cNvSpPr txBox="1">
            <a:spLocks noGrp="1"/>
          </p:cNvSpPr>
          <p:nvPr/>
        </p:nvSpPr>
        <p:spPr>
          <a:xfrm>
            <a:off x="5102352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99" name="d"/>
          <p:cNvSpPr txBox="1">
            <a:spLocks noGrp="1"/>
          </p:cNvSpPr>
          <p:nvPr/>
        </p:nvSpPr>
        <p:spPr>
          <a:xfrm>
            <a:off x="5102352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</a:t>
            </a:r>
          </a:p>
        </p:txBody>
      </p:sp>
      <p:sp>
        <p:nvSpPr>
          <p:cNvPr id="100" name="d"/>
          <p:cNvSpPr txBox="1">
            <a:spLocks noGrp="1"/>
          </p:cNvSpPr>
          <p:nvPr/>
        </p:nvSpPr>
        <p:spPr>
          <a:xfrm>
            <a:off x="5102352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= riesgo maximo</a:t>
            </a:r>
          </a:p>
        </p:txBody>
      </p:sp>
      <p:sp>
        <p:nvSpPr>
          <p:cNvPr id="101" name="d"/>
          <p:cNvSpPr txBox="1">
            <a:spLocks noGrp="1"/>
          </p:cNvSpPr>
          <p:nvPr/>
        </p:nvSpPr>
        <p:spPr>
          <a:xfrm>
            <a:off x="5102352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102" name="d"/>
          <p:cNvSpPr txBox="1">
            <a:spLocks noGrp="1"/>
          </p:cNvSpPr>
          <p:nvPr/>
        </p:nvSpPr>
        <p:spPr>
          <a:xfrm>
            <a:off x="5102352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110" name="card"/>
          <p:cNvSpPr>
            <a:spLocks noGrp="1"/>
          </p:cNvSpPr>
          <p:nvPr/>
        </p:nvSpPr>
        <p:spPr>
          <a:xfrm>
            <a:off x="6638544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111" name="chdr"/>
          <p:cNvSpPr>
            <a:spLocks noGrp="1"/>
          </p:cNvSpPr>
          <p:nvPr/>
        </p:nvSpPr>
        <p:spPr>
          <a:xfrm>
            <a:off x="6638544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12" name="chdr2"/>
          <p:cNvSpPr>
            <a:spLocks noGrp="1"/>
          </p:cNvSpPr>
          <p:nvPr/>
        </p:nvSpPr>
        <p:spPr>
          <a:xfrm>
            <a:off x="6638544" y="1005840"/>
            <a:ext cx="1536192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13" name="cn"/>
          <p:cNvSpPr txBox="1">
            <a:spLocks noGrp="1"/>
          </p:cNvSpPr>
          <p:nvPr/>
        </p:nvSpPr>
        <p:spPr>
          <a:xfrm>
            <a:off x="6693408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XM — Apps Criticas</a:t>
            </a:r>
          </a:p>
        </p:txBody>
      </p:sp>
      <p:sp>
        <p:nvSpPr>
          <p:cNvPr id="114" name="ci"/>
          <p:cNvSpPr txBox="1">
            <a:spLocks noGrp="1"/>
          </p:cNvSpPr>
          <p:nvPr/>
        </p:nvSpPr>
        <p:spPr>
          <a:xfrm>
            <a:off x="6693408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555555"/>
                </a:solidFill>
                <a:latin typeface="Calibri"/>
              </a:rPr>
              <a:t>FTE:4 · ServiceNow</a:t>
            </a:r>
          </a:p>
        </p:txBody>
      </p:sp>
      <p:sp>
        <p:nvSpPr>
          <p:cNvPr id="115" name="cc"/>
          <p:cNvSpPr txBox="1">
            <a:spLocks noGrp="1"/>
          </p:cNvSpPr>
          <p:nvPr/>
        </p:nvSpPr>
        <p:spPr>
          <a:xfrm>
            <a:off x="6693408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40" dirty="0" b="1">
                <a:solidFill>
                  <a:srgbClr val="F59E0B"/>
                </a:solidFill>
                <a:latin typeface="Calibri"/>
              </a:rPr>
              <a:t>Vigente jul 2027 · 24x7 · 14 comps.</a:t>
            </a:r>
          </a:p>
        </p:txBody>
      </p:sp>
      <p:sp>
        <p:nvSpPr>
          <p:cNvPr id="116" name="d"/>
          <p:cNvSpPr txBox="1">
            <a:spLocks noGrp="1"/>
          </p:cNvSpPr>
          <p:nvPr/>
        </p:nvSpPr>
        <p:spPr>
          <a:xfrm>
            <a:off x="6693408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117" name="d"/>
          <p:cNvSpPr txBox="1">
            <a:spLocks noGrp="1"/>
          </p:cNvSpPr>
          <p:nvPr/>
        </p:nvSpPr>
        <p:spPr>
          <a:xfrm>
            <a:off x="6693408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dashboard — reportes manuales</a:t>
            </a:r>
          </a:p>
        </p:txBody>
      </p:sp>
      <p:sp>
        <p:nvSpPr>
          <p:cNvPr id="118" name="d"/>
          <p:cNvSpPr txBox="1">
            <a:spLocks noGrp="1"/>
          </p:cNvSpPr>
          <p:nvPr/>
        </p:nvSpPr>
        <p:spPr>
          <a:xfrm>
            <a:off x="6693408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19" name="d"/>
          <p:cNvSpPr txBox="1">
            <a:spLocks noGrp="1"/>
          </p:cNvSpPr>
          <p:nvPr/>
        </p:nvSpPr>
        <p:spPr>
          <a:xfrm>
            <a:off x="6693408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 — sin RACI formal</a:t>
            </a:r>
          </a:p>
        </p:txBody>
      </p:sp>
      <p:sp>
        <p:nvSpPr>
          <p:cNvPr id="120" name="d"/>
          <p:cNvSpPr txBox="1">
            <a:spLocks noGrp="1"/>
          </p:cNvSpPr>
          <p:nvPr/>
        </p:nvSpPr>
        <p:spPr>
          <a:xfrm>
            <a:off x="6693408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Penalizacion de eficiencia</a:t>
            </a:r>
          </a:p>
        </p:txBody>
      </p:sp>
      <p:sp>
        <p:nvSpPr>
          <p:cNvPr id="121" name="d"/>
          <p:cNvSpPr txBox="1">
            <a:spLocks noGrp="1"/>
          </p:cNvSpPr>
          <p:nvPr/>
        </p:nvSpPr>
        <p:spPr>
          <a:xfrm>
            <a:off x="6693408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122" name="d"/>
          <p:cNvSpPr txBox="1">
            <a:spLocks noGrp="1"/>
          </p:cNvSpPr>
          <p:nvPr/>
        </p:nvSpPr>
        <p:spPr>
          <a:xfrm>
            <a:off x="6693408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 ni CSAT — solo encuesta anual</a:t>
            </a:r>
          </a:p>
        </p:txBody>
      </p:sp>
      <p:sp>
        <p:nvSpPr>
          <p:cNvPr id="123" name="d"/>
          <p:cNvSpPr txBox="1">
            <a:spLocks noGrp="1"/>
          </p:cNvSpPr>
          <p:nvPr/>
        </p:nvSpPr>
        <p:spPr>
          <a:xfrm>
            <a:off x="6693408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 — 4 FTE para 24x7</a:t>
            </a:r>
          </a:p>
        </p:txBody>
      </p:sp>
      <p:sp>
        <p:nvSpPr>
          <p:cNvPr id="124" name="d"/>
          <p:cNvSpPr txBox="1">
            <a:spLocks noGrp="1"/>
          </p:cNvSpPr>
          <p:nvPr/>
        </p:nvSpPr>
        <p:spPr>
          <a:xfrm>
            <a:off x="6693408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KEDB — conocimiento informal</a:t>
            </a:r>
          </a:p>
        </p:txBody>
      </p:sp>
      <p:sp>
        <p:nvSpPr>
          <p:cNvPr id="125" name="d"/>
          <p:cNvSpPr txBox="1">
            <a:spLocks noGrp="1"/>
          </p:cNvSpPr>
          <p:nvPr/>
        </p:nvSpPr>
        <p:spPr>
          <a:xfrm>
            <a:off x="6693408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Disponibilidad mal dimensionada</a:t>
            </a:r>
          </a:p>
        </p:txBody>
      </p:sp>
      <p:sp>
        <p:nvSpPr>
          <p:cNvPr id="126" name="d"/>
          <p:cNvSpPr txBox="1">
            <a:spLocks noGrp="1"/>
          </p:cNvSpPr>
          <p:nvPr/>
        </p:nvSpPr>
        <p:spPr>
          <a:xfrm>
            <a:off x="6693408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4 personas en 14 componentes</a:t>
            </a:r>
          </a:p>
        </p:txBody>
      </p:sp>
      <p:sp>
        <p:nvSpPr>
          <p:cNvPr id="127" name="d"/>
          <p:cNvSpPr txBox="1">
            <a:spLocks noGrp="1"/>
          </p:cNvSpPr>
          <p:nvPr/>
        </p:nvSpPr>
        <p:spPr>
          <a:xfrm>
            <a:off x="6693408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Licencia ServiceNow la paga PS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Fuente: Levantamiento interno · Julio 2026 · Reunion con Elsy Marin (SURA) y Diego Serna (XM) · Excel Levantamiento_Mesas_Julio_2026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Mapa de Dolores Criticos — Consolidado por Cliente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● Confirmado  ◐ Parcial  ○ No identificado — 18 dolores · 5 clientes</a:t>
            </a:r>
          </a:p>
        </p:txBody>
      </p:sp>
      <p:sp>
        <p:nvSpPr>
          <p:cNvPr id="10" name="dhdr"/>
          <p:cNvSpPr>
            <a:spLocks noGrp="1"/>
          </p:cNvSpPr>
          <p:nvPr/>
        </p:nvSpPr>
        <p:spPr>
          <a:xfrm>
            <a:off x="320040" y="804672"/>
            <a:ext cx="2926080" cy="40233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drt"/>
          <p:cNvSpPr txBox="1">
            <a:spLocks noGrp="1"/>
          </p:cNvSpPr>
          <p:nvPr/>
        </p:nvSpPr>
        <p:spPr>
          <a:xfrm>
            <a:off x="320040" y="80467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900" dirty="0" b="1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ch"/>
          <p:cNvSpPr>
            <a:spLocks noGrp="1"/>
          </p:cNvSpPr>
          <p:nvPr/>
        </p:nvSpPr>
        <p:spPr>
          <a:xfrm>
            <a:off x="3246120" y="804672"/>
            <a:ext cx="896112" cy="40233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cht"/>
          <p:cNvSpPr txBox="1">
            <a:spLocks noGrp="1"/>
          </p:cNvSpPr>
          <p:nvPr/>
        </p:nvSpPr>
        <p:spPr>
          <a:xfrm>
            <a:off x="3246120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SURA
(4 mesas)</a:t>
            </a:r>
          </a:p>
        </p:txBody>
      </p:sp>
      <p:sp>
        <p:nvSpPr>
          <p:cNvPr id="14" name="ch"/>
          <p:cNvSpPr>
            <a:spLocks noGrp="1"/>
          </p:cNvSpPr>
          <p:nvPr/>
        </p:nvSpPr>
        <p:spPr>
          <a:xfrm>
            <a:off x="4142232" y="804672"/>
            <a:ext cx="896112" cy="40233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cht"/>
          <p:cNvSpPr txBox="1">
            <a:spLocks noGrp="1"/>
          </p:cNvSpPr>
          <p:nvPr/>
        </p:nvSpPr>
        <p:spPr>
          <a:xfrm>
            <a:off x="4142232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16" name="ch"/>
          <p:cNvSpPr>
            <a:spLocks noGrp="1"/>
          </p:cNvSpPr>
          <p:nvPr/>
        </p:nvSpPr>
        <p:spPr>
          <a:xfrm>
            <a:off x="5038344" y="804672"/>
            <a:ext cx="896112" cy="40233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7" name="cht"/>
          <p:cNvSpPr txBox="1">
            <a:spLocks noGrp="1"/>
          </p:cNvSpPr>
          <p:nvPr/>
        </p:nvSpPr>
        <p:spPr>
          <a:xfrm>
            <a:off x="5038344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18" name="ch"/>
          <p:cNvSpPr>
            <a:spLocks noGrp="1"/>
          </p:cNvSpPr>
          <p:nvPr/>
        </p:nvSpPr>
        <p:spPr>
          <a:xfrm>
            <a:off x="5934456" y="804672"/>
            <a:ext cx="896112" cy="40233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9" name="cht"/>
          <p:cNvSpPr txBox="1">
            <a:spLocks noGrp="1"/>
          </p:cNvSpPr>
          <p:nvPr/>
        </p:nvSpPr>
        <p:spPr>
          <a:xfrm>
            <a:off x="5934456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BCO
(GIOTI)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6830568" y="804672"/>
            <a:ext cx="896112" cy="402336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6830568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b="1">
                <a:solidFill>
                  <a:srgbClr val="FFFFFF"/>
                </a:solidFill>
                <a:latin typeface="Calibri"/>
              </a:rPr>
              <a:t>MEDI-
CAR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566928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40" dirty="0" b="1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886968" y="1207008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941832" y="120700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ell"/>
          <p:cNvSpPr>
            <a:spLocks noGrp="1"/>
          </p:cNvSpPr>
          <p:nvPr/>
        </p:nvSpPr>
        <p:spPr>
          <a:xfrm>
            <a:off x="3246120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5" name="celt"/>
          <p:cNvSpPr txBox="1">
            <a:spLocks noGrp="1"/>
          </p:cNvSpPr>
          <p:nvPr/>
        </p:nvSpPr>
        <p:spPr>
          <a:xfrm>
            <a:off x="3246120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05" name="cell"/>
          <p:cNvSpPr>
            <a:spLocks noGrp="1"/>
          </p:cNvSpPr>
          <p:nvPr/>
        </p:nvSpPr>
        <p:spPr>
          <a:xfrm>
            <a:off x="4142232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6" name="celt"/>
          <p:cNvSpPr txBox="1">
            <a:spLocks noGrp="1"/>
          </p:cNvSpPr>
          <p:nvPr/>
        </p:nvSpPr>
        <p:spPr>
          <a:xfrm>
            <a:off x="4142232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06" name="cell"/>
          <p:cNvSpPr>
            <a:spLocks noGrp="1"/>
          </p:cNvSpPr>
          <p:nvPr/>
        </p:nvSpPr>
        <p:spPr>
          <a:xfrm>
            <a:off x="5038344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7" name="celt"/>
          <p:cNvSpPr txBox="1">
            <a:spLocks noGrp="1"/>
          </p:cNvSpPr>
          <p:nvPr/>
        </p:nvSpPr>
        <p:spPr>
          <a:xfrm>
            <a:off x="5038344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07" name="cell"/>
          <p:cNvSpPr>
            <a:spLocks noGrp="1"/>
          </p:cNvSpPr>
          <p:nvPr/>
        </p:nvSpPr>
        <p:spPr>
          <a:xfrm>
            <a:off x="5934456" y="120700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08" name="celt"/>
          <p:cNvSpPr txBox="1">
            <a:spLocks noGrp="1"/>
          </p:cNvSpPr>
          <p:nvPr/>
        </p:nvSpPr>
        <p:spPr>
          <a:xfrm>
            <a:off x="5934456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08" name="cell"/>
          <p:cNvSpPr>
            <a:spLocks noGrp="1"/>
          </p:cNvSpPr>
          <p:nvPr/>
        </p:nvSpPr>
        <p:spPr>
          <a:xfrm>
            <a:off x="6830568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9" name="celt"/>
          <p:cNvSpPr txBox="1">
            <a:spLocks noGrp="1"/>
          </p:cNvSpPr>
          <p:nvPr/>
        </p:nvSpPr>
        <p:spPr>
          <a:xfrm>
            <a:off x="6830568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12" name="db"/>
          <p:cNvSpPr>
            <a:spLocks noGrp="1"/>
          </p:cNvSpPr>
          <p:nvPr/>
        </p:nvSpPr>
        <p:spPr>
          <a:xfrm>
            <a:off x="886968" y="1408176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13" name="dt"/>
          <p:cNvSpPr txBox="1">
            <a:spLocks noGrp="1"/>
          </p:cNvSpPr>
          <p:nvPr/>
        </p:nvSpPr>
        <p:spPr>
          <a:xfrm>
            <a:off x="941832" y="140817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114" name="cell"/>
          <p:cNvSpPr>
            <a:spLocks noGrp="1"/>
          </p:cNvSpPr>
          <p:nvPr/>
        </p:nvSpPr>
        <p:spPr>
          <a:xfrm>
            <a:off x="3246120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5" name="celt"/>
          <p:cNvSpPr txBox="1">
            <a:spLocks noGrp="1"/>
          </p:cNvSpPr>
          <p:nvPr/>
        </p:nvSpPr>
        <p:spPr>
          <a:xfrm>
            <a:off x="3246120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15" name="cell"/>
          <p:cNvSpPr>
            <a:spLocks noGrp="1"/>
          </p:cNvSpPr>
          <p:nvPr/>
        </p:nvSpPr>
        <p:spPr>
          <a:xfrm>
            <a:off x="4142232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6" name="celt"/>
          <p:cNvSpPr txBox="1">
            <a:spLocks noGrp="1"/>
          </p:cNvSpPr>
          <p:nvPr/>
        </p:nvSpPr>
        <p:spPr>
          <a:xfrm>
            <a:off x="4142232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16" name="cell"/>
          <p:cNvSpPr>
            <a:spLocks noGrp="1"/>
          </p:cNvSpPr>
          <p:nvPr/>
        </p:nvSpPr>
        <p:spPr>
          <a:xfrm>
            <a:off x="5038344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7" name="celt"/>
          <p:cNvSpPr txBox="1">
            <a:spLocks noGrp="1"/>
          </p:cNvSpPr>
          <p:nvPr/>
        </p:nvSpPr>
        <p:spPr>
          <a:xfrm>
            <a:off x="5038344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17" name="cell"/>
          <p:cNvSpPr>
            <a:spLocks noGrp="1"/>
          </p:cNvSpPr>
          <p:nvPr/>
        </p:nvSpPr>
        <p:spPr>
          <a:xfrm>
            <a:off x="5934456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8" name="celt"/>
          <p:cNvSpPr txBox="1">
            <a:spLocks noGrp="1"/>
          </p:cNvSpPr>
          <p:nvPr/>
        </p:nvSpPr>
        <p:spPr>
          <a:xfrm>
            <a:off x="5934456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18" name="cell"/>
          <p:cNvSpPr>
            <a:spLocks noGrp="1"/>
          </p:cNvSpPr>
          <p:nvPr/>
        </p:nvSpPr>
        <p:spPr>
          <a:xfrm>
            <a:off x="6830568" y="140817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19" name="celt"/>
          <p:cNvSpPr txBox="1">
            <a:spLocks noGrp="1"/>
          </p:cNvSpPr>
          <p:nvPr/>
        </p:nvSpPr>
        <p:spPr>
          <a:xfrm>
            <a:off x="6830568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22" name="db"/>
          <p:cNvSpPr>
            <a:spLocks noGrp="1"/>
          </p:cNvSpPr>
          <p:nvPr/>
        </p:nvSpPr>
        <p:spPr>
          <a:xfrm>
            <a:off x="886968" y="1609344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23" name="dt"/>
          <p:cNvSpPr txBox="1">
            <a:spLocks noGrp="1"/>
          </p:cNvSpPr>
          <p:nvPr/>
        </p:nvSpPr>
        <p:spPr>
          <a:xfrm>
            <a:off x="941832" y="160934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desact.</a:t>
            </a:r>
          </a:p>
        </p:txBody>
      </p:sp>
      <p:sp>
        <p:nvSpPr>
          <p:cNvPr id="124" name="cell"/>
          <p:cNvSpPr>
            <a:spLocks noGrp="1"/>
          </p:cNvSpPr>
          <p:nvPr/>
        </p:nvSpPr>
        <p:spPr>
          <a:xfrm>
            <a:off x="3246120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5" name="celt"/>
          <p:cNvSpPr txBox="1">
            <a:spLocks noGrp="1"/>
          </p:cNvSpPr>
          <p:nvPr/>
        </p:nvSpPr>
        <p:spPr>
          <a:xfrm>
            <a:off x="3246120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25" name="cell"/>
          <p:cNvSpPr>
            <a:spLocks noGrp="1"/>
          </p:cNvSpPr>
          <p:nvPr/>
        </p:nvSpPr>
        <p:spPr>
          <a:xfrm>
            <a:off x="4142232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6" name="celt"/>
          <p:cNvSpPr txBox="1">
            <a:spLocks noGrp="1"/>
          </p:cNvSpPr>
          <p:nvPr/>
        </p:nvSpPr>
        <p:spPr>
          <a:xfrm>
            <a:off x="4142232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26" name="cell"/>
          <p:cNvSpPr>
            <a:spLocks noGrp="1"/>
          </p:cNvSpPr>
          <p:nvPr/>
        </p:nvSpPr>
        <p:spPr>
          <a:xfrm>
            <a:off x="5038344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7" name="celt"/>
          <p:cNvSpPr txBox="1">
            <a:spLocks noGrp="1"/>
          </p:cNvSpPr>
          <p:nvPr/>
        </p:nvSpPr>
        <p:spPr>
          <a:xfrm>
            <a:off x="5038344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27" name="cell"/>
          <p:cNvSpPr>
            <a:spLocks noGrp="1"/>
          </p:cNvSpPr>
          <p:nvPr/>
        </p:nvSpPr>
        <p:spPr>
          <a:xfrm>
            <a:off x="5934456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8" name="celt"/>
          <p:cNvSpPr txBox="1">
            <a:spLocks noGrp="1"/>
          </p:cNvSpPr>
          <p:nvPr/>
        </p:nvSpPr>
        <p:spPr>
          <a:xfrm>
            <a:off x="5934456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28" name="cell"/>
          <p:cNvSpPr>
            <a:spLocks noGrp="1"/>
          </p:cNvSpPr>
          <p:nvPr/>
        </p:nvSpPr>
        <p:spPr>
          <a:xfrm>
            <a:off x="6830568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9" name="celt"/>
          <p:cNvSpPr txBox="1">
            <a:spLocks noGrp="1"/>
          </p:cNvSpPr>
          <p:nvPr/>
        </p:nvSpPr>
        <p:spPr>
          <a:xfrm>
            <a:off x="6830568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0" name="cb"/>
          <p:cNvSpPr>
            <a:spLocks noGrp="1"/>
          </p:cNvSpPr>
          <p:nvPr/>
        </p:nvSpPr>
        <p:spPr>
          <a:xfrm>
            <a:off x="320040" y="1810512"/>
            <a:ext cx="566928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31" name="ct"/>
          <p:cNvSpPr txBox="1">
            <a:spLocks noGrp="1"/>
          </p:cNvSpPr>
          <p:nvPr/>
        </p:nvSpPr>
        <p:spPr>
          <a:xfrm>
            <a:off x="320040" y="18105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40" dirty="0" b="1">
                <a:solidFill>
                  <a:srgbClr val="92400E"/>
                </a:solidFill>
                <a:latin typeface="Calibri"/>
              </a:rPr>
              <a:t>OPS</a:t>
            </a:r>
          </a:p>
        </p:txBody>
      </p:sp>
      <p:sp>
        <p:nvSpPr>
          <p:cNvPr id="132" name="db"/>
          <p:cNvSpPr>
            <a:spLocks noGrp="1"/>
          </p:cNvSpPr>
          <p:nvPr/>
        </p:nvSpPr>
        <p:spPr>
          <a:xfrm>
            <a:off x="886968" y="1810512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33" name="dt"/>
          <p:cNvSpPr txBox="1">
            <a:spLocks noGrp="1"/>
          </p:cNvSpPr>
          <p:nvPr/>
        </p:nvSpPr>
        <p:spPr>
          <a:xfrm>
            <a:off x="941832" y="181051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34" name="cell"/>
          <p:cNvSpPr>
            <a:spLocks noGrp="1"/>
          </p:cNvSpPr>
          <p:nvPr/>
        </p:nvSpPr>
        <p:spPr>
          <a:xfrm>
            <a:off x="3246120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5" name="celt"/>
          <p:cNvSpPr txBox="1">
            <a:spLocks noGrp="1"/>
          </p:cNvSpPr>
          <p:nvPr/>
        </p:nvSpPr>
        <p:spPr>
          <a:xfrm>
            <a:off x="3246120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35" name="cell"/>
          <p:cNvSpPr>
            <a:spLocks noGrp="1"/>
          </p:cNvSpPr>
          <p:nvPr/>
        </p:nvSpPr>
        <p:spPr>
          <a:xfrm>
            <a:off x="4142232" y="181051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36" name="celt"/>
          <p:cNvSpPr txBox="1">
            <a:spLocks noGrp="1"/>
          </p:cNvSpPr>
          <p:nvPr/>
        </p:nvSpPr>
        <p:spPr>
          <a:xfrm>
            <a:off x="4142232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6" name="cell"/>
          <p:cNvSpPr>
            <a:spLocks noGrp="1"/>
          </p:cNvSpPr>
          <p:nvPr/>
        </p:nvSpPr>
        <p:spPr>
          <a:xfrm>
            <a:off x="5038344" y="181051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37" name="celt"/>
          <p:cNvSpPr txBox="1">
            <a:spLocks noGrp="1"/>
          </p:cNvSpPr>
          <p:nvPr/>
        </p:nvSpPr>
        <p:spPr>
          <a:xfrm>
            <a:off x="5038344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7" name="cell"/>
          <p:cNvSpPr>
            <a:spLocks noGrp="1"/>
          </p:cNvSpPr>
          <p:nvPr/>
        </p:nvSpPr>
        <p:spPr>
          <a:xfrm>
            <a:off x="5934456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8" name="celt"/>
          <p:cNvSpPr txBox="1">
            <a:spLocks noGrp="1"/>
          </p:cNvSpPr>
          <p:nvPr/>
        </p:nvSpPr>
        <p:spPr>
          <a:xfrm>
            <a:off x="5934456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38" name="cell"/>
          <p:cNvSpPr>
            <a:spLocks noGrp="1"/>
          </p:cNvSpPr>
          <p:nvPr/>
        </p:nvSpPr>
        <p:spPr>
          <a:xfrm>
            <a:off x="6830568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9" name="celt"/>
          <p:cNvSpPr txBox="1">
            <a:spLocks noGrp="1"/>
          </p:cNvSpPr>
          <p:nvPr/>
        </p:nvSpPr>
        <p:spPr>
          <a:xfrm>
            <a:off x="6830568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42" name="db"/>
          <p:cNvSpPr>
            <a:spLocks noGrp="1"/>
          </p:cNvSpPr>
          <p:nvPr/>
        </p:nvSpPr>
        <p:spPr>
          <a:xfrm>
            <a:off x="886968" y="2011680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43" name="dt"/>
          <p:cNvSpPr txBox="1">
            <a:spLocks noGrp="1"/>
          </p:cNvSpPr>
          <p:nvPr/>
        </p:nvSpPr>
        <p:spPr>
          <a:xfrm>
            <a:off x="941832" y="201168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Escalamiento ineficiente</a:t>
            </a:r>
          </a:p>
        </p:txBody>
      </p:sp>
      <p:sp>
        <p:nvSpPr>
          <p:cNvPr id="144" name="cell"/>
          <p:cNvSpPr>
            <a:spLocks noGrp="1"/>
          </p:cNvSpPr>
          <p:nvPr/>
        </p:nvSpPr>
        <p:spPr>
          <a:xfrm>
            <a:off x="3246120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5" name="celt"/>
          <p:cNvSpPr txBox="1">
            <a:spLocks noGrp="1"/>
          </p:cNvSpPr>
          <p:nvPr/>
        </p:nvSpPr>
        <p:spPr>
          <a:xfrm>
            <a:off x="3246120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45" name="cell"/>
          <p:cNvSpPr>
            <a:spLocks noGrp="1"/>
          </p:cNvSpPr>
          <p:nvPr/>
        </p:nvSpPr>
        <p:spPr>
          <a:xfrm>
            <a:off x="4142232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6" name="celt"/>
          <p:cNvSpPr txBox="1">
            <a:spLocks noGrp="1"/>
          </p:cNvSpPr>
          <p:nvPr/>
        </p:nvSpPr>
        <p:spPr>
          <a:xfrm>
            <a:off x="4142232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46" name="cell"/>
          <p:cNvSpPr>
            <a:spLocks noGrp="1"/>
          </p:cNvSpPr>
          <p:nvPr/>
        </p:nvSpPr>
        <p:spPr>
          <a:xfrm>
            <a:off x="5038344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7" name="celt"/>
          <p:cNvSpPr txBox="1">
            <a:spLocks noGrp="1"/>
          </p:cNvSpPr>
          <p:nvPr/>
        </p:nvSpPr>
        <p:spPr>
          <a:xfrm>
            <a:off x="5038344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47" name="cell"/>
          <p:cNvSpPr>
            <a:spLocks noGrp="1"/>
          </p:cNvSpPr>
          <p:nvPr/>
        </p:nvSpPr>
        <p:spPr>
          <a:xfrm>
            <a:off x="5934456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8" name="celt"/>
          <p:cNvSpPr txBox="1">
            <a:spLocks noGrp="1"/>
          </p:cNvSpPr>
          <p:nvPr/>
        </p:nvSpPr>
        <p:spPr>
          <a:xfrm>
            <a:off x="5934456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48" name="cell"/>
          <p:cNvSpPr>
            <a:spLocks noGrp="1"/>
          </p:cNvSpPr>
          <p:nvPr/>
        </p:nvSpPr>
        <p:spPr>
          <a:xfrm>
            <a:off x="6830568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9" name="celt"/>
          <p:cNvSpPr txBox="1">
            <a:spLocks noGrp="1"/>
          </p:cNvSpPr>
          <p:nvPr/>
        </p:nvSpPr>
        <p:spPr>
          <a:xfrm>
            <a:off x="6830568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52" name="db"/>
          <p:cNvSpPr>
            <a:spLocks noGrp="1"/>
          </p:cNvSpPr>
          <p:nvPr/>
        </p:nvSpPr>
        <p:spPr>
          <a:xfrm>
            <a:off x="886968" y="2212848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53" name="dt"/>
          <p:cNvSpPr txBox="1">
            <a:spLocks noGrp="1"/>
          </p:cNvSpPr>
          <p:nvPr/>
        </p:nvSpPr>
        <p:spPr>
          <a:xfrm>
            <a:off x="941832" y="221284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ctrl.</a:t>
            </a:r>
          </a:p>
        </p:txBody>
      </p:sp>
      <p:sp>
        <p:nvSpPr>
          <p:cNvPr id="154" name="cell"/>
          <p:cNvSpPr>
            <a:spLocks noGrp="1"/>
          </p:cNvSpPr>
          <p:nvPr/>
        </p:nvSpPr>
        <p:spPr>
          <a:xfrm>
            <a:off x="3246120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5" name="celt"/>
          <p:cNvSpPr txBox="1">
            <a:spLocks noGrp="1"/>
          </p:cNvSpPr>
          <p:nvPr/>
        </p:nvSpPr>
        <p:spPr>
          <a:xfrm>
            <a:off x="3246120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55" name="cell"/>
          <p:cNvSpPr>
            <a:spLocks noGrp="1"/>
          </p:cNvSpPr>
          <p:nvPr/>
        </p:nvSpPr>
        <p:spPr>
          <a:xfrm>
            <a:off x="4142232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6" name="celt"/>
          <p:cNvSpPr txBox="1">
            <a:spLocks noGrp="1"/>
          </p:cNvSpPr>
          <p:nvPr/>
        </p:nvSpPr>
        <p:spPr>
          <a:xfrm>
            <a:off x="4142232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56" name="cell"/>
          <p:cNvSpPr>
            <a:spLocks noGrp="1"/>
          </p:cNvSpPr>
          <p:nvPr/>
        </p:nvSpPr>
        <p:spPr>
          <a:xfrm>
            <a:off x="5038344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7" name="celt"/>
          <p:cNvSpPr txBox="1">
            <a:spLocks noGrp="1"/>
          </p:cNvSpPr>
          <p:nvPr/>
        </p:nvSpPr>
        <p:spPr>
          <a:xfrm>
            <a:off x="5038344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57" name="cell"/>
          <p:cNvSpPr>
            <a:spLocks noGrp="1"/>
          </p:cNvSpPr>
          <p:nvPr/>
        </p:nvSpPr>
        <p:spPr>
          <a:xfrm>
            <a:off x="5934456" y="221284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8" name="celt"/>
          <p:cNvSpPr txBox="1">
            <a:spLocks noGrp="1"/>
          </p:cNvSpPr>
          <p:nvPr/>
        </p:nvSpPr>
        <p:spPr>
          <a:xfrm>
            <a:off x="5934456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58" name="cell"/>
          <p:cNvSpPr>
            <a:spLocks noGrp="1"/>
          </p:cNvSpPr>
          <p:nvPr/>
        </p:nvSpPr>
        <p:spPr>
          <a:xfrm>
            <a:off x="6830568" y="221284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9" name="celt"/>
          <p:cNvSpPr txBox="1">
            <a:spLocks noGrp="1"/>
          </p:cNvSpPr>
          <p:nvPr/>
        </p:nvSpPr>
        <p:spPr>
          <a:xfrm>
            <a:off x="6830568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62" name="db"/>
          <p:cNvSpPr>
            <a:spLocks noGrp="1"/>
          </p:cNvSpPr>
          <p:nvPr/>
        </p:nvSpPr>
        <p:spPr>
          <a:xfrm>
            <a:off x="886968" y="2414016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63" name="dt"/>
          <p:cNvSpPr txBox="1">
            <a:spLocks noGrp="1"/>
          </p:cNvSpPr>
          <p:nvPr/>
        </p:nvSpPr>
        <p:spPr>
          <a:xfrm>
            <a:off x="941832" y="241401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164" name="cell"/>
          <p:cNvSpPr>
            <a:spLocks noGrp="1"/>
          </p:cNvSpPr>
          <p:nvPr/>
        </p:nvSpPr>
        <p:spPr>
          <a:xfrm>
            <a:off x="3246120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5" name="celt"/>
          <p:cNvSpPr txBox="1">
            <a:spLocks noGrp="1"/>
          </p:cNvSpPr>
          <p:nvPr/>
        </p:nvSpPr>
        <p:spPr>
          <a:xfrm>
            <a:off x="3246120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65" name="cell"/>
          <p:cNvSpPr>
            <a:spLocks noGrp="1"/>
          </p:cNvSpPr>
          <p:nvPr/>
        </p:nvSpPr>
        <p:spPr>
          <a:xfrm>
            <a:off x="4142232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6" name="celt"/>
          <p:cNvSpPr txBox="1">
            <a:spLocks noGrp="1"/>
          </p:cNvSpPr>
          <p:nvPr/>
        </p:nvSpPr>
        <p:spPr>
          <a:xfrm>
            <a:off x="4142232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66" name="cell"/>
          <p:cNvSpPr>
            <a:spLocks noGrp="1"/>
          </p:cNvSpPr>
          <p:nvPr/>
        </p:nvSpPr>
        <p:spPr>
          <a:xfrm>
            <a:off x="5038344" y="241401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7" name="celt"/>
          <p:cNvSpPr txBox="1">
            <a:spLocks noGrp="1"/>
          </p:cNvSpPr>
          <p:nvPr/>
        </p:nvSpPr>
        <p:spPr>
          <a:xfrm>
            <a:off x="5038344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167" name="cell"/>
          <p:cNvSpPr>
            <a:spLocks noGrp="1"/>
          </p:cNvSpPr>
          <p:nvPr/>
        </p:nvSpPr>
        <p:spPr>
          <a:xfrm>
            <a:off x="5934456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8" name="celt"/>
          <p:cNvSpPr txBox="1">
            <a:spLocks noGrp="1"/>
          </p:cNvSpPr>
          <p:nvPr/>
        </p:nvSpPr>
        <p:spPr>
          <a:xfrm>
            <a:off x="5934456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68" name="cell"/>
          <p:cNvSpPr>
            <a:spLocks noGrp="1"/>
          </p:cNvSpPr>
          <p:nvPr/>
        </p:nvSpPr>
        <p:spPr>
          <a:xfrm>
            <a:off x="6830568" y="241401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9" name="celt"/>
          <p:cNvSpPr txBox="1">
            <a:spLocks noGrp="1"/>
          </p:cNvSpPr>
          <p:nvPr/>
        </p:nvSpPr>
        <p:spPr>
          <a:xfrm>
            <a:off x="6830568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170" name="cb"/>
          <p:cNvSpPr>
            <a:spLocks noGrp="1"/>
          </p:cNvSpPr>
          <p:nvPr/>
        </p:nvSpPr>
        <p:spPr>
          <a:xfrm>
            <a:off x="320040" y="2615184"/>
            <a:ext cx="566928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71" name="ct"/>
          <p:cNvSpPr txBox="1">
            <a:spLocks noGrp="1"/>
          </p:cNvSpPr>
          <p:nvPr/>
        </p:nvSpPr>
        <p:spPr>
          <a:xfrm>
            <a:off x="320040" y="261518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40" dirty="0" b="1">
                <a:solidFill>
                  <a:srgbClr val="1A6B3C"/>
                </a:solidFill>
                <a:latin typeface="Calibri"/>
              </a:rPr>
              <a:t>MET</a:t>
            </a:r>
          </a:p>
        </p:txBody>
      </p:sp>
      <p:sp>
        <p:nvSpPr>
          <p:cNvPr id="172" name="db"/>
          <p:cNvSpPr>
            <a:spLocks noGrp="1"/>
          </p:cNvSpPr>
          <p:nvPr/>
        </p:nvSpPr>
        <p:spPr>
          <a:xfrm>
            <a:off x="886968" y="2615184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73" name="dt"/>
          <p:cNvSpPr txBox="1">
            <a:spLocks noGrp="1"/>
          </p:cNvSpPr>
          <p:nvPr/>
        </p:nvSpPr>
        <p:spPr>
          <a:xfrm>
            <a:off x="941832" y="261518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174" name="cell"/>
          <p:cNvSpPr>
            <a:spLocks noGrp="1"/>
          </p:cNvSpPr>
          <p:nvPr/>
        </p:nvSpPr>
        <p:spPr>
          <a:xfrm>
            <a:off x="3246120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5" name="celt"/>
          <p:cNvSpPr txBox="1">
            <a:spLocks noGrp="1"/>
          </p:cNvSpPr>
          <p:nvPr/>
        </p:nvSpPr>
        <p:spPr>
          <a:xfrm>
            <a:off x="3246120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75" name="cell"/>
          <p:cNvSpPr>
            <a:spLocks noGrp="1"/>
          </p:cNvSpPr>
          <p:nvPr/>
        </p:nvSpPr>
        <p:spPr>
          <a:xfrm>
            <a:off x="4142232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6" name="celt"/>
          <p:cNvSpPr txBox="1">
            <a:spLocks noGrp="1"/>
          </p:cNvSpPr>
          <p:nvPr/>
        </p:nvSpPr>
        <p:spPr>
          <a:xfrm>
            <a:off x="4142232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76" name="cell"/>
          <p:cNvSpPr>
            <a:spLocks noGrp="1"/>
          </p:cNvSpPr>
          <p:nvPr/>
        </p:nvSpPr>
        <p:spPr>
          <a:xfrm>
            <a:off x="5038344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7" name="celt"/>
          <p:cNvSpPr txBox="1">
            <a:spLocks noGrp="1"/>
          </p:cNvSpPr>
          <p:nvPr/>
        </p:nvSpPr>
        <p:spPr>
          <a:xfrm>
            <a:off x="5038344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77" name="cell"/>
          <p:cNvSpPr>
            <a:spLocks noGrp="1"/>
          </p:cNvSpPr>
          <p:nvPr/>
        </p:nvSpPr>
        <p:spPr>
          <a:xfrm>
            <a:off x="5934456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8" name="celt"/>
          <p:cNvSpPr txBox="1">
            <a:spLocks noGrp="1"/>
          </p:cNvSpPr>
          <p:nvPr/>
        </p:nvSpPr>
        <p:spPr>
          <a:xfrm>
            <a:off x="5934456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78" name="cell"/>
          <p:cNvSpPr>
            <a:spLocks noGrp="1"/>
          </p:cNvSpPr>
          <p:nvPr/>
        </p:nvSpPr>
        <p:spPr>
          <a:xfrm>
            <a:off x="6830568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9" name="celt"/>
          <p:cNvSpPr txBox="1">
            <a:spLocks noGrp="1"/>
          </p:cNvSpPr>
          <p:nvPr/>
        </p:nvSpPr>
        <p:spPr>
          <a:xfrm>
            <a:off x="6830568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82" name="db"/>
          <p:cNvSpPr>
            <a:spLocks noGrp="1"/>
          </p:cNvSpPr>
          <p:nvPr/>
        </p:nvSpPr>
        <p:spPr>
          <a:xfrm>
            <a:off x="886968" y="2816352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83" name="dt"/>
          <p:cNvSpPr txBox="1">
            <a:spLocks noGrp="1"/>
          </p:cNvSpPr>
          <p:nvPr/>
        </p:nvSpPr>
        <p:spPr>
          <a:xfrm>
            <a:off x="941832" y="281635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ni visibilidad</a:t>
            </a:r>
          </a:p>
        </p:txBody>
      </p:sp>
      <p:sp>
        <p:nvSpPr>
          <p:cNvPr id="184" name="cell"/>
          <p:cNvSpPr>
            <a:spLocks noGrp="1"/>
          </p:cNvSpPr>
          <p:nvPr/>
        </p:nvSpPr>
        <p:spPr>
          <a:xfrm>
            <a:off x="3246120" y="2816352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85" name="celt"/>
          <p:cNvSpPr txBox="1">
            <a:spLocks noGrp="1"/>
          </p:cNvSpPr>
          <p:nvPr/>
        </p:nvSpPr>
        <p:spPr>
          <a:xfrm>
            <a:off x="3246120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185" name="cell"/>
          <p:cNvSpPr>
            <a:spLocks noGrp="1"/>
          </p:cNvSpPr>
          <p:nvPr/>
        </p:nvSpPr>
        <p:spPr>
          <a:xfrm>
            <a:off x="4142232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6" name="celt"/>
          <p:cNvSpPr txBox="1">
            <a:spLocks noGrp="1"/>
          </p:cNvSpPr>
          <p:nvPr/>
        </p:nvSpPr>
        <p:spPr>
          <a:xfrm>
            <a:off x="4142232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86" name="cell"/>
          <p:cNvSpPr>
            <a:spLocks noGrp="1"/>
          </p:cNvSpPr>
          <p:nvPr/>
        </p:nvSpPr>
        <p:spPr>
          <a:xfrm>
            <a:off x="5038344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7" name="celt"/>
          <p:cNvSpPr txBox="1">
            <a:spLocks noGrp="1"/>
          </p:cNvSpPr>
          <p:nvPr/>
        </p:nvSpPr>
        <p:spPr>
          <a:xfrm>
            <a:off x="5038344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87" name="cell"/>
          <p:cNvSpPr>
            <a:spLocks noGrp="1"/>
          </p:cNvSpPr>
          <p:nvPr/>
        </p:nvSpPr>
        <p:spPr>
          <a:xfrm>
            <a:off x="5934456" y="281635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8" name="celt"/>
          <p:cNvSpPr txBox="1">
            <a:spLocks noGrp="1"/>
          </p:cNvSpPr>
          <p:nvPr/>
        </p:nvSpPr>
        <p:spPr>
          <a:xfrm>
            <a:off x="5934456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88" name="cell"/>
          <p:cNvSpPr>
            <a:spLocks noGrp="1"/>
          </p:cNvSpPr>
          <p:nvPr/>
        </p:nvSpPr>
        <p:spPr>
          <a:xfrm>
            <a:off x="6830568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9" name="celt"/>
          <p:cNvSpPr txBox="1">
            <a:spLocks noGrp="1"/>
          </p:cNvSpPr>
          <p:nvPr/>
        </p:nvSpPr>
        <p:spPr>
          <a:xfrm>
            <a:off x="6830568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92" name="db"/>
          <p:cNvSpPr>
            <a:spLocks noGrp="1"/>
          </p:cNvSpPr>
          <p:nvPr/>
        </p:nvSpPr>
        <p:spPr>
          <a:xfrm>
            <a:off x="886968" y="3017520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93" name="dt"/>
          <p:cNvSpPr txBox="1">
            <a:spLocks noGrp="1"/>
          </p:cNvSpPr>
          <p:nvPr/>
        </p:nvSpPr>
        <p:spPr>
          <a:xfrm>
            <a:off x="941832" y="301752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Reportes manuales</a:t>
            </a:r>
          </a:p>
        </p:txBody>
      </p:sp>
      <p:sp>
        <p:nvSpPr>
          <p:cNvPr id="194" name="cell"/>
          <p:cNvSpPr>
            <a:spLocks noGrp="1"/>
          </p:cNvSpPr>
          <p:nvPr/>
        </p:nvSpPr>
        <p:spPr>
          <a:xfrm>
            <a:off x="3246120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5" name="celt"/>
          <p:cNvSpPr txBox="1">
            <a:spLocks noGrp="1"/>
          </p:cNvSpPr>
          <p:nvPr/>
        </p:nvSpPr>
        <p:spPr>
          <a:xfrm>
            <a:off x="3246120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95" name="cell"/>
          <p:cNvSpPr>
            <a:spLocks noGrp="1"/>
          </p:cNvSpPr>
          <p:nvPr/>
        </p:nvSpPr>
        <p:spPr>
          <a:xfrm>
            <a:off x="4142232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6" name="celt"/>
          <p:cNvSpPr txBox="1">
            <a:spLocks noGrp="1"/>
          </p:cNvSpPr>
          <p:nvPr/>
        </p:nvSpPr>
        <p:spPr>
          <a:xfrm>
            <a:off x="4142232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96" name="cell"/>
          <p:cNvSpPr>
            <a:spLocks noGrp="1"/>
          </p:cNvSpPr>
          <p:nvPr/>
        </p:nvSpPr>
        <p:spPr>
          <a:xfrm>
            <a:off x="5038344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7" name="celt"/>
          <p:cNvSpPr txBox="1">
            <a:spLocks noGrp="1"/>
          </p:cNvSpPr>
          <p:nvPr/>
        </p:nvSpPr>
        <p:spPr>
          <a:xfrm>
            <a:off x="5038344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97" name="cell"/>
          <p:cNvSpPr>
            <a:spLocks noGrp="1"/>
          </p:cNvSpPr>
          <p:nvPr/>
        </p:nvSpPr>
        <p:spPr>
          <a:xfrm>
            <a:off x="5934456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8" name="celt"/>
          <p:cNvSpPr txBox="1">
            <a:spLocks noGrp="1"/>
          </p:cNvSpPr>
          <p:nvPr/>
        </p:nvSpPr>
        <p:spPr>
          <a:xfrm>
            <a:off x="5934456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98" name="cell"/>
          <p:cNvSpPr>
            <a:spLocks noGrp="1"/>
          </p:cNvSpPr>
          <p:nvPr/>
        </p:nvSpPr>
        <p:spPr>
          <a:xfrm>
            <a:off x="6830568" y="3017520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99" name="celt"/>
          <p:cNvSpPr txBox="1">
            <a:spLocks noGrp="1"/>
          </p:cNvSpPr>
          <p:nvPr/>
        </p:nvSpPr>
        <p:spPr>
          <a:xfrm>
            <a:off x="6830568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0" name="cb"/>
          <p:cNvSpPr>
            <a:spLocks noGrp="1"/>
          </p:cNvSpPr>
          <p:nvPr/>
        </p:nvSpPr>
        <p:spPr>
          <a:xfrm>
            <a:off x="320040" y="3218688"/>
            <a:ext cx="566928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01" name="ct"/>
          <p:cNvSpPr txBox="1">
            <a:spLocks noGrp="1"/>
          </p:cNvSpPr>
          <p:nvPr/>
        </p:nvSpPr>
        <p:spPr>
          <a:xfrm>
            <a:off x="320040" y="321868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40" dirty="0" b="1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02" name="db"/>
          <p:cNvSpPr>
            <a:spLocks noGrp="1"/>
          </p:cNvSpPr>
          <p:nvPr/>
        </p:nvSpPr>
        <p:spPr>
          <a:xfrm>
            <a:off x="886968" y="3218688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03" name="dt"/>
          <p:cNvSpPr txBox="1">
            <a:spLocks noGrp="1"/>
          </p:cNvSpPr>
          <p:nvPr/>
        </p:nvSpPr>
        <p:spPr>
          <a:xfrm>
            <a:off x="941832" y="321868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x call</a:t>
            </a:r>
          </a:p>
        </p:txBody>
      </p:sp>
      <p:sp>
        <p:nvSpPr>
          <p:cNvPr id="204" name="cell"/>
          <p:cNvSpPr>
            <a:spLocks noGrp="1"/>
          </p:cNvSpPr>
          <p:nvPr/>
        </p:nvSpPr>
        <p:spPr>
          <a:xfrm>
            <a:off x="3246120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5" name="celt"/>
          <p:cNvSpPr txBox="1">
            <a:spLocks noGrp="1"/>
          </p:cNvSpPr>
          <p:nvPr/>
        </p:nvSpPr>
        <p:spPr>
          <a:xfrm>
            <a:off x="3246120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5" name="cell"/>
          <p:cNvSpPr>
            <a:spLocks noGrp="1"/>
          </p:cNvSpPr>
          <p:nvPr/>
        </p:nvSpPr>
        <p:spPr>
          <a:xfrm>
            <a:off x="4142232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6" name="celt"/>
          <p:cNvSpPr txBox="1">
            <a:spLocks noGrp="1"/>
          </p:cNvSpPr>
          <p:nvPr/>
        </p:nvSpPr>
        <p:spPr>
          <a:xfrm>
            <a:off x="4142232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6" name="cell"/>
          <p:cNvSpPr>
            <a:spLocks noGrp="1"/>
          </p:cNvSpPr>
          <p:nvPr/>
        </p:nvSpPr>
        <p:spPr>
          <a:xfrm>
            <a:off x="5038344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7" name="celt"/>
          <p:cNvSpPr txBox="1">
            <a:spLocks noGrp="1"/>
          </p:cNvSpPr>
          <p:nvPr/>
        </p:nvSpPr>
        <p:spPr>
          <a:xfrm>
            <a:off x="5038344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7" name="cell"/>
          <p:cNvSpPr>
            <a:spLocks noGrp="1"/>
          </p:cNvSpPr>
          <p:nvPr/>
        </p:nvSpPr>
        <p:spPr>
          <a:xfrm>
            <a:off x="5934456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8" name="celt"/>
          <p:cNvSpPr txBox="1">
            <a:spLocks noGrp="1"/>
          </p:cNvSpPr>
          <p:nvPr/>
        </p:nvSpPr>
        <p:spPr>
          <a:xfrm>
            <a:off x="5934456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8" name="cell"/>
          <p:cNvSpPr>
            <a:spLocks noGrp="1"/>
          </p:cNvSpPr>
          <p:nvPr/>
        </p:nvSpPr>
        <p:spPr>
          <a:xfrm>
            <a:off x="6830568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9" name="celt"/>
          <p:cNvSpPr txBox="1">
            <a:spLocks noGrp="1"/>
          </p:cNvSpPr>
          <p:nvPr/>
        </p:nvSpPr>
        <p:spPr>
          <a:xfrm>
            <a:off x="6830568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12" name="db"/>
          <p:cNvSpPr>
            <a:spLocks noGrp="1"/>
          </p:cNvSpPr>
          <p:nvPr/>
        </p:nvSpPr>
        <p:spPr>
          <a:xfrm>
            <a:off x="886968" y="3419856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13" name="dt"/>
          <p:cNvSpPr txBox="1">
            <a:spLocks noGrp="1"/>
          </p:cNvSpPr>
          <p:nvPr/>
        </p:nvSpPr>
        <p:spPr>
          <a:xfrm>
            <a:off x="941832" y="341985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14" name="cell"/>
          <p:cNvSpPr>
            <a:spLocks noGrp="1"/>
          </p:cNvSpPr>
          <p:nvPr/>
        </p:nvSpPr>
        <p:spPr>
          <a:xfrm>
            <a:off x="3246120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5" name="celt"/>
          <p:cNvSpPr txBox="1">
            <a:spLocks noGrp="1"/>
          </p:cNvSpPr>
          <p:nvPr/>
        </p:nvSpPr>
        <p:spPr>
          <a:xfrm>
            <a:off x="3246120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15" name="cell"/>
          <p:cNvSpPr>
            <a:spLocks noGrp="1"/>
          </p:cNvSpPr>
          <p:nvPr/>
        </p:nvSpPr>
        <p:spPr>
          <a:xfrm>
            <a:off x="4142232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6" name="celt"/>
          <p:cNvSpPr txBox="1">
            <a:spLocks noGrp="1"/>
          </p:cNvSpPr>
          <p:nvPr/>
        </p:nvSpPr>
        <p:spPr>
          <a:xfrm>
            <a:off x="4142232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16" name="cell"/>
          <p:cNvSpPr>
            <a:spLocks noGrp="1"/>
          </p:cNvSpPr>
          <p:nvPr/>
        </p:nvSpPr>
        <p:spPr>
          <a:xfrm>
            <a:off x="5038344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7" name="celt"/>
          <p:cNvSpPr txBox="1">
            <a:spLocks noGrp="1"/>
          </p:cNvSpPr>
          <p:nvPr/>
        </p:nvSpPr>
        <p:spPr>
          <a:xfrm>
            <a:off x="5038344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17" name="cell"/>
          <p:cNvSpPr>
            <a:spLocks noGrp="1"/>
          </p:cNvSpPr>
          <p:nvPr/>
        </p:nvSpPr>
        <p:spPr>
          <a:xfrm>
            <a:off x="5934456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8" name="celt"/>
          <p:cNvSpPr txBox="1">
            <a:spLocks noGrp="1"/>
          </p:cNvSpPr>
          <p:nvPr/>
        </p:nvSpPr>
        <p:spPr>
          <a:xfrm>
            <a:off x="5934456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18" name="cell"/>
          <p:cNvSpPr>
            <a:spLocks noGrp="1"/>
          </p:cNvSpPr>
          <p:nvPr/>
        </p:nvSpPr>
        <p:spPr>
          <a:xfrm>
            <a:off x="6830568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9" name="celt"/>
          <p:cNvSpPr txBox="1">
            <a:spLocks noGrp="1"/>
          </p:cNvSpPr>
          <p:nvPr/>
        </p:nvSpPr>
        <p:spPr>
          <a:xfrm>
            <a:off x="6830568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22" name="db"/>
          <p:cNvSpPr>
            <a:spLocks noGrp="1"/>
          </p:cNvSpPr>
          <p:nvPr/>
        </p:nvSpPr>
        <p:spPr>
          <a:xfrm>
            <a:off x="886968" y="3621024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23" name="dt"/>
          <p:cNvSpPr txBox="1">
            <a:spLocks noGrp="1"/>
          </p:cNvSpPr>
          <p:nvPr/>
        </p:nvSpPr>
        <p:spPr>
          <a:xfrm>
            <a:off x="941832" y="362102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24" name="cell"/>
          <p:cNvSpPr>
            <a:spLocks noGrp="1"/>
          </p:cNvSpPr>
          <p:nvPr/>
        </p:nvSpPr>
        <p:spPr>
          <a:xfrm>
            <a:off x="3246120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5" name="celt"/>
          <p:cNvSpPr txBox="1">
            <a:spLocks noGrp="1"/>
          </p:cNvSpPr>
          <p:nvPr/>
        </p:nvSpPr>
        <p:spPr>
          <a:xfrm>
            <a:off x="3246120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25" name="cell"/>
          <p:cNvSpPr>
            <a:spLocks noGrp="1"/>
          </p:cNvSpPr>
          <p:nvPr/>
        </p:nvSpPr>
        <p:spPr>
          <a:xfrm>
            <a:off x="4142232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6" name="celt"/>
          <p:cNvSpPr txBox="1">
            <a:spLocks noGrp="1"/>
          </p:cNvSpPr>
          <p:nvPr/>
        </p:nvSpPr>
        <p:spPr>
          <a:xfrm>
            <a:off x="4142232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26" name="cell"/>
          <p:cNvSpPr>
            <a:spLocks noGrp="1"/>
          </p:cNvSpPr>
          <p:nvPr/>
        </p:nvSpPr>
        <p:spPr>
          <a:xfrm>
            <a:off x="5038344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7" name="celt"/>
          <p:cNvSpPr txBox="1">
            <a:spLocks noGrp="1"/>
          </p:cNvSpPr>
          <p:nvPr/>
        </p:nvSpPr>
        <p:spPr>
          <a:xfrm>
            <a:off x="5038344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27" name="cell"/>
          <p:cNvSpPr>
            <a:spLocks noGrp="1"/>
          </p:cNvSpPr>
          <p:nvPr/>
        </p:nvSpPr>
        <p:spPr>
          <a:xfrm>
            <a:off x="5934456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8" name="celt"/>
          <p:cNvSpPr txBox="1">
            <a:spLocks noGrp="1"/>
          </p:cNvSpPr>
          <p:nvPr/>
        </p:nvSpPr>
        <p:spPr>
          <a:xfrm>
            <a:off x="5934456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28" name="cell"/>
          <p:cNvSpPr>
            <a:spLocks noGrp="1"/>
          </p:cNvSpPr>
          <p:nvPr/>
        </p:nvSpPr>
        <p:spPr>
          <a:xfrm>
            <a:off x="6830568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9" name="celt"/>
          <p:cNvSpPr txBox="1">
            <a:spLocks noGrp="1"/>
          </p:cNvSpPr>
          <p:nvPr/>
        </p:nvSpPr>
        <p:spPr>
          <a:xfrm>
            <a:off x="6830568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32" name="db"/>
          <p:cNvSpPr>
            <a:spLocks noGrp="1"/>
          </p:cNvSpPr>
          <p:nvPr/>
        </p:nvSpPr>
        <p:spPr>
          <a:xfrm>
            <a:off x="886968" y="3822192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33" name="dt"/>
          <p:cNvSpPr txBox="1">
            <a:spLocks noGrp="1"/>
          </p:cNvSpPr>
          <p:nvPr/>
        </p:nvSpPr>
        <p:spPr>
          <a:xfrm>
            <a:off x="941832" y="382219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234" name="cell"/>
          <p:cNvSpPr>
            <a:spLocks noGrp="1"/>
          </p:cNvSpPr>
          <p:nvPr/>
        </p:nvSpPr>
        <p:spPr>
          <a:xfrm>
            <a:off x="3246120" y="382219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5" name="celt"/>
          <p:cNvSpPr txBox="1">
            <a:spLocks noGrp="1"/>
          </p:cNvSpPr>
          <p:nvPr/>
        </p:nvSpPr>
        <p:spPr>
          <a:xfrm>
            <a:off x="3246120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35" name="cell"/>
          <p:cNvSpPr>
            <a:spLocks noGrp="1"/>
          </p:cNvSpPr>
          <p:nvPr/>
        </p:nvSpPr>
        <p:spPr>
          <a:xfrm>
            <a:off x="4142232" y="382219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6" name="celt"/>
          <p:cNvSpPr txBox="1">
            <a:spLocks noGrp="1"/>
          </p:cNvSpPr>
          <p:nvPr/>
        </p:nvSpPr>
        <p:spPr>
          <a:xfrm>
            <a:off x="4142232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36" name="cell"/>
          <p:cNvSpPr>
            <a:spLocks noGrp="1"/>
          </p:cNvSpPr>
          <p:nvPr/>
        </p:nvSpPr>
        <p:spPr>
          <a:xfrm>
            <a:off x="5038344" y="382219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37" name="celt"/>
          <p:cNvSpPr txBox="1">
            <a:spLocks noGrp="1"/>
          </p:cNvSpPr>
          <p:nvPr/>
        </p:nvSpPr>
        <p:spPr>
          <a:xfrm>
            <a:off x="5038344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37" name="cell"/>
          <p:cNvSpPr>
            <a:spLocks noGrp="1"/>
          </p:cNvSpPr>
          <p:nvPr/>
        </p:nvSpPr>
        <p:spPr>
          <a:xfrm>
            <a:off x="5934456" y="3822192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38" name="celt"/>
          <p:cNvSpPr txBox="1">
            <a:spLocks noGrp="1"/>
          </p:cNvSpPr>
          <p:nvPr/>
        </p:nvSpPr>
        <p:spPr>
          <a:xfrm>
            <a:off x="5934456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238" name="cell"/>
          <p:cNvSpPr>
            <a:spLocks noGrp="1"/>
          </p:cNvSpPr>
          <p:nvPr/>
        </p:nvSpPr>
        <p:spPr>
          <a:xfrm>
            <a:off x="6830568" y="382219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39" name="celt"/>
          <p:cNvSpPr txBox="1">
            <a:spLocks noGrp="1"/>
          </p:cNvSpPr>
          <p:nvPr/>
        </p:nvSpPr>
        <p:spPr>
          <a:xfrm>
            <a:off x="6830568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42" name="db"/>
          <p:cNvSpPr>
            <a:spLocks noGrp="1"/>
          </p:cNvSpPr>
          <p:nvPr/>
        </p:nvSpPr>
        <p:spPr>
          <a:xfrm>
            <a:off x="886968" y="4023360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43" name="dt"/>
          <p:cNvSpPr txBox="1">
            <a:spLocks noGrp="1"/>
          </p:cNvSpPr>
          <p:nvPr/>
        </p:nvSpPr>
        <p:spPr>
          <a:xfrm>
            <a:off x="941832" y="402336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Reskilling constante del staff</a:t>
            </a:r>
          </a:p>
        </p:txBody>
      </p:sp>
      <p:sp>
        <p:nvSpPr>
          <p:cNvPr id="244" name="cell"/>
          <p:cNvSpPr>
            <a:spLocks noGrp="1"/>
          </p:cNvSpPr>
          <p:nvPr/>
        </p:nvSpPr>
        <p:spPr>
          <a:xfrm>
            <a:off x="3246120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5" name="celt"/>
          <p:cNvSpPr txBox="1">
            <a:spLocks noGrp="1"/>
          </p:cNvSpPr>
          <p:nvPr/>
        </p:nvSpPr>
        <p:spPr>
          <a:xfrm>
            <a:off x="3246120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45" name="cell"/>
          <p:cNvSpPr>
            <a:spLocks noGrp="1"/>
          </p:cNvSpPr>
          <p:nvPr/>
        </p:nvSpPr>
        <p:spPr>
          <a:xfrm>
            <a:off x="4142232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6" name="celt"/>
          <p:cNvSpPr txBox="1">
            <a:spLocks noGrp="1"/>
          </p:cNvSpPr>
          <p:nvPr/>
        </p:nvSpPr>
        <p:spPr>
          <a:xfrm>
            <a:off x="4142232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46" name="cell"/>
          <p:cNvSpPr>
            <a:spLocks noGrp="1"/>
          </p:cNvSpPr>
          <p:nvPr/>
        </p:nvSpPr>
        <p:spPr>
          <a:xfrm>
            <a:off x="5038344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7" name="celt"/>
          <p:cNvSpPr txBox="1">
            <a:spLocks noGrp="1"/>
          </p:cNvSpPr>
          <p:nvPr/>
        </p:nvSpPr>
        <p:spPr>
          <a:xfrm>
            <a:off x="5038344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47" name="cell"/>
          <p:cNvSpPr>
            <a:spLocks noGrp="1"/>
          </p:cNvSpPr>
          <p:nvPr/>
        </p:nvSpPr>
        <p:spPr>
          <a:xfrm>
            <a:off x="5934456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8" name="celt"/>
          <p:cNvSpPr txBox="1">
            <a:spLocks noGrp="1"/>
          </p:cNvSpPr>
          <p:nvPr/>
        </p:nvSpPr>
        <p:spPr>
          <a:xfrm>
            <a:off x="5934456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48" name="cell"/>
          <p:cNvSpPr>
            <a:spLocks noGrp="1"/>
          </p:cNvSpPr>
          <p:nvPr/>
        </p:nvSpPr>
        <p:spPr>
          <a:xfrm>
            <a:off x="6830568" y="4023360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49" name="celt"/>
          <p:cNvSpPr txBox="1">
            <a:spLocks noGrp="1"/>
          </p:cNvSpPr>
          <p:nvPr/>
        </p:nvSpPr>
        <p:spPr>
          <a:xfrm>
            <a:off x="6830568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0" name="cb"/>
          <p:cNvSpPr>
            <a:spLocks noGrp="1"/>
          </p:cNvSpPr>
          <p:nvPr/>
        </p:nvSpPr>
        <p:spPr>
          <a:xfrm>
            <a:off x="320040" y="4224528"/>
            <a:ext cx="566928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51" name="ct"/>
          <p:cNvSpPr txBox="1">
            <a:spLocks noGrp="1"/>
          </p:cNvSpPr>
          <p:nvPr/>
        </p:nvSpPr>
        <p:spPr>
          <a:xfrm>
            <a:off x="320040" y="422452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40" dirty="0" b="1">
                <a:solidFill>
                  <a:srgbClr val="C00000"/>
                </a:solidFill>
                <a:latin typeface="Calibri"/>
              </a:rPr>
              <a:t>COM</a:t>
            </a:r>
          </a:p>
        </p:txBody>
      </p:sp>
      <p:sp>
        <p:nvSpPr>
          <p:cNvPr id="252" name="db"/>
          <p:cNvSpPr>
            <a:spLocks noGrp="1"/>
          </p:cNvSpPr>
          <p:nvPr/>
        </p:nvSpPr>
        <p:spPr>
          <a:xfrm>
            <a:off x="886968" y="4224528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53" name="dt"/>
          <p:cNvSpPr txBox="1">
            <a:spLocks noGrp="1"/>
          </p:cNvSpPr>
          <p:nvPr/>
        </p:nvSpPr>
        <p:spPr>
          <a:xfrm>
            <a:off x="941832" y="422452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54" name="cell"/>
          <p:cNvSpPr>
            <a:spLocks noGrp="1"/>
          </p:cNvSpPr>
          <p:nvPr/>
        </p:nvSpPr>
        <p:spPr>
          <a:xfrm>
            <a:off x="3246120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5" name="celt"/>
          <p:cNvSpPr txBox="1">
            <a:spLocks noGrp="1"/>
          </p:cNvSpPr>
          <p:nvPr/>
        </p:nvSpPr>
        <p:spPr>
          <a:xfrm>
            <a:off x="3246120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5" name="cell"/>
          <p:cNvSpPr>
            <a:spLocks noGrp="1"/>
          </p:cNvSpPr>
          <p:nvPr/>
        </p:nvSpPr>
        <p:spPr>
          <a:xfrm>
            <a:off x="4142232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6" name="celt"/>
          <p:cNvSpPr txBox="1">
            <a:spLocks noGrp="1"/>
          </p:cNvSpPr>
          <p:nvPr/>
        </p:nvSpPr>
        <p:spPr>
          <a:xfrm>
            <a:off x="4142232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6" name="cell"/>
          <p:cNvSpPr>
            <a:spLocks noGrp="1"/>
          </p:cNvSpPr>
          <p:nvPr/>
        </p:nvSpPr>
        <p:spPr>
          <a:xfrm>
            <a:off x="5038344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7" name="celt"/>
          <p:cNvSpPr txBox="1">
            <a:spLocks noGrp="1"/>
          </p:cNvSpPr>
          <p:nvPr/>
        </p:nvSpPr>
        <p:spPr>
          <a:xfrm>
            <a:off x="5038344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7" name="cell"/>
          <p:cNvSpPr>
            <a:spLocks noGrp="1"/>
          </p:cNvSpPr>
          <p:nvPr/>
        </p:nvSpPr>
        <p:spPr>
          <a:xfrm>
            <a:off x="5934456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8" name="celt"/>
          <p:cNvSpPr txBox="1">
            <a:spLocks noGrp="1"/>
          </p:cNvSpPr>
          <p:nvPr/>
        </p:nvSpPr>
        <p:spPr>
          <a:xfrm>
            <a:off x="5934456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8" name="cell"/>
          <p:cNvSpPr>
            <a:spLocks noGrp="1"/>
          </p:cNvSpPr>
          <p:nvPr/>
        </p:nvSpPr>
        <p:spPr>
          <a:xfrm>
            <a:off x="6830568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9" name="celt"/>
          <p:cNvSpPr txBox="1">
            <a:spLocks noGrp="1"/>
          </p:cNvSpPr>
          <p:nvPr/>
        </p:nvSpPr>
        <p:spPr>
          <a:xfrm>
            <a:off x="6830568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62" name="db"/>
          <p:cNvSpPr>
            <a:spLocks noGrp="1"/>
          </p:cNvSpPr>
          <p:nvPr/>
        </p:nvSpPr>
        <p:spPr>
          <a:xfrm>
            <a:off x="886968" y="4425696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63" name="dt"/>
          <p:cNvSpPr txBox="1">
            <a:spLocks noGrp="1"/>
          </p:cNvSpPr>
          <p:nvPr/>
        </p:nvSpPr>
        <p:spPr>
          <a:xfrm>
            <a:off x="941832" y="442569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conocimiento informal</a:t>
            </a:r>
          </a:p>
        </p:txBody>
      </p:sp>
      <p:sp>
        <p:nvSpPr>
          <p:cNvPr id="264" name="cell"/>
          <p:cNvSpPr>
            <a:spLocks noGrp="1"/>
          </p:cNvSpPr>
          <p:nvPr/>
        </p:nvSpPr>
        <p:spPr>
          <a:xfrm>
            <a:off x="3246120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5" name="celt"/>
          <p:cNvSpPr txBox="1">
            <a:spLocks noGrp="1"/>
          </p:cNvSpPr>
          <p:nvPr/>
        </p:nvSpPr>
        <p:spPr>
          <a:xfrm>
            <a:off x="3246120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265" name="cell"/>
          <p:cNvSpPr>
            <a:spLocks noGrp="1"/>
          </p:cNvSpPr>
          <p:nvPr/>
        </p:nvSpPr>
        <p:spPr>
          <a:xfrm>
            <a:off x="4142232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6" name="celt"/>
          <p:cNvSpPr txBox="1">
            <a:spLocks noGrp="1"/>
          </p:cNvSpPr>
          <p:nvPr/>
        </p:nvSpPr>
        <p:spPr>
          <a:xfrm>
            <a:off x="4142232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266" name="cell"/>
          <p:cNvSpPr>
            <a:spLocks noGrp="1"/>
          </p:cNvSpPr>
          <p:nvPr/>
        </p:nvSpPr>
        <p:spPr>
          <a:xfrm>
            <a:off x="5038344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7" name="celt"/>
          <p:cNvSpPr txBox="1">
            <a:spLocks noGrp="1"/>
          </p:cNvSpPr>
          <p:nvPr/>
        </p:nvSpPr>
        <p:spPr>
          <a:xfrm>
            <a:off x="5038344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267" name="cell"/>
          <p:cNvSpPr>
            <a:spLocks noGrp="1"/>
          </p:cNvSpPr>
          <p:nvPr/>
        </p:nvSpPr>
        <p:spPr>
          <a:xfrm>
            <a:off x="5934456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8" name="celt"/>
          <p:cNvSpPr txBox="1">
            <a:spLocks noGrp="1"/>
          </p:cNvSpPr>
          <p:nvPr/>
        </p:nvSpPr>
        <p:spPr>
          <a:xfrm>
            <a:off x="5934456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268" name="cell"/>
          <p:cNvSpPr>
            <a:spLocks noGrp="1"/>
          </p:cNvSpPr>
          <p:nvPr/>
        </p:nvSpPr>
        <p:spPr>
          <a:xfrm>
            <a:off x="6830568" y="442569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69" name="celt"/>
          <p:cNvSpPr txBox="1">
            <a:spLocks noGrp="1"/>
          </p:cNvSpPr>
          <p:nvPr/>
        </p:nvSpPr>
        <p:spPr>
          <a:xfrm>
            <a:off x="6830568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72" name="db"/>
          <p:cNvSpPr>
            <a:spLocks noGrp="1"/>
          </p:cNvSpPr>
          <p:nvPr/>
        </p:nvSpPr>
        <p:spPr>
          <a:xfrm>
            <a:off x="886968" y="4626864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73" name="dt"/>
          <p:cNvSpPr txBox="1">
            <a:spLocks noGrp="1"/>
          </p:cNvSpPr>
          <p:nvPr/>
        </p:nvSpPr>
        <p:spPr>
          <a:xfrm>
            <a:off x="941832" y="462686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274" name="cell"/>
          <p:cNvSpPr>
            <a:spLocks noGrp="1"/>
          </p:cNvSpPr>
          <p:nvPr/>
        </p:nvSpPr>
        <p:spPr>
          <a:xfrm>
            <a:off x="3246120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5" name="celt"/>
          <p:cNvSpPr txBox="1">
            <a:spLocks noGrp="1"/>
          </p:cNvSpPr>
          <p:nvPr/>
        </p:nvSpPr>
        <p:spPr>
          <a:xfrm>
            <a:off x="3246120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75" name="cell"/>
          <p:cNvSpPr>
            <a:spLocks noGrp="1"/>
          </p:cNvSpPr>
          <p:nvPr/>
        </p:nvSpPr>
        <p:spPr>
          <a:xfrm>
            <a:off x="4142232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6" name="celt"/>
          <p:cNvSpPr txBox="1">
            <a:spLocks noGrp="1"/>
          </p:cNvSpPr>
          <p:nvPr/>
        </p:nvSpPr>
        <p:spPr>
          <a:xfrm>
            <a:off x="4142232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76" name="cell"/>
          <p:cNvSpPr>
            <a:spLocks noGrp="1"/>
          </p:cNvSpPr>
          <p:nvPr/>
        </p:nvSpPr>
        <p:spPr>
          <a:xfrm>
            <a:off x="5038344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7" name="celt"/>
          <p:cNvSpPr txBox="1">
            <a:spLocks noGrp="1"/>
          </p:cNvSpPr>
          <p:nvPr/>
        </p:nvSpPr>
        <p:spPr>
          <a:xfrm>
            <a:off x="5038344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77" name="cell"/>
          <p:cNvSpPr>
            <a:spLocks noGrp="1"/>
          </p:cNvSpPr>
          <p:nvPr/>
        </p:nvSpPr>
        <p:spPr>
          <a:xfrm>
            <a:off x="5934456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8" name="celt"/>
          <p:cNvSpPr txBox="1">
            <a:spLocks noGrp="1"/>
          </p:cNvSpPr>
          <p:nvPr/>
        </p:nvSpPr>
        <p:spPr>
          <a:xfrm>
            <a:off x="5934456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78" name="cell"/>
          <p:cNvSpPr>
            <a:spLocks noGrp="1"/>
          </p:cNvSpPr>
          <p:nvPr/>
        </p:nvSpPr>
        <p:spPr>
          <a:xfrm>
            <a:off x="6830568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9" name="celt"/>
          <p:cNvSpPr txBox="1">
            <a:spLocks noGrp="1"/>
          </p:cNvSpPr>
          <p:nvPr/>
        </p:nvSpPr>
        <p:spPr>
          <a:xfrm>
            <a:off x="6830568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100" dirty="0" b="1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Fuente: Levantamiento interno · Julio 2026 · Excel Levantamiento_Mesas_Julio_2026 · Reuniones con Elsy Marin, Michael Arevalo, Diego Serna, Virginia y Lina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Capacidad Instalada y Costo por Ticket — Comparacion con la Industria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1000" dirty="0">
                <a:solidFill>
                  <a:srgbClr val="F0D0E8"/>
                </a:solidFill>
                <a:latin typeface="Calibri"/>
              </a:rPr>
              <a:t>Supuesto: $88.000 COP/hora-FTE · TRM: $4.200 COP/USD · Fuente: Levantamiento interno PS · Julio 2026</a:t>
            </a:r>
          </a:p>
        </p:txBody>
      </p:sp>
      <p:sp>
        <p:nvSpPr>
          <p:cNvPr id="10" name="rb"/>
          <p:cNvSpPr>
            <a:spLocks noGrp="1"/>
          </p:cNvSpPr>
          <p:nvPr/>
        </p:nvSpPr>
        <p:spPr>
          <a:xfrm>
            <a:off x="320040" y="804672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5875">
            <a:solidFill>
              <a:srgbClr val="C00000"/>
            </a:solidFill>
          </a:ln>
        </p:spPr>
      </p:sp>
      <p:sp>
        <p:nvSpPr>
          <p:cNvPr id="11" name="rbar"/>
          <p:cNvSpPr>
            <a:spLocks noGrp="1"/>
          </p:cNvSpPr>
          <p:nvPr/>
        </p:nvSpPr>
        <p:spPr>
          <a:xfrm>
            <a:off x="320040" y="804672"/>
            <a:ext cx="2377440" cy="54864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rn"/>
          <p:cNvSpPr txBox="1">
            <a:spLocks noGrp="1"/>
          </p:cNvSpPr>
          <p:nvPr/>
        </p:nvSpPr>
        <p:spPr>
          <a:xfrm>
            <a:off x="320040" y="8778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3000" dirty="0" b="1">
                <a:solidFill>
                  <a:srgbClr val="C00000"/>
                </a:solidFill>
                <a:latin typeface="Calibri"/>
              </a:rPr>
              <a:t>USD 35</a:t>
            </a:r>
          </a:p>
        </p:txBody>
      </p:sp>
      <p:sp>
        <p:nvSpPr>
          <p:cNvPr id="13" name="rl"/>
          <p:cNvSpPr txBox="1">
            <a:spLocks noGrp="1"/>
          </p:cNvSpPr>
          <p:nvPr/>
        </p:nvSpPr>
        <p:spPr>
          <a:xfrm>
            <a:off x="393192" y="1280160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Costo/ticket industria
N1-N2 promedio</a:t>
            </a:r>
          </a:p>
        </p:txBody>
      </p:sp>
      <p:sp>
        <p:nvSpPr>
          <p:cNvPr id="14" name="rs"/>
          <p:cNvSpPr txBox="1">
            <a:spLocks noGrp="1"/>
          </p:cNvSpPr>
          <p:nvPr/>
        </p:nvSpPr>
        <p:spPr>
          <a:xfrm>
            <a:off x="393192" y="1499616"/>
            <a:ext cx="2231136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6B7280"/>
                </a:solidFill>
                <a:latin typeface="Calibri"/>
              </a:rPr>
              <a:t>Gartner / MetricNet 2024</a:t>
            </a:r>
          </a:p>
        </p:txBody>
      </p:sp>
      <p:sp>
        <p:nvSpPr>
          <p:cNvPr id="14" name="rb"/>
          <p:cNvSpPr>
            <a:spLocks noGrp="1"/>
          </p:cNvSpPr>
          <p:nvPr/>
        </p:nvSpPr>
        <p:spPr>
          <a:xfrm>
            <a:off x="3337560" y="804672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5875">
            <a:solidFill>
              <a:srgbClr val="92400E"/>
            </a:solidFill>
          </a:ln>
        </p:spPr>
      </p:sp>
      <p:sp>
        <p:nvSpPr>
          <p:cNvPr id="15" name="rbar"/>
          <p:cNvSpPr>
            <a:spLocks noGrp="1"/>
          </p:cNvSpPr>
          <p:nvPr/>
        </p:nvSpPr>
        <p:spPr>
          <a:xfrm>
            <a:off x="3337560" y="804672"/>
            <a:ext cx="2377440" cy="54864"/>
          </a:xfrm>
          <a:prstGeom prst="roundRect">
            <a:avLst>
              <a:gd name="adj" fmla="val 15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6" name="rn"/>
          <p:cNvSpPr txBox="1">
            <a:spLocks noGrp="1"/>
          </p:cNvSpPr>
          <p:nvPr/>
        </p:nvSpPr>
        <p:spPr>
          <a:xfrm>
            <a:off x="3337560" y="8778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3000" dirty="0" b="1">
                <a:solidFill>
                  <a:srgbClr val="92400E"/>
                </a:solidFill>
                <a:latin typeface="Calibri"/>
              </a:rPr>
              <a:t>8.85h</a:t>
            </a:r>
          </a:p>
        </p:txBody>
      </p:sp>
      <p:sp>
        <p:nvSpPr>
          <p:cNvPr id="17" name="rl"/>
          <p:cNvSpPr txBox="1">
            <a:spLocks noGrp="1"/>
          </p:cNvSpPr>
          <p:nvPr/>
        </p:nvSpPr>
        <p:spPr>
          <a:xfrm>
            <a:off x="3410712" y="1280160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92400E"/>
                </a:solidFill>
                <a:latin typeface="Calibri"/>
              </a:rPr>
              <a:t>MTTR promedio industria
(tiempo resolución)</a:t>
            </a:r>
          </a:p>
        </p:txBody>
      </p:sp>
      <p:sp>
        <p:nvSpPr>
          <p:cNvPr id="18" name="rs"/>
          <p:cNvSpPr txBox="1">
            <a:spLocks noGrp="1"/>
          </p:cNvSpPr>
          <p:nvPr/>
        </p:nvSpPr>
        <p:spPr>
          <a:xfrm>
            <a:off x="3410712" y="1499616"/>
            <a:ext cx="2231136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6B7280"/>
                </a:solidFill>
                <a:latin typeface="Calibri"/>
              </a:rPr>
              <a:t>HDI Standard / MetricNet</a:t>
            </a:r>
          </a:p>
        </p:txBody>
      </p:sp>
      <p:sp>
        <p:nvSpPr>
          <p:cNvPr id="18" name="rb"/>
          <p:cNvSpPr>
            <a:spLocks noGrp="1"/>
          </p:cNvSpPr>
          <p:nvPr/>
        </p:nvSpPr>
        <p:spPr>
          <a:xfrm>
            <a:off x="6355080" y="804672"/>
            <a:ext cx="2377440" cy="822960"/>
          </a:xfrm>
          <a:prstGeom prst="roundRect">
            <a:avLst>
              <a:gd name="adj" fmla="val 15000"/>
            </a:avLst>
          </a:prstGeom>
          <a:solidFill>
            <a:srgbClr val="E8F5EE"/>
          </a:solidFill>
          <a:ln w="15875">
            <a:solidFill>
              <a:srgbClr val="1A6B3C"/>
            </a:solidFill>
          </a:ln>
        </p:spPr>
      </p:sp>
      <p:sp>
        <p:nvSpPr>
          <p:cNvPr id="19" name="rbar"/>
          <p:cNvSpPr>
            <a:spLocks noGrp="1"/>
          </p:cNvSpPr>
          <p:nvPr/>
        </p:nvSpPr>
        <p:spPr>
          <a:xfrm>
            <a:off x="6355080" y="804672"/>
            <a:ext cx="2377440" cy="54864"/>
          </a:xfrm>
          <a:prstGeom prst="roundRect">
            <a:avLst>
              <a:gd name="adj" fmla="val 15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20" name="rn"/>
          <p:cNvSpPr txBox="1">
            <a:spLocks noGrp="1"/>
          </p:cNvSpPr>
          <p:nvPr/>
        </p:nvSpPr>
        <p:spPr>
          <a:xfrm>
            <a:off x="6355080" y="8778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3000" dirty="0" b="1">
                <a:solidFill>
                  <a:srgbClr val="1A6B3C"/>
                </a:solidFill>
                <a:latin typeface="Calibri"/>
              </a:rPr>
              <a:t>USD 15</a:t>
            </a:r>
          </a:p>
        </p:txBody>
      </p:sp>
      <p:sp>
        <p:nvSpPr>
          <p:cNvPr id="21" name="rl"/>
          <p:cNvSpPr txBox="1">
            <a:spLocks noGrp="1"/>
          </p:cNvSpPr>
          <p:nvPr/>
        </p:nvSpPr>
        <p:spPr>
          <a:xfrm>
            <a:off x="6428232" y="1280160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1A6B3C"/>
                </a:solidFill>
                <a:latin typeface="Calibri"/>
              </a:rPr>
              <a:t>Meta costo/ticket N3
PersonalSoft Wave 1</a:t>
            </a:r>
          </a:p>
        </p:txBody>
      </p:sp>
      <p:sp>
        <p:nvSpPr>
          <p:cNvPr id="22" name="rs"/>
          <p:cNvSpPr txBox="1">
            <a:spLocks noGrp="1"/>
          </p:cNvSpPr>
          <p:nvPr/>
        </p:nvSpPr>
        <p:spPr>
          <a:xfrm>
            <a:off x="6428232" y="1499616"/>
            <a:ext cx="2231136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6B7280"/>
                </a:solidFill>
                <a:latin typeface="Calibri"/>
              </a:rPr>
              <a:t>-57% vs industria actual</a:t>
            </a:r>
          </a:p>
        </p:txBody>
      </p:sp>
      <p:sp>
        <p:nvSpPr>
          <p:cNvPr id="20" name="arr"/>
          <p:cNvSpPr txBox="1">
            <a:spLocks noGrp="1"/>
          </p:cNvSpPr>
          <p:nvPr/>
        </p:nvSpPr>
        <p:spPr>
          <a:xfrm>
            <a:off x="2788920" y="1078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800" dirty="0" b="1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21" name="arr"/>
          <p:cNvSpPr txBox="1">
            <a:spLocks noGrp="1"/>
          </p:cNvSpPr>
          <p:nvPr/>
        </p:nvSpPr>
        <p:spPr>
          <a:xfrm>
            <a:off x="5806440" y="10789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800" dirty="0" b="1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30" name="thdr"/>
          <p:cNvSpPr>
            <a:spLocks noGrp="1"/>
          </p:cNvSpPr>
          <p:nvPr/>
        </p:nvSpPr>
        <p:spPr>
          <a:xfrm>
            <a:off x="320040" y="1737360"/>
            <a:ext cx="7955279" cy="347472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320040" y="1737360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Mesa de Servicio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1764792" y="17373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2148840" y="173736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Tickets/mes</a:t>
            </a:r>
          </a:p>
        </p:txBody>
      </p:sp>
      <p:sp>
        <p:nvSpPr>
          <p:cNvPr id="34" name="th"/>
          <p:cNvSpPr txBox="1">
            <a:spLocks noGrp="1"/>
          </p:cNvSpPr>
          <p:nvPr/>
        </p:nvSpPr>
        <p:spPr>
          <a:xfrm>
            <a:off x="2807208" y="1737360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MTTR (h)</a:t>
            </a:r>
          </a:p>
        </p:txBody>
      </p:sp>
      <p:sp>
        <p:nvSpPr>
          <p:cNvPr id="35" name="th"/>
          <p:cNvSpPr txBox="1">
            <a:spLocks noGrp="1"/>
          </p:cNvSpPr>
          <p:nvPr/>
        </p:nvSpPr>
        <p:spPr>
          <a:xfrm>
            <a:off x="3374136" y="1737360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6" name="th"/>
          <p:cNvSpPr txBox="1">
            <a:spLocks noGrp="1"/>
          </p:cNvSpPr>
          <p:nvPr/>
        </p:nvSpPr>
        <p:spPr>
          <a:xfrm>
            <a:off x="3849624" y="17373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Costo total/mes
(COP)</a:t>
            </a:r>
          </a:p>
        </p:txBody>
      </p:sp>
      <p:sp>
        <p:nvSpPr>
          <p:cNvPr id="37" name="th"/>
          <p:cNvSpPr txBox="1">
            <a:spLocks noGrp="1"/>
          </p:cNvSpPr>
          <p:nvPr/>
        </p:nvSpPr>
        <p:spPr>
          <a:xfrm>
            <a:off x="4946904" y="17373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Costo/ticket
(COP)</a:t>
            </a:r>
          </a:p>
        </p:txBody>
      </p:sp>
      <p:sp>
        <p:nvSpPr>
          <p:cNvPr id="38" name="th"/>
          <p:cNvSpPr txBox="1">
            <a:spLocks noGrp="1"/>
          </p:cNvSpPr>
          <p:nvPr/>
        </p:nvSpPr>
        <p:spPr>
          <a:xfrm>
            <a:off x="5861304" y="1737360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Costo/ticket
(USD)</a:t>
            </a:r>
          </a:p>
        </p:txBody>
      </p:sp>
      <p:sp>
        <p:nvSpPr>
          <p:cNvPr id="39" name="th"/>
          <p:cNvSpPr txBox="1">
            <a:spLocks noGrp="1"/>
          </p:cNvSpPr>
          <p:nvPr/>
        </p:nvSpPr>
        <p:spPr>
          <a:xfrm>
            <a:off x="6629400" y="1737360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vs Industria</a:t>
            </a:r>
          </a:p>
        </p:txBody>
      </p:sp>
      <p:sp>
        <p:nvSpPr>
          <p:cNvPr id="40" name="rb"/>
          <p:cNvSpPr>
            <a:spLocks noGrp="1"/>
          </p:cNvSpPr>
          <p:nvPr/>
        </p:nvSpPr>
        <p:spPr>
          <a:xfrm>
            <a:off x="320040" y="2084832"/>
            <a:ext cx="795527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41" name="c"/>
          <p:cNvSpPr txBox="1">
            <a:spLocks noGrp="1"/>
          </p:cNvSpPr>
          <p:nvPr/>
        </p:nvSpPr>
        <p:spPr>
          <a:xfrm>
            <a:off x="320040" y="208483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60" dirty="0" b="1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1764792" y="208483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2148840" y="208483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44" name="c"/>
          <p:cNvSpPr txBox="1">
            <a:spLocks noGrp="1"/>
          </p:cNvSpPr>
          <p:nvPr/>
        </p:nvSpPr>
        <p:spPr>
          <a:xfrm>
            <a:off x="2807208" y="208483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24.6h</a:t>
            </a:r>
          </a:p>
        </p:txBody>
      </p:sp>
      <p:sp>
        <p:nvSpPr>
          <p:cNvPr id="45" name="c"/>
          <p:cNvSpPr txBox="1">
            <a:spLocks noGrp="1"/>
          </p:cNvSpPr>
          <p:nvPr/>
        </p:nvSpPr>
        <p:spPr>
          <a:xfrm>
            <a:off x="3374136" y="208483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3849624" y="20848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4946904" y="20848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5861304" y="208483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USD $40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6629400" y="208483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+$+5</a:t>
            </a:r>
          </a:p>
        </p:txBody>
      </p:sp>
      <p:sp>
        <p:nvSpPr>
          <p:cNvPr id="42" name="nb"/>
          <p:cNvSpPr>
            <a:spLocks noGrp="1"/>
          </p:cNvSpPr>
          <p:nvPr/>
        </p:nvSpPr>
        <p:spPr>
          <a:xfrm>
            <a:off x="1618488" y="217627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43" name="nt"/>
          <p:cNvSpPr txBox="1">
            <a:spLocks noGrp="1"/>
          </p:cNvSpPr>
          <p:nvPr/>
        </p:nvSpPr>
        <p:spPr>
          <a:xfrm>
            <a:off x="1618488" y="217627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55" name="rb"/>
          <p:cNvSpPr>
            <a:spLocks noGrp="1"/>
          </p:cNvSpPr>
          <p:nvPr/>
        </p:nvSpPr>
        <p:spPr>
          <a:xfrm>
            <a:off x="320040" y="2450592"/>
            <a:ext cx="7955279" cy="365760"/>
          </a:xfrm>
          <a:prstGeom prst="rect">
            <a:avLst/>
          </a:prstGeom>
          <a:solidFill>
            <a:srgbClr val="F9F9F9"/>
          </a:solidFill>
          <a:ln w="6350">
            <a:solidFill>
              <a:srgbClr val="D1D5DB"/>
            </a:solidFill>
          </a:ln>
        </p:spPr>
      </p:sp>
      <p:sp>
        <p:nvSpPr>
          <p:cNvPr id="56" name="c"/>
          <p:cNvSpPr txBox="1">
            <a:spLocks noGrp="1"/>
          </p:cNvSpPr>
          <p:nvPr/>
        </p:nvSpPr>
        <p:spPr>
          <a:xfrm>
            <a:off x="320040" y="245059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60" dirty="0" b="1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1764792" y="245059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2148840" y="245059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9" name="c"/>
          <p:cNvSpPr txBox="1">
            <a:spLocks noGrp="1"/>
          </p:cNvSpPr>
          <p:nvPr/>
        </p:nvSpPr>
        <p:spPr>
          <a:xfrm>
            <a:off x="2807208" y="245059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12.4h</a:t>
            </a:r>
          </a:p>
        </p:txBody>
      </p:sp>
      <p:sp>
        <p:nvSpPr>
          <p:cNvPr id="60" name="c"/>
          <p:cNvSpPr txBox="1">
            <a:spLocks noGrp="1"/>
          </p:cNvSpPr>
          <p:nvPr/>
        </p:nvSpPr>
        <p:spPr>
          <a:xfrm>
            <a:off x="3374136" y="245059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61" name="c"/>
          <p:cNvSpPr txBox="1">
            <a:spLocks noGrp="1"/>
          </p:cNvSpPr>
          <p:nvPr/>
        </p:nvSpPr>
        <p:spPr>
          <a:xfrm>
            <a:off x="3849624" y="24505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4946904" y="245059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5861304" y="245059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USD $39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6629400" y="245059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+$+4</a:t>
            </a:r>
          </a:p>
        </p:txBody>
      </p:sp>
      <p:sp>
        <p:nvSpPr>
          <p:cNvPr id="57" name="nb"/>
          <p:cNvSpPr>
            <a:spLocks noGrp="1"/>
          </p:cNvSpPr>
          <p:nvPr/>
        </p:nvSpPr>
        <p:spPr>
          <a:xfrm>
            <a:off x="1618488" y="254203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58" name="nt"/>
          <p:cNvSpPr txBox="1">
            <a:spLocks noGrp="1"/>
          </p:cNvSpPr>
          <p:nvPr/>
        </p:nvSpPr>
        <p:spPr>
          <a:xfrm>
            <a:off x="1618488" y="254203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70" name="rb"/>
          <p:cNvSpPr>
            <a:spLocks noGrp="1"/>
          </p:cNvSpPr>
          <p:nvPr/>
        </p:nvSpPr>
        <p:spPr>
          <a:xfrm>
            <a:off x="320040" y="2816352"/>
            <a:ext cx="795527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1" name="c"/>
          <p:cNvSpPr txBox="1">
            <a:spLocks noGrp="1"/>
          </p:cNvSpPr>
          <p:nvPr/>
        </p:nvSpPr>
        <p:spPr>
          <a:xfrm>
            <a:off x="320040" y="281635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60" dirty="0" b="1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1764792" y="281635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2148840" y="281635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74" name="c"/>
          <p:cNvSpPr txBox="1">
            <a:spLocks noGrp="1"/>
          </p:cNvSpPr>
          <p:nvPr/>
        </p:nvSpPr>
        <p:spPr>
          <a:xfrm>
            <a:off x="2807208" y="281635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1A6B3C"/>
                </a:solidFill>
                <a:latin typeface="Calibri"/>
              </a:rPr>
              <a:t>3.0h</a:t>
            </a:r>
          </a:p>
        </p:txBody>
      </p:sp>
      <p:sp>
        <p:nvSpPr>
          <p:cNvPr id="75" name="c"/>
          <p:cNvSpPr txBox="1">
            <a:spLocks noGrp="1"/>
          </p:cNvSpPr>
          <p:nvPr/>
        </p:nvSpPr>
        <p:spPr>
          <a:xfrm>
            <a:off x="3374136" y="281635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6" name="c"/>
          <p:cNvSpPr txBox="1">
            <a:spLocks noGrp="1"/>
          </p:cNvSpPr>
          <p:nvPr/>
        </p:nvSpPr>
        <p:spPr>
          <a:xfrm>
            <a:off x="3849624" y="28163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4946904" y="281635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5861304" y="281635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USD $39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6629400" y="281635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+$+4</a:t>
            </a:r>
          </a:p>
        </p:txBody>
      </p:sp>
      <p:sp>
        <p:nvSpPr>
          <p:cNvPr id="72" name="nb"/>
          <p:cNvSpPr>
            <a:spLocks noGrp="1"/>
          </p:cNvSpPr>
          <p:nvPr/>
        </p:nvSpPr>
        <p:spPr>
          <a:xfrm>
            <a:off x="1618488" y="290779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3" name="nt"/>
          <p:cNvSpPr txBox="1">
            <a:spLocks noGrp="1"/>
          </p:cNvSpPr>
          <p:nvPr/>
        </p:nvSpPr>
        <p:spPr>
          <a:xfrm>
            <a:off x="1618488" y="290779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85" name="rb"/>
          <p:cNvSpPr>
            <a:spLocks noGrp="1"/>
          </p:cNvSpPr>
          <p:nvPr/>
        </p:nvSpPr>
        <p:spPr>
          <a:xfrm>
            <a:off x="320040" y="3182112"/>
            <a:ext cx="7955279" cy="365760"/>
          </a:xfrm>
          <a:prstGeom prst="rect">
            <a:avLst/>
          </a:prstGeom>
          <a:solidFill>
            <a:srgbClr val="F9F9F9"/>
          </a:solidFill>
          <a:ln w="6350">
            <a:solidFill>
              <a:srgbClr val="D1D5DB"/>
            </a:solidFill>
          </a:ln>
        </p:spPr>
      </p:sp>
      <p:sp>
        <p:nvSpPr>
          <p:cNvPr id="86" name="c"/>
          <p:cNvSpPr txBox="1">
            <a:spLocks noGrp="1"/>
          </p:cNvSpPr>
          <p:nvPr/>
        </p:nvSpPr>
        <p:spPr>
          <a:xfrm>
            <a:off x="320040" y="318211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60" dirty="0" b="1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1764792" y="318211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2148840" y="318211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9" name="c"/>
          <p:cNvSpPr txBox="1">
            <a:spLocks noGrp="1"/>
          </p:cNvSpPr>
          <p:nvPr/>
        </p:nvSpPr>
        <p:spPr>
          <a:xfrm>
            <a:off x="2807208" y="318211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17.9h</a:t>
            </a:r>
          </a:p>
        </p:txBody>
      </p:sp>
      <p:sp>
        <p:nvSpPr>
          <p:cNvPr id="90" name="c"/>
          <p:cNvSpPr txBox="1">
            <a:spLocks noGrp="1"/>
          </p:cNvSpPr>
          <p:nvPr/>
        </p:nvSpPr>
        <p:spPr>
          <a:xfrm>
            <a:off x="3374136" y="318211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91" name="c"/>
          <p:cNvSpPr txBox="1">
            <a:spLocks noGrp="1"/>
          </p:cNvSpPr>
          <p:nvPr/>
        </p:nvSpPr>
        <p:spPr>
          <a:xfrm>
            <a:off x="3849624" y="318211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4946904" y="318211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5861304" y="318211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USD $20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6629400" y="318211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1A6B3C"/>
                </a:solidFill>
                <a:latin typeface="Calibri"/>
              </a:rPr>
              <a:t>$-15</a:t>
            </a:r>
          </a:p>
        </p:txBody>
      </p:sp>
      <p:sp>
        <p:nvSpPr>
          <p:cNvPr id="87" name="nb"/>
          <p:cNvSpPr>
            <a:spLocks noGrp="1"/>
          </p:cNvSpPr>
          <p:nvPr/>
        </p:nvSpPr>
        <p:spPr>
          <a:xfrm>
            <a:off x="1618488" y="327355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8" name="nt"/>
          <p:cNvSpPr txBox="1">
            <a:spLocks noGrp="1"/>
          </p:cNvSpPr>
          <p:nvPr/>
        </p:nvSpPr>
        <p:spPr>
          <a:xfrm>
            <a:off x="1618488" y="327355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00" name="rb"/>
          <p:cNvSpPr>
            <a:spLocks noGrp="1"/>
          </p:cNvSpPr>
          <p:nvPr/>
        </p:nvSpPr>
        <p:spPr>
          <a:xfrm>
            <a:off x="320040" y="3547872"/>
            <a:ext cx="795527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01" name="c"/>
          <p:cNvSpPr txBox="1">
            <a:spLocks noGrp="1"/>
          </p:cNvSpPr>
          <p:nvPr/>
        </p:nvSpPr>
        <p:spPr>
          <a:xfrm>
            <a:off x="320040" y="354787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60" dirty="0" b="1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1764792" y="354787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2148840" y="354787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104" name="c"/>
          <p:cNvSpPr txBox="1">
            <a:spLocks noGrp="1"/>
          </p:cNvSpPr>
          <p:nvPr/>
        </p:nvSpPr>
        <p:spPr>
          <a:xfrm>
            <a:off x="2807208" y="354787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5" name="c"/>
          <p:cNvSpPr txBox="1">
            <a:spLocks noGrp="1"/>
          </p:cNvSpPr>
          <p:nvPr/>
        </p:nvSpPr>
        <p:spPr>
          <a:xfrm>
            <a:off x="3374136" y="354787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92400E"/>
                </a:solidFill>
                <a:latin typeface="Calibri"/>
              </a:rPr>
              <a:t>N/D</a:t>
            </a:r>
          </a:p>
        </p:txBody>
      </p:sp>
      <p:sp>
        <p:nvSpPr>
          <p:cNvPr id="106" name="c"/>
          <p:cNvSpPr txBox="1">
            <a:spLocks noGrp="1"/>
          </p:cNvSpPr>
          <p:nvPr/>
        </p:nvSpPr>
        <p:spPr>
          <a:xfrm>
            <a:off x="3849624" y="35478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4946904" y="35478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5861304" y="354787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USD $149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6629400" y="354787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+$+114</a:t>
            </a:r>
          </a:p>
        </p:txBody>
      </p:sp>
      <p:sp>
        <p:nvSpPr>
          <p:cNvPr id="102" name="nb"/>
          <p:cNvSpPr>
            <a:spLocks noGrp="1"/>
          </p:cNvSpPr>
          <p:nvPr/>
        </p:nvSpPr>
        <p:spPr>
          <a:xfrm>
            <a:off x="1618488" y="363931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03" name="nt"/>
          <p:cNvSpPr txBox="1">
            <a:spLocks noGrp="1"/>
          </p:cNvSpPr>
          <p:nvPr/>
        </p:nvSpPr>
        <p:spPr>
          <a:xfrm>
            <a:off x="1618488" y="363931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15" name="rb"/>
          <p:cNvSpPr>
            <a:spLocks noGrp="1"/>
          </p:cNvSpPr>
          <p:nvPr/>
        </p:nvSpPr>
        <p:spPr>
          <a:xfrm>
            <a:off x="320040" y="3913632"/>
            <a:ext cx="7955279" cy="365760"/>
          </a:xfrm>
          <a:prstGeom prst="rect">
            <a:avLst/>
          </a:prstGeom>
          <a:solidFill>
            <a:srgbClr val="F9F9F9"/>
          </a:solidFill>
          <a:ln w="6350">
            <a:solidFill>
              <a:srgbClr val="D1D5DB"/>
            </a:solidFill>
          </a:ln>
        </p:spPr>
      </p:sp>
      <p:sp>
        <p:nvSpPr>
          <p:cNvPr id="116" name="c"/>
          <p:cNvSpPr txBox="1">
            <a:spLocks noGrp="1"/>
          </p:cNvSpPr>
          <p:nvPr/>
        </p:nvSpPr>
        <p:spPr>
          <a:xfrm>
            <a:off x="320040" y="3913632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60" dirty="0" b="1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1764792" y="391363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2148840" y="391363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9" name="c"/>
          <p:cNvSpPr txBox="1">
            <a:spLocks noGrp="1"/>
          </p:cNvSpPr>
          <p:nvPr/>
        </p:nvSpPr>
        <p:spPr>
          <a:xfrm>
            <a:off x="2807208" y="3913632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c"/>
          <p:cNvSpPr txBox="1">
            <a:spLocks noGrp="1"/>
          </p:cNvSpPr>
          <p:nvPr/>
        </p:nvSpPr>
        <p:spPr>
          <a:xfrm>
            <a:off x="3374136" y="3913632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92400E"/>
                </a:solidFill>
                <a:latin typeface="Calibri"/>
              </a:rPr>
              <a:t>N/D</a:t>
            </a:r>
          </a:p>
        </p:txBody>
      </p:sp>
      <p:sp>
        <p:nvSpPr>
          <p:cNvPr id="121" name="c"/>
          <p:cNvSpPr txBox="1">
            <a:spLocks noGrp="1"/>
          </p:cNvSpPr>
          <p:nvPr/>
        </p:nvSpPr>
        <p:spPr>
          <a:xfrm>
            <a:off x="3849624" y="39136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4946904" y="39136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5861304" y="3913632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6629400" y="391363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7" name="nb"/>
          <p:cNvSpPr>
            <a:spLocks noGrp="1"/>
          </p:cNvSpPr>
          <p:nvPr/>
        </p:nvSpPr>
        <p:spPr>
          <a:xfrm>
            <a:off x="1618488" y="4005072"/>
            <a:ext cx="256032" cy="1828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8" name="nt"/>
          <p:cNvSpPr txBox="1">
            <a:spLocks noGrp="1"/>
          </p:cNvSpPr>
          <p:nvPr/>
        </p:nvSpPr>
        <p:spPr>
          <a:xfrm>
            <a:off x="1618488" y="4005072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50" name="totbg"/>
          <p:cNvSpPr>
            <a:spLocks noGrp="1"/>
          </p:cNvSpPr>
          <p:nvPr/>
        </p:nvSpPr>
        <p:spPr>
          <a:xfrm>
            <a:off x="320040" y="4279392"/>
            <a:ext cx="7955279" cy="347472"/>
          </a:xfrm>
          <a:prstGeom prst="rect">
            <a:avLst/>
          </a:prstGeom>
          <a:solidFill>
            <a:srgbClr val="EDE9FE"/>
          </a:solidFill>
          <a:ln w="15875">
            <a:solidFill>
              <a:srgbClr val="6B2D5E"/>
            </a:solidFill>
          </a:ln>
        </p:spPr>
      </p:sp>
      <p:sp>
        <p:nvSpPr>
          <p:cNvPr id="160" name="tc"/>
          <p:cNvSpPr txBox="1">
            <a:spLocks noGrp="1"/>
          </p:cNvSpPr>
          <p:nvPr/>
        </p:nvSpPr>
        <p:spPr>
          <a:xfrm>
            <a:off x="320040" y="427939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20" dirty="0" b="1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61" name="tc"/>
          <p:cNvSpPr txBox="1">
            <a:spLocks noGrp="1"/>
          </p:cNvSpPr>
          <p:nvPr/>
        </p:nvSpPr>
        <p:spPr>
          <a:xfrm>
            <a:off x="1764792" y="4279392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62" name="tc"/>
          <p:cNvSpPr txBox="1">
            <a:spLocks noGrp="1"/>
          </p:cNvSpPr>
          <p:nvPr/>
        </p:nvSpPr>
        <p:spPr>
          <a:xfrm>
            <a:off x="2148840" y="4279392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63" name="tc"/>
          <p:cNvSpPr txBox="1">
            <a:spLocks noGrp="1"/>
          </p:cNvSpPr>
          <p:nvPr/>
        </p:nvSpPr>
        <p:spPr>
          <a:xfrm>
            <a:off x="2807208" y="427939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Promedio 14.5h</a:t>
            </a:r>
          </a:p>
        </p:txBody>
      </p:sp>
      <p:sp>
        <p:nvSpPr>
          <p:cNvPr id="164" name="tc"/>
          <p:cNvSpPr txBox="1">
            <a:spLocks noGrp="1"/>
          </p:cNvSpPr>
          <p:nvPr/>
        </p:nvSpPr>
        <p:spPr>
          <a:xfrm>
            <a:off x="3374136" y="4279392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Prom. 78.5%</a:t>
            </a:r>
          </a:p>
        </p:txBody>
      </p:sp>
      <p:sp>
        <p:nvSpPr>
          <p:cNvPr id="165" name="tc"/>
          <p:cNvSpPr txBox="1">
            <a:spLocks noGrp="1"/>
          </p:cNvSpPr>
          <p:nvPr/>
        </p:nvSpPr>
        <p:spPr>
          <a:xfrm>
            <a:off x="3849624" y="4279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$239.4M</a:t>
            </a:r>
          </a:p>
        </p:txBody>
      </p:sp>
      <p:sp>
        <p:nvSpPr>
          <p:cNvPr id="166" name="tc"/>
          <p:cNvSpPr txBox="1">
            <a:spLocks noGrp="1"/>
          </p:cNvSpPr>
          <p:nvPr/>
        </p:nvSpPr>
        <p:spPr>
          <a:xfrm>
            <a:off x="4946904" y="42793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167" name="tc"/>
          <p:cNvSpPr txBox="1">
            <a:spLocks noGrp="1"/>
          </p:cNvSpPr>
          <p:nvPr/>
        </p:nvSpPr>
        <p:spPr>
          <a:xfrm>
            <a:off x="5861304" y="4279392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6B2D5E"/>
                </a:solidFill>
                <a:latin typeface="Calibri"/>
              </a:rPr>
              <a:t>USD $37</a:t>
            </a:r>
          </a:p>
        </p:txBody>
      </p:sp>
      <p:sp>
        <p:nvSpPr>
          <p:cNvPr id="168" name="tc"/>
          <p:cNvSpPr txBox="1">
            <a:spLocks noGrp="1"/>
          </p:cNvSpPr>
          <p:nvPr/>
        </p:nvSpPr>
        <p:spPr>
          <a:xfrm>
            <a:off x="6629400" y="4279392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b="1">
                <a:solidFill>
                  <a:srgbClr val="C00000"/>
                </a:solidFill>
                <a:latin typeface="Calibri"/>
              </a:rPr>
              <a:t>+$2 vs ind.</a:t>
            </a:r>
          </a:p>
        </p:txBody>
      </p:sp>
      <p:sp>
        <p:nvSpPr>
          <p:cNvPr id="200" name="ins1bg"/>
          <p:cNvSpPr>
            <a:spLocks noGrp="1"/>
          </p:cNvSpPr>
          <p:nvPr/>
        </p:nvSpPr>
        <p:spPr>
          <a:xfrm>
            <a:off x="320040" y="4681728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</p:sp>
      <p:sp>
        <p:nvSpPr>
          <p:cNvPr id="201" name="ins1t"/>
          <p:cNvSpPr txBox="1">
            <a:spLocks noGrp="1"/>
          </p:cNvSpPr>
          <p:nvPr/>
        </p:nvSpPr>
        <p:spPr>
          <a:xfrm>
            <a:off x="457200" y="4718304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92400E"/>
                </a:solidFill>
                <a:latin typeface="Calibri"/>
              </a:rPr>
              <a:t>¿Por que cuesta mas que la industria?  </a:t>
            </a:r>
            <a:r>
              <a:rPr lang="es-ES" sz="860" dirty="0">
                <a:solidFill>
                  <a:srgbClr val="92400E"/>
                </a:solidFill>
                <a:latin typeface="Calibri"/>
              </a:rPr>
              <a:t>MTTR alto (hasta 24.5h) + sin autoservicio + 0% deflexion N0 → cada ticket consume horas completas de FTE senior</a:t>
            </a:r>
          </a:p>
        </p:txBody>
      </p:sp>
      <p:sp>
        <p:nvSpPr>
          <p:cNvPr id="205" name="ins2bg"/>
          <p:cNvSpPr>
            <a:spLocks noGrp="1"/>
          </p:cNvSpPr>
          <p:nvPr/>
        </p:nvSpPr>
        <p:spPr>
          <a:xfrm>
            <a:off x="320040" y="5285232"/>
            <a:ext cx="5166360" cy="475488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06" name="ins2t"/>
          <p:cNvSpPr txBox="1">
            <a:spLocks noGrp="1"/>
          </p:cNvSpPr>
          <p:nvPr/>
        </p:nvSpPr>
        <p:spPr>
          <a:xfrm>
            <a:off x="457200" y="5285232"/>
            <a:ext cx="493776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1A6B3C"/>
                </a:solidFill>
                <a:latin typeface="Calibri"/>
              </a:rPr>
              <a:t>Potencial de ahorro con N3 Gen Next:  </a:t>
            </a:r>
            <a:r>
              <a:rPr lang="es-ES" sz="860" dirty="0">
                <a:solidFill>
                  <a:srgbClr val="1A6B3C"/>
                </a:solidFill>
                <a:latin typeface="Calibri"/>
              </a:rPr>
              <a:t>Si se reduce a USD $15/ticket → ahorro $143M COP/mes solo en SURA (4 mesas)</a:t>
            </a:r>
          </a:p>
        </p:txBody>
      </p:sp>
      <p:sp>
        <p:nvSpPr>
          <p:cNvPr id="210" name="kpibg"/>
          <p:cNvSpPr>
            <a:spLocks noGrp="1"/>
          </p:cNvSpPr>
          <p:nvPr/>
        </p:nvSpPr>
        <p:spPr>
          <a:xfrm>
            <a:off x="5577840" y="4681728"/>
            <a:ext cx="2697480" cy="1078992"/>
          </a:xfrm>
          <a:prstGeom prst="roundRect">
            <a:avLst>
              <a:gd name="adj" fmla="val 12000"/>
            </a:avLst>
          </a:prstGeom>
          <a:solidFill>
            <a:srgbClr val="F5E6F0"/>
          </a:solidFill>
          <a:ln w="15875">
            <a:solidFill>
              <a:srgbClr val="6B2D5E"/>
            </a:solidFill>
          </a:ln>
        </p:spPr>
      </p:sp>
      <p:sp>
        <p:nvSpPr>
          <p:cNvPr id="211" name="kpihdr"/>
          <p:cNvSpPr>
            <a:spLocks noGrp="1"/>
          </p:cNvSpPr>
          <p:nvPr/>
        </p:nvSpPr>
        <p:spPr>
          <a:xfrm>
            <a:off x="5577840" y="4681728"/>
            <a:ext cx="2697480" cy="274320"/>
          </a:xfrm>
          <a:prstGeom prst="roundRect">
            <a:avLst>
              <a:gd name="adj" fmla="val 12000"/>
            </a:avLst>
          </a:prstGeom>
          <a:solidFill>
            <a:srgbClr val="6B2D5E"/>
          </a:solidFill>
          <a:ln>
            <a:noFill/>
          </a:ln>
        </p:spPr>
      </p:sp>
      <p:sp>
        <p:nvSpPr>
          <p:cNvPr id="212" name="kpihdrt"/>
          <p:cNvSpPr txBox="1">
            <a:spLocks noGrp="1"/>
          </p:cNvSpPr>
          <p:nvPr/>
        </p:nvSpPr>
        <p:spPr>
          <a:xfrm>
            <a:off x="5577840" y="468172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900" dirty="0" b="1">
                <a:solidFill>
                  <a:srgbClr val="FFFFFF"/>
                </a:solidFill>
                <a:latin typeface="Calibri"/>
              </a:rPr>
              <a:t>OPORTUNIDAD ECONOMICA</a:t>
            </a:r>
          </a:p>
        </p:txBody>
      </p:sp>
      <p:sp>
        <p:nvSpPr>
          <p:cNvPr id="215" name="kn"/>
          <p:cNvSpPr txBox="1">
            <a:spLocks noGrp="1"/>
          </p:cNvSpPr>
          <p:nvPr/>
        </p:nvSpPr>
        <p:spPr>
          <a:xfrm>
            <a:off x="5669280" y="501091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6B2D5E"/>
                </a:solidFill>
                <a:latin typeface="Calibri"/>
              </a:rPr>
              <a:t>$143M COP/mes</a:t>
            </a:r>
          </a:p>
        </p:txBody>
      </p:sp>
      <p:sp>
        <p:nvSpPr>
          <p:cNvPr id="216" name="kl"/>
          <p:cNvSpPr txBox="1">
            <a:spLocks noGrp="1"/>
          </p:cNvSpPr>
          <p:nvPr/>
        </p:nvSpPr>
        <p:spPr>
          <a:xfrm>
            <a:off x="6995160" y="501091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ahorro potencial SURA → N3</a:t>
            </a:r>
          </a:p>
        </p:txBody>
      </p:sp>
      <p:sp>
        <p:nvSpPr>
          <p:cNvPr id="217" name="kn"/>
          <p:cNvSpPr txBox="1">
            <a:spLocks noGrp="1"/>
          </p:cNvSpPr>
          <p:nvPr/>
        </p:nvSpPr>
        <p:spPr>
          <a:xfrm>
            <a:off x="5669280" y="51937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6B2D5E"/>
                </a:solidFill>
                <a:latin typeface="Calibri"/>
              </a:rPr>
              <a:t>17 FTE · 1.525 tix/mes</a:t>
            </a:r>
          </a:p>
        </p:txBody>
      </p:sp>
      <p:sp>
        <p:nvSpPr>
          <p:cNvPr id="218" name="kl"/>
          <p:cNvSpPr txBox="1">
            <a:spLocks noGrp="1"/>
          </p:cNvSpPr>
          <p:nvPr/>
        </p:nvSpPr>
        <p:spPr>
          <a:xfrm>
            <a:off x="6995160" y="519379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capacidad SURA levantada</a:t>
            </a:r>
          </a:p>
        </p:txBody>
      </p:sp>
      <p:sp>
        <p:nvSpPr>
          <p:cNvPr id="219" name="kn"/>
          <p:cNvSpPr txBox="1">
            <a:spLocks noGrp="1"/>
          </p:cNvSpPr>
          <p:nvPr/>
        </p:nvSpPr>
        <p:spPr>
          <a:xfrm>
            <a:off x="5669280" y="537667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6B2D5E"/>
                </a:solidFill>
                <a:latin typeface="Calibri"/>
              </a:rPr>
              <a:t>SLA prom. 78.5%</a:t>
            </a:r>
          </a:p>
        </p:txBody>
      </p:sp>
      <p:sp>
        <p:nvSpPr>
          <p:cNvPr id="220" name="kl"/>
          <p:cNvSpPr txBox="1">
            <a:spLocks noGrp="1"/>
          </p:cNvSpPr>
          <p:nvPr/>
        </p:nvSpPr>
        <p:spPr>
          <a:xfrm>
            <a:off x="6995160" y="537667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vs meta 92% N3</a:t>
            </a:r>
          </a:p>
        </p:txBody>
      </p:sp>
      <p:sp>
        <p:nvSpPr>
          <p:cNvPr id="221" name="kn"/>
          <p:cNvSpPr txBox="1">
            <a:spLocks noGrp="1"/>
          </p:cNvSpPr>
          <p:nvPr/>
        </p:nvSpPr>
        <p:spPr>
          <a:xfrm>
            <a:off x="5669280" y="55595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80" dirty="0" b="1">
                <a:solidFill>
                  <a:srgbClr val="6B2D5E"/>
                </a:solidFill>
                <a:latin typeface="Calibri"/>
              </a:rPr>
              <a:t>-57% costo/ticket</a:t>
            </a:r>
          </a:p>
        </p:txBody>
      </p:sp>
      <p:sp>
        <p:nvSpPr>
          <p:cNvPr id="222" name="kl"/>
          <p:cNvSpPr txBox="1">
            <a:spLocks noGrp="1"/>
          </p:cNvSpPr>
          <p:nvPr/>
        </p:nvSpPr>
        <p:spPr>
          <a:xfrm>
            <a:off x="6995160" y="5559552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al llegar a N3 USD $15</a:t>
            </a:r>
          </a:p>
        </p:txBody>
      </p:sp>
      <p:sp>
        <p:nvSpPr>
          <p:cNvPr id="3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Fuente: Levantamiento interno PersonalSoft · Julio 2026 · Excel Levantamiento_Mesas_Julio_2026 · Supuesto: $88.000 COP/hora-FTE · Benchmarks: HDI Standard · MetricNet · Gartner Cost per Ticket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EE3F0"/>
          </a:solidFill>
          <a:ln>
            <a:noFill/>
          </a:ln>
        </p:spPr>
      </p:sp>
      <p:sp>
        <p:nvSpPr>
          <p:cNvPr id="3" name="bgw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109728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2400" dirty="0" b="1">
                <a:solidFill>
                  <a:srgbClr val="0D1B5E"/>
                </a:solidFill>
                <a:latin typeface="Calibri"/>
              </a:rPr>
              <a:t>Agentic AI: Estado Real de Adopcion 2025-2026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3035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Estado real de adopcion 2025-2026  ·  Brecha entre experimentacion y produccion plena</a:t>
            </a:r>
          </a:p>
        </p:txBody>
      </p:sp>
      <p:sp>
        <p:nvSpPr>
          <p:cNvPr id="6" name="div"/>
          <p:cNvSpPr>
            <a:spLocks noGrp="1"/>
          </p:cNvSpPr>
          <p:nvPr/>
        </p:nvSpPr>
        <p:spPr>
          <a:xfrm>
            <a:off x="320040" y="749808"/>
            <a:ext cx="763524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0" name="c51"/>
          <p:cNvSpPr>
            <a:spLocks noGrp="1"/>
          </p:cNvSpPr>
          <p:nvPr/>
        </p:nvSpPr>
        <p:spPr>
          <a:xfrm>
            <a:off x="320040" y="868680"/>
            <a:ext cx="1554480" cy="1554480"/>
          </a:xfrm>
          <a:prstGeom prst="ellipse">
            <a:avLst/>
          </a:prstGeom>
          <a:solidFill>
            <a:srgbClr val="CFEDF0"/>
          </a:solidFill>
          <a:ln w="15875">
            <a:solidFill>
              <a:srgbClr val="7DD3DC"/>
            </a:solidFill>
          </a:ln>
        </p:spPr>
      </p:sp>
      <p:sp>
        <p:nvSpPr>
          <p:cNvPr id="11" name="c51n"/>
          <p:cNvSpPr txBox="1">
            <a:spLocks noGrp="1"/>
          </p:cNvSpPr>
          <p:nvPr/>
        </p:nvSpPr>
        <p:spPr>
          <a:xfrm>
            <a:off x="320040" y="1069848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4200" dirty="0" b="1">
                <a:solidFill>
                  <a:srgbClr val="1B7B85"/>
                </a:solidFill>
                <a:latin typeface="Calibri"/>
              </a:rPr>
              <a:t>51%</a:t>
            </a:r>
          </a:p>
        </p:txBody>
      </p:sp>
      <p:sp>
        <p:nvSpPr>
          <p:cNvPr id="12" name="c51l"/>
          <p:cNvSpPr txBox="1">
            <a:spLocks noGrp="1"/>
          </p:cNvSpPr>
          <p:nvPr/>
        </p:nvSpPr>
        <p:spPr>
          <a:xfrm>
            <a:off x="320040" y="1764792"/>
            <a:ext cx="1554480" cy="43891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60" dirty="0">
                <a:solidFill>
                  <a:srgbClr val="1B7B85"/>
                </a:solidFill>
                <a:latin typeface="Calibri"/>
              </a:rPr>
              <a:t>con agentes IA</a:t>
            </a:r>
          </a:p>
          <a:p>
            <a:pPr algn="ctr"/>
            <a:r>
              <a:rPr lang="es-ES" sz="860" dirty="0">
                <a:solidFill>
                  <a:srgbClr val="1B7B85"/>
                </a:solidFill>
                <a:latin typeface="Calibri"/>
              </a:rPr>
              <a:t>desplegados</a:t>
            </a:r>
          </a:p>
        </p:txBody>
      </p:sp>
      <p:sp>
        <p:nvSpPr>
          <p:cNvPr id="13" name="c51sub"/>
          <p:cNvSpPr txBox="1">
            <a:spLocks noGrp="1"/>
          </p:cNvSpPr>
          <p:nvPr/>
        </p:nvSpPr>
        <p:spPr>
          <a:xfrm>
            <a:off x="320040" y="227685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 i="1">
                <a:solidFill>
                  <a:srgbClr val="6B7280"/>
                </a:solidFill>
                <a:latin typeface="Calibri"/>
              </a:rPr>
              <a:t>(alguna forma)</a:t>
            </a:r>
          </a:p>
          <a:p>
            <a:pPr algn="ctr"/>
            <a:r>
              <a:rPr lang="es-ES" sz="800" dirty="0" i="1">
                <a:solidFill>
                  <a:srgbClr val="6B7280"/>
                </a:solidFill>
                <a:latin typeface="Calibri"/>
              </a:rPr>
              <a:t>vs 79% aun experimentando</a:t>
            </a:r>
          </a:p>
        </p:txBody>
      </p:sp>
      <p:sp>
        <p:nvSpPr>
          <p:cNvPr id="20" name="c11"/>
          <p:cNvSpPr>
            <a:spLocks noGrp="1"/>
          </p:cNvSpPr>
          <p:nvPr/>
        </p:nvSpPr>
        <p:spPr>
          <a:xfrm>
            <a:off x="457200" y="2697480"/>
            <a:ext cx="914400" cy="914400"/>
          </a:xfrm>
          <a:prstGeom prst="ellipse">
            <a:avLst/>
          </a:prstGeom>
          <a:solidFill>
            <a:srgbClr val="0D1B5E"/>
          </a:solidFill>
          <a:ln w="15875">
            <a:solidFill>
              <a:srgbClr val="1A3A8F"/>
            </a:solidFill>
          </a:ln>
        </p:spPr>
      </p:sp>
      <p:sp>
        <p:nvSpPr>
          <p:cNvPr id="21" name="c11n"/>
          <p:cNvSpPr txBox="1">
            <a:spLocks noGrp="1"/>
          </p:cNvSpPr>
          <p:nvPr/>
        </p:nvSpPr>
        <p:spPr>
          <a:xfrm>
            <a:off x="457200" y="2807208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2800" dirty="0" b="1">
                <a:solidFill>
                  <a:srgbClr val="FFFFFF"/>
                </a:solidFill>
                <a:latin typeface="Calibri"/>
              </a:rPr>
              <a:t>11%</a:t>
            </a:r>
          </a:p>
        </p:txBody>
      </p:sp>
      <p:sp>
        <p:nvSpPr>
          <p:cNvPr id="22" name="c11l"/>
          <p:cNvSpPr txBox="1">
            <a:spLocks noGrp="1"/>
          </p:cNvSpPr>
          <p:nvPr/>
        </p:nvSpPr>
        <p:spPr>
          <a:xfrm>
            <a:off x="457200" y="32644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00" dirty="0">
                <a:solidFill>
                  <a:srgbClr val="C8EBEF"/>
                </a:solidFill>
                <a:latin typeface="Calibri"/>
              </a:rPr>
              <a:t>produccion
plena</a:t>
            </a:r>
          </a:p>
        </p:txBody>
      </p:sp>
      <p:sp>
        <p:nvSpPr>
          <p:cNvPr id="23" name="c11sub"/>
          <p:cNvSpPr txBox="1">
            <a:spLocks noGrp="1"/>
          </p:cNvSpPr>
          <p:nvPr/>
        </p:nvSpPr>
        <p:spPr>
          <a:xfrm>
            <a:off x="457200" y="366674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 i="1">
                <a:solidFill>
                  <a:srgbClr val="6B7280"/>
                </a:solidFill>
                <a:latin typeface="Calibri"/>
              </a:rPr>
              <a:t>produccion total</a:t>
            </a:r>
          </a:p>
        </p:txBody>
      </p:sp>
      <p:sp>
        <p:nvSpPr>
          <p:cNvPr id="24" name="c40"/>
          <p:cNvSpPr>
            <a:spLocks noGrp="1"/>
          </p:cNvSpPr>
          <p:nvPr/>
        </p:nvSpPr>
        <p:spPr>
          <a:xfrm>
            <a:off x="1554480" y="2697480"/>
            <a:ext cx="914400" cy="914400"/>
          </a:xfrm>
          <a:prstGeom prst="ellipse">
            <a:avLst/>
          </a:prstGeom>
          <a:solidFill>
            <a:srgbClr val="FDD9D7"/>
          </a:solidFill>
          <a:ln w="15875">
            <a:solidFill>
              <a:srgbClr val="F87171"/>
            </a:solidFill>
          </a:ln>
        </p:spPr>
      </p:sp>
      <p:sp>
        <p:nvSpPr>
          <p:cNvPr id="25" name="c40n"/>
          <p:cNvSpPr txBox="1">
            <a:spLocks noGrp="1"/>
          </p:cNvSpPr>
          <p:nvPr/>
        </p:nvSpPr>
        <p:spPr>
          <a:xfrm>
            <a:off x="1554480" y="278892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1800" dirty="0" b="1">
                <a:solidFill>
                  <a:srgbClr val="C00000"/>
                </a:solidFill>
                <a:latin typeface="Calibri"/>
              </a:rPr>
              <a:t>&gt;40%</a:t>
            </a:r>
          </a:p>
        </p:txBody>
      </p:sp>
      <p:sp>
        <p:nvSpPr>
          <p:cNvPr id="26" name="c40l"/>
          <p:cNvSpPr txBox="1">
            <a:spLocks noGrp="1"/>
          </p:cNvSpPr>
          <p:nvPr/>
        </p:nvSpPr>
        <p:spPr>
          <a:xfrm>
            <a:off x="1554480" y="324612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80" dirty="0">
                <a:solidFill>
                  <a:srgbClr val="C00000"/>
                </a:solidFill>
                <a:latin typeface="Calibri"/>
              </a:rPr>
              <a:t>cancelados
hacia 2027</a:t>
            </a:r>
          </a:p>
        </p:txBody>
      </p:sp>
      <p:sp>
        <p:nvSpPr>
          <p:cNvPr id="27" name="c40sub"/>
          <p:cNvSpPr txBox="1">
            <a:spLocks noGrp="1"/>
          </p:cNvSpPr>
          <p:nvPr/>
        </p:nvSpPr>
        <p:spPr>
          <a:xfrm>
            <a:off x="1554480" y="36667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760" dirty="0" i="1">
                <a:solidFill>
                  <a:srgbClr val="6B7280"/>
                </a:solidFill>
                <a:latin typeface="Calibri"/>
              </a:rPr>
              <a:t>por costo/gobernanza
(Gartner proyeccion)</a:t>
            </a:r>
          </a:p>
        </p:txBody>
      </p:sp>
      <p:sp>
        <p:nvSpPr>
          <p:cNvPr id="28" name="roibg"/>
          <p:cNvSpPr>
            <a:spLocks noGrp="1"/>
          </p:cNvSpPr>
          <p:nvPr/>
        </p:nvSpPr>
        <p:spPr>
          <a:xfrm>
            <a:off x="320040" y="3858768"/>
            <a:ext cx="2871216" cy="548640"/>
          </a:xfrm>
          <a:prstGeom prst="roundRect">
            <a:avLst>
              <a:gd name="adj" fmla="val 10000"/>
            </a:avLst>
          </a:prstGeom>
          <a:solidFill>
            <a:srgbClr val="F0EFF8"/>
          </a:solidFill>
          <a:ln w="9525">
            <a:solidFill>
              <a:srgbClr val="1A3A8F"/>
            </a:solidFill>
          </a:ln>
        </p:spPr>
      </p:sp>
      <p:sp>
        <p:nvSpPr>
          <p:cNvPr id="29" name="roih"/>
          <p:cNvSpPr txBox="1">
            <a:spLocks noGrp="1"/>
          </p:cNvSpPr>
          <p:nvPr/>
        </p:nvSpPr>
        <p:spPr>
          <a:xfrm>
            <a:off x="320040" y="3904487"/>
            <a:ext cx="287121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980" dirty="0" b="1">
                <a:solidFill>
                  <a:srgbClr val="0D1B5E"/>
                </a:solidFill>
                <a:latin typeface="Calibri"/>
              </a:rPr>
              <a:t>ROI de Automatizacion ITSM</a:t>
            </a:r>
          </a:p>
        </p:txBody>
      </p:sp>
      <p:sp>
        <p:nvSpPr>
          <p:cNvPr id="30" name="rois"/>
          <p:cNvSpPr txBox="1">
            <a:spLocks noGrp="1"/>
          </p:cNvSpPr>
          <p:nvPr/>
        </p:nvSpPr>
        <p:spPr>
          <a:xfrm>
            <a:off x="457200" y="41148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Payback tipico: 4-9 meses  ·  19% de proyectos nunca alcanza ROI positivo</a:t>
            </a:r>
          </a:p>
          <a:p>
            <a:pPr algn="ctr"/>
            <a:r>
              <a:rPr lang="es-ES" sz="820" dirty="0">
                <a:solidFill>
                  <a:srgbClr val="0D1B5E"/>
                </a:solidFill>
                <a:latin typeface="Calibri"/>
              </a:rPr>
              <a:t>Contratos outcome-based: ~30% del mercado hacia 2029</a:t>
            </a:r>
          </a:p>
        </p:txBody>
      </p:sp>
      <p:sp>
        <p:nvSpPr>
          <p:cNvPr id="31" name="vdiv"/>
          <p:cNvSpPr>
            <a:spLocks noGrp="1"/>
          </p:cNvSpPr>
          <p:nvPr/>
        </p:nvSpPr>
        <p:spPr>
          <a:xfrm>
            <a:off x="3291840" y="804672"/>
            <a:ext cx="9144" cy="3639312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35" name="bh"/>
          <p:cNvSpPr txBox="1">
            <a:spLocks noGrp="1"/>
          </p:cNvSpPr>
          <p:nvPr/>
        </p:nvSpPr>
        <p:spPr>
          <a:xfrm>
            <a:off x="3401568" y="80467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1400" dirty="0" b="1">
                <a:solidFill>
                  <a:srgbClr val="0D1B5E"/>
                </a:solidFill>
                <a:latin typeface="Calibri"/>
              </a:rPr>
              <a:t>Barreras y Casos de Exito</a:t>
            </a:r>
          </a:p>
        </p:txBody>
      </p:sp>
      <p:sp>
        <p:nvSpPr>
          <p:cNvPr id="36" name="bhs"/>
          <p:cNvSpPr txBox="1">
            <a:spLocks noGrp="1"/>
          </p:cNvSpPr>
          <p:nvPr/>
        </p:nvSpPr>
        <p:spPr>
          <a:xfrm>
            <a:off x="3401568" y="1115568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1000" dirty="0" b="1">
                <a:solidFill>
                  <a:srgbClr val="C00000"/>
                </a:solidFill>
                <a:latin typeface="Calibri"/>
              </a:rPr>
              <a:t>Principales barreras para produccion plena:</a:t>
            </a:r>
          </a:p>
        </p:txBody>
      </p:sp>
      <p:sp>
        <p:nvSpPr>
          <p:cNvPr id="40" name="t"/>
          <p:cNvSpPr>
            <a:spLocks noGrp="1"/>
          </p:cNvSpPr>
          <p:nvPr/>
        </p:nvSpPr>
        <p:spPr>
          <a:xfrm>
            <a:off x="3401568" y="1371600"/>
            <a:ext cx="44805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1" name="f"/>
          <p:cNvSpPr>
            <a:spLocks noGrp="1"/>
          </p:cNvSpPr>
          <p:nvPr/>
        </p:nvSpPr>
        <p:spPr>
          <a:xfrm>
            <a:off x="3401568" y="1371600"/>
            <a:ext cx="2329891" cy="274320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42" name="l"/>
          <p:cNvSpPr txBox="1">
            <a:spLocks noGrp="1"/>
          </p:cNvSpPr>
          <p:nvPr/>
        </p:nvSpPr>
        <p:spPr>
          <a:xfrm>
            <a:off x="3493008" y="1371600"/>
            <a:ext cx="2284171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960" dirty="0" b="1">
                <a:solidFill>
                  <a:srgbClr val="FFFFFF"/>
                </a:solidFill>
                <a:latin typeface="Calibri"/>
              </a:rPr>
              <a:t>52% Seguridad / Privacidad</a:t>
            </a:r>
          </a:p>
        </p:txBody>
      </p:sp>
      <p:sp>
        <p:nvSpPr>
          <p:cNvPr id="45" name="t"/>
          <p:cNvSpPr>
            <a:spLocks noGrp="1"/>
          </p:cNvSpPr>
          <p:nvPr/>
        </p:nvSpPr>
        <p:spPr>
          <a:xfrm>
            <a:off x="3401568" y="1700784"/>
            <a:ext cx="44805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6" name="f"/>
          <p:cNvSpPr>
            <a:spLocks noGrp="1"/>
          </p:cNvSpPr>
          <p:nvPr/>
        </p:nvSpPr>
        <p:spPr>
          <a:xfrm>
            <a:off x="3401568" y="1700784"/>
            <a:ext cx="2285085" cy="274320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47" name="l"/>
          <p:cNvSpPr txBox="1">
            <a:spLocks noGrp="1"/>
          </p:cNvSpPr>
          <p:nvPr/>
        </p:nvSpPr>
        <p:spPr>
          <a:xfrm>
            <a:off x="3493008" y="1700784"/>
            <a:ext cx="2239365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960" dirty="0" b="1">
                <a:solidFill>
                  <a:srgbClr val="FFFFFF"/>
                </a:solidFill>
                <a:latin typeface="Calibri"/>
              </a:rPr>
              <a:t>51% Complejidad tecnica</a:t>
            </a:r>
          </a:p>
        </p:txBody>
      </p:sp>
      <p:sp>
        <p:nvSpPr>
          <p:cNvPr id="50" name="t"/>
          <p:cNvSpPr>
            <a:spLocks noGrp="1"/>
          </p:cNvSpPr>
          <p:nvPr/>
        </p:nvSpPr>
        <p:spPr>
          <a:xfrm>
            <a:off x="3401568" y="2029968"/>
            <a:ext cx="448056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1" name="f"/>
          <p:cNvSpPr>
            <a:spLocks noGrp="1"/>
          </p:cNvSpPr>
          <p:nvPr/>
        </p:nvSpPr>
        <p:spPr>
          <a:xfrm>
            <a:off x="3401568" y="2029968"/>
            <a:ext cx="1971446" cy="274320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52" name="l"/>
          <p:cNvSpPr txBox="1">
            <a:spLocks noGrp="1"/>
          </p:cNvSpPr>
          <p:nvPr/>
        </p:nvSpPr>
        <p:spPr>
          <a:xfrm>
            <a:off x="3493008" y="2029968"/>
            <a:ext cx="192572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960" dirty="0" b="1">
                <a:solidFill>
                  <a:srgbClr val="FFFFFF"/>
                </a:solidFill>
                <a:latin typeface="Calibri"/>
              </a:rPr>
              <a:t>44% Falta de personal</a:t>
            </a:r>
          </a:p>
        </p:txBody>
      </p:sp>
      <p:sp>
        <p:nvSpPr>
          <p:cNvPr id="60" name="t"/>
          <p:cNvSpPr>
            <a:spLocks noGrp="1"/>
          </p:cNvSpPr>
          <p:nvPr/>
        </p:nvSpPr>
        <p:spPr>
          <a:xfrm>
            <a:off x="3401568" y="2414016"/>
            <a:ext cx="4480560" cy="274320"/>
          </a:xfrm>
          <a:prstGeom prst="rect">
            <a:avLst/>
          </a:prstGeom>
          <a:solidFill>
            <a:srgbClr val="FDE8D4"/>
          </a:solidFill>
          <a:ln>
            <a:noFill/>
          </a:ln>
        </p:spPr>
      </p:sp>
      <p:sp>
        <p:nvSpPr>
          <p:cNvPr id="61" name="f"/>
          <p:cNvSpPr>
            <a:spLocks noGrp="1"/>
          </p:cNvSpPr>
          <p:nvPr/>
        </p:nvSpPr>
        <p:spPr>
          <a:xfrm>
            <a:off x="3401568" y="2414016"/>
            <a:ext cx="28227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62" name="l"/>
          <p:cNvSpPr txBox="1">
            <a:spLocks noGrp="1"/>
          </p:cNvSpPr>
          <p:nvPr/>
        </p:nvSpPr>
        <p:spPr>
          <a:xfrm>
            <a:off x="3493008" y="2414016"/>
            <a:ext cx="277703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960" dirty="0" b="1">
                <a:solidFill>
                  <a:srgbClr val="FFFFFF"/>
                </a:solidFill>
                <a:latin typeface="Calibri"/>
              </a:rPr>
              <a:t>63% Regulatorios: SFC Circular 007 · Open Finance · ISO 42001 IA</a:t>
            </a:r>
          </a:p>
        </p:txBody>
      </p:sp>
      <p:sp>
        <p:nvSpPr>
          <p:cNvPr id="63" name="regsrc"/>
          <p:cNvSpPr txBox="1">
            <a:spLocks noGrp="1"/>
          </p:cNvSpPr>
          <p:nvPr/>
        </p:nvSpPr>
        <p:spPr>
          <a:xfrm>
            <a:off x="3401568" y="2706624"/>
            <a:ext cx="4480560" cy="146304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20" dirty="0" i="1">
                <a:solidFill>
                  <a:srgbClr val="C2410C"/>
                </a:solidFill>
                <a:latin typeface="Calibri"/>
              </a:rPr>
              <a:t>Fuente: ITSM Software Market Research 2025 (marketreportsworld.com) · Estudio de mercado PersonalSoft 2026</a:t>
            </a:r>
          </a:p>
        </p:txBody>
      </p:sp>
      <p:sp>
        <p:nvSpPr>
          <p:cNvPr id="70" name="t"/>
          <p:cNvSpPr>
            <a:spLocks noGrp="1"/>
          </p:cNvSpPr>
          <p:nvPr/>
        </p:nvSpPr>
        <p:spPr>
          <a:xfrm>
            <a:off x="3401568" y="2907792"/>
            <a:ext cx="4480560" cy="274320"/>
          </a:xfrm>
          <a:prstGeom prst="rect">
            <a:avLst/>
          </a:prstGeom>
          <a:solidFill>
            <a:srgbClr val="FDE8D4"/>
          </a:solidFill>
          <a:ln>
            <a:noFill/>
          </a:ln>
        </p:spPr>
      </p:sp>
      <p:sp>
        <p:nvSpPr>
          <p:cNvPr id="71" name="f"/>
          <p:cNvSpPr>
            <a:spLocks noGrp="1"/>
          </p:cNvSpPr>
          <p:nvPr/>
        </p:nvSpPr>
        <p:spPr>
          <a:xfrm>
            <a:off x="3401568" y="2907792"/>
            <a:ext cx="3046780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72" name="l"/>
          <p:cNvSpPr txBox="1">
            <a:spLocks noGrp="1"/>
          </p:cNvSpPr>
          <p:nvPr/>
        </p:nvSpPr>
        <p:spPr>
          <a:xfrm>
            <a:off x="3493008" y="2907792"/>
            <a:ext cx="30010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s-ES" sz="960" dirty="0" b="1">
                <a:solidFill>
                  <a:srgbClr val="FFFFFF"/>
                </a:solidFill>
                <a:latin typeface="Calibri"/>
              </a:rPr>
              <a:t>68% Barrera de entrada: cambio de proveedor (costo de transicion 30-90 dias)</a:t>
            </a:r>
          </a:p>
        </p:txBody>
      </p:sp>
      <p:sp>
        <p:nvSpPr>
          <p:cNvPr id="73" name="swsrc"/>
          <p:cNvSpPr txBox="1">
            <a:spLocks noGrp="1"/>
          </p:cNvSpPr>
          <p:nvPr/>
        </p:nvSpPr>
        <p:spPr>
          <a:xfrm>
            <a:off x="3401568" y="3200400"/>
            <a:ext cx="4480560" cy="146304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20" dirty="0" i="1">
                <a:solidFill>
                  <a:srgbClr val="C2410C"/>
                </a:solidFill>
                <a:latin typeface="Calibri"/>
              </a:rPr>
              <a:t>Fuente: Siit.io Benefits of Outsourcing Help Desk 2026 (siit.io/blog/benefits-of-outsourcing-help-desk-services)</a:t>
            </a:r>
          </a:p>
        </p:txBody>
      </p:sp>
      <p:sp>
        <p:nvSpPr>
          <p:cNvPr id="80" name="csh"/>
          <p:cNvSpPr txBox="1">
            <a:spLocks noGrp="1"/>
          </p:cNvSpPr>
          <p:nvPr/>
        </p:nvSpPr>
        <p:spPr>
          <a:xfrm>
            <a:off x="3401568" y="3401568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1050" dirty="0" b="1">
                <a:solidFill>
                  <a:srgbClr val="0D1B5E"/>
                </a:solidFill>
                <a:latin typeface="Calibri"/>
              </a:rPr>
              <a:t>Casos documentados en produccion:</a:t>
            </a:r>
          </a:p>
        </p:txBody>
      </p:sp>
      <p:sp>
        <p:nvSpPr>
          <p:cNvPr id="81" name="ce"/>
          <p:cNvSpPr txBox="1">
            <a:spLocks noGrp="1"/>
          </p:cNvSpPr>
          <p:nvPr/>
        </p:nvSpPr>
        <p:spPr>
          <a:xfrm>
            <a:off x="3401568" y="3675888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50" dirty="0" b="1">
                <a:solidFill>
                  <a:srgbClr val="1A6B3C"/>
                </a:solidFill>
                <a:latin typeface="Calibri"/>
              </a:rPr>
              <a:t>Robinhood + ServiceNow</a:t>
            </a:r>
          </a:p>
        </p:txBody>
      </p:sp>
      <p:sp>
        <p:nvSpPr>
          <p:cNvPr id="82" name="cd"/>
          <p:cNvSpPr txBox="1">
            <a:spLocks noGrp="1"/>
          </p:cNvSpPr>
          <p:nvPr/>
        </p:nvSpPr>
        <p:spPr>
          <a:xfrm>
            <a:off x="3401568" y="3877056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30" dirty="0">
                <a:solidFill>
                  <a:srgbClr val="6B7280"/>
                </a:solidFill>
                <a:latin typeface="Calibri"/>
              </a:rPr>
              <a:t>70% defleccion  ·  2.200+ horas/mes eliminadas  ·  94% satisfaccion empleados</a:t>
            </a:r>
          </a:p>
        </p:txBody>
      </p:sp>
      <p:sp>
        <p:nvSpPr>
          <p:cNvPr id="83" name="ce"/>
          <p:cNvSpPr txBox="1">
            <a:spLocks noGrp="1"/>
          </p:cNvSpPr>
          <p:nvPr/>
        </p:nvSpPr>
        <p:spPr>
          <a:xfrm>
            <a:off x="3401568" y="4078224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50" dirty="0" b="1">
                <a:solidFill>
                  <a:srgbClr val="1A6B3C"/>
                </a:solidFill>
                <a:latin typeface="Calibri"/>
              </a:rPr>
              <a:t>Honeywell + Moveworks</a:t>
            </a:r>
          </a:p>
        </p:txBody>
      </p:sp>
      <p:sp>
        <p:nvSpPr>
          <p:cNvPr id="84" name="cd"/>
          <p:cNvSpPr txBox="1">
            <a:spLocks noGrp="1"/>
          </p:cNvSpPr>
          <p:nvPr/>
        </p:nvSpPr>
        <p:spPr>
          <a:xfrm>
            <a:off x="3401568" y="4279392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30" dirty="0">
                <a:solidFill>
                  <a:srgbClr val="6B7280"/>
                </a:solidFill>
                <a:latin typeface="Calibri"/>
              </a:rPr>
              <a:t>~80% volumen de tickets entrantes reducido con IA agéntica</a:t>
            </a:r>
          </a:p>
        </p:txBody>
      </p:sp>
      <p:sp>
        <p:nvSpPr>
          <p:cNvPr id="85" name="ce"/>
          <p:cNvSpPr txBox="1">
            <a:spLocks noGrp="1"/>
          </p:cNvSpPr>
          <p:nvPr/>
        </p:nvSpPr>
        <p:spPr>
          <a:xfrm>
            <a:off x="3401568" y="4480560"/>
            <a:ext cx="448056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950" dirty="0" b="1">
                <a:solidFill>
                  <a:srgbClr val="1A6B3C"/>
                </a:solidFill>
                <a:latin typeface="Calibri"/>
              </a:rPr>
              <a:t>Salesforce + Agentforce</a:t>
            </a:r>
          </a:p>
        </p:txBody>
      </p:sp>
      <p:sp>
        <p:nvSpPr>
          <p:cNvPr id="86" name="cd"/>
          <p:cNvSpPr txBox="1">
            <a:spLocks noGrp="1"/>
          </p:cNvSpPr>
          <p:nvPr/>
        </p:nvSpPr>
        <p:spPr>
          <a:xfrm>
            <a:off x="3401568" y="468172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830" dirty="0">
                <a:solidFill>
                  <a:srgbClr val="6B7280"/>
                </a:solidFill>
                <a:latin typeface="Calibri"/>
              </a:rPr>
              <a:t>84% de 380K interacciones resueltas autonomamente  ·  2% escalado a humanos</a:t>
            </a:r>
          </a:p>
        </p:txBody>
      </p:sp>
      <p:sp>
        <p:nvSpPr>
          <p:cNvPr id="11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s-ES" sz="760" dirty="0" i="1">
                <a:solidFill>
                  <a:srgbClr val="6B7280"/>
                </a:solidFill>
                <a:latin typeface="Calibri"/>
              </a:rPr>
              <a:t>Fuente: Brilo AI via Gartner (brilo.ai/resources/agentic-ai-statistics)  ·  Dynatrace Pulse of Agentic AI 2026 (dynatrace.com)  ·  Siit.io 2026 (siit.io/blog)  ·  ITSM Market Research (marketreportsworld.com)  ·  PS Estudio Mercado 2026</a:t>
            </a:r>
          </a:p>
        </p:txBody>
      </p:sp>
    </p:spTree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1119</Words>
  <Application>Microsoft Office PowerPoint</Application>
  <PresentationFormat>Presentación en pantalla (16:9)</PresentationFormat>
  <Paragraphs>251</Paragraphs>
  <Slides>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Calibri</vt:lpstr>
      <vt:lpstr>Reddit Sans Light</vt:lpstr>
      <vt:lpstr>Reddit Sans</vt:lpstr>
      <vt:lpstr>Reddit Sans SemiBold</vt:lpstr>
      <vt:lpstr>Reddit Sans Black</vt:lpstr>
      <vt:lpstr>Arial</vt:lpstr>
      <vt:lpstr>Simple Light</vt:lpstr>
      <vt:lpstr>Simple Light</vt:lpstr>
      <vt:lpstr>Mesas de Servicio de Nueva Generación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1364</cp:revision>
  <dcterms:modified xsi:type="dcterms:W3CDTF">2026-07-10T14:27:40Z</dcterms:modified>
</cp:coreProperties>
</file>